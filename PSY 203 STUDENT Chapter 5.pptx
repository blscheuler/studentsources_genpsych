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0"/>
  </p:notesMasterIdLst>
  <p:sldIdLst>
    <p:sldId id="256" r:id="rId2"/>
    <p:sldId id="290" r:id="rId3"/>
    <p:sldId id="291" r:id="rId4"/>
    <p:sldId id="258" r:id="rId5"/>
    <p:sldId id="259" r:id="rId6"/>
    <p:sldId id="260" r:id="rId7"/>
    <p:sldId id="285" r:id="rId8"/>
    <p:sldId id="286" r:id="rId9"/>
    <p:sldId id="261" r:id="rId10"/>
    <p:sldId id="262" r:id="rId11"/>
    <p:sldId id="263"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93F70D-6D20-45AC-8377-07C620CC2916}" v="28" dt="2021-10-04T08:58:33.3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5350" autoAdjust="0"/>
  </p:normalViewPr>
  <p:slideViewPr>
    <p:cSldViewPr snapToGrid="0">
      <p:cViewPr varScale="1">
        <p:scale>
          <a:sx n="81" d="100"/>
          <a:sy n="81" d="100"/>
        </p:scale>
        <p:origin x="339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A942A4-7151-412C-AE44-CFECD91F45AC}"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95168F65-ADED-4A4D-84D6-F218B7A2EE15}">
      <dgm:prSet/>
      <dgm:spPr/>
      <dgm:t>
        <a:bodyPr/>
        <a:lstStyle/>
        <a:p>
          <a:r>
            <a:rPr lang="en-US" dirty="0"/>
            <a:t>We’ve learned about monocular and binocular… So, what about monaural and binaural?</a:t>
          </a:r>
        </a:p>
      </dgm:t>
    </dgm:pt>
    <dgm:pt modelId="{740A5371-4C71-4539-9DFC-A9C4D446A3EA}" type="parTrans" cxnId="{A0CF56A5-E99C-4F25-BE50-27298AB08315}">
      <dgm:prSet/>
      <dgm:spPr/>
      <dgm:t>
        <a:bodyPr/>
        <a:lstStyle/>
        <a:p>
          <a:endParaRPr lang="en-US"/>
        </a:p>
      </dgm:t>
    </dgm:pt>
    <dgm:pt modelId="{5F3CB3FC-C6F9-4BF3-A968-01126FFE6D1B}" type="sibTrans" cxnId="{A0CF56A5-E99C-4F25-BE50-27298AB08315}">
      <dgm:prSet phldrT="1" phldr="0"/>
      <dgm:spPr/>
      <dgm:t>
        <a:bodyPr/>
        <a:lstStyle/>
        <a:p>
          <a:endParaRPr lang="en-US"/>
        </a:p>
      </dgm:t>
    </dgm:pt>
    <dgm:pt modelId="{40792B79-DDFB-4C50-A741-E5D0345CFB55}">
      <dgm:prSet/>
      <dgm:spPr/>
      <dgm:t>
        <a:bodyPr/>
        <a:lstStyle/>
        <a:p>
          <a:r>
            <a:rPr lang="en-US"/>
            <a:t>How do the interaural level difference and interaural timing difference contribute to binaural cues?</a:t>
          </a:r>
        </a:p>
      </dgm:t>
    </dgm:pt>
    <dgm:pt modelId="{C71017F3-FD99-419B-B112-830E380BA106}" type="parTrans" cxnId="{FD6C52DF-2565-4743-9F68-331E71932764}">
      <dgm:prSet/>
      <dgm:spPr/>
      <dgm:t>
        <a:bodyPr/>
        <a:lstStyle/>
        <a:p>
          <a:endParaRPr lang="en-US"/>
        </a:p>
      </dgm:t>
    </dgm:pt>
    <dgm:pt modelId="{55058DE4-D8F3-4EA4-8A21-858EC550711C}" type="sibTrans" cxnId="{FD6C52DF-2565-4743-9F68-331E71932764}">
      <dgm:prSet phldrT="2" phldr="0"/>
      <dgm:spPr/>
      <dgm:t>
        <a:bodyPr/>
        <a:lstStyle/>
        <a:p>
          <a:endParaRPr lang="en-US"/>
        </a:p>
      </dgm:t>
    </dgm:pt>
    <dgm:pt modelId="{AB0EE27E-4C4E-4BD8-B11A-6DD1B1CEBD53}" type="pres">
      <dgm:prSet presAssocID="{E6A942A4-7151-412C-AE44-CFECD91F45AC}" presName="vert0" presStyleCnt="0">
        <dgm:presLayoutVars>
          <dgm:dir/>
          <dgm:animOne val="branch"/>
          <dgm:animLvl val="lvl"/>
        </dgm:presLayoutVars>
      </dgm:prSet>
      <dgm:spPr/>
    </dgm:pt>
    <dgm:pt modelId="{A3E61CD2-557D-4C68-9C8E-2167B567B20B}" type="pres">
      <dgm:prSet presAssocID="{95168F65-ADED-4A4D-84D6-F218B7A2EE15}" presName="thickLine" presStyleLbl="alignNode1" presStyleIdx="0" presStyleCnt="2"/>
      <dgm:spPr/>
    </dgm:pt>
    <dgm:pt modelId="{A371DD42-F4AF-4043-87AB-52633310B57D}" type="pres">
      <dgm:prSet presAssocID="{95168F65-ADED-4A4D-84D6-F218B7A2EE15}" presName="horz1" presStyleCnt="0"/>
      <dgm:spPr/>
    </dgm:pt>
    <dgm:pt modelId="{D5EBF3FA-9CE1-4259-B3E4-A2D52C9BD3F6}" type="pres">
      <dgm:prSet presAssocID="{95168F65-ADED-4A4D-84D6-F218B7A2EE15}" presName="tx1" presStyleLbl="revTx" presStyleIdx="0" presStyleCnt="2"/>
      <dgm:spPr/>
    </dgm:pt>
    <dgm:pt modelId="{957DB583-229E-43BE-807D-00D6F21E7CE2}" type="pres">
      <dgm:prSet presAssocID="{95168F65-ADED-4A4D-84D6-F218B7A2EE15}" presName="vert1" presStyleCnt="0"/>
      <dgm:spPr/>
    </dgm:pt>
    <dgm:pt modelId="{E1B6A13A-BF73-410C-90CE-5DB33C2165F6}" type="pres">
      <dgm:prSet presAssocID="{40792B79-DDFB-4C50-A741-E5D0345CFB55}" presName="thickLine" presStyleLbl="alignNode1" presStyleIdx="1" presStyleCnt="2"/>
      <dgm:spPr/>
    </dgm:pt>
    <dgm:pt modelId="{95BF9872-4CAC-4779-8D71-61418B088988}" type="pres">
      <dgm:prSet presAssocID="{40792B79-DDFB-4C50-A741-E5D0345CFB55}" presName="horz1" presStyleCnt="0"/>
      <dgm:spPr/>
    </dgm:pt>
    <dgm:pt modelId="{21B6292F-61D6-4CB4-B9E6-85E15851B3A8}" type="pres">
      <dgm:prSet presAssocID="{40792B79-DDFB-4C50-A741-E5D0345CFB55}" presName="tx1" presStyleLbl="revTx" presStyleIdx="1" presStyleCnt="2"/>
      <dgm:spPr/>
    </dgm:pt>
    <dgm:pt modelId="{AF2F7FB6-FF10-4F45-9520-A759B69CC35C}" type="pres">
      <dgm:prSet presAssocID="{40792B79-DDFB-4C50-A741-E5D0345CFB55}" presName="vert1" presStyleCnt="0"/>
      <dgm:spPr/>
    </dgm:pt>
  </dgm:ptLst>
  <dgm:cxnLst>
    <dgm:cxn modelId="{9C264A5E-D9B9-4286-BEFA-A4898604E61A}" type="presOf" srcId="{95168F65-ADED-4A4D-84D6-F218B7A2EE15}" destId="{D5EBF3FA-9CE1-4259-B3E4-A2D52C9BD3F6}" srcOrd="0" destOrd="0" presId="urn:microsoft.com/office/officeart/2008/layout/LinedList"/>
    <dgm:cxn modelId="{A0CF56A5-E99C-4F25-BE50-27298AB08315}" srcId="{E6A942A4-7151-412C-AE44-CFECD91F45AC}" destId="{95168F65-ADED-4A4D-84D6-F218B7A2EE15}" srcOrd="0" destOrd="0" parTransId="{740A5371-4C71-4539-9DFC-A9C4D446A3EA}" sibTransId="{5F3CB3FC-C6F9-4BF3-A968-01126FFE6D1B}"/>
    <dgm:cxn modelId="{719D3EA7-616A-48CC-A671-01497AF3F2F4}" type="presOf" srcId="{E6A942A4-7151-412C-AE44-CFECD91F45AC}" destId="{AB0EE27E-4C4E-4BD8-B11A-6DD1B1CEBD53}" srcOrd="0" destOrd="0" presId="urn:microsoft.com/office/officeart/2008/layout/LinedList"/>
    <dgm:cxn modelId="{FD6C52DF-2565-4743-9F68-331E71932764}" srcId="{E6A942A4-7151-412C-AE44-CFECD91F45AC}" destId="{40792B79-DDFB-4C50-A741-E5D0345CFB55}" srcOrd="1" destOrd="0" parTransId="{C71017F3-FD99-419B-B112-830E380BA106}" sibTransId="{55058DE4-D8F3-4EA4-8A21-858EC550711C}"/>
    <dgm:cxn modelId="{A2CAFAF9-91D4-4944-B31F-604EF25E36FC}" type="presOf" srcId="{40792B79-DDFB-4C50-A741-E5D0345CFB55}" destId="{21B6292F-61D6-4CB4-B9E6-85E15851B3A8}" srcOrd="0" destOrd="0" presId="urn:microsoft.com/office/officeart/2008/layout/LinedList"/>
    <dgm:cxn modelId="{30D15CFC-E5F4-4AB0-A0A9-1AEF77CF2A62}" type="presParOf" srcId="{AB0EE27E-4C4E-4BD8-B11A-6DD1B1CEBD53}" destId="{A3E61CD2-557D-4C68-9C8E-2167B567B20B}" srcOrd="0" destOrd="0" presId="urn:microsoft.com/office/officeart/2008/layout/LinedList"/>
    <dgm:cxn modelId="{1C7304B5-41F5-4314-87E9-FD3829CB5315}" type="presParOf" srcId="{AB0EE27E-4C4E-4BD8-B11A-6DD1B1CEBD53}" destId="{A371DD42-F4AF-4043-87AB-52633310B57D}" srcOrd="1" destOrd="0" presId="urn:microsoft.com/office/officeart/2008/layout/LinedList"/>
    <dgm:cxn modelId="{8B3B351D-35F7-4F8A-9CD7-6F12355AE20A}" type="presParOf" srcId="{A371DD42-F4AF-4043-87AB-52633310B57D}" destId="{D5EBF3FA-9CE1-4259-B3E4-A2D52C9BD3F6}" srcOrd="0" destOrd="0" presId="urn:microsoft.com/office/officeart/2008/layout/LinedList"/>
    <dgm:cxn modelId="{7522BDBD-9379-4DC5-AED5-C8D118DB6DD8}" type="presParOf" srcId="{A371DD42-F4AF-4043-87AB-52633310B57D}" destId="{957DB583-229E-43BE-807D-00D6F21E7CE2}" srcOrd="1" destOrd="0" presId="urn:microsoft.com/office/officeart/2008/layout/LinedList"/>
    <dgm:cxn modelId="{ED84F91E-3FB3-42DF-BACC-042D2CBB497A}" type="presParOf" srcId="{AB0EE27E-4C4E-4BD8-B11A-6DD1B1CEBD53}" destId="{E1B6A13A-BF73-410C-90CE-5DB33C2165F6}" srcOrd="2" destOrd="0" presId="urn:microsoft.com/office/officeart/2008/layout/LinedList"/>
    <dgm:cxn modelId="{FFA861BD-C757-4514-B433-E675676B32F3}" type="presParOf" srcId="{AB0EE27E-4C4E-4BD8-B11A-6DD1B1CEBD53}" destId="{95BF9872-4CAC-4779-8D71-61418B088988}" srcOrd="3" destOrd="0" presId="urn:microsoft.com/office/officeart/2008/layout/LinedList"/>
    <dgm:cxn modelId="{60AD7D0A-C2F3-4B7E-B396-DEAE4CF00767}" type="presParOf" srcId="{95BF9872-4CAC-4779-8D71-61418B088988}" destId="{21B6292F-61D6-4CB4-B9E6-85E15851B3A8}" srcOrd="0" destOrd="0" presId="urn:microsoft.com/office/officeart/2008/layout/LinedList"/>
    <dgm:cxn modelId="{7B6B1D62-A08E-43CB-BC67-CA882FCF00BC}" type="presParOf" srcId="{95BF9872-4CAC-4779-8D71-61418B088988}" destId="{AF2F7FB6-FF10-4F45-9520-A759B69CC35C}"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E61CD2-557D-4C68-9C8E-2167B567B20B}">
      <dsp:nvSpPr>
        <dsp:cNvPr id="0" name=""/>
        <dsp:cNvSpPr/>
      </dsp:nvSpPr>
      <dsp:spPr>
        <a:xfrm>
          <a:off x="0" y="0"/>
          <a:ext cx="5913437" cy="0"/>
        </a:xfrm>
        <a:prstGeom prst="line">
          <a:avLst/>
        </a:prstGeom>
        <a:solidFill>
          <a:schemeClr val="accent2">
            <a:hueOff val="0"/>
            <a:satOff val="0"/>
            <a:lumOff val="0"/>
            <a:alphaOff val="0"/>
          </a:schemeClr>
        </a:solidFill>
        <a:ln w="9525" cap="flat" cmpd="sng" algn="ctr">
          <a:solidFill>
            <a:schemeClr val="accent2">
              <a:hueOff val="0"/>
              <a:satOff val="0"/>
              <a:lumOff val="0"/>
              <a:alphaOff val="0"/>
            </a:schemeClr>
          </a:solidFill>
          <a:prstDash val="solid"/>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2">
              <a:hueOff val="0"/>
              <a:satOff val="0"/>
              <a:lumOff val="0"/>
              <a:alphaOff val="0"/>
              <a:shade val="35000"/>
              <a:satMod val="130000"/>
            </a:schemeClr>
          </a:contourClr>
        </a:sp3d>
      </dsp:spPr>
      <dsp:style>
        <a:lnRef idx="1">
          <a:scrgbClr r="0" g="0" b="0"/>
        </a:lnRef>
        <a:fillRef idx="3">
          <a:scrgbClr r="0" g="0" b="0"/>
        </a:fillRef>
        <a:effectRef idx="2">
          <a:scrgbClr r="0" g="0" b="0"/>
        </a:effectRef>
        <a:fontRef idx="minor">
          <a:schemeClr val="lt1"/>
        </a:fontRef>
      </dsp:style>
    </dsp:sp>
    <dsp:sp modelId="{D5EBF3FA-9CE1-4259-B3E4-A2D52C9BD3F6}">
      <dsp:nvSpPr>
        <dsp:cNvPr id="0" name=""/>
        <dsp:cNvSpPr/>
      </dsp:nvSpPr>
      <dsp:spPr>
        <a:xfrm>
          <a:off x="0" y="0"/>
          <a:ext cx="5913437" cy="23185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We’ve learned about monocular and binocular… So, what about monaural and binaural?</a:t>
          </a:r>
        </a:p>
      </dsp:txBody>
      <dsp:txXfrm>
        <a:off x="0" y="0"/>
        <a:ext cx="5913437" cy="2318544"/>
      </dsp:txXfrm>
    </dsp:sp>
    <dsp:sp modelId="{E1B6A13A-BF73-410C-90CE-5DB33C2165F6}">
      <dsp:nvSpPr>
        <dsp:cNvPr id="0" name=""/>
        <dsp:cNvSpPr/>
      </dsp:nvSpPr>
      <dsp:spPr>
        <a:xfrm>
          <a:off x="0" y="2318544"/>
          <a:ext cx="5913437" cy="0"/>
        </a:xfrm>
        <a:prstGeom prst="line">
          <a:avLst/>
        </a:prstGeom>
        <a:solidFill>
          <a:schemeClr val="accent2">
            <a:hueOff val="-7424668"/>
            <a:satOff val="2422"/>
            <a:lumOff val="-2157"/>
            <a:alphaOff val="0"/>
          </a:schemeClr>
        </a:solidFill>
        <a:ln w="9525" cap="flat" cmpd="sng" algn="ctr">
          <a:solidFill>
            <a:schemeClr val="accent2">
              <a:hueOff val="-7424668"/>
              <a:satOff val="2422"/>
              <a:lumOff val="-2157"/>
              <a:alphaOff val="0"/>
            </a:schemeClr>
          </a:solidFill>
          <a:prstDash val="solid"/>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2">
              <a:hueOff val="-7424668"/>
              <a:satOff val="2422"/>
              <a:lumOff val="-2157"/>
              <a:alphaOff val="0"/>
              <a:shade val="35000"/>
              <a:satMod val="130000"/>
            </a:schemeClr>
          </a:contourClr>
        </a:sp3d>
      </dsp:spPr>
      <dsp:style>
        <a:lnRef idx="1">
          <a:scrgbClr r="0" g="0" b="0"/>
        </a:lnRef>
        <a:fillRef idx="3">
          <a:scrgbClr r="0" g="0" b="0"/>
        </a:fillRef>
        <a:effectRef idx="2">
          <a:scrgbClr r="0" g="0" b="0"/>
        </a:effectRef>
        <a:fontRef idx="minor">
          <a:schemeClr val="lt1"/>
        </a:fontRef>
      </dsp:style>
    </dsp:sp>
    <dsp:sp modelId="{21B6292F-61D6-4CB4-B9E6-85E15851B3A8}">
      <dsp:nvSpPr>
        <dsp:cNvPr id="0" name=""/>
        <dsp:cNvSpPr/>
      </dsp:nvSpPr>
      <dsp:spPr>
        <a:xfrm>
          <a:off x="0" y="2318544"/>
          <a:ext cx="5913437" cy="23185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How do the interaural level difference and interaural timing difference contribute to binaural cues?</a:t>
          </a:r>
        </a:p>
      </dsp:txBody>
      <dsp:txXfrm>
        <a:off x="0" y="2318544"/>
        <a:ext cx="5913437" cy="231854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742352-6408-4A7C-A204-0956D8FA2D92}" type="datetimeFigureOut">
              <a:rPr lang="en-US" smtClean="0"/>
              <a:t>2/17/2026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9F6382-2D07-4C87-9191-F5A3E509E88F}" type="slidenum">
              <a:rPr lang="en-US" smtClean="0"/>
              <a:t>‹#›</a:t>
            </a:fld>
            <a:endParaRPr lang="en-US"/>
          </a:p>
        </p:txBody>
      </p:sp>
    </p:spTree>
    <p:extLst>
      <p:ext uri="{BB962C8B-B14F-4D97-AF65-F5344CB8AC3E}">
        <p14:creationId xmlns:p14="http://schemas.microsoft.com/office/powerpoint/2010/main" val="3999294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98101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589416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483535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155262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0326573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763632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806422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11730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124949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230836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8425187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3679622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9068354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5756328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2426085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893795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1702297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8559203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76718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5221848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7148404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0945776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1669858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6015350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349551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7905074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026011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91354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283B67AC-8988-40CC-8159-955757AC10C1}" type="datetimeFigureOut">
              <a:rPr lang="en-US" smtClean="0"/>
              <a:t>2/17/2026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807D9C04-648E-44C6-80BD-15F19B219BA3}"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7480484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3B67AC-8988-40CC-8159-955757AC10C1}"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2474532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3B67AC-8988-40CC-8159-955757AC10C1}"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D9C04-648E-44C6-80BD-15F19B219BA3}"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83299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3B67AC-8988-40CC-8159-955757AC10C1}"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465447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3B67AC-8988-40CC-8159-955757AC10C1}" type="datetimeFigureOut">
              <a:rPr lang="en-US" smtClean="0"/>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1493520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3B67AC-8988-40CC-8159-955757AC10C1}" type="datetimeFigureOut">
              <a:rPr lang="en-US" smtClean="0"/>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1424521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3B67AC-8988-40CC-8159-955757AC10C1}" type="datetimeFigureOut">
              <a:rPr lang="en-US" smtClean="0"/>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2744956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3B67AC-8988-40CC-8159-955757AC10C1}"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1595250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3B67AC-8988-40CC-8159-955757AC10C1}"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2772937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3B67AC-8988-40CC-8159-955757AC10C1}"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3268691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3B67AC-8988-40CC-8159-955757AC10C1}"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4020679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283B67AC-8988-40CC-8159-955757AC10C1}" type="datetimeFigureOut">
              <a:rPr lang="en-US" smtClean="0"/>
              <a:t>2/17/2026</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807D9C04-648E-44C6-80BD-15F19B219BA3}" type="slidenum">
              <a:rPr lang="en-US" smtClean="0"/>
              <a:t>‹#›</a:t>
            </a:fld>
            <a:endParaRPr lang="en-US"/>
          </a:p>
        </p:txBody>
      </p:sp>
    </p:spTree>
    <p:extLst>
      <p:ext uri="{BB962C8B-B14F-4D97-AF65-F5344CB8AC3E}">
        <p14:creationId xmlns:p14="http://schemas.microsoft.com/office/powerpoint/2010/main" val="174939537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2A153-7D40-4752-8D00-080CB1A524DB}"/>
              </a:ext>
            </a:extLst>
          </p:cNvPr>
          <p:cNvSpPr>
            <a:spLocks noGrp="1"/>
          </p:cNvSpPr>
          <p:nvPr>
            <p:ph type="ctrTitle"/>
          </p:nvPr>
        </p:nvSpPr>
        <p:spPr>
          <a:xfrm>
            <a:off x="2393063" y="1590734"/>
            <a:ext cx="7405874" cy="2520012"/>
          </a:xfrm>
          <a:solidFill>
            <a:schemeClr val="bg2"/>
          </a:solidFill>
        </p:spPr>
        <p:txBody>
          <a:bodyPr anchor="ctr">
            <a:normAutofit/>
          </a:bodyPr>
          <a:lstStyle/>
          <a:p>
            <a:pPr algn="ctr"/>
            <a:r>
              <a:rPr lang="en-US" sz="6000">
                <a:solidFill>
                  <a:schemeClr val="tx2"/>
                </a:solidFill>
              </a:rPr>
              <a:t>Sensation and Perception</a:t>
            </a:r>
          </a:p>
        </p:txBody>
      </p:sp>
      <p:sp>
        <p:nvSpPr>
          <p:cNvPr id="3" name="Subtitle 2">
            <a:extLst>
              <a:ext uri="{FF2B5EF4-FFF2-40B4-BE49-F238E27FC236}">
                <a16:creationId xmlns:a16="http://schemas.microsoft.com/office/drawing/2014/main" id="{9EEFD706-CA66-427E-B3F9-AA974919035C}"/>
              </a:ext>
            </a:extLst>
          </p:cNvPr>
          <p:cNvSpPr>
            <a:spLocks noGrp="1"/>
          </p:cNvSpPr>
          <p:nvPr>
            <p:ph type="subTitle" idx="1"/>
          </p:nvPr>
        </p:nvSpPr>
        <p:spPr>
          <a:xfrm>
            <a:off x="2220686" y="4427182"/>
            <a:ext cx="7576595" cy="1633984"/>
          </a:xfrm>
        </p:spPr>
        <p:txBody>
          <a:bodyPr>
            <a:normAutofit/>
          </a:bodyPr>
          <a:lstStyle/>
          <a:p>
            <a:pPr algn="ctr"/>
            <a:r>
              <a:rPr lang="en-US" sz="6600" b="1" dirty="0">
                <a:solidFill>
                  <a:schemeClr val="tx1"/>
                </a:solidFill>
              </a:rPr>
              <a:t>Chapter 5</a:t>
            </a:r>
          </a:p>
        </p:txBody>
      </p:sp>
    </p:spTree>
    <p:extLst>
      <p:ext uri="{BB962C8B-B14F-4D97-AF65-F5344CB8AC3E}">
        <p14:creationId xmlns:p14="http://schemas.microsoft.com/office/powerpoint/2010/main" val="3298895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9AD17-80B2-F882-0411-22DAD50A97B6}"/>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23419026-63A6-D701-D52F-7C65C59B7373}"/>
              </a:ext>
            </a:extLst>
          </p:cNvPr>
          <p:cNvSpPr>
            <a:spLocks noGrp="1"/>
          </p:cNvSpPr>
          <p:nvPr>
            <p:ph idx="1"/>
          </p:nvPr>
        </p:nvSpPr>
        <p:spPr>
          <a:xfrm>
            <a:off x="1261872" y="1828800"/>
            <a:ext cx="5086677" cy="4351337"/>
          </a:xfrm>
        </p:spPr>
        <p:txBody>
          <a:bodyPr>
            <a:normAutofit/>
          </a:bodyPr>
          <a:lstStyle/>
          <a:p>
            <a:r>
              <a:rPr lang="en-US" sz="2800" dirty="0"/>
              <a:t>Sensation vs. Perception</a:t>
            </a:r>
          </a:p>
          <a:p>
            <a:r>
              <a:rPr lang="en-US" sz="2800" dirty="0"/>
              <a:t>Vision</a:t>
            </a:r>
          </a:p>
          <a:p>
            <a:r>
              <a:rPr lang="en-US" sz="2800" dirty="0"/>
              <a:t>Hearing </a:t>
            </a:r>
          </a:p>
          <a:p>
            <a:r>
              <a:rPr lang="en-US" sz="2800" dirty="0"/>
              <a:t>Additional Senses</a:t>
            </a:r>
          </a:p>
          <a:p>
            <a:r>
              <a:rPr lang="en-US" sz="2800" dirty="0"/>
              <a:t>Gestalt Psychology </a:t>
            </a:r>
          </a:p>
        </p:txBody>
      </p:sp>
    </p:spTree>
    <p:extLst>
      <p:ext uri="{BB962C8B-B14F-4D97-AF65-F5344CB8AC3E}">
        <p14:creationId xmlns:p14="http://schemas.microsoft.com/office/powerpoint/2010/main" val="2721038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966F4-ABF8-E21C-274E-2E17F9C6E3A1}"/>
              </a:ext>
            </a:extLst>
          </p:cNvPr>
          <p:cNvSpPr>
            <a:spLocks noGrp="1"/>
          </p:cNvSpPr>
          <p:nvPr>
            <p:ph type="title"/>
          </p:nvPr>
        </p:nvSpPr>
        <p:spPr/>
        <p:txBody>
          <a:bodyPr/>
          <a:lstStyle/>
          <a:p>
            <a:r>
              <a:rPr lang="en-US" dirty="0"/>
              <a:t>Reminders</a:t>
            </a:r>
          </a:p>
        </p:txBody>
      </p:sp>
      <p:sp>
        <p:nvSpPr>
          <p:cNvPr id="3" name="Content Placeholder 2">
            <a:extLst>
              <a:ext uri="{FF2B5EF4-FFF2-40B4-BE49-F238E27FC236}">
                <a16:creationId xmlns:a16="http://schemas.microsoft.com/office/drawing/2014/main" id="{89423A6E-A52B-A523-A545-4BA95F7EA054}"/>
              </a:ext>
            </a:extLst>
          </p:cNvPr>
          <p:cNvSpPr>
            <a:spLocks noGrp="1"/>
          </p:cNvSpPr>
          <p:nvPr>
            <p:ph idx="1"/>
          </p:nvPr>
        </p:nvSpPr>
        <p:spPr/>
        <p:txBody>
          <a:bodyPr/>
          <a:lstStyle/>
          <a:p>
            <a:r>
              <a:rPr lang="en-US" dirty="0"/>
              <a:t>Earn Exam Credit back</a:t>
            </a:r>
          </a:p>
          <a:p>
            <a:pPr lvl="1"/>
            <a:r>
              <a:rPr lang="en-US" dirty="0"/>
              <a:t>Only available for Exam 1</a:t>
            </a:r>
          </a:p>
          <a:p>
            <a:pPr lvl="1"/>
            <a:r>
              <a:rPr lang="en-US" dirty="0"/>
              <a:t>Earn 25% of points missed back</a:t>
            </a:r>
          </a:p>
          <a:p>
            <a:pPr lvl="1"/>
            <a:r>
              <a:rPr lang="en-US" dirty="0"/>
              <a:t>Must be completed before next exam, so you must have the meeting scheduled by 2/23</a:t>
            </a:r>
          </a:p>
          <a:p>
            <a:r>
              <a:rPr lang="en-US" dirty="0"/>
              <a:t>Research Points</a:t>
            </a:r>
          </a:p>
          <a:p>
            <a:pPr lvl="1"/>
            <a:r>
              <a:rPr lang="en-US" dirty="0"/>
              <a:t>Deadline for Research Points Part 1: March 5th</a:t>
            </a:r>
          </a:p>
          <a:p>
            <a:pPr lvl="1"/>
            <a:r>
              <a:rPr lang="en-US" dirty="0"/>
              <a:t>Dr. Scheuler presents at Sigma Xi on 2/23</a:t>
            </a:r>
          </a:p>
          <a:p>
            <a:pPr lvl="1"/>
            <a:r>
              <a:rPr lang="en-US" dirty="0"/>
              <a:t>Multiple SONA studies are up</a:t>
            </a:r>
          </a:p>
          <a:p>
            <a:pPr lvl="1"/>
            <a:r>
              <a:rPr lang="en-US" dirty="0"/>
              <a:t>It’s a good idea to stock up on points now, since it will be harder to get points for Research Points Part 2, due to SONA studies closing</a:t>
            </a:r>
          </a:p>
          <a:p>
            <a:pPr lvl="1"/>
            <a:endParaRPr lang="en-US" dirty="0"/>
          </a:p>
        </p:txBody>
      </p:sp>
    </p:spTree>
    <p:extLst>
      <p:ext uri="{BB962C8B-B14F-4D97-AF65-F5344CB8AC3E}">
        <p14:creationId xmlns:p14="http://schemas.microsoft.com/office/powerpoint/2010/main" val="3192752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23A923-E61B-458E-8928-FDDD6B458C24}"/>
              </a:ext>
            </a:extLst>
          </p:cNvPr>
          <p:cNvSpPr>
            <a:spLocks noGrp="1"/>
          </p:cNvSpPr>
          <p:nvPr>
            <p:ph type="title"/>
          </p:nvPr>
        </p:nvSpPr>
        <p:spPr>
          <a:xfrm>
            <a:off x="1130270" y="616758"/>
            <a:ext cx="9603275" cy="1049235"/>
          </a:xfrm>
        </p:spPr>
        <p:txBody>
          <a:bodyPr>
            <a:normAutofit/>
          </a:bodyPr>
          <a:lstStyle/>
          <a:p>
            <a:r>
              <a:rPr lang="en-US" sz="3000" dirty="0"/>
              <a:t>We actually have MORE than the 5 main senses!</a:t>
            </a:r>
          </a:p>
        </p:txBody>
      </p:sp>
      <p:sp>
        <p:nvSpPr>
          <p:cNvPr id="4" name="Content Placeholder 3">
            <a:extLst>
              <a:ext uri="{FF2B5EF4-FFF2-40B4-BE49-F238E27FC236}">
                <a16:creationId xmlns:a16="http://schemas.microsoft.com/office/drawing/2014/main" id="{64A1C4C0-E6D8-42CD-AC64-B4169297FCFD}"/>
              </a:ext>
            </a:extLst>
          </p:cNvPr>
          <p:cNvSpPr>
            <a:spLocks noGrp="1"/>
          </p:cNvSpPr>
          <p:nvPr>
            <p:ph idx="1"/>
          </p:nvPr>
        </p:nvSpPr>
        <p:spPr/>
        <p:txBody>
          <a:bodyPr>
            <a:normAutofit/>
          </a:bodyPr>
          <a:lstStyle/>
          <a:p>
            <a:r>
              <a:rPr lang="en-US" sz="2800" dirty="0"/>
              <a:t>Vision, hearing, smell, taste, and touch PLUS</a:t>
            </a:r>
          </a:p>
          <a:p>
            <a:r>
              <a:rPr lang="en-US" sz="2800" dirty="0"/>
              <a:t>Balance (the vestibular sense)</a:t>
            </a:r>
          </a:p>
          <a:p>
            <a:r>
              <a:rPr lang="en-US" sz="2800" dirty="0"/>
              <a:t>Body position and movement (proprioception and kinesthesia)</a:t>
            </a:r>
          </a:p>
          <a:p>
            <a:r>
              <a:rPr lang="en-US" sz="2800" dirty="0"/>
              <a:t>Pain (nociception)</a:t>
            </a:r>
          </a:p>
          <a:p>
            <a:r>
              <a:rPr lang="en-US" sz="2800" dirty="0"/>
              <a:t>Temperature (</a:t>
            </a:r>
            <a:r>
              <a:rPr lang="en-US" sz="2800" dirty="0" err="1"/>
              <a:t>thermoception</a:t>
            </a:r>
            <a:r>
              <a:rPr lang="en-US" sz="2800" dirty="0"/>
              <a:t>)</a:t>
            </a:r>
          </a:p>
          <a:p>
            <a:endParaRPr lang="en-US" sz="2800" dirty="0"/>
          </a:p>
        </p:txBody>
      </p:sp>
    </p:spTree>
    <p:extLst>
      <p:ext uri="{BB962C8B-B14F-4D97-AF65-F5344CB8AC3E}">
        <p14:creationId xmlns:p14="http://schemas.microsoft.com/office/powerpoint/2010/main" val="2064557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236A3-EE68-4822-B7D8-38668B86A0B3}"/>
              </a:ext>
            </a:extLst>
          </p:cNvPr>
          <p:cNvSpPr>
            <a:spLocks noGrp="1"/>
          </p:cNvSpPr>
          <p:nvPr>
            <p:ph type="title"/>
          </p:nvPr>
        </p:nvSpPr>
        <p:spPr>
          <a:xfrm>
            <a:off x="806450" y="1289304"/>
            <a:ext cx="2996704" cy="4279393"/>
          </a:xfrm>
        </p:spPr>
        <p:txBody>
          <a:bodyPr anchor="ctr">
            <a:normAutofit/>
          </a:bodyPr>
          <a:lstStyle/>
          <a:p>
            <a:r>
              <a:rPr lang="en-US" dirty="0"/>
              <a:t>Have you been reading your textbook?</a:t>
            </a:r>
          </a:p>
        </p:txBody>
      </p:sp>
      <p:sp>
        <p:nvSpPr>
          <p:cNvPr id="24" name="Content Placeholder 2">
            <a:extLst>
              <a:ext uri="{FF2B5EF4-FFF2-40B4-BE49-F238E27FC236}">
                <a16:creationId xmlns:a16="http://schemas.microsoft.com/office/drawing/2014/main" id="{CF452904-7EBE-4075-94F6-DCB631CA0115}"/>
              </a:ext>
            </a:extLst>
          </p:cNvPr>
          <p:cNvSpPr>
            <a:spLocks noGrp="1"/>
          </p:cNvSpPr>
          <p:nvPr>
            <p:ph idx="1"/>
          </p:nvPr>
        </p:nvSpPr>
        <p:spPr>
          <a:xfrm>
            <a:off x="4336869" y="1001486"/>
            <a:ext cx="6453051" cy="5033554"/>
          </a:xfrm>
        </p:spPr>
        <p:txBody>
          <a:bodyPr anchor="ctr">
            <a:normAutofit/>
          </a:bodyPr>
          <a:lstStyle/>
          <a:p>
            <a:r>
              <a:rPr lang="en-US" sz="2400" dirty="0"/>
              <a:t>What’s the difference between sensation and perception?</a:t>
            </a:r>
          </a:p>
          <a:p>
            <a:r>
              <a:rPr lang="en-US" sz="2400" dirty="0"/>
              <a:t>What is transduction and why is it important?</a:t>
            </a:r>
          </a:p>
          <a:p>
            <a:r>
              <a:rPr lang="en-US" sz="2400" dirty="0"/>
              <a:t>What’s the difference between the absolute threshold and the difference threshold?</a:t>
            </a:r>
          </a:p>
          <a:p>
            <a:r>
              <a:rPr lang="en-US" sz="2400" dirty="0"/>
              <a:t>Can you name an example of a subliminal message?</a:t>
            </a:r>
          </a:p>
        </p:txBody>
      </p:sp>
    </p:spTree>
    <p:extLst>
      <p:ext uri="{BB962C8B-B14F-4D97-AF65-F5344CB8AC3E}">
        <p14:creationId xmlns:p14="http://schemas.microsoft.com/office/powerpoint/2010/main" val="834715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A677A-FDB1-4F88-883D-3C8A96879602}"/>
              </a:ext>
            </a:extLst>
          </p:cNvPr>
          <p:cNvSpPr>
            <a:spLocks noGrp="1"/>
          </p:cNvSpPr>
          <p:nvPr>
            <p:ph type="title"/>
          </p:nvPr>
        </p:nvSpPr>
        <p:spPr>
          <a:xfrm>
            <a:off x="1776730" y="4459039"/>
            <a:ext cx="7831992" cy="551528"/>
          </a:xfrm>
        </p:spPr>
        <p:txBody>
          <a:bodyPr vert="horz" lIns="91440" tIns="45720" rIns="91440" bIns="0" rtlCol="0" anchor="b">
            <a:normAutofit/>
          </a:bodyPr>
          <a:lstStyle/>
          <a:p>
            <a:r>
              <a:rPr lang="en-US" sz="3600" dirty="0"/>
              <a:t>Processing</a:t>
            </a:r>
          </a:p>
        </p:txBody>
      </p:sp>
      <p:pic>
        <p:nvPicPr>
          <p:cNvPr id="1026" name="Picture 2" descr="The figure includes two vertical arrows. The first arrow comes from the word “Top” and points downward to the word “Down.” The explanation reads, “Top-down processing occurs when previous experience and expectations are first used to recognize stimuli.” The second arrow comes from the word “bottom” and points upward to the word “up.” The explanation reads, “Bottom-up processing occurs when we sense basic features of stimuli and then integrate them.”">
            <a:extLst>
              <a:ext uri="{FF2B5EF4-FFF2-40B4-BE49-F238E27FC236}">
                <a16:creationId xmlns:a16="http://schemas.microsoft.com/office/drawing/2014/main" id="{58A32FB8-BFEC-4B01-B946-EE9E317ACB1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1771137" y="707947"/>
            <a:ext cx="8648601" cy="352430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7C56333-F59B-8B76-2B6C-5545C63CE6FF}"/>
              </a:ext>
            </a:extLst>
          </p:cNvPr>
          <p:cNvSpPr txBox="1"/>
          <p:nvPr/>
        </p:nvSpPr>
        <p:spPr>
          <a:xfrm>
            <a:off x="5878286" y="5904411"/>
            <a:ext cx="5164183" cy="369332"/>
          </a:xfrm>
          <a:prstGeom prst="rect">
            <a:avLst/>
          </a:prstGeom>
          <a:noFill/>
        </p:spPr>
        <p:txBody>
          <a:bodyPr wrap="square" rtlCol="0">
            <a:spAutoFit/>
          </a:bodyPr>
          <a:lstStyle/>
          <a:p>
            <a:r>
              <a:rPr lang="en-US" dirty="0"/>
              <a:t>Note: These processes often work in tandem</a:t>
            </a:r>
          </a:p>
        </p:txBody>
      </p:sp>
    </p:spTree>
    <p:extLst>
      <p:ext uri="{BB962C8B-B14F-4D97-AF65-F5344CB8AC3E}">
        <p14:creationId xmlns:p14="http://schemas.microsoft.com/office/powerpoint/2010/main" val="4182011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EC3C-75BB-2759-B852-C83318B60B31}"/>
              </a:ext>
            </a:extLst>
          </p:cNvPr>
          <p:cNvSpPr>
            <a:spLocks noGrp="1"/>
          </p:cNvSpPr>
          <p:nvPr>
            <p:ph type="title"/>
          </p:nvPr>
        </p:nvSpPr>
        <p:spPr/>
        <p:txBody>
          <a:bodyPr/>
          <a:lstStyle/>
          <a:p>
            <a:r>
              <a:rPr lang="en-US" dirty="0"/>
              <a:t>Bottom-Up Processing</a:t>
            </a:r>
          </a:p>
        </p:txBody>
      </p:sp>
      <p:pic>
        <p:nvPicPr>
          <p:cNvPr id="1026" name="Picture 2" descr="image of entire face">
            <a:extLst>
              <a:ext uri="{FF2B5EF4-FFF2-40B4-BE49-F238E27FC236}">
                <a16:creationId xmlns:a16="http://schemas.microsoft.com/office/drawing/2014/main" id="{9AEB9FF0-9A42-0919-D56B-003CFF2E04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9140" y="1714500"/>
            <a:ext cx="51435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of eyes">
            <a:extLst>
              <a:ext uri="{FF2B5EF4-FFF2-40B4-BE49-F238E27FC236}">
                <a16:creationId xmlns:a16="http://schemas.microsoft.com/office/drawing/2014/main" id="{1E194985-369C-7922-91B8-0589DB6422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249" t="35461" r="34677" b="49301"/>
          <a:stretch>
            <a:fillRect/>
          </a:stretch>
        </p:blipFill>
        <p:spPr bwMode="auto">
          <a:xfrm>
            <a:off x="1949849" y="2516777"/>
            <a:ext cx="1341120" cy="52251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of nose">
            <a:extLst>
              <a:ext uri="{FF2B5EF4-FFF2-40B4-BE49-F238E27FC236}">
                <a16:creationId xmlns:a16="http://schemas.microsoft.com/office/drawing/2014/main" id="{D4E02D1C-E2D9-5F6A-3552-540F4338A42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122" t="47015" r="41872" b="37746"/>
          <a:stretch>
            <a:fillRect/>
          </a:stretch>
        </p:blipFill>
        <p:spPr bwMode="auto">
          <a:xfrm>
            <a:off x="1762614" y="3429000"/>
            <a:ext cx="566058" cy="52251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of lips">
            <a:extLst>
              <a:ext uri="{FF2B5EF4-FFF2-40B4-BE49-F238E27FC236}">
                <a16:creationId xmlns:a16="http://schemas.microsoft.com/office/drawing/2014/main" id="{277B7D69-2309-76D5-E253-10F82A9F228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682" t="61342" r="40382" b="25978"/>
          <a:stretch>
            <a:fillRect/>
          </a:stretch>
        </p:blipFill>
        <p:spPr bwMode="auto">
          <a:xfrm>
            <a:off x="2932557" y="3864746"/>
            <a:ext cx="716824" cy="43479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A6B2791C-2ECE-3B8C-0830-3834794BD4A9}"/>
              </a:ext>
            </a:extLst>
          </p:cNvPr>
          <p:cNvCxnSpPr/>
          <p:nvPr/>
        </p:nvCxnSpPr>
        <p:spPr>
          <a:xfrm>
            <a:off x="4293326" y="3257005"/>
            <a:ext cx="1010194" cy="0"/>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8738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A0BAE-0440-020A-1CDC-E223762D305A}"/>
              </a:ext>
            </a:extLst>
          </p:cNvPr>
          <p:cNvSpPr>
            <a:spLocks noGrp="1"/>
          </p:cNvSpPr>
          <p:nvPr>
            <p:ph type="title"/>
          </p:nvPr>
        </p:nvSpPr>
        <p:spPr/>
        <p:txBody>
          <a:bodyPr/>
          <a:lstStyle/>
          <a:p>
            <a:r>
              <a:rPr lang="en-US" dirty="0"/>
              <a:t>Top-Down Processing</a:t>
            </a:r>
          </a:p>
        </p:txBody>
      </p:sp>
      <p:sp>
        <p:nvSpPr>
          <p:cNvPr id="4" name="Content Placeholder 3">
            <a:extLst>
              <a:ext uri="{FF2B5EF4-FFF2-40B4-BE49-F238E27FC236}">
                <a16:creationId xmlns:a16="http://schemas.microsoft.com/office/drawing/2014/main" id="{5B2C1320-1740-4C45-7354-0E628823FF34}"/>
              </a:ext>
            </a:extLst>
          </p:cNvPr>
          <p:cNvSpPr>
            <a:spLocks noGrp="1"/>
          </p:cNvSpPr>
          <p:nvPr>
            <p:ph sz="half" idx="1"/>
          </p:nvPr>
        </p:nvSpPr>
        <p:spPr/>
        <p:txBody>
          <a:bodyPr/>
          <a:lstStyle/>
          <a:p>
            <a:r>
              <a:rPr lang="en-US" dirty="0"/>
              <a:t>Who is this?</a:t>
            </a:r>
          </a:p>
        </p:txBody>
      </p:sp>
      <p:pic>
        <p:nvPicPr>
          <p:cNvPr id="2050" name="Picture 2" descr="image of Sabrina Carpenter eyes">
            <a:extLst>
              <a:ext uri="{FF2B5EF4-FFF2-40B4-BE49-F238E27FC236}">
                <a16:creationId xmlns:a16="http://schemas.microsoft.com/office/drawing/2014/main" id="{DB1DE7EA-CADF-5944-2B93-D7951C88A0C9}"/>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25172" t="23803" r="27802" b="47416"/>
          <a:stretch>
            <a:fillRect/>
          </a:stretch>
        </p:blipFill>
        <p:spPr bwMode="auto">
          <a:xfrm>
            <a:off x="1071154" y="2804161"/>
            <a:ext cx="3018148" cy="103902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of Sabrina Carpenter's face">
            <a:extLst>
              <a:ext uri="{FF2B5EF4-FFF2-40B4-BE49-F238E27FC236}">
                <a16:creationId xmlns:a16="http://schemas.microsoft.com/office/drawing/2014/main" id="{9FC4AF99-3875-D005-420F-7F4DD4547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3150" y="2192383"/>
            <a:ext cx="6096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2729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54"/>
                                        </p:tgtEl>
                                        <p:attrNameLst>
                                          <p:attrName>style.visibility</p:attrName>
                                        </p:attrNameLst>
                                      </p:cBhvr>
                                      <p:to>
                                        <p:strVal val="visible"/>
                                      </p:to>
                                    </p:set>
                                    <p:anim calcmode="lin" valueType="num">
                                      <p:cBhvr additive="base">
                                        <p:cTn id="13" dur="500" fill="hold"/>
                                        <p:tgtEl>
                                          <p:spTgt spid="2054"/>
                                        </p:tgtEl>
                                        <p:attrNameLst>
                                          <p:attrName>ppt_x</p:attrName>
                                        </p:attrNameLst>
                                      </p:cBhvr>
                                      <p:tavLst>
                                        <p:tav tm="0">
                                          <p:val>
                                            <p:strVal val="#ppt_x"/>
                                          </p:val>
                                        </p:tav>
                                        <p:tav tm="100000">
                                          <p:val>
                                            <p:strVal val="#ppt_x"/>
                                          </p:val>
                                        </p:tav>
                                      </p:tavLst>
                                    </p:anim>
                                    <p:anim calcmode="lin" valueType="num">
                                      <p:cBhvr additive="base">
                                        <p:cTn id="14" dur="500" fill="hold"/>
                                        <p:tgtEl>
                                          <p:spTgt spid="20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01A5C-4C04-4716-B0CA-B275160D7D68}"/>
              </a:ext>
            </a:extLst>
          </p:cNvPr>
          <p:cNvSpPr>
            <a:spLocks noGrp="1"/>
          </p:cNvSpPr>
          <p:nvPr>
            <p:ph type="title"/>
          </p:nvPr>
        </p:nvSpPr>
        <p:spPr/>
        <p:txBody>
          <a:bodyPr/>
          <a:lstStyle/>
          <a:p>
            <a:r>
              <a:rPr lang="en-US" dirty="0"/>
              <a:t>Are you paying attention?</a:t>
            </a:r>
          </a:p>
        </p:txBody>
      </p:sp>
      <p:sp>
        <p:nvSpPr>
          <p:cNvPr id="3" name="Content Placeholder 2">
            <a:extLst>
              <a:ext uri="{FF2B5EF4-FFF2-40B4-BE49-F238E27FC236}">
                <a16:creationId xmlns:a16="http://schemas.microsoft.com/office/drawing/2014/main" id="{E56A197D-A3BF-43C0-98E0-FADF4F171C82}"/>
              </a:ext>
            </a:extLst>
          </p:cNvPr>
          <p:cNvSpPr>
            <a:spLocks noGrp="1"/>
          </p:cNvSpPr>
          <p:nvPr>
            <p:ph sz="half" idx="1"/>
          </p:nvPr>
        </p:nvSpPr>
        <p:spPr>
          <a:xfrm>
            <a:off x="383177" y="1828800"/>
            <a:ext cx="5359255" cy="4351337"/>
          </a:xfrm>
        </p:spPr>
        <p:txBody>
          <a:bodyPr>
            <a:normAutofit/>
          </a:bodyPr>
          <a:lstStyle/>
          <a:p>
            <a:r>
              <a:rPr lang="en-US" b="1" dirty="0"/>
              <a:t>Sensory adaption</a:t>
            </a:r>
            <a:r>
              <a:rPr lang="en-US" dirty="0"/>
              <a:t>- our ability to ignore stimuli after it has been a constant around us for an extended period of time</a:t>
            </a:r>
          </a:p>
          <a:p>
            <a:pPr lvl="1"/>
            <a:r>
              <a:rPr lang="en-US" dirty="0"/>
              <a:t>Ex: cat litter box</a:t>
            </a:r>
          </a:p>
          <a:p>
            <a:r>
              <a:rPr lang="en-US" b="1" dirty="0"/>
              <a:t>Inattentional blindness</a:t>
            </a:r>
            <a:r>
              <a:rPr lang="en-US" dirty="0"/>
              <a:t>- the failure to notice something that is completely visible because the person was actively attending to something else and did not pay attention to other things</a:t>
            </a:r>
          </a:p>
          <a:p>
            <a:pPr lvl="1"/>
            <a:r>
              <a:rPr lang="en-US" dirty="0"/>
              <a:t>Ex: video games and an annoyed mother</a:t>
            </a:r>
          </a:p>
          <a:p>
            <a:r>
              <a:rPr lang="en-US" b="1" dirty="0"/>
              <a:t>Signal detection theory</a:t>
            </a:r>
            <a:r>
              <a:rPr lang="en-US" dirty="0"/>
              <a:t>- the ability to identify a stimulus when it is embedded in the background</a:t>
            </a:r>
          </a:p>
          <a:p>
            <a:pPr lvl="1"/>
            <a:r>
              <a:rPr lang="en-US" dirty="0"/>
              <a:t>Ex: detecting if tissue is cancerous</a:t>
            </a:r>
          </a:p>
        </p:txBody>
      </p:sp>
      <p:pic>
        <p:nvPicPr>
          <p:cNvPr id="5" name="Picture 2" descr="A graph showing two overlapping normal distributions labeled &quot;Noise&quot; and &quot;Signal,&quot; illustrating signal detection theory concepts. Colored regions indicate hit, miss, false alarm, and correct rejection rates based on a decision criterion, with a legend explaining each outcome.">
            <a:extLst>
              <a:ext uri="{FF2B5EF4-FFF2-40B4-BE49-F238E27FC236}">
                <a16:creationId xmlns:a16="http://schemas.microsoft.com/office/drawing/2014/main" id="{03571E51-0422-3679-F24F-6902BC89EE3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742432" y="1442675"/>
            <a:ext cx="5695406" cy="5695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6101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95B7-2236-4AF1-9ABF-ADE4259A93FA}"/>
              </a:ext>
            </a:extLst>
          </p:cNvPr>
          <p:cNvSpPr>
            <a:spLocks noGrp="1"/>
          </p:cNvSpPr>
          <p:nvPr>
            <p:ph type="title"/>
          </p:nvPr>
        </p:nvSpPr>
        <p:spPr/>
        <p:txBody>
          <a:bodyPr/>
          <a:lstStyle/>
          <a:p>
            <a:r>
              <a:rPr lang="en-US" dirty="0"/>
              <a:t>Waves</a:t>
            </a:r>
          </a:p>
        </p:txBody>
      </p:sp>
      <p:pic>
        <p:nvPicPr>
          <p:cNvPr id="6" name="Content Placeholder 5" descr="A diagram illustrates the basic parts of a wave. Moving from left to right, the wavelength line begins above a straight horizontal line and falls and rises equally above and below that line. One of the areas where the wavelength line reaches its highest point is labeled “Crest.” A horizontal bracket, labeled “Wavelength,” extends from this area to the next peak. One of the areas where the wavelength reaches its lowest point is labeled “Trough.” A vertical bracket, labeled “Amplitude,” extends from the center line to the “Crest” or from the center line to a “Trough.”">
            <a:extLst>
              <a:ext uri="{FF2B5EF4-FFF2-40B4-BE49-F238E27FC236}">
                <a16:creationId xmlns:a16="http://schemas.microsoft.com/office/drawing/2014/main" id="{522C087F-13CA-62F0-2CA9-2A123B39589C}"/>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330724" y="741472"/>
            <a:ext cx="4623788" cy="1633596"/>
          </a:xfrm>
          <a:prstGeom prst="rect">
            <a:avLst/>
          </a:prstGeom>
        </p:spPr>
      </p:pic>
      <p:pic>
        <p:nvPicPr>
          <p:cNvPr id="8" name="Figure" descr="This illustration shows the wavelength, frequency, and size of objects across the electromagnetic spectrum.. At the top, various wavelengths are given in sequence from small to large, with a parallel illustration of a wave with increasing frequency. These are the provided wavelengths, measured in meters: “Gamma ray 10 to the negative twelfth power,” “x-ray 10 to the negative tenth power,” ultraviolet 10 to the negative eighth power,” “visible .5 times 10 to the negative sixth power,” “infrared 10 to the negative fifth power,” microwave 10 to the negative second power,” and “radio 10 cubed.”Another section is labeled “About the size of” and lists from left to right: “Atomic nuclei,” “Atoms,” “Molecules,” “Protozoans,” “Pinpoints,” “Honeybees,” “Humans,” and “Buildings” with an illustration of each . At the bottom is a line labeled “Frequency” with the following measurements in hertz: 10 to the powers of 20, 18, 16, 15, 12, 8, and 4. From left to right the line changes in color from purple to red with the remaining colors of the visible spectrum in between.">
            <a:extLst>
              <a:ext uri="{FF2B5EF4-FFF2-40B4-BE49-F238E27FC236}">
                <a16:creationId xmlns:a16="http://schemas.microsoft.com/office/drawing/2014/main" id="{5FFE3BF7-7E1B-A81B-9CD0-2018CAAB2628}"/>
              </a:ext>
            </a:extLst>
          </p:cNvPr>
          <p:cNvPicPr>
            <a:picLocks noGrp="1" noChangeAspect="1"/>
          </p:cNvPicPr>
          <p:nvPr>
            <p:ph sz="half" idx="2"/>
          </p:nvPr>
        </p:nvPicPr>
        <p:blipFill>
          <a:blip r:embed="rId4" cstate="email">
            <a:extLst>
              <a:ext uri="{28A0092B-C50C-407E-A947-70E740481C1C}">
                <a14:useLocalDpi xmlns:a14="http://schemas.microsoft.com/office/drawing/2010/main" val="0"/>
              </a:ext>
            </a:extLst>
          </a:blip>
          <a:srcRect t="-2382" b="-2382"/>
          <a:stretch>
            <a:fillRect/>
          </a:stretch>
        </p:blipFill>
        <p:spPr>
          <a:xfrm>
            <a:off x="643564" y="3352366"/>
            <a:ext cx="5931408" cy="2572573"/>
          </a:xfrm>
          <a:prstGeom prst="rect">
            <a:avLst/>
          </a:prstGeom>
          <a:noFill/>
          <a:ln>
            <a:noFill/>
          </a:ln>
        </p:spPr>
      </p:pic>
      <p:sp>
        <p:nvSpPr>
          <p:cNvPr id="9" name="TextBox 8">
            <a:extLst>
              <a:ext uri="{FF2B5EF4-FFF2-40B4-BE49-F238E27FC236}">
                <a16:creationId xmlns:a16="http://schemas.microsoft.com/office/drawing/2014/main" id="{60D95170-EEEE-389B-3959-7AC665A289FB}"/>
              </a:ext>
            </a:extLst>
          </p:cNvPr>
          <p:cNvSpPr txBox="1"/>
          <p:nvPr/>
        </p:nvSpPr>
        <p:spPr>
          <a:xfrm>
            <a:off x="7524207" y="3190271"/>
            <a:ext cx="3126377" cy="2585323"/>
          </a:xfrm>
          <a:prstGeom prst="rect">
            <a:avLst/>
          </a:prstGeom>
          <a:noFill/>
        </p:spPr>
        <p:txBody>
          <a:bodyPr wrap="square" rtlCol="0">
            <a:spAutoFit/>
          </a:bodyPr>
          <a:lstStyle/>
          <a:p>
            <a:r>
              <a:rPr lang="en-US" b="1" u="sng" dirty="0"/>
              <a:t>Wavelength</a:t>
            </a:r>
            <a:r>
              <a:rPr lang="en-US" dirty="0"/>
              <a:t> – distance between peaks</a:t>
            </a:r>
          </a:p>
          <a:p>
            <a:r>
              <a:rPr lang="en-US" b="1" u="sng" dirty="0"/>
              <a:t>Amplitude</a:t>
            </a:r>
            <a:r>
              <a:rPr lang="en-US" b="1" dirty="0"/>
              <a:t> </a:t>
            </a:r>
            <a:r>
              <a:rPr lang="en-US" dirty="0"/>
              <a:t>– distance between the center line to a peak; impacts loudness</a:t>
            </a:r>
          </a:p>
          <a:p>
            <a:r>
              <a:rPr lang="en-US" b="1" u="sng" dirty="0"/>
              <a:t>Frequency</a:t>
            </a:r>
            <a:r>
              <a:rPr lang="en-US" dirty="0"/>
              <a:t> – number of waves within a given period of time; impacts pitch</a:t>
            </a:r>
          </a:p>
        </p:txBody>
      </p:sp>
    </p:spTree>
    <p:extLst>
      <p:ext uri="{BB962C8B-B14F-4D97-AF65-F5344CB8AC3E}">
        <p14:creationId xmlns:p14="http://schemas.microsoft.com/office/powerpoint/2010/main" val="3828793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4" name="Figure" descr="An illustration shows the location of the occipital lobe, optic chiasm, optic nerve, and the eyes in relation to their position in the brain and head.">
            <a:extLst>
              <a:ext uri="{FF2B5EF4-FFF2-40B4-BE49-F238E27FC236}">
                <a16:creationId xmlns:a16="http://schemas.microsoft.com/office/drawing/2014/main" id="{D21531F0-FF78-0415-38A5-D1C144CB70C2}"/>
              </a:ext>
            </a:extLst>
          </p:cNvPr>
          <p:cNvPicPr>
            <a:picLocks noChangeAspect="1"/>
          </p:cNvPicPr>
          <p:nvPr/>
        </p:nvPicPr>
        <p:blipFill>
          <a:blip r:embed="rId3" cstate="email">
            <a:extLst>
              <a:ext uri="{28A0092B-C50C-407E-A947-70E740481C1C}">
                <a14:useLocalDpi xmlns:a14="http://schemas.microsoft.com/office/drawing/2010/main" val="0"/>
              </a:ext>
            </a:extLst>
          </a:blip>
          <a:srcRect l="-32881" r="-32881"/>
          <a:stretch>
            <a:fillRect/>
          </a:stretch>
        </p:blipFill>
        <p:spPr>
          <a:xfrm>
            <a:off x="4727102" y="1440293"/>
            <a:ext cx="7655687" cy="3323296"/>
          </a:xfrm>
          <a:prstGeom prst="rect">
            <a:avLst/>
          </a:prstGeom>
        </p:spPr>
      </p:pic>
      <p:sp>
        <p:nvSpPr>
          <p:cNvPr id="2" name="Title 1">
            <a:extLst>
              <a:ext uri="{FF2B5EF4-FFF2-40B4-BE49-F238E27FC236}">
                <a16:creationId xmlns:a16="http://schemas.microsoft.com/office/drawing/2014/main" id="{5BF70C58-B193-4779-8EBE-7F34237799C9}"/>
              </a:ext>
            </a:extLst>
          </p:cNvPr>
          <p:cNvSpPr>
            <a:spLocks noGrp="1"/>
          </p:cNvSpPr>
          <p:nvPr>
            <p:ph type="title"/>
          </p:nvPr>
        </p:nvSpPr>
        <p:spPr>
          <a:xfrm>
            <a:off x="1132296" y="5662480"/>
            <a:ext cx="7831992" cy="551528"/>
          </a:xfrm>
        </p:spPr>
        <p:txBody>
          <a:bodyPr vert="horz" lIns="91440" tIns="45720" rIns="91440" bIns="0" rtlCol="0" anchor="b">
            <a:normAutofit/>
          </a:bodyPr>
          <a:lstStyle/>
          <a:p>
            <a:r>
              <a:rPr lang="en-US" sz="3600" dirty="0"/>
              <a:t>Anatomy of the Eye</a:t>
            </a:r>
          </a:p>
        </p:txBody>
      </p:sp>
      <p:pic>
        <p:nvPicPr>
          <p:cNvPr id="2050" name="Picture 2" descr="Different parts of the eye are labeled in this illustration. The cornea, pupil, iris, and lens are situated toward the front of the eye, and at the back are the optic nerve, fovea, and retina.">
            <a:extLst>
              <a:ext uri="{FF2B5EF4-FFF2-40B4-BE49-F238E27FC236}">
                <a16:creationId xmlns:a16="http://schemas.microsoft.com/office/drawing/2014/main" id="{F2695025-696E-47C0-895B-1E2BDF21790A}"/>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tretch>
            <a:fillRect/>
          </a:stretch>
        </p:blipFill>
        <p:spPr bwMode="auto">
          <a:xfrm>
            <a:off x="484665" y="1590842"/>
            <a:ext cx="4792729" cy="3402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0169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C12B3-088B-4AC1-9304-CD50853103C1}"/>
              </a:ext>
            </a:extLst>
          </p:cNvPr>
          <p:cNvSpPr>
            <a:spLocks noGrp="1"/>
          </p:cNvSpPr>
          <p:nvPr>
            <p:ph type="title"/>
          </p:nvPr>
        </p:nvSpPr>
        <p:spPr/>
        <p:txBody>
          <a:bodyPr/>
          <a:lstStyle/>
          <a:p>
            <a:r>
              <a:rPr lang="en-US" dirty="0"/>
              <a:t>Color Vision</a:t>
            </a:r>
          </a:p>
        </p:txBody>
      </p:sp>
      <p:sp>
        <p:nvSpPr>
          <p:cNvPr id="3" name="Text Placeholder 2">
            <a:extLst>
              <a:ext uri="{FF2B5EF4-FFF2-40B4-BE49-F238E27FC236}">
                <a16:creationId xmlns:a16="http://schemas.microsoft.com/office/drawing/2014/main" id="{F732C113-B8A1-4989-B49C-6B2EA254FC14}"/>
              </a:ext>
            </a:extLst>
          </p:cNvPr>
          <p:cNvSpPr>
            <a:spLocks noGrp="1"/>
          </p:cNvSpPr>
          <p:nvPr>
            <p:ph type="body" idx="1"/>
          </p:nvPr>
        </p:nvSpPr>
        <p:spPr/>
        <p:txBody>
          <a:bodyPr>
            <a:normAutofit/>
          </a:bodyPr>
          <a:lstStyle/>
          <a:p>
            <a:r>
              <a:rPr lang="en-US" dirty="0"/>
              <a:t>Trichromatic Theory</a:t>
            </a:r>
          </a:p>
        </p:txBody>
      </p:sp>
      <p:sp>
        <p:nvSpPr>
          <p:cNvPr id="4" name="Content Placeholder 3">
            <a:extLst>
              <a:ext uri="{FF2B5EF4-FFF2-40B4-BE49-F238E27FC236}">
                <a16:creationId xmlns:a16="http://schemas.microsoft.com/office/drawing/2014/main" id="{19CEF83A-61D0-4129-B22D-3B6FED9132CA}"/>
              </a:ext>
            </a:extLst>
          </p:cNvPr>
          <p:cNvSpPr>
            <a:spLocks noGrp="1"/>
          </p:cNvSpPr>
          <p:nvPr>
            <p:ph sz="half" idx="2"/>
          </p:nvPr>
        </p:nvSpPr>
        <p:spPr/>
        <p:txBody>
          <a:bodyPr/>
          <a:lstStyle/>
          <a:p>
            <a:r>
              <a:rPr lang="en-US" dirty="0"/>
              <a:t>All colors in the spectrum can be produced by combining red, green, and blue.</a:t>
            </a:r>
          </a:p>
        </p:txBody>
      </p:sp>
      <p:sp>
        <p:nvSpPr>
          <p:cNvPr id="5" name="Text Placeholder 4">
            <a:extLst>
              <a:ext uri="{FF2B5EF4-FFF2-40B4-BE49-F238E27FC236}">
                <a16:creationId xmlns:a16="http://schemas.microsoft.com/office/drawing/2014/main" id="{756BA907-1890-4E59-9C9F-AC2AACBD2A03}"/>
              </a:ext>
            </a:extLst>
          </p:cNvPr>
          <p:cNvSpPr>
            <a:spLocks noGrp="1"/>
          </p:cNvSpPr>
          <p:nvPr>
            <p:ph type="body" sz="quarter" idx="3"/>
          </p:nvPr>
        </p:nvSpPr>
        <p:spPr/>
        <p:txBody>
          <a:bodyPr>
            <a:normAutofit/>
          </a:bodyPr>
          <a:lstStyle/>
          <a:p>
            <a:r>
              <a:rPr lang="en-US" dirty="0"/>
              <a:t>Opponent-Process Theory</a:t>
            </a:r>
          </a:p>
        </p:txBody>
      </p:sp>
      <p:sp>
        <p:nvSpPr>
          <p:cNvPr id="6" name="Content Placeholder 5">
            <a:extLst>
              <a:ext uri="{FF2B5EF4-FFF2-40B4-BE49-F238E27FC236}">
                <a16:creationId xmlns:a16="http://schemas.microsoft.com/office/drawing/2014/main" id="{3DBAF9B6-C0A3-404F-ADE9-32B56C218AD3}"/>
              </a:ext>
            </a:extLst>
          </p:cNvPr>
          <p:cNvSpPr>
            <a:spLocks noGrp="1"/>
          </p:cNvSpPr>
          <p:nvPr>
            <p:ph sz="quarter" idx="4"/>
          </p:nvPr>
        </p:nvSpPr>
        <p:spPr/>
        <p:txBody>
          <a:bodyPr/>
          <a:lstStyle/>
          <a:p>
            <a:r>
              <a:rPr lang="en-US" dirty="0"/>
              <a:t>Color is coded in opponent pairs: black-white, yellow-blue, and green-red.</a:t>
            </a:r>
          </a:p>
          <a:p>
            <a:pPr lvl="1"/>
            <a:r>
              <a:rPr lang="en-US" dirty="0"/>
              <a:t>Cells excited by green wavelengths would be inhibited by red</a:t>
            </a:r>
          </a:p>
          <a:p>
            <a:pPr lvl="1"/>
            <a:r>
              <a:rPr lang="en-US" dirty="0"/>
              <a:t>Leads to afterimages </a:t>
            </a:r>
          </a:p>
        </p:txBody>
      </p:sp>
      <p:pic>
        <p:nvPicPr>
          <p:cNvPr id="7" name="Picture 6" descr="A graph is shown with “sensitivity” plotted on the y-axis and “Wavelength” in nanometers plotted along the x-axis with measurements of 400, 500, 600, and 700. Three lines in different colors move from the base to the peak of the y axis, and back to the base. The blue line begins at 400 nm and hits its peak of sensitivity around 455 nanometers, before the sensitivity drops off at roughly the same rate at which it increased, returning to the lowest sensitivity around 530 nm . The green line begins at 400 nm and reaches its peak of sensitivity around 535 nanometers. Its sensitivity then decreases at roughly the same rate at which it increased, returning to the lowest sensitivity around 650 nm. The red line follows the same pattern as the first two, beginning at 400 nm, increasing and decreasing at the same rate, and it hits its height of sensitivity around 580 nanometers. Below this graph is a horizontal bar showing the colors of the visible spectrum.">
            <a:extLst>
              <a:ext uri="{FF2B5EF4-FFF2-40B4-BE49-F238E27FC236}">
                <a16:creationId xmlns:a16="http://schemas.microsoft.com/office/drawing/2014/main" id="{BC1121EF-53B5-B0FF-AB92-0E6FF3861E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3213" y="3371727"/>
            <a:ext cx="4480560" cy="3120513"/>
          </a:xfrm>
          <a:prstGeom prst="rect">
            <a:avLst/>
          </a:prstGeom>
        </p:spPr>
      </p:pic>
    </p:spTree>
    <p:extLst>
      <p:ext uri="{BB962C8B-B14F-4D97-AF65-F5344CB8AC3E}">
        <p14:creationId xmlns:p14="http://schemas.microsoft.com/office/powerpoint/2010/main" val="3508122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B9296-68EF-482C-8334-8B51CF9E8335}"/>
              </a:ext>
            </a:extLst>
          </p:cNvPr>
          <p:cNvSpPr>
            <a:spLocks noGrp="1"/>
          </p:cNvSpPr>
          <p:nvPr>
            <p:ph type="title"/>
          </p:nvPr>
        </p:nvSpPr>
        <p:spPr>
          <a:xfrm>
            <a:off x="7218030" y="957219"/>
            <a:ext cx="3848610" cy="1049235"/>
          </a:xfrm>
        </p:spPr>
        <p:txBody>
          <a:bodyPr>
            <a:normAutofit fontScale="90000"/>
          </a:bodyPr>
          <a:lstStyle/>
          <a:p>
            <a:r>
              <a:rPr lang="en-US" dirty="0"/>
              <a:t>Depth Perception</a:t>
            </a:r>
          </a:p>
        </p:txBody>
      </p:sp>
      <p:sp>
        <p:nvSpPr>
          <p:cNvPr id="8" name="Content Placeholder 7">
            <a:extLst>
              <a:ext uri="{FF2B5EF4-FFF2-40B4-BE49-F238E27FC236}">
                <a16:creationId xmlns:a16="http://schemas.microsoft.com/office/drawing/2014/main" id="{F5A5C324-C97B-432D-8A1D-E7C48254CC84}"/>
              </a:ext>
            </a:extLst>
          </p:cNvPr>
          <p:cNvSpPr>
            <a:spLocks noGrp="1"/>
          </p:cNvSpPr>
          <p:nvPr>
            <p:ph idx="1"/>
          </p:nvPr>
        </p:nvSpPr>
        <p:spPr>
          <a:xfrm>
            <a:off x="7218028" y="2164761"/>
            <a:ext cx="3848611" cy="3301584"/>
          </a:xfrm>
        </p:spPr>
        <p:txBody>
          <a:bodyPr>
            <a:normAutofit/>
          </a:bodyPr>
          <a:lstStyle/>
          <a:p>
            <a:r>
              <a:rPr lang="en-US" dirty="0"/>
              <a:t>Binocular cues vs. monocular cues</a:t>
            </a:r>
          </a:p>
          <a:p>
            <a:r>
              <a:rPr lang="en-US" dirty="0"/>
              <a:t>Linear perspective</a:t>
            </a:r>
          </a:p>
          <a:p>
            <a:endParaRPr lang="en-US" dirty="0"/>
          </a:p>
        </p:txBody>
      </p:sp>
      <p:pic>
        <p:nvPicPr>
          <p:cNvPr id="4098" name="Picture 2" descr="A photograph shows an empty road that continues toward the horizon.">
            <a:extLst>
              <a:ext uri="{FF2B5EF4-FFF2-40B4-BE49-F238E27FC236}">
                <a16:creationId xmlns:a16="http://schemas.microsoft.com/office/drawing/2014/main" id="{1367D7A2-0E39-4209-BA9B-D8C2593441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3" r="24775"/>
          <a:stretch/>
        </p:blipFill>
        <p:spPr bwMode="auto">
          <a:xfrm>
            <a:off x="1271223" y="1116345"/>
            <a:ext cx="4825148" cy="3866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3579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17CF4-5C81-4603-A3F9-4AF7406E4BD7}"/>
              </a:ext>
            </a:extLst>
          </p:cNvPr>
          <p:cNvSpPr>
            <a:spLocks noGrp="1"/>
          </p:cNvSpPr>
          <p:nvPr>
            <p:ph type="title"/>
          </p:nvPr>
        </p:nvSpPr>
        <p:spPr>
          <a:xfrm>
            <a:off x="659301" y="988098"/>
            <a:ext cx="2840114" cy="2407723"/>
          </a:xfrm>
        </p:spPr>
        <p:txBody>
          <a:bodyPr vert="horz" lIns="91440" tIns="45720" rIns="91440" bIns="0" rtlCol="0" anchor="b">
            <a:normAutofit/>
          </a:bodyPr>
          <a:lstStyle/>
          <a:p>
            <a:r>
              <a:rPr lang="en-US" sz="3600"/>
              <a:t>Anatomy of the Ear</a:t>
            </a:r>
          </a:p>
        </p:txBody>
      </p:sp>
      <p:pic>
        <p:nvPicPr>
          <p:cNvPr id="5122" name="Picture 2" descr="An illustration shows sound waves entering the “auditory canal” and traveling to the inner ear. The locations of the “pinna,” “tympanic membrane (eardrum)” are labeled, as well as parts of the inner ear: the “ossicles” and its subparts, the “malleus,” “incus,” and “stapes.” A callout leads to a close-up illustration of the inner ear that shows the locations of the “semicircular canals,” “uticle,” “oval window,” “saccule,” “cochlea,” and the “basilar membrane and hair cells.”">
            <a:extLst>
              <a:ext uri="{FF2B5EF4-FFF2-40B4-BE49-F238E27FC236}">
                <a16:creationId xmlns:a16="http://schemas.microsoft.com/office/drawing/2014/main" id="{7819CE06-336A-4429-BC9B-C9C02E97EA1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4618374" y="1745725"/>
            <a:ext cx="6282919" cy="2607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3118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70B9DD-7579-43AA-BB4E-E1A3D1BEA988}"/>
              </a:ext>
            </a:extLst>
          </p:cNvPr>
          <p:cNvSpPr>
            <a:spLocks noGrp="1"/>
          </p:cNvSpPr>
          <p:nvPr>
            <p:ph type="title"/>
          </p:nvPr>
        </p:nvSpPr>
        <p:spPr/>
        <p:txBody>
          <a:bodyPr/>
          <a:lstStyle/>
          <a:p>
            <a:r>
              <a:rPr lang="en-US" dirty="0"/>
              <a:t>Pitch Perception</a:t>
            </a:r>
          </a:p>
        </p:txBody>
      </p:sp>
      <p:sp>
        <p:nvSpPr>
          <p:cNvPr id="5" name="Text Placeholder 4">
            <a:extLst>
              <a:ext uri="{FF2B5EF4-FFF2-40B4-BE49-F238E27FC236}">
                <a16:creationId xmlns:a16="http://schemas.microsoft.com/office/drawing/2014/main" id="{920098A2-5EDC-4F83-9D45-DF4B1FCEFE5C}"/>
              </a:ext>
            </a:extLst>
          </p:cNvPr>
          <p:cNvSpPr>
            <a:spLocks noGrp="1"/>
          </p:cNvSpPr>
          <p:nvPr>
            <p:ph type="body" idx="1"/>
          </p:nvPr>
        </p:nvSpPr>
        <p:spPr/>
        <p:txBody>
          <a:bodyPr/>
          <a:lstStyle/>
          <a:p>
            <a:r>
              <a:rPr lang="en-US" dirty="0"/>
              <a:t>Temporal Theory</a:t>
            </a:r>
          </a:p>
        </p:txBody>
      </p:sp>
      <p:sp>
        <p:nvSpPr>
          <p:cNvPr id="6" name="Content Placeholder 5">
            <a:extLst>
              <a:ext uri="{FF2B5EF4-FFF2-40B4-BE49-F238E27FC236}">
                <a16:creationId xmlns:a16="http://schemas.microsoft.com/office/drawing/2014/main" id="{6727180D-E1D8-4227-9CD0-746EAEB074B7}"/>
              </a:ext>
            </a:extLst>
          </p:cNvPr>
          <p:cNvSpPr>
            <a:spLocks noGrp="1"/>
          </p:cNvSpPr>
          <p:nvPr>
            <p:ph sz="half" idx="2"/>
          </p:nvPr>
        </p:nvSpPr>
        <p:spPr/>
        <p:txBody>
          <a:bodyPr/>
          <a:lstStyle/>
          <a:p>
            <a:r>
              <a:rPr lang="en-US" dirty="0"/>
              <a:t>Frequency is coded by the activity level of a sensory neuron</a:t>
            </a:r>
          </a:p>
          <a:p>
            <a:pPr lvl="1"/>
            <a:r>
              <a:rPr lang="en-US" dirty="0"/>
              <a:t>A given hair cell would fire action potentials related to the frequency of the sound wave.</a:t>
            </a:r>
          </a:p>
        </p:txBody>
      </p:sp>
      <p:sp>
        <p:nvSpPr>
          <p:cNvPr id="7" name="Text Placeholder 6">
            <a:extLst>
              <a:ext uri="{FF2B5EF4-FFF2-40B4-BE49-F238E27FC236}">
                <a16:creationId xmlns:a16="http://schemas.microsoft.com/office/drawing/2014/main" id="{FD8F07D6-6A7F-4D7F-BA74-204376C25303}"/>
              </a:ext>
            </a:extLst>
          </p:cNvPr>
          <p:cNvSpPr>
            <a:spLocks noGrp="1"/>
          </p:cNvSpPr>
          <p:nvPr>
            <p:ph type="body" sz="quarter" idx="3"/>
          </p:nvPr>
        </p:nvSpPr>
        <p:spPr/>
        <p:txBody>
          <a:bodyPr/>
          <a:lstStyle/>
          <a:p>
            <a:r>
              <a:rPr lang="en-US" dirty="0"/>
              <a:t>Place Theory</a:t>
            </a:r>
          </a:p>
        </p:txBody>
      </p:sp>
      <p:sp>
        <p:nvSpPr>
          <p:cNvPr id="8" name="Content Placeholder 7">
            <a:extLst>
              <a:ext uri="{FF2B5EF4-FFF2-40B4-BE49-F238E27FC236}">
                <a16:creationId xmlns:a16="http://schemas.microsoft.com/office/drawing/2014/main" id="{C734E8CC-CE00-47CD-8BBC-71665AAD2F54}"/>
              </a:ext>
            </a:extLst>
          </p:cNvPr>
          <p:cNvSpPr>
            <a:spLocks noGrp="1"/>
          </p:cNvSpPr>
          <p:nvPr>
            <p:ph sz="quarter" idx="4"/>
          </p:nvPr>
        </p:nvSpPr>
        <p:spPr/>
        <p:txBody>
          <a:bodyPr/>
          <a:lstStyle/>
          <a:p>
            <a:r>
              <a:rPr lang="en-US" dirty="0"/>
              <a:t>Different portions of the basilar membrane are sensitive to sounds of different frequencies</a:t>
            </a:r>
          </a:p>
          <a:p>
            <a:pPr lvl="1"/>
            <a:r>
              <a:rPr lang="en-US" dirty="0"/>
              <a:t>Location of hair determines frequency processed</a:t>
            </a:r>
          </a:p>
        </p:txBody>
      </p:sp>
    </p:spTree>
    <p:extLst>
      <p:ext uri="{BB962C8B-B14F-4D97-AF65-F5344CB8AC3E}">
        <p14:creationId xmlns:p14="http://schemas.microsoft.com/office/powerpoint/2010/main" val="1482521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D0B679F-97A3-4DCC-852B-8EAFA50B243B}"/>
              </a:ext>
            </a:extLst>
          </p:cNvPr>
          <p:cNvSpPr>
            <a:spLocks noGrp="1"/>
          </p:cNvSpPr>
          <p:nvPr>
            <p:ph type="title"/>
          </p:nvPr>
        </p:nvSpPr>
        <p:spPr>
          <a:xfrm>
            <a:off x="1451579" y="2303047"/>
            <a:ext cx="3272093" cy="2674198"/>
          </a:xfrm>
        </p:spPr>
        <p:txBody>
          <a:bodyPr anchor="t">
            <a:normAutofit/>
          </a:bodyPr>
          <a:lstStyle/>
          <a:p>
            <a:r>
              <a:rPr lang="en-US"/>
              <a:t>Sound Localization</a:t>
            </a:r>
          </a:p>
        </p:txBody>
      </p:sp>
      <p:graphicFrame>
        <p:nvGraphicFramePr>
          <p:cNvPr id="10" name="Content Placeholder 7">
            <a:extLst>
              <a:ext uri="{FF2B5EF4-FFF2-40B4-BE49-F238E27FC236}">
                <a16:creationId xmlns:a16="http://schemas.microsoft.com/office/drawing/2014/main" id="{D7A549D1-E451-4B82-9740-F3CE4468C67F}"/>
              </a:ext>
            </a:extLst>
          </p:cNvPr>
          <p:cNvGraphicFramePr>
            <a:graphicFrameLocks noGrp="1"/>
          </p:cNvGraphicFramePr>
          <p:nvPr>
            <p:ph idx="1"/>
            <p:extLst>
              <p:ext uri="{D42A27DB-BD31-4B8C-83A1-F6EECF244321}">
                <p14:modId xmlns:p14="http://schemas.microsoft.com/office/powerpoint/2010/main" val="4234382920"/>
              </p:ext>
            </p:extLst>
          </p:nvPr>
        </p:nvGraphicFramePr>
        <p:xfrm>
          <a:off x="5141913" y="803275"/>
          <a:ext cx="5913437" cy="4637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39252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2E8C8-C469-47D5-B4C8-06D81853B1DB}"/>
              </a:ext>
            </a:extLst>
          </p:cNvPr>
          <p:cNvSpPr>
            <a:spLocks noGrp="1"/>
          </p:cNvSpPr>
          <p:nvPr>
            <p:ph type="title"/>
          </p:nvPr>
        </p:nvSpPr>
        <p:spPr/>
        <p:txBody>
          <a:bodyPr/>
          <a:lstStyle/>
          <a:p>
            <a:r>
              <a:rPr lang="en-US" dirty="0"/>
              <a:t>Hearing Loss</a:t>
            </a:r>
          </a:p>
        </p:txBody>
      </p:sp>
      <p:sp>
        <p:nvSpPr>
          <p:cNvPr id="3" name="Content Placeholder 2">
            <a:extLst>
              <a:ext uri="{FF2B5EF4-FFF2-40B4-BE49-F238E27FC236}">
                <a16:creationId xmlns:a16="http://schemas.microsoft.com/office/drawing/2014/main" id="{27720D04-E2EA-478A-B0EC-A0953BAD361B}"/>
              </a:ext>
            </a:extLst>
          </p:cNvPr>
          <p:cNvSpPr>
            <a:spLocks noGrp="1"/>
          </p:cNvSpPr>
          <p:nvPr>
            <p:ph idx="1"/>
          </p:nvPr>
        </p:nvSpPr>
        <p:spPr/>
        <p:txBody>
          <a:bodyPr>
            <a:normAutofit/>
          </a:bodyPr>
          <a:lstStyle/>
          <a:p>
            <a:r>
              <a:rPr lang="en-US" sz="2800" dirty="0"/>
              <a:t>Congenital deafness</a:t>
            </a:r>
          </a:p>
          <a:p>
            <a:r>
              <a:rPr lang="en-US" sz="2800" dirty="0"/>
              <a:t>Conductive hearing loss</a:t>
            </a:r>
          </a:p>
          <a:p>
            <a:r>
              <a:rPr lang="en-US" sz="2800" dirty="0"/>
              <a:t>Sensorineural hearing loss </a:t>
            </a:r>
          </a:p>
          <a:p>
            <a:r>
              <a:rPr lang="en-US" sz="2800" dirty="0"/>
              <a:t>Ménière's disease</a:t>
            </a:r>
          </a:p>
          <a:p>
            <a:pPr lvl="1"/>
            <a:r>
              <a:rPr lang="en-US" sz="2600" dirty="0"/>
              <a:t>Symptoms can include tinnitus, vertigo, and inner ear pressure</a:t>
            </a:r>
          </a:p>
        </p:txBody>
      </p:sp>
    </p:spTree>
    <p:extLst>
      <p:ext uri="{BB962C8B-B14F-4D97-AF65-F5344CB8AC3E}">
        <p14:creationId xmlns:p14="http://schemas.microsoft.com/office/powerpoint/2010/main" val="3518132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DED58-CEE9-4A05-8253-772F9D2ADCED}"/>
              </a:ext>
            </a:extLst>
          </p:cNvPr>
          <p:cNvSpPr>
            <a:spLocks noGrp="1"/>
          </p:cNvSpPr>
          <p:nvPr>
            <p:ph type="title"/>
          </p:nvPr>
        </p:nvSpPr>
        <p:spPr>
          <a:xfrm>
            <a:off x="7218030" y="957219"/>
            <a:ext cx="3848610" cy="1049235"/>
          </a:xfrm>
        </p:spPr>
        <p:txBody>
          <a:bodyPr>
            <a:normAutofit/>
          </a:bodyPr>
          <a:lstStyle/>
          <a:p>
            <a:r>
              <a:rPr lang="en-US" dirty="0"/>
              <a:t>Taste</a:t>
            </a:r>
          </a:p>
        </p:txBody>
      </p:sp>
      <p:sp>
        <p:nvSpPr>
          <p:cNvPr id="3" name="Content Placeholder 2">
            <a:extLst>
              <a:ext uri="{FF2B5EF4-FFF2-40B4-BE49-F238E27FC236}">
                <a16:creationId xmlns:a16="http://schemas.microsoft.com/office/drawing/2014/main" id="{CAB81651-6AFC-4112-8A60-3E3AA5197345}"/>
              </a:ext>
            </a:extLst>
          </p:cNvPr>
          <p:cNvSpPr>
            <a:spLocks noGrp="1"/>
          </p:cNvSpPr>
          <p:nvPr>
            <p:ph idx="1"/>
          </p:nvPr>
        </p:nvSpPr>
        <p:spPr>
          <a:xfrm>
            <a:off x="7218028" y="2164761"/>
            <a:ext cx="3848611" cy="3301584"/>
          </a:xfrm>
        </p:spPr>
        <p:txBody>
          <a:bodyPr>
            <a:normAutofit/>
          </a:bodyPr>
          <a:lstStyle/>
          <a:p>
            <a:r>
              <a:rPr lang="en-US" dirty="0"/>
              <a:t>Sweet</a:t>
            </a:r>
          </a:p>
          <a:p>
            <a:r>
              <a:rPr lang="en-US" dirty="0"/>
              <a:t>Salty</a:t>
            </a:r>
          </a:p>
          <a:p>
            <a:r>
              <a:rPr lang="en-US" dirty="0"/>
              <a:t>Sour</a:t>
            </a:r>
          </a:p>
          <a:p>
            <a:r>
              <a:rPr lang="en-US" dirty="0"/>
              <a:t>Bitter</a:t>
            </a:r>
          </a:p>
          <a:p>
            <a:r>
              <a:rPr lang="en-US" dirty="0"/>
              <a:t>Umami</a:t>
            </a:r>
          </a:p>
          <a:p>
            <a:r>
              <a:rPr lang="en-US" dirty="0"/>
              <a:t>Fatty</a:t>
            </a:r>
          </a:p>
        </p:txBody>
      </p:sp>
      <p:pic>
        <p:nvPicPr>
          <p:cNvPr id="6146" name="Picture 2" descr="Illustration A shows a taste bud in an opening of the tongue, with the “tongue surface,” “taste pore,” “taste receptor cell” and “nerves” labeled. Part B is a micrograph showing taste buds on a human tongue.">
            <a:extLst>
              <a:ext uri="{FF2B5EF4-FFF2-40B4-BE49-F238E27FC236}">
                <a16:creationId xmlns:a16="http://schemas.microsoft.com/office/drawing/2014/main" id="{8491A6FC-8991-49DC-B082-67513EFA80B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271223" y="1782830"/>
            <a:ext cx="4825148" cy="2533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0900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04800-E1D7-40AA-8C6B-428E0CEA9945}"/>
              </a:ext>
            </a:extLst>
          </p:cNvPr>
          <p:cNvSpPr>
            <a:spLocks noGrp="1"/>
          </p:cNvSpPr>
          <p:nvPr>
            <p:ph type="title"/>
          </p:nvPr>
        </p:nvSpPr>
        <p:spPr>
          <a:xfrm>
            <a:off x="659301" y="988098"/>
            <a:ext cx="2840114" cy="2407723"/>
          </a:xfrm>
        </p:spPr>
        <p:txBody>
          <a:bodyPr vert="horz" lIns="91440" tIns="45720" rIns="91440" bIns="0" rtlCol="0" anchor="b">
            <a:normAutofit/>
          </a:bodyPr>
          <a:lstStyle/>
          <a:p>
            <a:r>
              <a:rPr lang="en-US" sz="3600"/>
              <a:t>Smell</a:t>
            </a:r>
          </a:p>
        </p:txBody>
      </p:sp>
      <p:pic>
        <p:nvPicPr>
          <p:cNvPr id="7170" name="Picture 2" descr="An illustration shows a side view of a human head and the location of the “nasal cavity,” “olfactory receptors,” and “olfactory bulb.”">
            <a:extLst>
              <a:ext uri="{FF2B5EF4-FFF2-40B4-BE49-F238E27FC236}">
                <a16:creationId xmlns:a16="http://schemas.microsoft.com/office/drawing/2014/main" id="{C95A59EA-79F3-4784-AFDA-DA156FCDFB5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4751139" y="1116345"/>
            <a:ext cx="6017388" cy="3866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4414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3D5A0-4594-4A19-84E6-2A2C227DE4F4}"/>
              </a:ext>
            </a:extLst>
          </p:cNvPr>
          <p:cNvSpPr>
            <a:spLocks noGrp="1"/>
          </p:cNvSpPr>
          <p:nvPr>
            <p:ph type="title"/>
          </p:nvPr>
        </p:nvSpPr>
        <p:spPr>
          <a:xfrm>
            <a:off x="661251" y="1474970"/>
            <a:ext cx="2821967" cy="3144914"/>
          </a:xfrm>
        </p:spPr>
        <p:txBody>
          <a:bodyPr vert="horz" lIns="91440" tIns="45720" rIns="91440" bIns="45720" rtlCol="0" anchor="ctr">
            <a:normAutofit/>
          </a:bodyPr>
          <a:lstStyle/>
          <a:p>
            <a:r>
              <a:rPr lang="en-US" sz="2700"/>
              <a:t>Touch, Thermoception, and Nociception</a:t>
            </a:r>
          </a:p>
        </p:txBody>
      </p:sp>
      <p:pic>
        <p:nvPicPr>
          <p:cNvPr id="8194" name="Picture 2" descr="An illustration shows “skin surface” underneath which different receptors are identified: the “pacinian corpuscle,” “ruffini corpuscle,” “merkel’s disk,” and “meissner’s corpuscle.”">
            <a:extLst>
              <a:ext uri="{FF2B5EF4-FFF2-40B4-BE49-F238E27FC236}">
                <a16:creationId xmlns:a16="http://schemas.microsoft.com/office/drawing/2014/main" id="{48838B44-90B2-4D10-862A-D97D710F0BD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4618374" y="1290214"/>
            <a:ext cx="6282919" cy="3518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9431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9A590-BEC5-4520-BA17-6586D7F7357F}"/>
              </a:ext>
            </a:extLst>
          </p:cNvPr>
          <p:cNvSpPr>
            <a:spLocks noGrp="1"/>
          </p:cNvSpPr>
          <p:nvPr>
            <p:ph type="title"/>
          </p:nvPr>
        </p:nvSpPr>
        <p:spPr>
          <a:xfrm>
            <a:off x="661251" y="1474970"/>
            <a:ext cx="2821967" cy="3144914"/>
          </a:xfrm>
        </p:spPr>
        <p:txBody>
          <a:bodyPr vert="horz" lIns="91440" tIns="45720" rIns="91440" bIns="45720" rtlCol="0" anchor="ctr">
            <a:normAutofit/>
          </a:bodyPr>
          <a:lstStyle/>
          <a:p>
            <a:r>
              <a:rPr lang="en-US" sz="2700"/>
              <a:t>The Vestibular Sense, Proprioception, and Kinesthesia</a:t>
            </a:r>
          </a:p>
        </p:txBody>
      </p:sp>
      <p:pic>
        <p:nvPicPr>
          <p:cNvPr id="9218" name="Picture 2" descr="An illustration of the vestibular system shows the locations of the three canals (“posterior canal,” “horizontal canal,” and “superior canal”) and the locations of the “urticle,” “oval window,” “cochlea,” “basilar membrane and hair cells,” “saccule,” and “vestibule.”">
            <a:extLst>
              <a:ext uri="{FF2B5EF4-FFF2-40B4-BE49-F238E27FC236}">
                <a16:creationId xmlns:a16="http://schemas.microsoft.com/office/drawing/2014/main" id="{3F1921FF-2068-4D93-9E88-9DA96686AC9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544262" y="1116345"/>
            <a:ext cx="4431142" cy="3866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4238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750093-C5DF-41CF-B025-DBEB7A635D35}"/>
              </a:ext>
            </a:extLst>
          </p:cNvPr>
          <p:cNvSpPr>
            <a:spLocks noGrp="1"/>
          </p:cNvSpPr>
          <p:nvPr>
            <p:ph type="title"/>
          </p:nvPr>
        </p:nvSpPr>
        <p:spPr>
          <a:xfrm>
            <a:off x="1546222" y="1559194"/>
            <a:ext cx="9099255" cy="2596730"/>
          </a:xfrm>
        </p:spPr>
        <p:txBody>
          <a:bodyPr vert="horz" lIns="91440" tIns="45720" rIns="91440" bIns="0" rtlCol="0" anchor="ctr">
            <a:normAutofit/>
          </a:bodyPr>
          <a:lstStyle/>
          <a:p>
            <a:pPr algn="ctr"/>
            <a:r>
              <a:rPr lang="en-US" sz="8000" dirty="0"/>
              <a:t>What is Gestalt psychology?</a:t>
            </a:r>
          </a:p>
        </p:txBody>
      </p:sp>
    </p:spTree>
    <p:extLst>
      <p:ext uri="{BB962C8B-B14F-4D97-AF65-F5344CB8AC3E}">
        <p14:creationId xmlns:p14="http://schemas.microsoft.com/office/powerpoint/2010/main" val="1489264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D9B91-A3EF-498A-BF89-76B805F3C9C7}"/>
              </a:ext>
            </a:extLst>
          </p:cNvPr>
          <p:cNvSpPr>
            <a:spLocks noGrp="1"/>
          </p:cNvSpPr>
          <p:nvPr>
            <p:ph type="title"/>
          </p:nvPr>
        </p:nvSpPr>
        <p:spPr>
          <a:xfrm>
            <a:off x="1128413" y="988098"/>
            <a:ext cx="4495380" cy="2407724"/>
          </a:xfrm>
        </p:spPr>
        <p:txBody>
          <a:bodyPr vert="horz" lIns="91440" tIns="45720" rIns="91440" bIns="0" rtlCol="0" anchor="b">
            <a:normAutofit/>
          </a:bodyPr>
          <a:lstStyle/>
          <a:p>
            <a:r>
              <a:rPr lang="en-US" sz="4800"/>
              <a:t>Figure-Ground Relationship</a:t>
            </a:r>
          </a:p>
        </p:txBody>
      </p:sp>
      <p:pic>
        <p:nvPicPr>
          <p:cNvPr id="10242" name="Picture 2" descr="An illustration shows two identical black face-like shapes that face towards one another, and one white vase-like shape that occupies all of the space in between them. Depending on which part of the illustration is focused on, either the black shapes or the white shape may appear to be the object of the illustration, leaving the other(s) perceived as negative space.">
            <a:extLst>
              <a:ext uri="{FF2B5EF4-FFF2-40B4-BE49-F238E27FC236}">
                <a16:creationId xmlns:a16="http://schemas.microsoft.com/office/drawing/2014/main" id="{92DC4D35-CC60-4B62-BD86-B7A8A2B2345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59729" y="805583"/>
            <a:ext cx="4829805" cy="4660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429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7F263-2B24-42BA-A6C0-CF26EAB5EBE6}"/>
              </a:ext>
            </a:extLst>
          </p:cNvPr>
          <p:cNvSpPr>
            <a:spLocks noGrp="1"/>
          </p:cNvSpPr>
          <p:nvPr>
            <p:ph type="title"/>
          </p:nvPr>
        </p:nvSpPr>
        <p:spPr>
          <a:xfrm>
            <a:off x="1128413" y="988098"/>
            <a:ext cx="4495380" cy="2407724"/>
          </a:xfrm>
        </p:spPr>
        <p:txBody>
          <a:bodyPr vert="horz" lIns="91440" tIns="45720" rIns="91440" bIns="0" rtlCol="0" anchor="b">
            <a:normAutofit/>
          </a:bodyPr>
          <a:lstStyle/>
          <a:p>
            <a:r>
              <a:rPr lang="en-US" sz="4800"/>
              <a:t>The Principle of Proximity</a:t>
            </a:r>
          </a:p>
        </p:txBody>
      </p:sp>
      <p:pic>
        <p:nvPicPr>
          <p:cNvPr id="11266" name="Picture 2" descr="Illustration A shows thirty-six dots in six evenly-spaced rows and columns. Illustration B shows thirty-six dots in six evenly-spaced rows but with the columns separated into three sets of two columns.">
            <a:extLst>
              <a:ext uri="{FF2B5EF4-FFF2-40B4-BE49-F238E27FC236}">
                <a16:creationId xmlns:a16="http://schemas.microsoft.com/office/drawing/2014/main" id="{6215DF07-7F85-464B-BB8D-BA7CFB70A07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6094411" y="1895853"/>
            <a:ext cx="4960442" cy="2480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506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BB3E2-985B-4D62-AA0B-373DF265DAC4}"/>
              </a:ext>
            </a:extLst>
          </p:cNvPr>
          <p:cNvSpPr>
            <a:spLocks noGrp="1"/>
          </p:cNvSpPr>
          <p:nvPr>
            <p:ph type="title"/>
          </p:nvPr>
        </p:nvSpPr>
        <p:spPr>
          <a:xfrm>
            <a:off x="1128413" y="988098"/>
            <a:ext cx="4495380" cy="2407724"/>
          </a:xfrm>
        </p:spPr>
        <p:txBody>
          <a:bodyPr vert="horz" lIns="91440" tIns="45720" rIns="91440" bIns="0" rtlCol="0" anchor="b">
            <a:normAutofit/>
          </a:bodyPr>
          <a:lstStyle/>
          <a:p>
            <a:r>
              <a:rPr lang="en-US" sz="4800"/>
              <a:t>The Principle of Similarity</a:t>
            </a:r>
          </a:p>
        </p:txBody>
      </p:sp>
      <p:pic>
        <p:nvPicPr>
          <p:cNvPr id="12290" name="Picture 2" descr="An illustration shows six rows of six dots each. The rows of dots alternate between blue and white colored dots.">
            <a:extLst>
              <a:ext uri="{FF2B5EF4-FFF2-40B4-BE49-F238E27FC236}">
                <a16:creationId xmlns:a16="http://schemas.microsoft.com/office/drawing/2014/main" id="{8ED9AEC5-0011-4136-9169-B20505F22C1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6252045" y="805583"/>
            <a:ext cx="4645174" cy="4660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6831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A24C7-9D99-4C65-861B-E3F983F08BD1}"/>
              </a:ext>
            </a:extLst>
          </p:cNvPr>
          <p:cNvSpPr>
            <a:spLocks noGrp="1"/>
          </p:cNvSpPr>
          <p:nvPr>
            <p:ph type="title"/>
          </p:nvPr>
        </p:nvSpPr>
        <p:spPr>
          <a:xfrm>
            <a:off x="1128413" y="988098"/>
            <a:ext cx="4495380" cy="2407724"/>
          </a:xfrm>
        </p:spPr>
        <p:txBody>
          <a:bodyPr vert="horz" lIns="91440" tIns="45720" rIns="91440" bIns="0" rtlCol="0" anchor="b">
            <a:normAutofit/>
          </a:bodyPr>
          <a:lstStyle/>
          <a:p>
            <a:r>
              <a:rPr lang="en-US" sz="4800" dirty="0"/>
              <a:t>The Principle of Continuity</a:t>
            </a:r>
          </a:p>
        </p:txBody>
      </p:sp>
      <p:pic>
        <p:nvPicPr>
          <p:cNvPr id="13314" name="Picture 2" descr="An illustration shows two lines of diagonal dots that cross in the middle in the general shape of an “X.”">
            <a:extLst>
              <a:ext uri="{FF2B5EF4-FFF2-40B4-BE49-F238E27FC236}">
                <a16:creationId xmlns:a16="http://schemas.microsoft.com/office/drawing/2014/main" id="{F68FBB86-ED0D-4E05-96B6-C5F1C64D769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6343292" y="805583"/>
            <a:ext cx="4462679" cy="4660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945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E86D4-28ED-4919-9E51-C50B891925A4}"/>
              </a:ext>
            </a:extLst>
          </p:cNvPr>
          <p:cNvSpPr>
            <a:spLocks noGrp="1"/>
          </p:cNvSpPr>
          <p:nvPr>
            <p:ph type="title"/>
          </p:nvPr>
        </p:nvSpPr>
        <p:spPr>
          <a:xfrm>
            <a:off x="1128413" y="988098"/>
            <a:ext cx="4495380" cy="2407724"/>
          </a:xfrm>
        </p:spPr>
        <p:txBody>
          <a:bodyPr vert="horz" lIns="91440" tIns="45720" rIns="91440" bIns="0" rtlCol="0" anchor="b">
            <a:normAutofit/>
          </a:bodyPr>
          <a:lstStyle/>
          <a:p>
            <a:r>
              <a:rPr lang="en-US" sz="4800"/>
              <a:t>The Principle of Closure</a:t>
            </a:r>
          </a:p>
        </p:txBody>
      </p:sp>
      <p:pic>
        <p:nvPicPr>
          <p:cNvPr id="14338" name="Picture 2" descr="An illustration shows fragmented lines that would form a circle if they were connected. Another illustration shows fragmented lines that would form a square if they were connected.">
            <a:extLst>
              <a:ext uri="{FF2B5EF4-FFF2-40B4-BE49-F238E27FC236}">
                <a16:creationId xmlns:a16="http://schemas.microsoft.com/office/drawing/2014/main" id="{82558C7D-C28B-4D87-95BA-44D719409AE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6094411" y="2181079"/>
            <a:ext cx="4960442" cy="1909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7711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579E13-7CBA-399B-78C8-2204BA2620A7}"/>
              </a:ext>
            </a:extLst>
          </p:cNvPr>
          <p:cNvSpPr>
            <a:spLocks noGrp="1"/>
          </p:cNvSpPr>
          <p:nvPr>
            <p:ph type="title"/>
          </p:nvPr>
        </p:nvSpPr>
        <p:spPr/>
        <p:txBody>
          <a:bodyPr/>
          <a:lstStyle/>
          <a:p>
            <a:r>
              <a:rPr lang="en-US" dirty="0"/>
              <a:t>Next Time on PSY 203…</a:t>
            </a:r>
          </a:p>
        </p:txBody>
      </p:sp>
      <p:sp>
        <p:nvSpPr>
          <p:cNvPr id="5" name="Text Placeholder 4">
            <a:extLst>
              <a:ext uri="{FF2B5EF4-FFF2-40B4-BE49-F238E27FC236}">
                <a16:creationId xmlns:a16="http://schemas.microsoft.com/office/drawing/2014/main" id="{74442AC1-5422-C7D2-C750-B91A3D71B010}"/>
              </a:ext>
            </a:extLst>
          </p:cNvPr>
          <p:cNvSpPr>
            <a:spLocks noGrp="1"/>
          </p:cNvSpPr>
          <p:nvPr>
            <p:ph type="body" idx="1"/>
          </p:nvPr>
        </p:nvSpPr>
        <p:spPr/>
        <p:txBody>
          <a:bodyPr/>
          <a:lstStyle/>
          <a:p>
            <a:r>
              <a:rPr lang="en-US" dirty="0"/>
              <a:t>Before Next Class:</a:t>
            </a:r>
          </a:p>
        </p:txBody>
      </p:sp>
      <p:sp>
        <p:nvSpPr>
          <p:cNvPr id="6" name="Content Placeholder 5">
            <a:extLst>
              <a:ext uri="{FF2B5EF4-FFF2-40B4-BE49-F238E27FC236}">
                <a16:creationId xmlns:a16="http://schemas.microsoft.com/office/drawing/2014/main" id="{DD20C4AE-AEF6-D03B-4760-383DF3A338A4}"/>
              </a:ext>
            </a:extLst>
          </p:cNvPr>
          <p:cNvSpPr>
            <a:spLocks noGrp="1"/>
          </p:cNvSpPr>
          <p:nvPr>
            <p:ph sz="half" idx="2"/>
          </p:nvPr>
        </p:nvSpPr>
        <p:spPr/>
        <p:txBody>
          <a:bodyPr/>
          <a:lstStyle/>
          <a:p>
            <a:r>
              <a:rPr lang="en-US" dirty="0"/>
              <a:t>Read Chapter 6</a:t>
            </a:r>
          </a:p>
          <a:p>
            <a:r>
              <a:rPr lang="en-US" dirty="0"/>
              <a:t>Take Chapter 6 Quiz</a:t>
            </a:r>
          </a:p>
          <a:p>
            <a:pPr lvl="1"/>
            <a:r>
              <a:rPr lang="en-US" dirty="0"/>
              <a:t>Due by Thursday’s class</a:t>
            </a:r>
          </a:p>
          <a:p>
            <a:r>
              <a:rPr lang="en-US" dirty="0"/>
              <a:t>Submit Exam Reflection </a:t>
            </a:r>
          </a:p>
          <a:p>
            <a:pPr lvl="1"/>
            <a:r>
              <a:rPr lang="en-US" dirty="0"/>
              <a:t>Due tonight at 11:59 pm</a:t>
            </a:r>
          </a:p>
          <a:p>
            <a:r>
              <a:rPr lang="en-US" dirty="0"/>
              <a:t>Potentially: Email Dr. S to make up exam points</a:t>
            </a:r>
          </a:p>
        </p:txBody>
      </p:sp>
      <p:sp>
        <p:nvSpPr>
          <p:cNvPr id="7" name="Text Placeholder 6">
            <a:extLst>
              <a:ext uri="{FF2B5EF4-FFF2-40B4-BE49-F238E27FC236}">
                <a16:creationId xmlns:a16="http://schemas.microsoft.com/office/drawing/2014/main" id="{291D51B3-01B5-1A8E-BB59-2046615E9131}"/>
              </a:ext>
            </a:extLst>
          </p:cNvPr>
          <p:cNvSpPr>
            <a:spLocks noGrp="1"/>
          </p:cNvSpPr>
          <p:nvPr>
            <p:ph type="body" sz="quarter" idx="3"/>
          </p:nvPr>
        </p:nvSpPr>
        <p:spPr/>
        <p:txBody>
          <a:bodyPr/>
          <a:lstStyle/>
          <a:p>
            <a:r>
              <a:rPr lang="en-US" dirty="0"/>
              <a:t>Next Class:</a:t>
            </a:r>
          </a:p>
        </p:txBody>
      </p:sp>
      <p:sp>
        <p:nvSpPr>
          <p:cNvPr id="8" name="Content Placeholder 7">
            <a:extLst>
              <a:ext uri="{FF2B5EF4-FFF2-40B4-BE49-F238E27FC236}">
                <a16:creationId xmlns:a16="http://schemas.microsoft.com/office/drawing/2014/main" id="{FB208961-39B8-D4BA-5C5B-88A51E832452}"/>
              </a:ext>
            </a:extLst>
          </p:cNvPr>
          <p:cNvSpPr>
            <a:spLocks noGrp="1"/>
          </p:cNvSpPr>
          <p:nvPr>
            <p:ph sz="quarter" idx="4"/>
          </p:nvPr>
        </p:nvSpPr>
        <p:spPr/>
        <p:txBody>
          <a:bodyPr/>
          <a:lstStyle/>
          <a:p>
            <a:r>
              <a:rPr lang="en-US" dirty="0"/>
              <a:t>Chapter 6 – Learning (Day 1)</a:t>
            </a:r>
          </a:p>
        </p:txBody>
      </p:sp>
    </p:spTree>
    <p:extLst>
      <p:ext uri="{BB962C8B-B14F-4D97-AF65-F5344CB8AC3E}">
        <p14:creationId xmlns:p14="http://schemas.microsoft.com/office/powerpoint/2010/main" val="2557307631"/>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453</TotalTime>
  <Words>606</Words>
  <Application>Microsoft Office PowerPoint</Application>
  <PresentationFormat>Widescreen</PresentationFormat>
  <Paragraphs>99</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Century Schoolbook</vt:lpstr>
      <vt:lpstr>Wingdings 2</vt:lpstr>
      <vt:lpstr>View</vt:lpstr>
      <vt:lpstr>Sensation and Perception</vt:lpstr>
      <vt:lpstr>Agenda</vt:lpstr>
      <vt:lpstr>Reminders</vt:lpstr>
      <vt:lpstr>We actually have MORE than the 5 main senses!</vt:lpstr>
      <vt:lpstr>Have you been reading your textbook?</vt:lpstr>
      <vt:lpstr>Processing</vt:lpstr>
      <vt:lpstr>Bottom-Up Processing</vt:lpstr>
      <vt:lpstr>Top-Down Processing</vt:lpstr>
      <vt:lpstr>Are you paying attention?</vt:lpstr>
      <vt:lpstr>Waves</vt:lpstr>
      <vt:lpstr>Anatomy of the Eye</vt:lpstr>
      <vt:lpstr>Color Vision</vt:lpstr>
      <vt:lpstr>Depth Perception</vt:lpstr>
      <vt:lpstr>Anatomy of the Ear</vt:lpstr>
      <vt:lpstr>Pitch Perception</vt:lpstr>
      <vt:lpstr>Sound Localization</vt:lpstr>
      <vt:lpstr>Hearing Loss</vt:lpstr>
      <vt:lpstr>Taste</vt:lpstr>
      <vt:lpstr>Smell</vt:lpstr>
      <vt:lpstr>Touch, Thermoception, and Nociception</vt:lpstr>
      <vt:lpstr>The Vestibular Sense, Proprioception, and Kinesthesia</vt:lpstr>
      <vt:lpstr>What is Gestalt psychology?</vt:lpstr>
      <vt:lpstr>Figure-Ground Relationship</vt:lpstr>
      <vt:lpstr>The Principle of Proximity</vt:lpstr>
      <vt:lpstr>The Principle of Similarity</vt:lpstr>
      <vt:lpstr>The Principle of Continuity</vt:lpstr>
      <vt:lpstr>The Principle of Closure</vt:lpstr>
      <vt:lpstr>Next Time on PSY 203…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Sensation and Perception</dc:title>
  <dc:creator>Bryanna Scheuler</dc:creator>
  <cp:lastModifiedBy>Bryanna Scheuler</cp:lastModifiedBy>
  <cp:revision>10</cp:revision>
  <dcterms:created xsi:type="dcterms:W3CDTF">2021-09-21T10:31:29Z</dcterms:created>
  <dcterms:modified xsi:type="dcterms:W3CDTF">2026-02-17T17:25:34Z</dcterms:modified>
</cp:coreProperties>
</file>