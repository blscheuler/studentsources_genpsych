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32"/>
  </p:notesMasterIdLst>
  <p:sldIdLst>
    <p:sldId id="256" r:id="rId2"/>
    <p:sldId id="278" r:id="rId3"/>
    <p:sldId id="257" r:id="rId4"/>
    <p:sldId id="355" r:id="rId5"/>
    <p:sldId id="353" r:id="rId6"/>
    <p:sldId id="354" r:id="rId7"/>
    <p:sldId id="360" r:id="rId8"/>
    <p:sldId id="359" r:id="rId9"/>
    <p:sldId id="339" r:id="rId10"/>
    <p:sldId id="361" r:id="rId11"/>
    <p:sldId id="323" r:id="rId12"/>
    <p:sldId id="324" r:id="rId13"/>
    <p:sldId id="325" r:id="rId14"/>
    <p:sldId id="326" r:id="rId15"/>
    <p:sldId id="327" r:id="rId16"/>
    <p:sldId id="328" r:id="rId17"/>
    <p:sldId id="329" r:id="rId18"/>
    <p:sldId id="370" r:id="rId19"/>
    <p:sldId id="356" r:id="rId20"/>
    <p:sldId id="357" r:id="rId21"/>
    <p:sldId id="358" r:id="rId22"/>
    <p:sldId id="362" r:id="rId23"/>
    <p:sldId id="365" r:id="rId24"/>
    <p:sldId id="366" r:id="rId25"/>
    <p:sldId id="371" r:id="rId26"/>
    <p:sldId id="364" r:id="rId27"/>
    <p:sldId id="367" r:id="rId28"/>
    <p:sldId id="368" r:id="rId29"/>
    <p:sldId id="369" r:id="rId30"/>
    <p:sldId id="34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7C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75021" autoAdjust="0"/>
  </p:normalViewPr>
  <p:slideViewPr>
    <p:cSldViewPr snapToGrid="0">
      <p:cViewPr varScale="1">
        <p:scale>
          <a:sx n="119" d="100"/>
          <a:sy n="119" d="100"/>
        </p:scale>
        <p:origin x="32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90122E-BB27-4F23-9722-4E7A6280BA5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D33C0E8-8D0D-4F98-837C-C0F4B3135F7B}">
      <dgm:prSet/>
      <dgm:spPr/>
      <dgm:t>
        <a:bodyPr/>
        <a:lstStyle/>
        <a:p>
          <a:r>
            <a:rPr lang="en-US" baseline="0"/>
            <a:t>Traumatic events</a:t>
          </a:r>
          <a:endParaRPr lang="en-US"/>
        </a:p>
      </dgm:t>
    </dgm:pt>
    <dgm:pt modelId="{25219C08-C4C8-460E-B7C3-8AA3D7C22F6B}" type="parTrans" cxnId="{57614A6F-47ED-44EF-9EEC-17336248C870}">
      <dgm:prSet/>
      <dgm:spPr/>
      <dgm:t>
        <a:bodyPr/>
        <a:lstStyle/>
        <a:p>
          <a:endParaRPr lang="en-US"/>
        </a:p>
      </dgm:t>
    </dgm:pt>
    <dgm:pt modelId="{A83224B5-53DA-484F-822B-B3110F32AC19}" type="sibTrans" cxnId="{57614A6F-47ED-44EF-9EEC-17336248C870}">
      <dgm:prSet/>
      <dgm:spPr/>
      <dgm:t>
        <a:bodyPr/>
        <a:lstStyle/>
        <a:p>
          <a:endParaRPr lang="en-US"/>
        </a:p>
      </dgm:t>
    </dgm:pt>
    <dgm:pt modelId="{E79EEEB9-71B3-48FD-BA9F-54FE904A174D}">
      <dgm:prSet/>
      <dgm:spPr/>
      <dgm:t>
        <a:bodyPr/>
        <a:lstStyle/>
        <a:p>
          <a:r>
            <a:rPr lang="en-US" baseline="0"/>
            <a:t>Life changes</a:t>
          </a:r>
          <a:endParaRPr lang="en-US"/>
        </a:p>
      </dgm:t>
    </dgm:pt>
    <dgm:pt modelId="{0F008074-91C4-4EE9-A812-70D718877F1A}" type="parTrans" cxnId="{B6B36033-862F-4DA5-970D-507F7DFAC951}">
      <dgm:prSet/>
      <dgm:spPr/>
      <dgm:t>
        <a:bodyPr/>
        <a:lstStyle/>
        <a:p>
          <a:endParaRPr lang="en-US"/>
        </a:p>
      </dgm:t>
    </dgm:pt>
    <dgm:pt modelId="{D2E0BA47-1E5F-4D75-938D-FC108286FBE6}" type="sibTrans" cxnId="{B6B36033-862F-4DA5-970D-507F7DFAC951}">
      <dgm:prSet/>
      <dgm:spPr/>
      <dgm:t>
        <a:bodyPr/>
        <a:lstStyle/>
        <a:p>
          <a:endParaRPr lang="en-US"/>
        </a:p>
      </dgm:t>
    </dgm:pt>
    <dgm:pt modelId="{2D73191E-6EAE-4FDB-8D50-C7FE827FAC37}">
      <dgm:prSet/>
      <dgm:spPr/>
      <dgm:t>
        <a:bodyPr/>
        <a:lstStyle/>
        <a:p>
          <a:r>
            <a:rPr lang="en-US" baseline="0" dirty="0"/>
            <a:t>Daily hassles</a:t>
          </a:r>
          <a:endParaRPr lang="en-US" dirty="0"/>
        </a:p>
      </dgm:t>
    </dgm:pt>
    <dgm:pt modelId="{6A6048FB-B585-4CF4-B1B3-C95E45A545EA}" type="parTrans" cxnId="{936FDB99-5ED6-491A-894E-5315842EE3D8}">
      <dgm:prSet/>
      <dgm:spPr/>
      <dgm:t>
        <a:bodyPr/>
        <a:lstStyle/>
        <a:p>
          <a:endParaRPr lang="en-US"/>
        </a:p>
      </dgm:t>
    </dgm:pt>
    <dgm:pt modelId="{2D66D764-2661-41FE-8023-1E116058F6E8}" type="sibTrans" cxnId="{936FDB99-5ED6-491A-894E-5315842EE3D8}">
      <dgm:prSet/>
      <dgm:spPr/>
      <dgm:t>
        <a:bodyPr/>
        <a:lstStyle/>
        <a:p>
          <a:endParaRPr lang="en-US"/>
        </a:p>
      </dgm:t>
    </dgm:pt>
    <dgm:pt modelId="{8DA71CD3-2622-45C8-A13D-335DA9EB3ABD}">
      <dgm:prSet/>
      <dgm:spPr/>
      <dgm:t>
        <a:bodyPr/>
        <a:lstStyle/>
        <a:p>
          <a:r>
            <a:rPr lang="en-US" baseline="0"/>
            <a:t>Occupation-related stressors</a:t>
          </a:r>
          <a:endParaRPr lang="en-US"/>
        </a:p>
      </dgm:t>
    </dgm:pt>
    <dgm:pt modelId="{748BC3AE-D739-4776-A74C-F3E2243F33D6}" type="parTrans" cxnId="{75C3FA0D-3E42-4B81-9AFC-C2AF63CBB972}">
      <dgm:prSet/>
      <dgm:spPr/>
      <dgm:t>
        <a:bodyPr/>
        <a:lstStyle/>
        <a:p>
          <a:endParaRPr lang="en-US"/>
        </a:p>
      </dgm:t>
    </dgm:pt>
    <dgm:pt modelId="{389A39F7-14F5-4E9D-B44F-5C8409D37A07}" type="sibTrans" cxnId="{75C3FA0D-3E42-4B81-9AFC-C2AF63CBB972}">
      <dgm:prSet/>
      <dgm:spPr/>
      <dgm:t>
        <a:bodyPr/>
        <a:lstStyle/>
        <a:p>
          <a:endParaRPr lang="en-US"/>
        </a:p>
      </dgm:t>
    </dgm:pt>
    <dgm:pt modelId="{D92AE7A4-0D86-4907-A1C4-0C8CF5147BCF}" type="pres">
      <dgm:prSet presAssocID="{1690122E-BB27-4F23-9722-4E7A6280BA5C}" presName="hierChild1" presStyleCnt="0">
        <dgm:presLayoutVars>
          <dgm:chPref val="1"/>
          <dgm:dir/>
          <dgm:animOne val="branch"/>
          <dgm:animLvl val="lvl"/>
          <dgm:resizeHandles/>
        </dgm:presLayoutVars>
      </dgm:prSet>
      <dgm:spPr/>
    </dgm:pt>
    <dgm:pt modelId="{EE755496-0C16-4BFE-83A0-A2B297A4A5F4}" type="pres">
      <dgm:prSet presAssocID="{0D33C0E8-8D0D-4F98-837C-C0F4B3135F7B}" presName="hierRoot1" presStyleCnt="0"/>
      <dgm:spPr/>
    </dgm:pt>
    <dgm:pt modelId="{69093A84-8BB1-40CC-AF4E-4CD40235EF86}" type="pres">
      <dgm:prSet presAssocID="{0D33C0E8-8D0D-4F98-837C-C0F4B3135F7B}" presName="composite" presStyleCnt="0"/>
      <dgm:spPr/>
    </dgm:pt>
    <dgm:pt modelId="{71F66BCE-0F8F-467D-AA6C-4A675FF3641E}" type="pres">
      <dgm:prSet presAssocID="{0D33C0E8-8D0D-4F98-837C-C0F4B3135F7B}" presName="background" presStyleLbl="node0" presStyleIdx="0" presStyleCnt="4"/>
      <dgm:spPr/>
    </dgm:pt>
    <dgm:pt modelId="{E060A89E-7B9E-454A-A3FE-4D940ACBFBC0}" type="pres">
      <dgm:prSet presAssocID="{0D33C0E8-8D0D-4F98-837C-C0F4B3135F7B}" presName="text" presStyleLbl="fgAcc0" presStyleIdx="0" presStyleCnt="4">
        <dgm:presLayoutVars>
          <dgm:chPref val="3"/>
        </dgm:presLayoutVars>
      </dgm:prSet>
      <dgm:spPr/>
    </dgm:pt>
    <dgm:pt modelId="{B4332E98-C7F8-4298-B651-12159F6AE5D2}" type="pres">
      <dgm:prSet presAssocID="{0D33C0E8-8D0D-4F98-837C-C0F4B3135F7B}" presName="hierChild2" presStyleCnt="0"/>
      <dgm:spPr/>
    </dgm:pt>
    <dgm:pt modelId="{33B14EC5-1700-414D-A299-DB7BBFFE38E6}" type="pres">
      <dgm:prSet presAssocID="{E79EEEB9-71B3-48FD-BA9F-54FE904A174D}" presName="hierRoot1" presStyleCnt="0"/>
      <dgm:spPr/>
    </dgm:pt>
    <dgm:pt modelId="{70F7B399-C489-4C7B-BE63-3418881304C9}" type="pres">
      <dgm:prSet presAssocID="{E79EEEB9-71B3-48FD-BA9F-54FE904A174D}" presName="composite" presStyleCnt="0"/>
      <dgm:spPr/>
    </dgm:pt>
    <dgm:pt modelId="{ECB45F66-7604-4829-81ED-E5BB36C7E096}" type="pres">
      <dgm:prSet presAssocID="{E79EEEB9-71B3-48FD-BA9F-54FE904A174D}" presName="background" presStyleLbl="node0" presStyleIdx="1" presStyleCnt="4"/>
      <dgm:spPr/>
    </dgm:pt>
    <dgm:pt modelId="{FF1C870D-58EA-445E-9C80-C4B732140EEC}" type="pres">
      <dgm:prSet presAssocID="{E79EEEB9-71B3-48FD-BA9F-54FE904A174D}" presName="text" presStyleLbl="fgAcc0" presStyleIdx="1" presStyleCnt="4">
        <dgm:presLayoutVars>
          <dgm:chPref val="3"/>
        </dgm:presLayoutVars>
      </dgm:prSet>
      <dgm:spPr/>
    </dgm:pt>
    <dgm:pt modelId="{BE636A24-1D48-43EE-B976-C50A239F5518}" type="pres">
      <dgm:prSet presAssocID="{E79EEEB9-71B3-48FD-BA9F-54FE904A174D}" presName="hierChild2" presStyleCnt="0"/>
      <dgm:spPr/>
    </dgm:pt>
    <dgm:pt modelId="{DA922A17-41C2-4BF9-84F0-0DBEFCCC90BF}" type="pres">
      <dgm:prSet presAssocID="{2D73191E-6EAE-4FDB-8D50-C7FE827FAC37}" presName="hierRoot1" presStyleCnt="0"/>
      <dgm:spPr/>
    </dgm:pt>
    <dgm:pt modelId="{0A9A38D3-1250-4624-89A5-832DC7AB7786}" type="pres">
      <dgm:prSet presAssocID="{2D73191E-6EAE-4FDB-8D50-C7FE827FAC37}" presName="composite" presStyleCnt="0"/>
      <dgm:spPr/>
    </dgm:pt>
    <dgm:pt modelId="{1B3594D3-4E3F-405D-8BE9-D56B9E4CC3C4}" type="pres">
      <dgm:prSet presAssocID="{2D73191E-6EAE-4FDB-8D50-C7FE827FAC37}" presName="background" presStyleLbl="node0" presStyleIdx="2" presStyleCnt="4"/>
      <dgm:spPr/>
    </dgm:pt>
    <dgm:pt modelId="{09D528E6-DF11-4FA5-AD9C-FA4D87C190D4}" type="pres">
      <dgm:prSet presAssocID="{2D73191E-6EAE-4FDB-8D50-C7FE827FAC37}" presName="text" presStyleLbl="fgAcc0" presStyleIdx="2" presStyleCnt="4">
        <dgm:presLayoutVars>
          <dgm:chPref val="3"/>
        </dgm:presLayoutVars>
      </dgm:prSet>
      <dgm:spPr/>
    </dgm:pt>
    <dgm:pt modelId="{D384FFDB-F839-4878-82A7-0C4BAD9A5291}" type="pres">
      <dgm:prSet presAssocID="{2D73191E-6EAE-4FDB-8D50-C7FE827FAC37}" presName="hierChild2" presStyleCnt="0"/>
      <dgm:spPr/>
    </dgm:pt>
    <dgm:pt modelId="{DC89CD4D-7EE9-490E-B174-939613415E3E}" type="pres">
      <dgm:prSet presAssocID="{8DA71CD3-2622-45C8-A13D-335DA9EB3ABD}" presName="hierRoot1" presStyleCnt="0"/>
      <dgm:spPr/>
    </dgm:pt>
    <dgm:pt modelId="{CE97FA1B-D3E3-4753-B400-8A889175ACEC}" type="pres">
      <dgm:prSet presAssocID="{8DA71CD3-2622-45C8-A13D-335DA9EB3ABD}" presName="composite" presStyleCnt="0"/>
      <dgm:spPr/>
    </dgm:pt>
    <dgm:pt modelId="{8ECCFEFA-D80D-47DE-B174-0529047D5CB9}" type="pres">
      <dgm:prSet presAssocID="{8DA71CD3-2622-45C8-A13D-335DA9EB3ABD}" presName="background" presStyleLbl="node0" presStyleIdx="3" presStyleCnt="4"/>
      <dgm:spPr/>
    </dgm:pt>
    <dgm:pt modelId="{3AF706C4-7A85-4AA5-AFA2-C081F137D290}" type="pres">
      <dgm:prSet presAssocID="{8DA71CD3-2622-45C8-A13D-335DA9EB3ABD}" presName="text" presStyleLbl="fgAcc0" presStyleIdx="3" presStyleCnt="4">
        <dgm:presLayoutVars>
          <dgm:chPref val="3"/>
        </dgm:presLayoutVars>
      </dgm:prSet>
      <dgm:spPr/>
    </dgm:pt>
    <dgm:pt modelId="{07DE5EF4-A5A9-4336-AA19-BA7FDFBBCD4B}" type="pres">
      <dgm:prSet presAssocID="{8DA71CD3-2622-45C8-A13D-335DA9EB3ABD}" presName="hierChild2" presStyleCnt="0"/>
      <dgm:spPr/>
    </dgm:pt>
  </dgm:ptLst>
  <dgm:cxnLst>
    <dgm:cxn modelId="{D5646409-7439-41DA-906C-E0FA47D63ABB}" type="presOf" srcId="{0D33C0E8-8D0D-4F98-837C-C0F4B3135F7B}" destId="{E060A89E-7B9E-454A-A3FE-4D940ACBFBC0}" srcOrd="0" destOrd="0" presId="urn:microsoft.com/office/officeart/2005/8/layout/hierarchy1"/>
    <dgm:cxn modelId="{75C3FA0D-3E42-4B81-9AFC-C2AF63CBB972}" srcId="{1690122E-BB27-4F23-9722-4E7A6280BA5C}" destId="{8DA71CD3-2622-45C8-A13D-335DA9EB3ABD}" srcOrd="3" destOrd="0" parTransId="{748BC3AE-D739-4776-A74C-F3E2243F33D6}" sibTransId="{389A39F7-14F5-4E9D-B44F-5C8409D37A07}"/>
    <dgm:cxn modelId="{AEB65013-FBED-41DE-9BCF-A568E2460052}" type="presOf" srcId="{1690122E-BB27-4F23-9722-4E7A6280BA5C}" destId="{D92AE7A4-0D86-4907-A1C4-0C8CF5147BCF}" srcOrd="0" destOrd="0" presId="urn:microsoft.com/office/officeart/2005/8/layout/hierarchy1"/>
    <dgm:cxn modelId="{B6B36033-862F-4DA5-970D-507F7DFAC951}" srcId="{1690122E-BB27-4F23-9722-4E7A6280BA5C}" destId="{E79EEEB9-71B3-48FD-BA9F-54FE904A174D}" srcOrd="1" destOrd="0" parTransId="{0F008074-91C4-4EE9-A812-70D718877F1A}" sibTransId="{D2E0BA47-1E5F-4D75-938D-FC108286FBE6}"/>
    <dgm:cxn modelId="{57614A6F-47ED-44EF-9EEC-17336248C870}" srcId="{1690122E-BB27-4F23-9722-4E7A6280BA5C}" destId="{0D33C0E8-8D0D-4F98-837C-C0F4B3135F7B}" srcOrd="0" destOrd="0" parTransId="{25219C08-C4C8-460E-B7C3-8AA3D7C22F6B}" sibTransId="{A83224B5-53DA-484F-822B-B3110F32AC19}"/>
    <dgm:cxn modelId="{A2B8E954-E293-44D0-9D0C-A084BB3F7AF7}" type="presOf" srcId="{8DA71CD3-2622-45C8-A13D-335DA9EB3ABD}" destId="{3AF706C4-7A85-4AA5-AFA2-C081F137D290}" srcOrd="0" destOrd="0" presId="urn:microsoft.com/office/officeart/2005/8/layout/hierarchy1"/>
    <dgm:cxn modelId="{936FDB99-5ED6-491A-894E-5315842EE3D8}" srcId="{1690122E-BB27-4F23-9722-4E7A6280BA5C}" destId="{2D73191E-6EAE-4FDB-8D50-C7FE827FAC37}" srcOrd="2" destOrd="0" parTransId="{6A6048FB-B585-4CF4-B1B3-C95E45A545EA}" sibTransId="{2D66D764-2661-41FE-8023-1E116058F6E8}"/>
    <dgm:cxn modelId="{F2890FBC-4241-4E0A-AAA2-DB55F73F7A57}" type="presOf" srcId="{E79EEEB9-71B3-48FD-BA9F-54FE904A174D}" destId="{FF1C870D-58EA-445E-9C80-C4B732140EEC}" srcOrd="0" destOrd="0" presId="urn:microsoft.com/office/officeart/2005/8/layout/hierarchy1"/>
    <dgm:cxn modelId="{8377E6BC-6AB8-49D3-B1AB-4F1F029367D6}" type="presOf" srcId="{2D73191E-6EAE-4FDB-8D50-C7FE827FAC37}" destId="{09D528E6-DF11-4FA5-AD9C-FA4D87C190D4}" srcOrd="0" destOrd="0" presId="urn:microsoft.com/office/officeart/2005/8/layout/hierarchy1"/>
    <dgm:cxn modelId="{9A9F2B81-A8BE-48CE-AFDF-467AD58885CF}" type="presParOf" srcId="{D92AE7A4-0D86-4907-A1C4-0C8CF5147BCF}" destId="{EE755496-0C16-4BFE-83A0-A2B297A4A5F4}" srcOrd="0" destOrd="0" presId="urn:microsoft.com/office/officeart/2005/8/layout/hierarchy1"/>
    <dgm:cxn modelId="{87CF10F4-88C6-481D-946F-DCA25B01F49F}" type="presParOf" srcId="{EE755496-0C16-4BFE-83A0-A2B297A4A5F4}" destId="{69093A84-8BB1-40CC-AF4E-4CD40235EF86}" srcOrd="0" destOrd="0" presId="urn:microsoft.com/office/officeart/2005/8/layout/hierarchy1"/>
    <dgm:cxn modelId="{2E3D3599-A6D6-42C8-A621-B5D03342DC4F}" type="presParOf" srcId="{69093A84-8BB1-40CC-AF4E-4CD40235EF86}" destId="{71F66BCE-0F8F-467D-AA6C-4A675FF3641E}" srcOrd="0" destOrd="0" presId="urn:microsoft.com/office/officeart/2005/8/layout/hierarchy1"/>
    <dgm:cxn modelId="{F43E0BA2-1F1F-47C8-8E75-D84C1F461895}" type="presParOf" srcId="{69093A84-8BB1-40CC-AF4E-4CD40235EF86}" destId="{E060A89E-7B9E-454A-A3FE-4D940ACBFBC0}" srcOrd="1" destOrd="0" presId="urn:microsoft.com/office/officeart/2005/8/layout/hierarchy1"/>
    <dgm:cxn modelId="{FF8C668E-F62D-4D73-8AA2-82B90CD2EF8C}" type="presParOf" srcId="{EE755496-0C16-4BFE-83A0-A2B297A4A5F4}" destId="{B4332E98-C7F8-4298-B651-12159F6AE5D2}" srcOrd="1" destOrd="0" presId="urn:microsoft.com/office/officeart/2005/8/layout/hierarchy1"/>
    <dgm:cxn modelId="{0A43288B-98BD-4A8F-9EA0-83E8FA499BD0}" type="presParOf" srcId="{D92AE7A4-0D86-4907-A1C4-0C8CF5147BCF}" destId="{33B14EC5-1700-414D-A299-DB7BBFFE38E6}" srcOrd="1" destOrd="0" presId="urn:microsoft.com/office/officeart/2005/8/layout/hierarchy1"/>
    <dgm:cxn modelId="{188C5734-5486-4C26-9C52-2CE1948216D6}" type="presParOf" srcId="{33B14EC5-1700-414D-A299-DB7BBFFE38E6}" destId="{70F7B399-C489-4C7B-BE63-3418881304C9}" srcOrd="0" destOrd="0" presId="urn:microsoft.com/office/officeart/2005/8/layout/hierarchy1"/>
    <dgm:cxn modelId="{16158881-65EB-47F8-999F-C41B5102C7D8}" type="presParOf" srcId="{70F7B399-C489-4C7B-BE63-3418881304C9}" destId="{ECB45F66-7604-4829-81ED-E5BB36C7E096}" srcOrd="0" destOrd="0" presId="urn:microsoft.com/office/officeart/2005/8/layout/hierarchy1"/>
    <dgm:cxn modelId="{167A06BC-22C4-47F5-83AA-8EF218198BBB}" type="presParOf" srcId="{70F7B399-C489-4C7B-BE63-3418881304C9}" destId="{FF1C870D-58EA-445E-9C80-C4B732140EEC}" srcOrd="1" destOrd="0" presId="urn:microsoft.com/office/officeart/2005/8/layout/hierarchy1"/>
    <dgm:cxn modelId="{452D202A-F06A-4343-BE6A-15BD0D9C2443}" type="presParOf" srcId="{33B14EC5-1700-414D-A299-DB7BBFFE38E6}" destId="{BE636A24-1D48-43EE-B976-C50A239F5518}" srcOrd="1" destOrd="0" presId="urn:microsoft.com/office/officeart/2005/8/layout/hierarchy1"/>
    <dgm:cxn modelId="{847B8CD5-DE5C-4AA6-A58B-976874370395}" type="presParOf" srcId="{D92AE7A4-0D86-4907-A1C4-0C8CF5147BCF}" destId="{DA922A17-41C2-4BF9-84F0-0DBEFCCC90BF}" srcOrd="2" destOrd="0" presId="urn:microsoft.com/office/officeart/2005/8/layout/hierarchy1"/>
    <dgm:cxn modelId="{1BC66FCB-F027-4E80-AC63-F0830002D9EB}" type="presParOf" srcId="{DA922A17-41C2-4BF9-84F0-0DBEFCCC90BF}" destId="{0A9A38D3-1250-4624-89A5-832DC7AB7786}" srcOrd="0" destOrd="0" presId="urn:microsoft.com/office/officeart/2005/8/layout/hierarchy1"/>
    <dgm:cxn modelId="{6E8FC6F8-E2A5-4D5C-B4D0-06A604A4411C}" type="presParOf" srcId="{0A9A38D3-1250-4624-89A5-832DC7AB7786}" destId="{1B3594D3-4E3F-405D-8BE9-D56B9E4CC3C4}" srcOrd="0" destOrd="0" presId="urn:microsoft.com/office/officeart/2005/8/layout/hierarchy1"/>
    <dgm:cxn modelId="{F882B09D-EBBA-4685-92B6-2326B4654743}" type="presParOf" srcId="{0A9A38D3-1250-4624-89A5-832DC7AB7786}" destId="{09D528E6-DF11-4FA5-AD9C-FA4D87C190D4}" srcOrd="1" destOrd="0" presId="urn:microsoft.com/office/officeart/2005/8/layout/hierarchy1"/>
    <dgm:cxn modelId="{1E3BF9A5-8D02-48EF-95A4-6D51FC5999FA}" type="presParOf" srcId="{DA922A17-41C2-4BF9-84F0-0DBEFCCC90BF}" destId="{D384FFDB-F839-4878-82A7-0C4BAD9A5291}" srcOrd="1" destOrd="0" presId="urn:microsoft.com/office/officeart/2005/8/layout/hierarchy1"/>
    <dgm:cxn modelId="{CAA36DFE-5D07-4267-B661-353E5D090DBB}" type="presParOf" srcId="{D92AE7A4-0D86-4907-A1C4-0C8CF5147BCF}" destId="{DC89CD4D-7EE9-490E-B174-939613415E3E}" srcOrd="3" destOrd="0" presId="urn:microsoft.com/office/officeart/2005/8/layout/hierarchy1"/>
    <dgm:cxn modelId="{496A2D82-80A6-40A7-A616-DD57DB938FDD}" type="presParOf" srcId="{DC89CD4D-7EE9-490E-B174-939613415E3E}" destId="{CE97FA1B-D3E3-4753-B400-8A889175ACEC}" srcOrd="0" destOrd="0" presId="urn:microsoft.com/office/officeart/2005/8/layout/hierarchy1"/>
    <dgm:cxn modelId="{D3B76E02-BF51-48E4-9784-94D9151B72DF}" type="presParOf" srcId="{CE97FA1B-D3E3-4753-B400-8A889175ACEC}" destId="{8ECCFEFA-D80D-47DE-B174-0529047D5CB9}" srcOrd="0" destOrd="0" presId="urn:microsoft.com/office/officeart/2005/8/layout/hierarchy1"/>
    <dgm:cxn modelId="{D06E2E57-834C-4373-9A94-62ED5BDDC23F}" type="presParOf" srcId="{CE97FA1B-D3E3-4753-B400-8A889175ACEC}" destId="{3AF706C4-7A85-4AA5-AFA2-C081F137D290}" srcOrd="1" destOrd="0" presId="urn:microsoft.com/office/officeart/2005/8/layout/hierarchy1"/>
    <dgm:cxn modelId="{07F06C15-490E-4B1E-8293-44886160B5D1}" type="presParOf" srcId="{DC89CD4D-7EE9-490E-B174-939613415E3E}" destId="{07DE5EF4-A5A9-4336-AA19-BA7FDFBBCD4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BE081E-951F-4A7F-9735-C2E3A7AD2A4A}"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8E4DFFD3-D67D-4097-BFB0-1DDA559E1C0C}">
      <dgm:prSet/>
      <dgm:spPr/>
      <dgm:t>
        <a:bodyPr/>
        <a:lstStyle/>
        <a:p>
          <a:r>
            <a:rPr lang="en-US" baseline="0"/>
            <a:t>Immunosuppression</a:t>
          </a:r>
          <a:endParaRPr lang="en-US"/>
        </a:p>
      </dgm:t>
    </dgm:pt>
    <dgm:pt modelId="{07A52922-4604-44E7-B9AC-AE17341CECC4}" type="parTrans" cxnId="{D24944C8-7E90-4104-A871-8B6F65620DF7}">
      <dgm:prSet/>
      <dgm:spPr/>
      <dgm:t>
        <a:bodyPr/>
        <a:lstStyle/>
        <a:p>
          <a:endParaRPr lang="en-US"/>
        </a:p>
      </dgm:t>
    </dgm:pt>
    <dgm:pt modelId="{BDFE8375-6834-42AD-838B-509F763A2003}" type="sibTrans" cxnId="{D24944C8-7E90-4104-A871-8B6F65620DF7}">
      <dgm:prSet/>
      <dgm:spPr/>
      <dgm:t>
        <a:bodyPr/>
        <a:lstStyle/>
        <a:p>
          <a:endParaRPr lang="en-US"/>
        </a:p>
      </dgm:t>
    </dgm:pt>
    <dgm:pt modelId="{F076C537-43E3-41E3-9DBF-07F2CCB42C01}">
      <dgm:prSet/>
      <dgm:spPr/>
      <dgm:t>
        <a:bodyPr/>
        <a:lstStyle/>
        <a:p>
          <a:r>
            <a:rPr lang="en-US" baseline="0"/>
            <a:t>Autoimmune diseases</a:t>
          </a:r>
          <a:endParaRPr lang="en-US"/>
        </a:p>
      </dgm:t>
    </dgm:pt>
    <dgm:pt modelId="{43D2E4E6-9ABF-4E1C-981E-4760D9F4CBD6}" type="parTrans" cxnId="{848E72ED-701D-402D-9348-16488EEF550D}">
      <dgm:prSet/>
      <dgm:spPr/>
      <dgm:t>
        <a:bodyPr/>
        <a:lstStyle/>
        <a:p>
          <a:endParaRPr lang="en-US"/>
        </a:p>
      </dgm:t>
    </dgm:pt>
    <dgm:pt modelId="{7C810797-CA50-4490-BB90-83C900BA6A6A}" type="sibTrans" cxnId="{848E72ED-701D-402D-9348-16488EEF550D}">
      <dgm:prSet/>
      <dgm:spPr/>
      <dgm:t>
        <a:bodyPr/>
        <a:lstStyle/>
        <a:p>
          <a:endParaRPr lang="en-US"/>
        </a:p>
      </dgm:t>
    </dgm:pt>
    <dgm:pt modelId="{7BCA9BD5-B666-414A-A58D-4340261D2C6D}">
      <dgm:prSet/>
      <dgm:spPr/>
      <dgm:t>
        <a:bodyPr/>
        <a:lstStyle/>
        <a:p>
          <a:r>
            <a:rPr lang="en-US" baseline="0"/>
            <a:t>Psychoneuroimmunology</a:t>
          </a:r>
          <a:endParaRPr lang="en-US"/>
        </a:p>
      </dgm:t>
    </dgm:pt>
    <dgm:pt modelId="{C399F566-0443-4DBF-8604-F4A6958C164D}" type="parTrans" cxnId="{1FFBE70F-92F2-4269-892E-7ADCDC689166}">
      <dgm:prSet/>
      <dgm:spPr/>
      <dgm:t>
        <a:bodyPr/>
        <a:lstStyle/>
        <a:p>
          <a:endParaRPr lang="en-US"/>
        </a:p>
      </dgm:t>
    </dgm:pt>
    <dgm:pt modelId="{85144D94-0F23-4433-97A3-DC7CF9598960}" type="sibTrans" cxnId="{1FFBE70F-92F2-4269-892E-7ADCDC689166}">
      <dgm:prSet/>
      <dgm:spPr/>
      <dgm:t>
        <a:bodyPr/>
        <a:lstStyle/>
        <a:p>
          <a:endParaRPr lang="en-US"/>
        </a:p>
      </dgm:t>
    </dgm:pt>
    <dgm:pt modelId="{FE0413C3-F656-40A2-9003-7A63A4260EB9}">
      <dgm:prSet/>
      <dgm:spPr/>
      <dgm:t>
        <a:bodyPr/>
        <a:lstStyle/>
        <a:p>
          <a:r>
            <a:rPr lang="en-US" baseline="0"/>
            <a:t>Lymphocytes</a:t>
          </a:r>
          <a:endParaRPr lang="en-US"/>
        </a:p>
      </dgm:t>
    </dgm:pt>
    <dgm:pt modelId="{06E6112E-DD80-4247-9D36-06C304525818}" type="parTrans" cxnId="{604D5702-1C47-4512-8055-92894D1F781A}">
      <dgm:prSet/>
      <dgm:spPr/>
      <dgm:t>
        <a:bodyPr/>
        <a:lstStyle/>
        <a:p>
          <a:endParaRPr lang="en-US"/>
        </a:p>
      </dgm:t>
    </dgm:pt>
    <dgm:pt modelId="{56766595-E156-4CDD-8799-86D2FAD8FFF6}" type="sibTrans" cxnId="{604D5702-1C47-4512-8055-92894D1F781A}">
      <dgm:prSet/>
      <dgm:spPr/>
      <dgm:t>
        <a:bodyPr/>
        <a:lstStyle/>
        <a:p>
          <a:endParaRPr lang="en-US"/>
        </a:p>
      </dgm:t>
    </dgm:pt>
    <dgm:pt modelId="{EF889C3E-D2F2-4140-A737-BD83F3309126}">
      <dgm:prSet/>
      <dgm:spPr/>
      <dgm:t>
        <a:bodyPr/>
        <a:lstStyle/>
        <a:p>
          <a:r>
            <a:rPr lang="en-US" baseline="0" dirty="0"/>
            <a:t>Lymphoma</a:t>
          </a:r>
          <a:endParaRPr lang="en-US" dirty="0"/>
        </a:p>
      </dgm:t>
    </dgm:pt>
    <dgm:pt modelId="{DDA765E1-8E38-401B-86BC-DA05429A16D9}" type="parTrans" cxnId="{A385CE29-172B-4105-B21B-009B2ED32258}">
      <dgm:prSet/>
      <dgm:spPr/>
      <dgm:t>
        <a:bodyPr/>
        <a:lstStyle/>
        <a:p>
          <a:endParaRPr lang="en-US"/>
        </a:p>
      </dgm:t>
    </dgm:pt>
    <dgm:pt modelId="{28A92EBB-6117-4452-A416-9F230E63A727}" type="sibTrans" cxnId="{A385CE29-172B-4105-B21B-009B2ED32258}">
      <dgm:prSet/>
      <dgm:spPr/>
      <dgm:t>
        <a:bodyPr/>
        <a:lstStyle/>
        <a:p>
          <a:endParaRPr lang="en-US"/>
        </a:p>
      </dgm:t>
    </dgm:pt>
    <dgm:pt modelId="{204BC467-4797-4274-8DFD-AC1A9A96ED26}" type="pres">
      <dgm:prSet presAssocID="{B6BE081E-951F-4A7F-9735-C2E3A7AD2A4A}" presName="vert0" presStyleCnt="0">
        <dgm:presLayoutVars>
          <dgm:dir/>
          <dgm:animOne val="branch"/>
          <dgm:animLvl val="lvl"/>
        </dgm:presLayoutVars>
      </dgm:prSet>
      <dgm:spPr/>
    </dgm:pt>
    <dgm:pt modelId="{633CFB07-A83B-410F-BE7A-1895B0913B71}" type="pres">
      <dgm:prSet presAssocID="{8E4DFFD3-D67D-4097-BFB0-1DDA559E1C0C}" presName="thickLine" presStyleLbl="alignNode1" presStyleIdx="0" presStyleCnt="5"/>
      <dgm:spPr/>
    </dgm:pt>
    <dgm:pt modelId="{5E5088B2-2F41-4C04-89A3-63170F10F9CF}" type="pres">
      <dgm:prSet presAssocID="{8E4DFFD3-D67D-4097-BFB0-1DDA559E1C0C}" presName="horz1" presStyleCnt="0"/>
      <dgm:spPr/>
    </dgm:pt>
    <dgm:pt modelId="{07A258B3-1E4C-4FAD-A3EC-BE4CA7380285}" type="pres">
      <dgm:prSet presAssocID="{8E4DFFD3-D67D-4097-BFB0-1DDA559E1C0C}" presName="tx1" presStyleLbl="revTx" presStyleIdx="0" presStyleCnt="5"/>
      <dgm:spPr/>
    </dgm:pt>
    <dgm:pt modelId="{62BE0C0D-D68B-490A-84D0-99C4C5AF7F34}" type="pres">
      <dgm:prSet presAssocID="{8E4DFFD3-D67D-4097-BFB0-1DDA559E1C0C}" presName="vert1" presStyleCnt="0"/>
      <dgm:spPr/>
    </dgm:pt>
    <dgm:pt modelId="{166D4DC4-95D8-4C4D-8F44-A15A7B110D73}" type="pres">
      <dgm:prSet presAssocID="{F076C537-43E3-41E3-9DBF-07F2CCB42C01}" presName="thickLine" presStyleLbl="alignNode1" presStyleIdx="1" presStyleCnt="5"/>
      <dgm:spPr/>
    </dgm:pt>
    <dgm:pt modelId="{CF6AB983-6443-49D2-AD4B-00E7E35719E1}" type="pres">
      <dgm:prSet presAssocID="{F076C537-43E3-41E3-9DBF-07F2CCB42C01}" presName="horz1" presStyleCnt="0"/>
      <dgm:spPr/>
    </dgm:pt>
    <dgm:pt modelId="{9511AF22-C994-4379-A823-DFE7ABBBC1DB}" type="pres">
      <dgm:prSet presAssocID="{F076C537-43E3-41E3-9DBF-07F2CCB42C01}" presName="tx1" presStyleLbl="revTx" presStyleIdx="1" presStyleCnt="5"/>
      <dgm:spPr/>
    </dgm:pt>
    <dgm:pt modelId="{CB2E50D1-3FCB-446A-8E4E-9DF27EC485E8}" type="pres">
      <dgm:prSet presAssocID="{F076C537-43E3-41E3-9DBF-07F2CCB42C01}" presName="vert1" presStyleCnt="0"/>
      <dgm:spPr/>
    </dgm:pt>
    <dgm:pt modelId="{27C6A2CC-7430-4873-836A-07FFDBDF92D7}" type="pres">
      <dgm:prSet presAssocID="{7BCA9BD5-B666-414A-A58D-4340261D2C6D}" presName="thickLine" presStyleLbl="alignNode1" presStyleIdx="2" presStyleCnt="5"/>
      <dgm:spPr/>
    </dgm:pt>
    <dgm:pt modelId="{0ADEE4D3-7DF2-40E1-B623-31AC776AD17C}" type="pres">
      <dgm:prSet presAssocID="{7BCA9BD5-B666-414A-A58D-4340261D2C6D}" presName="horz1" presStyleCnt="0"/>
      <dgm:spPr/>
    </dgm:pt>
    <dgm:pt modelId="{6F7997B2-541A-4BEA-B07F-B9DF99AC8A7A}" type="pres">
      <dgm:prSet presAssocID="{7BCA9BD5-B666-414A-A58D-4340261D2C6D}" presName="tx1" presStyleLbl="revTx" presStyleIdx="2" presStyleCnt="5"/>
      <dgm:spPr/>
    </dgm:pt>
    <dgm:pt modelId="{0AFBAD37-0C0D-49E9-BF01-6429B887BE31}" type="pres">
      <dgm:prSet presAssocID="{7BCA9BD5-B666-414A-A58D-4340261D2C6D}" presName="vert1" presStyleCnt="0"/>
      <dgm:spPr/>
    </dgm:pt>
    <dgm:pt modelId="{AC9E2D02-F8FE-4AB5-97D2-860DD39D3E2B}" type="pres">
      <dgm:prSet presAssocID="{FE0413C3-F656-40A2-9003-7A63A4260EB9}" presName="thickLine" presStyleLbl="alignNode1" presStyleIdx="3" presStyleCnt="5"/>
      <dgm:spPr/>
    </dgm:pt>
    <dgm:pt modelId="{C0ACACA8-0DB5-422E-B0AB-6E11F257297E}" type="pres">
      <dgm:prSet presAssocID="{FE0413C3-F656-40A2-9003-7A63A4260EB9}" presName="horz1" presStyleCnt="0"/>
      <dgm:spPr/>
    </dgm:pt>
    <dgm:pt modelId="{83B8B2CC-567C-4FFD-82EE-8F0018EFE146}" type="pres">
      <dgm:prSet presAssocID="{FE0413C3-F656-40A2-9003-7A63A4260EB9}" presName="tx1" presStyleLbl="revTx" presStyleIdx="3" presStyleCnt="5"/>
      <dgm:spPr/>
    </dgm:pt>
    <dgm:pt modelId="{7F41B3F8-1EB6-4AF6-AE6E-AA76854A1EDE}" type="pres">
      <dgm:prSet presAssocID="{FE0413C3-F656-40A2-9003-7A63A4260EB9}" presName="vert1" presStyleCnt="0"/>
      <dgm:spPr/>
    </dgm:pt>
    <dgm:pt modelId="{828D0797-6568-45AF-A820-9D1F09BBE67C}" type="pres">
      <dgm:prSet presAssocID="{EF889C3E-D2F2-4140-A737-BD83F3309126}" presName="thickLine" presStyleLbl="alignNode1" presStyleIdx="4" presStyleCnt="5"/>
      <dgm:spPr/>
    </dgm:pt>
    <dgm:pt modelId="{36251133-C10A-4CD6-8D46-47242D31A239}" type="pres">
      <dgm:prSet presAssocID="{EF889C3E-D2F2-4140-A737-BD83F3309126}" presName="horz1" presStyleCnt="0"/>
      <dgm:spPr/>
    </dgm:pt>
    <dgm:pt modelId="{11C3B7BD-A82C-4061-BDA1-71E7DF297D9B}" type="pres">
      <dgm:prSet presAssocID="{EF889C3E-D2F2-4140-A737-BD83F3309126}" presName="tx1" presStyleLbl="revTx" presStyleIdx="4" presStyleCnt="5"/>
      <dgm:spPr/>
    </dgm:pt>
    <dgm:pt modelId="{0E0B860B-B275-46DE-9C73-4342D6A4779F}" type="pres">
      <dgm:prSet presAssocID="{EF889C3E-D2F2-4140-A737-BD83F3309126}" presName="vert1" presStyleCnt="0"/>
      <dgm:spPr/>
    </dgm:pt>
  </dgm:ptLst>
  <dgm:cxnLst>
    <dgm:cxn modelId="{604D5702-1C47-4512-8055-92894D1F781A}" srcId="{B6BE081E-951F-4A7F-9735-C2E3A7AD2A4A}" destId="{FE0413C3-F656-40A2-9003-7A63A4260EB9}" srcOrd="3" destOrd="0" parTransId="{06E6112E-DD80-4247-9D36-06C304525818}" sibTransId="{56766595-E156-4CDD-8799-86D2FAD8FFF6}"/>
    <dgm:cxn modelId="{1FFBE70F-92F2-4269-892E-7ADCDC689166}" srcId="{B6BE081E-951F-4A7F-9735-C2E3A7AD2A4A}" destId="{7BCA9BD5-B666-414A-A58D-4340261D2C6D}" srcOrd="2" destOrd="0" parTransId="{C399F566-0443-4DBF-8604-F4A6958C164D}" sibTransId="{85144D94-0F23-4433-97A3-DC7CF9598960}"/>
    <dgm:cxn modelId="{B095E712-FCB2-44D0-AD85-DC65A41DD267}" type="presOf" srcId="{F076C537-43E3-41E3-9DBF-07F2CCB42C01}" destId="{9511AF22-C994-4379-A823-DFE7ABBBC1DB}" srcOrd="0" destOrd="0" presId="urn:microsoft.com/office/officeart/2008/layout/LinedList"/>
    <dgm:cxn modelId="{A385CE29-172B-4105-B21B-009B2ED32258}" srcId="{B6BE081E-951F-4A7F-9735-C2E3A7AD2A4A}" destId="{EF889C3E-D2F2-4140-A737-BD83F3309126}" srcOrd="4" destOrd="0" parTransId="{DDA765E1-8E38-401B-86BC-DA05429A16D9}" sibTransId="{28A92EBB-6117-4452-A416-9F230E63A727}"/>
    <dgm:cxn modelId="{99EA905C-4346-4E1B-9C3A-14C8B74249C4}" type="presOf" srcId="{FE0413C3-F656-40A2-9003-7A63A4260EB9}" destId="{83B8B2CC-567C-4FFD-82EE-8F0018EFE146}" srcOrd="0" destOrd="0" presId="urn:microsoft.com/office/officeart/2008/layout/LinedList"/>
    <dgm:cxn modelId="{EA295E72-682A-40D8-AE7A-D5FF8EFED646}" type="presOf" srcId="{EF889C3E-D2F2-4140-A737-BD83F3309126}" destId="{11C3B7BD-A82C-4061-BDA1-71E7DF297D9B}" srcOrd="0" destOrd="0" presId="urn:microsoft.com/office/officeart/2008/layout/LinedList"/>
    <dgm:cxn modelId="{D24944C8-7E90-4104-A871-8B6F65620DF7}" srcId="{B6BE081E-951F-4A7F-9735-C2E3A7AD2A4A}" destId="{8E4DFFD3-D67D-4097-BFB0-1DDA559E1C0C}" srcOrd="0" destOrd="0" parTransId="{07A52922-4604-44E7-B9AC-AE17341CECC4}" sibTransId="{BDFE8375-6834-42AD-838B-509F763A2003}"/>
    <dgm:cxn modelId="{848E72ED-701D-402D-9348-16488EEF550D}" srcId="{B6BE081E-951F-4A7F-9735-C2E3A7AD2A4A}" destId="{F076C537-43E3-41E3-9DBF-07F2CCB42C01}" srcOrd="1" destOrd="0" parTransId="{43D2E4E6-9ABF-4E1C-981E-4760D9F4CBD6}" sibTransId="{7C810797-CA50-4490-BB90-83C900BA6A6A}"/>
    <dgm:cxn modelId="{0097E3F2-A2D3-4E0E-AA29-58AE20D954C3}" type="presOf" srcId="{7BCA9BD5-B666-414A-A58D-4340261D2C6D}" destId="{6F7997B2-541A-4BEA-B07F-B9DF99AC8A7A}" srcOrd="0" destOrd="0" presId="urn:microsoft.com/office/officeart/2008/layout/LinedList"/>
    <dgm:cxn modelId="{D36B52F5-21DA-428B-933D-2C768CBA961E}" type="presOf" srcId="{B6BE081E-951F-4A7F-9735-C2E3A7AD2A4A}" destId="{204BC467-4797-4274-8DFD-AC1A9A96ED26}" srcOrd="0" destOrd="0" presId="urn:microsoft.com/office/officeart/2008/layout/LinedList"/>
    <dgm:cxn modelId="{4F3431FE-6A2F-4A74-A192-F7234823D989}" type="presOf" srcId="{8E4DFFD3-D67D-4097-BFB0-1DDA559E1C0C}" destId="{07A258B3-1E4C-4FAD-A3EC-BE4CA7380285}" srcOrd="0" destOrd="0" presId="urn:microsoft.com/office/officeart/2008/layout/LinedList"/>
    <dgm:cxn modelId="{26C60A9E-68A1-4566-8F5E-41786A03FCF4}" type="presParOf" srcId="{204BC467-4797-4274-8DFD-AC1A9A96ED26}" destId="{633CFB07-A83B-410F-BE7A-1895B0913B71}" srcOrd="0" destOrd="0" presId="urn:microsoft.com/office/officeart/2008/layout/LinedList"/>
    <dgm:cxn modelId="{2F36EFA5-ECF3-4DD3-8DD1-2074B3AA32EE}" type="presParOf" srcId="{204BC467-4797-4274-8DFD-AC1A9A96ED26}" destId="{5E5088B2-2F41-4C04-89A3-63170F10F9CF}" srcOrd="1" destOrd="0" presId="urn:microsoft.com/office/officeart/2008/layout/LinedList"/>
    <dgm:cxn modelId="{9760DD50-7805-491C-BC2C-94FB23269075}" type="presParOf" srcId="{5E5088B2-2F41-4C04-89A3-63170F10F9CF}" destId="{07A258B3-1E4C-4FAD-A3EC-BE4CA7380285}" srcOrd="0" destOrd="0" presId="urn:microsoft.com/office/officeart/2008/layout/LinedList"/>
    <dgm:cxn modelId="{81C8E370-8FAD-4FEC-912F-B4D28A1A2A8D}" type="presParOf" srcId="{5E5088B2-2F41-4C04-89A3-63170F10F9CF}" destId="{62BE0C0D-D68B-490A-84D0-99C4C5AF7F34}" srcOrd="1" destOrd="0" presId="urn:microsoft.com/office/officeart/2008/layout/LinedList"/>
    <dgm:cxn modelId="{296F123E-CBEE-4455-94FC-EF0DD04F1644}" type="presParOf" srcId="{204BC467-4797-4274-8DFD-AC1A9A96ED26}" destId="{166D4DC4-95D8-4C4D-8F44-A15A7B110D73}" srcOrd="2" destOrd="0" presId="urn:microsoft.com/office/officeart/2008/layout/LinedList"/>
    <dgm:cxn modelId="{EFFA316F-43AB-4087-AECA-8028B8764678}" type="presParOf" srcId="{204BC467-4797-4274-8DFD-AC1A9A96ED26}" destId="{CF6AB983-6443-49D2-AD4B-00E7E35719E1}" srcOrd="3" destOrd="0" presId="urn:microsoft.com/office/officeart/2008/layout/LinedList"/>
    <dgm:cxn modelId="{2767C0D8-A5CB-4245-BAB0-5BAC8D7693F7}" type="presParOf" srcId="{CF6AB983-6443-49D2-AD4B-00E7E35719E1}" destId="{9511AF22-C994-4379-A823-DFE7ABBBC1DB}" srcOrd="0" destOrd="0" presId="urn:microsoft.com/office/officeart/2008/layout/LinedList"/>
    <dgm:cxn modelId="{36ED3F6C-C8F9-428D-84FD-B958C6889EBB}" type="presParOf" srcId="{CF6AB983-6443-49D2-AD4B-00E7E35719E1}" destId="{CB2E50D1-3FCB-446A-8E4E-9DF27EC485E8}" srcOrd="1" destOrd="0" presId="urn:microsoft.com/office/officeart/2008/layout/LinedList"/>
    <dgm:cxn modelId="{01879DED-92C1-4327-81C4-DDB399AA9B38}" type="presParOf" srcId="{204BC467-4797-4274-8DFD-AC1A9A96ED26}" destId="{27C6A2CC-7430-4873-836A-07FFDBDF92D7}" srcOrd="4" destOrd="0" presId="urn:microsoft.com/office/officeart/2008/layout/LinedList"/>
    <dgm:cxn modelId="{9575F422-91A1-494C-91C3-6881A352C2FB}" type="presParOf" srcId="{204BC467-4797-4274-8DFD-AC1A9A96ED26}" destId="{0ADEE4D3-7DF2-40E1-B623-31AC776AD17C}" srcOrd="5" destOrd="0" presId="urn:microsoft.com/office/officeart/2008/layout/LinedList"/>
    <dgm:cxn modelId="{099D094F-D09F-4EFB-B5B2-46DAE2289522}" type="presParOf" srcId="{0ADEE4D3-7DF2-40E1-B623-31AC776AD17C}" destId="{6F7997B2-541A-4BEA-B07F-B9DF99AC8A7A}" srcOrd="0" destOrd="0" presId="urn:microsoft.com/office/officeart/2008/layout/LinedList"/>
    <dgm:cxn modelId="{FC1FDCFE-80AB-4CF5-A774-0B8E8456E395}" type="presParOf" srcId="{0ADEE4D3-7DF2-40E1-B623-31AC776AD17C}" destId="{0AFBAD37-0C0D-49E9-BF01-6429B887BE31}" srcOrd="1" destOrd="0" presId="urn:microsoft.com/office/officeart/2008/layout/LinedList"/>
    <dgm:cxn modelId="{17A3BC6D-7E3C-45C3-BAA1-FB5FB02EBB30}" type="presParOf" srcId="{204BC467-4797-4274-8DFD-AC1A9A96ED26}" destId="{AC9E2D02-F8FE-4AB5-97D2-860DD39D3E2B}" srcOrd="6" destOrd="0" presId="urn:microsoft.com/office/officeart/2008/layout/LinedList"/>
    <dgm:cxn modelId="{FB8DFF97-5911-443F-A183-AD3B91305001}" type="presParOf" srcId="{204BC467-4797-4274-8DFD-AC1A9A96ED26}" destId="{C0ACACA8-0DB5-422E-B0AB-6E11F257297E}" srcOrd="7" destOrd="0" presId="urn:microsoft.com/office/officeart/2008/layout/LinedList"/>
    <dgm:cxn modelId="{93F22172-8B44-4735-A182-4CC26B26AE95}" type="presParOf" srcId="{C0ACACA8-0DB5-422E-B0AB-6E11F257297E}" destId="{83B8B2CC-567C-4FFD-82EE-8F0018EFE146}" srcOrd="0" destOrd="0" presId="urn:microsoft.com/office/officeart/2008/layout/LinedList"/>
    <dgm:cxn modelId="{BBEF1939-F5EB-4BE5-BE81-7152C29DD854}" type="presParOf" srcId="{C0ACACA8-0DB5-422E-B0AB-6E11F257297E}" destId="{7F41B3F8-1EB6-4AF6-AE6E-AA76854A1EDE}" srcOrd="1" destOrd="0" presId="urn:microsoft.com/office/officeart/2008/layout/LinedList"/>
    <dgm:cxn modelId="{E24C9BC8-F459-401A-B6D5-0A294A728AC4}" type="presParOf" srcId="{204BC467-4797-4274-8DFD-AC1A9A96ED26}" destId="{828D0797-6568-45AF-A820-9D1F09BBE67C}" srcOrd="8" destOrd="0" presId="urn:microsoft.com/office/officeart/2008/layout/LinedList"/>
    <dgm:cxn modelId="{CB7A7699-2FA7-4368-96A6-E1F3847A984E}" type="presParOf" srcId="{204BC467-4797-4274-8DFD-AC1A9A96ED26}" destId="{36251133-C10A-4CD6-8D46-47242D31A239}" srcOrd="9" destOrd="0" presId="urn:microsoft.com/office/officeart/2008/layout/LinedList"/>
    <dgm:cxn modelId="{A9A10261-A876-45BD-8899-6DCB6A6C5138}" type="presParOf" srcId="{36251133-C10A-4CD6-8D46-47242D31A239}" destId="{11C3B7BD-A82C-4061-BDA1-71E7DF297D9B}" srcOrd="0" destOrd="0" presId="urn:microsoft.com/office/officeart/2008/layout/LinedList"/>
    <dgm:cxn modelId="{DEB60F46-DA34-4E0B-B10F-E7E13ECD44A4}" type="presParOf" srcId="{36251133-C10A-4CD6-8D46-47242D31A239}" destId="{0E0B860B-B275-46DE-9C73-4342D6A4779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C4F61A-E0C3-4B81-82C4-523ECB3306EF}"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5BD23EE-C1AD-4F16-91D1-C3646ED0E041}">
      <dgm:prSet/>
      <dgm:spPr/>
      <dgm:t>
        <a:bodyPr/>
        <a:lstStyle/>
        <a:p>
          <a:r>
            <a:rPr lang="en-US" baseline="0" dirty="0"/>
            <a:t>Perceived control</a:t>
          </a:r>
          <a:endParaRPr lang="en-US" dirty="0"/>
        </a:p>
      </dgm:t>
    </dgm:pt>
    <dgm:pt modelId="{C68925FF-2D42-4B06-A1CF-3898ECF8EF1B}" type="parTrans" cxnId="{A8F8362C-6400-4990-8AE7-6D7777C50EB2}">
      <dgm:prSet/>
      <dgm:spPr/>
      <dgm:t>
        <a:bodyPr/>
        <a:lstStyle/>
        <a:p>
          <a:endParaRPr lang="en-US"/>
        </a:p>
      </dgm:t>
    </dgm:pt>
    <dgm:pt modelId="{61B5F4F0-C1CE-478F-9B7D-04DD0F144E17}" type="sibTrans" cxnId="{A8F8362C-6400-4990-8AE7-6D7777C50EB2}">
      <dgm:prSet/>
      <dgm:spPr/>
      <dgm:t>
        <a:bodyPr/>
        <a:lstStyle/>
        <a:p>
          <a:endParaRPr lang="en-US"/>
        </a:p>
      </dgm:t>
    </dgm:pt>
    <dgm:pt modelId="{452C0895-DF18-4FBD-8581-F78919615FB9}">
      <dgm:prSet/>
      <dgm:spPr/>
      <dgm:t>
        <a:bodyPr/>
        <a:lstStyle/>
        <a:p>
          <a:r>
            <a:rPr lang="en-US" baseline="0"/>
            <a:t>Social support</a:t>
          </a:r>
          <a:endParaRPr lang="en-US"/>
        </a:p>
      </dgm:t>
    </dgm:pt>
    <dgm:pt modelId="{105F6B2B-5170-4EE8-A9CA-5E6D446DA667}" type="parTrans" cxnId="{E7AA2E0A-686C-4855-8B19-7A5B60EEFF9B}">
      <dgm:prSet/>
      <dgm:spPr/>
      <dgm:t>
        <a:bodyPr/>
        <a:lstStyle/>
        <a:p>
          <a:endParaRPr lang="en-US"/>
        </a:p>
      </dgm:t>
    </dgm:pt>
    <dgm:pt modelId="{96067F76-7A26-451B-BA1F-CC117B5A8739}" type="sibTrans" cxnId="{E7AA2E0A-686C-4855-8B19-7A5B60EEFF9B}">
      <dgm:prSet/>
      <dgm:spPr/>
      <dgm:t>
        <a:bodyPr/>
        <a:lstStyle/>
        <a:p>
          <a:endParaRPr lang="en-US"/>
        </a:p>
      </dgm:t>
    </dgm:pt>
    <dgm:pt modelId="{36608743-535D-40FE-807B-C4DB9759FAAD}">
      <dgm:prSet/>
      <dgm:spPr/>
      <dgm:t>
        <a:bodyPr/>
        <a:lstStyle/>
        <a:p>
          <a:r>
            <a:rPr lang="en-US" baseline="0"/>
            <a:t>Relaxation response techniques</a:t>
          </a:r>
          <a:endParaRPr lang="en-US"/>
        </a:p>
      </dgm:t>
    </dgm:pt>
    <dgm:pt modelId="{0A4E8708-B612-4D76-A830-6DB6666C7D3A}" type="parTrans" cxnId="{0C3FACBE-C496-42E2-94F0-1302622B62FB}">
      <dgm:prSet/>
      <dgm:spPr/>
      <dgm:t>
        <a:bodyPr/>
        <a:lstStyle/>
        <a:p>
          <a:endParaRPr lang="en-US"/>
        </a:p>
      </dgm:t>
    </dgm:pt>
    <dgm:pt modelId="{61A7BF2E-D391-4BAB-B98E-88646278A58C}" type="sibTrans" cxnId="{0C3FACBE-C496-42E2-94F0-1302622B62FB}">
      <dgm:prSet/>
      <dgm:spPr/>
      <dgm:t>
        <a:bodyPr/>
        <a:lstStyle/>
        <a:p>
          <a:endParaRPr lang="en-US"/>
        </a:p>
      </dgm:t>
    </dgm:pt>
    <dgm:pt modelId="{049E1E73-1AA6-4ED1-A1DB-F52FAD2CFA41}">
      <dgm:prSet/>
      <dgm:spPr/>
      <dgm:t>
        <a:bodyPr/>
        <a:lstStyle/>
        <a:p>
          <a:r>
            <a:rPr lang="en-US" baseline="0"/>
            <a:t>Biofeedback</a:t>
          </a:r>
          <a:endParaRPr lang="en-US"/>
        </a:p>
      </dgm:t>
    </dgm:pt>
    <dgm:pt modelId="{443FC3E0-8539-43C3-A705-887DB271960E}" type="parTrans" cxnId="{E431C6BD-AB14-48C1-9593-DE79D7F773CA}">
      <dgm:prSet/>
      <dgm:spPr/>
      <dgm:t>
        <a:bodyPr/>
        <a:lstStyle/>
        <a:p>
          <a:endParaRPr lang="en-US"/>
        </a:p>
      </dgm:t>
    </dgm:pt>
    <dgm:pt modelId="{62C96BF8-4F6F-4768-838E-9ED671C67EB1}" type="sibTrans" cxnId="{E431C6BD-AB14-48C1-9593-DE79D7F773CA}">
      <dgm:prSet/>
      <dgm:spPr/>
      <dgm:t>
        <a:bodyPr/>
        <a:lstStyle/>
        <a:p>
          <a:endParaRPr lang="en-US"/>
        </a:p>
      </dgm:t>
    </dgm:pt>
    <dgm:pt modelId="{A77D13D0-0D90-4F1F-8817-BA1D27A1FA70}" type="pres">
      <dgm:prSet presAssocID="{0AC4F61A-E0C3-4B81-82C4-523ECB3306EF}" presName="hierChild1" presStyleCnt="0">
        <dgm:presLayoutVars>
          <dgm:chPref val="1"/>
          <dgm:dir/>
          <dgm:animOne val="branch"/>
          <dgm:animLvl val="lvl"/>
          <dgm:resizeHandles/>
        </dgm:presLayoutVars>
      </dgm:prSet>
      <dgm:spPr/>
    </dgm:pt>
    <dgm:pt modelId="{AF61F1FF-075A-4449-841E-787520545C19}" type="pres">
      <dgm:prSet presAssocID="{C5BD23EE-C1AD-4F16-91D1-C3646ED0E041}" presName="hierRoot1" presStyleCnt="0"/>
      <dgm:spPr/>
    </dgm:pt>
    <dgm:pt modelId="{C0022660-D82B-4326-8262-D1FEE34E1B61}" type="pres">
      <dgm:prSet presAssocID="{C5BD23EE-C1AD-4F16-91D1-C3646ED0E041}" presName="composite" presStyleCnt="0"/>
      <dgm:spPr/>
    </dgm:pt>
    <dgm:pt modelId="{5B5391C3-E4B0-4FB4-9FAB-DAA3EF8D6399}" type="pres">
      <dgm:prSet presAssocID="{C5BD23EE-C1AD-4F16-91D1-C3646ED0E041}" presName="background" presStyleLbl="node0" presStyleIdx="0" presStyleCnt="4"/>
      <dgm:spPr/>
    </dgm:pt>
    <dgm:pt modelId="{10C3A6A3-13A3-48D7-981A-05F9D0ED8BD5}" type="pres">
      <dgm:prSet presAssocID="{C5BD23EE-C1AD-4F16-91D1-C3646ED0E041}" presName="text" presStyleLbl="fgAcc0" presStyleIdx="0" presStyleCnt="4">
        <dgm:presLayoutVars>
          <dgm:chPref val="3"/>
        </dgm:presLayoutVars>
      </dgm:prSet>
      <dgm:spPr/>
    </dgm:pt>
    <dgm:pt modelId="{79464609-150B-44D1-8F41-C2039C62C03F}" type="pres">
      <dgm:prSet presAssocID="{C5BD23EE-C1AD-4F16-91D1-C3646ED0E041}" presName="hierChild2" presStyleCnt="0"/>
      <dgm:spPr/>
    </dgm:pt>
    <dgm:pt modelId="{51B550A6-1A73-4041-8A3F-7AB3C45A7BAB}" type="pres">
      <dgm:prSet presAssocID="{452C0895-DF18-4FBD-8581-F78919615FB9}" presName="hierRoot1" presStyleCnt="0"/>
      <dgm:spPr/>
    </dgm:pt>
    <dgm:pt modelId="{3FDD775F-7566-4882-9CAA-A96FA2025247}" type="pres">
      <dgm:prSet presAssocID="{452C0895-DF18-4FBD-8581-F78919615FB9}" presName="composite" presStyleCnt="0"/>
      <dgm:spPr/>
    </dgm:pt>
    <dgm:pt modelId="{95122526-BC53-4638-AE5D-C920E352DA16}" type="pres">
      <dgm:prSet presAssocID="{452C0895-DF18-4FBD-8581-F78919615FB9}" presName="background" presStyleLbl="node0" presStyleIdx="1" presStyleCnt="4"/>
      <dgm:spPr/>
    </dgm:pt>
    <dgm:pt modelId="{9E06CD6E-9B26-446F-B986-37AD4A384C33}" type="pres">
      <dgm:prSet presAssocID="{452C0895-DF18-4FBD-8581-F78919615FB9}" presName="text" presStyleLbl="fgAcc0" presStyleIdx="1" presStyleCnt="4">
        <dgm:presLayoutVars>
          <dgm:chPref val="3"/>
        </dgm:presLayoutVars>
      </dgm:prSet>
      <dgm:spPr/>
    </dgm:pt>
    <dgm:pt modelId="{4EF2E8C2-9202-4CB4-B181-B4D636DF803E}" type="pres">
      <dgm:prSet presAssocID="{452C0895-DF18-4FBD-8581-F78919615FB9}" presName="hierChild2" presStyleCnt="0"/>
      <dgm:spPr/>
    </dgm:pt>
    <dgm:pt modelId="{4E9C36D7-C14E-46D0-BD48-D11FD40191C9}" type="pres">
      <dgm:prSet presAssocID="{36608743-535D-40FE-807B-C4DB9759FAAD}" presName="hierRoot1" presStyleCnt="0"/>
      <dgm:spPr/>
    </dgm:pt>
    <dgm:pt modelId="{CA566C78-62F8-439B-A6B6-C829D07BEAA9}" type="pres">
      <dgm:prSet presAssocID="{36608743-535D-40FE-807B-C4DB9759FAAD}" presName="composite" presStyleCnt="0"/>
      <dgm:spPr/>
    </dgm:pt>
    <dgm:pt modelId="{167E8D7C-26DB-4E10-A351-36904A4ED1D6}" type="pres">
      <dgm:prSet presAssocID="{36608743-535D-40FE-807B-C4DB9759FAAD}" presName="background" presStyleLbl="node0" presStyleIdx="2" presStyleCnt="4"/>
      <dgm:spPr/>
    </dgm:pt>
    <dgm:pt modelId="{C14D8016-F7BA-4A67-B10E-7675859ECFF1}" type="pres">
      <dgm:prSet presAssocID="{36608743-535D-40FE-807B-C4DB9759FAAD}" presName="text" presStyleLbl="fgAcc0" presStyleIdx="2" presStyleCnt="4">
        <dgm:presLayoutVars>
          <dgm:chPref val="3"/>
        </dgm:presLayoutVars>
      </dgm:prSet>
      <dgm:spPr/>
    </dgm:pt>
    <dgm:pt modelId="{14F0221E-8EF3-47D3-ABE9-E93978CAC549}" type="pres">
      <dgm:prSet presAssocID="{36608743-535D-40FE-807B-C4DB9759FAAD}" presName="hierChild2" presStyleCnt="0"/>
      <dgm:spPr/>
    </dgm:pt>
    <dgm:pt modelId="{AD15D37C-4465-4177-BB88-FDF8A3913F46}" type="pres">
      <dgm:prSet presAssocID="{049E1E73-1AA6-4ED1-A1DB-F52FAD2CFA41}" presName="hierRoot1" presStyleCnt="0"/>
      <dgm:spPr/>
    </dgm:pt>
    <dgm:pt modelId="{9C40CAEA-70CF-44CC-9B66-773ED9EDAB47}" type="pres">
      <dgm:prSet presAssocID="{049E1E73-1AA6-4ED1-A1DB-F52FAD2CFA41}" presName="composite" presStyleCnt="0"/>
      <dgm:spPr/>
    </dgm:pt>
    <dgm:pt modelId="{20B08678-C70E-48EB-927F-F23259B4C531}" type="pres">
      <dgm:prSet presAssocID="{049E1E73-1AA6-4ED1-A1DB-F52FAD2CFA41}" presName="background" presStyleLbl="node0" presStyleIdx="3" presStyleCnt="4"/>
      <dgm:spPr/>
    </dgm:pt>
    <dgm:pt modelId="{C95A70C8-D616-499B-865B-166427405B4C}" type="pres">
      <dgm:prSet presAssocID="{049E1E73-1AA6-4ED1-A1DB-F52FAD2CFA41}" presName="text" presStyleLbl="fgAcc0" presStyleIdx="3" presStyleCnt="4">
        <dgm:presLayoutVars>
          <dgm:chPref val="3"/>
        </dgm:presLayoutVars>
      </dgm:prSet>
      <dgm:spPr/>
    </dgm:pt>
    <dgm:pt modelId="{81764912-AE94-4F5D-A600-13FD56D5363D}" type="pres">
      <dgm:prSet presAssocID="{049E1E73-1AA6-4ED1-A1DB-F52FAD2CFA41}" presName="hierChild2" presStyleCnt="0"/>
      <dgm:spPr/>
    </dgm:pt>
  </dgm:ptLst>
  <dgm:cxnLst>
    <dgm:cxn modelId="{E7AA2E0A-686C-4855-8B19-7A5B60EEFF9B}" srcId="{0AC4F61A-E0C3-4B81-82C4-523ECB3306EF}" destId="{452C0895-DF18-4FBD-8581-F78919615FB9}" srcOrd="1" destOrd="0" parTransId="{105F6B2B-5170-4EE8-A9CA-5E6D446DA667}" sibTransId="{96067F76-7A26-451B-BA1F-CC117B5A8739}"/>
    <dgm:cxn modelId="{A8F8362C-6400-4990-8AE7-6D7777C50EB2}" srcId="{0AC4F61A-E0C3-4B81-82C4-523ECB3306EF}" destId="{C5BD23EE-C1AD-4F16-91D1-C3646ED0E041}" srcOrd="0" destOrd="0" parTransId="{C68925FF-2D42-4B06-A1CF-3898ECF8EF1B}" sibTransId="{61B5F4F0-C1CE-478F-9B7D-04DD0F144E17}"/>
    <dgm:cxn modelId="{1457763A-2382-4F1C-81DA-42B3742A3A21}" type="presOf" srcId="{049E1E73-1AA6-4ED1-A1DB-F52FAD2CFA41}" destId="{C95A70C8-D616-499B-865B-166427405B4C}" srcOrd="0" destOrd="0" presId="urn:microsoft.com/office/officeart/2005/8/layout/hierarchy1"/>
    <dgm:cxn modelId="{8F23A25C-00C3-4DC6-A45F-20D68B86DC79}" type="presOf" srcId="{36608743-535D-40FE-807B-C4DB9759FAAD}" destId="{C14D8016-F7BA-4A67-B10E-7675859ECFF1}" srcOrd="0" destOrd="0" presId="urn:microsoft.com/office/officeart/2005/8/layout/hierarchy1"/>
    <dgm:cxn modelId="{B9FDA641-F617-472E-AD9F-D4CBE21DB0DF}" type="presOf" srcId="{452C0895-DF18-4FBD-8581-F78919615FB9}" destId="{9E06CD6E-9B26-446F-B986-37AD4A384C33}" srcOrd="0" destOrd="0" presId="urn:microsoft.com/office/officeart/2005/8/layout/hierarchy1"/>
    <dgm:cxn modelId="{E431C6BD-AB14-48C1-9593-DE79D7F773CA}" srcId="{0AC4F61A-E0C3-4B81-82C4-523ECB3306EF}" destId="{049E1E73-1AA6-4ED1-A1DB-F52FAD2CFA41}" srcOrd="3" destOrd="0" parTransId="{443FC3E0-8539-43C3-A705-887DB271960E}" sibTransId="{62C96BF8-4F6F-4768-838E-9ED671C67EB1}"/>
    <dgm:cxn modelId="{0C3FACBE-C496-42E2-94F0-1302622B62FB}" srcId="{0AC4F61A-E0C3-4B81-82C4-523ECB3306EF}" destId="{36608743-535D-40FE-807B-C4DB9759FAAD}" srcOrd="2" destOrd="0" parTransId="{0A4E8708-B612-4D76-A830-6DB6666C7D3A}" sibTransId="{61A7BF2E-D391-4BAB-B98E-88646278A58C}"/>
    <dgm:cxn modelId="{67123DD1-1B00-4D35-A621-36F8BE8333BA}" type="presOf" srcId="{C5BD23EE-C1AD-4F16-91D1-C3646ED0E041}" destId="{10C3A6A3-13A3-48D7-981A-05F9D0ED8BD5}" srcOrd="0" destOrd="0" presId="urn:microsoft.com/office/officeart/2005/8/layout/hierarchy1"/>
    <dgm:cxn modelId="{768FB0DF-A014-441B-A9E9-1D6122922C46}" type="presOf" srcId="{0AC4F61A-E0C3-4B81-82C4-523ECB3306EF}" destId="{A77D13D0-0D90-4F1F-8817-BA1D27A1FA70}" srcOrd="0" destOrd="0" presId="urn:microsoft.com/office/officeart/2005/8/layout/hierarchy1"/>
    <dgm:cxn modelId="{49E27CC5-9638-407D-9E46-13F83DCEE52D}" type="presParOf" srcId="{A77D13D0-0D90-4F1F-8817-BA1D27A1FA70}" destId="{AF61F1FF-075A-4449-841E-787520545C19}" srcOrd="0" destOrd="0" presId="urn:microsoft.com/office/officeart/2005/8/layout/hierarchy1"/>
    <dgm:cxn modelId="{3546919D-F501-462C-8D35-29FECBE4C254}" type="presParOf" srcId="{AF61F1FF-075A-4449-841E-787520545C19}" destId="{C0022660-D82B-4326-8262-D1FEE34E1B61}" srcOrd="0" destOrd="0" presId="urn:microsoft.com/office/officeart/2005/8/layout/hierarchy1"/>
    <dgm:cxn modelId="{FE84F079-2C1D-4E41-A0D0-FA0C57F62587}" type="presParOf" srcId="{C0022660-D82B-4326-8262-D1FEE34E1B61}" destId="{5B5391C3-E4B0-4FB4-9FAB-DAA3EF8D6399}" srcOrd="0" destOrd="0" presId="urn:microsoft.com/office/officeart/2005/8/layout/hierarchy1"/>
    <dgm:cxn modelId="{1821B8E8-AF99-4332-8DF6-CC893EF49073}" type="presParOf" srcId="{C0022660-D82B-4326-8262-D1FEE34E1B61}" destId="{10C3A6A3-13A3-48D7-981A-05F9D0ED8BD5}" srcOrd="1" destOrd="0" presId="urn:microsoft.com/office/officeart/2005/8/layout/hierarchy1"/>
    <dgm:cxn modelId="{DF30E53E-84FB-4AE8-A497-E7EDD6F238D9}" type="presParOf" srcId="{AF61F1FF-075A-4449-841E-787520545C19}" destId="{79464609-150B-44D1-8F41-C2039C62C03F}" srcOrd="1" destOrd="0" presId="urn:microsoft.com/office/officeart/2005/8/layout/hierarchy1"/>
    <dgm:cxn modelId="{C8172008-C922-4F69-B7F7-33F1F0A2E69D}" type="presParOf" srcId="{A77D13D0-0D90-4F1F-8817-BA1D27A1FA70}" destId="{51B550A6-1A73-4041-8A3F-7AB3C45A7BAB}" srcOrd="1" destOrd="0" presId="urn:microsoft.com/office/officeart/2005/8/layout/hierarchy1"/>
    <dgm:cxn modelId="{833456B2-09F1-49FA-B4A3-5B250CBD4BE8}" type="presParOf" srcId="{51B550A6-1A73-4041-8A3F-7AB3C45A7BAB}" destId="{3FDD775F-7566-4882-9CAA-A96FA2025247}" srcOrd="0" destOrd="0" presId="urn:microsoft.com/office/officeart/2005/8/layout/hierarchy1"/>
    <dgm:cxn modelId="{14CEF8BB-CC47-4960-A5C7-8F47038759D7}" type="presParOf" srcId="{3FDD775F-7566-4882-9CAA-A96FA2025247}" destId="{95122526-BC53-4638-AE5D-C920E352DA16}" srcOrd="0" destOrd="0" presId="urn:microsoft.com/office/officeart/2005/8/layout/hierarchy1"/>
    <dgm:cxn modelId="{7E1AF37C-7179-4893-BFDB-41850260EDA2}" type="presParOf" srcId="{3FDD775F-7566-4882-9CAA-A96FA2025247}" destId="{9E06CD6E-9B26-446F-B986-37AD4A384C33}" srcOrd="1" destOrd="0" presId="urn:microsoft.com/office/officeart/2005/8/layout/hierarchy1"/>
    <dgm:cxn modelId="{3BE14784-67CE-4FBC-A179-D3849282F1C6}" type="presParOf" srcId="{51B550A6-1A73-4041-8A3F-7AB3C45A7BAB}" destId="{4EF2E8C2-9202-4CB4-B181-B4D636DF803E}" srcOrd="1" destOrd="0" presId="urn:microsoft.com/office/officeart/2005/8/layout/hierarchy1"/>
    <dgm:cxn modelId="{85C1A140-D52D-4C14-9299-D1EA23EC4BB0}" type="presParOf" srcId="{A77D13D0-0D90-4F1F-8817-BA1D27A1FA70}" destId="{4E9C36D7-C14E-46D0-BD48-D11FD40191C9}" srcOrd="2" destOrd="0" presId="urn:microsoft.com/office/officeart/2005/8/layout/hierarchy1"/>
    <dgm:cxn modelId="{CCC1E347-9E51-4465-89EE-29882A2097A6}" type="presParOf" srcId="{4E9C36D7-C14E-46D0-BD48-D11FD40191C9}" destId="{CA566C78-62F8-439B-A6B6-C829D07BEAA9}" srcOrd="0" destOrd="0" presId="urn:microsoft.com/office/officeart/2005/8/layout/hierarchy1"/>
    <dgm:cxn modelId="{9E01DAE0-747C-49CC-9AD5-65D5E7FF3A36}" type="presParOf" srcId="{CA566C78-62F8-439B-A6B6-C829D07BEAA9}" destId="{167E8D7C-26DB-4E10-A351-36904A4ED1D6}" srcOrd="0" destOrd="0" presId="urn:microsoft.com/office/officeart/2005/8/layout/hierarchy1"/>
    <dgm:cxn modelId="{A3D2D36E-1238-4059-8D0A-23E5DC1A137D}" type="presParOf" srcId="{CA566C78-62F8-439B-A6B6-C829D07BEAA9}" destId="{C14D8016-F7BA-4A67-B10E-7675859ECFF1}" srcOrd="1" destOrd="0" presId="urn:microsoft.com/office/officeart/2005/8/layout/hierarchy1"/>
    <dgm:cxn modelId="{78833655-2232-49C7-A2D5-4E0AEAFF3A80}" type="presParOf" srcId="{4E9C36D7-C14E-46D0-BD48-D11FD40191C9}" destId="{14F0221E-8EF3-47D3-ABE9-E93978CAC549}" srcOrd="1" destOrd="0" presId="urn:microsoft.com/office/officeart/2005/8/layout/hierarchy1"/>
    <dgm:cxn modelId="{0412E5AF-DEAC-4ED8-893F-1F579C29AB30}" type="presParOf" srcId="{A77D13D0-0D90-4F1F-8817-BA1D27A1FA70}" destId="{AD15D37C-4465-4177-BB88-FDF8A3913F46}" srcOrd="3" destOrd="0" presId="urn:microsoft.com/office/officeart/2005/8/layout/hierarchy1"/>
    <dgm:cxn modelId="{CCCFD0C4-3194-4517-B4D8-CBFF69ABC7D6}" type="presParOf" srcId="{AD15D37C-4465-4177-BB88-FDF8A3913F46}" destId="{9C40CAEA-70CF-44CC-9B66-773ED9EDAB47}" srcOrd="0" destOrd="0" presId="urn:microsoft.com/office/officeart/2005/8/layout/hierarchy1"/>
    <dgm:cxn modelId="{C8619087-8EDC-40C5-B5E0-A6B779842EB7}" type="presParOf" srcId="{9C40CAEA-70CF-44CC-9B66-773ED9EDAB47}" destId="{20B08678-C70E-48EB-927F-F23259B4C531}" srcOrd="0" destOrd="0" presId="urn:microsoft.com/office/officeart/2005/8/layout/hierarchy1"/>
    <dgm:cxn modelId="{396F5460-1197-4B34-BD6C-893153B1421A}" type="presParOf" srcId="{9C40CAEA-70CF-44CC-9B66-773ED9EDAB47}" destId="{C95A70C8-D616-499B-865B-166427405B4C}" srcOrd="1" destOrd="0" presId="urn:microsoft.com/office/officeart/2005/8/layout/hierarchy1"/>
    <dgm:cxn modelId="{0B635913-BD46-452D-8986-8A68D890F91D}" type="presParOf" srcId="{AD15D37C-4465-4177-BB88-FDF8A3913F46}" destId="{81764912-AE94-4F5D-A600-13FD56D5363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F66BCE-0F8F-467D-AA6C-4A675FF3641E}">
      <dsp:nvSpPr>
        <dsp:cNvPr id="0" name=""/>
        <dsp:cNvSpPr/>
      </dsp:nvSpPr>
      <dsp:spPr>
        <a:xfrm>
          <a:off x="3080"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60A89E-7B9E-454A-A3FE-4D940ACBFBC0}">
      <dsp:nvSpPr>
        <dsp:cNvPr id="0" name=""/>
        <dsp:cNvSpPr/>
      </dsp:nvSpPr>
      <dsp:spPr>
        <a:xfrm>
          <a:off x="247486"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Traumatic events</a:t>
          </a:r>
          <a:endParaRPr lang="en-US" sz="2400" kern="1200"/>
        </a:p>
      </dsp:txBody>
      <dsp:txXfrm>
        <a:off x="288396" y="1539032"/>
        <a:ext cx="2117829" cy="1314957"/>
      </dsp:txXfrm>
    </dsp:sp>
    <dsp:sp modelId="{ECB45F66-7604-4829-81ED-E5BB36C7E096}">
      <dsp:nvSpPr>
        <dsp:cNvPr id="0" name=""/>
        <dsp:cNvSpPr/>
      </dsp:nvSpPr>
      <dsp:spPr>
        <a:xfrm>
          <a:off x="2691541"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1C870D-58EA-445E-9C80-C4B732140EEC}">
      <dsp:nvSpPr>
        <dsp:cNvPr id="0" name=""/>
        <dsp:cNvSpPr/>
      </dsp:nvSpPr>
      <dsp:spPr>
        <a:xfrm>
          <a:off x="2935947"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Life changes</a:t>
          </a:r>
          <a:endParaRPr lang="en-US" sz="2400" kern="1200"/>
        </a:p>
      </dsp:txBody>
      <dsp:txXfrm>
        <a:off x="2976857" y="1539032"/>
        <a:ext cx="2117829" cy="1314957"/>
      </dsp:txXfrm>
    </dsp:sp>
    <dsp:sp modelId="{1B3594D3-4E3F-405D-8BE9-D56B9E4CC3C4}">
      <dsp:nvSpPr>
        <dsp:cNvPr id="0" name=""/>
        <dsp:cNvSpPr/>
      </dsp:nvSpPr>
      <dsp:spPr>
        <a:xfrm>
          <a:off x="5380002"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D528E6-DF11-4FA5-AD9C-FA4D87C190D4}">
      <dsp:nvSpPr>
        <dsp:cNvPr id="0" name=""/>
        <dsp:cNvSpPr/>
      </dsp:nvSpPr>
      <dsp:spPr>
        <a:xfrm>
          <a:off x="5624408"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dirty="0"/>
            <a:t>Daily hassles</a:t>
          </a:r>
          <a:endParaRPr lang="en-US" sz="2400" kern="1200" dirty="0"/>
        </a:p>
      </dsp:txBody>
      <dsp:txXfrm>
        <a:off x="5665318" y="1539032"/>
        <a:ext cx="2117829" cy="1314957"/>
      </dsp:txXfrm>
    </dsp:sp>
    <dsp:sp modelId="{8ECCFEFA-D80D-47DE-B174-0529047D5CB9}">
      <dsp:nvSpPr>
        <dsp:cNvPr id="0" name=""/>
        <dsp:cNvSpPr/>
      </dsp:nvSpPr>
      <dsp:spPr>
        <a:xfrm>
          <a:off x="8068463"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706C4-7A85-4AA5-AFA2-C081F137D290}">
      <dsp:nvSpPr>
        <dsp:cNvPr id="0" name=""/>
        <dsp:cNvSpPr/>
      </dsp:nvSpPr>
      <dsp:spPr>
        <a:xfrm>
          <a:off x="8312869"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Occupation-related stressors</a:t>
          </a:r>
          <a:endParaRPr lang="en-US" sz="2400" kern="1200"/>
        </a:p>
      </dsp:txBody>
      <dsp:txXfrm>
        <a:off x="8353779" y="1539032"/>
        <a:ext cx="2117829" cy="1314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3CFB07-A83B-410F-BE7A-1895B0913B71}">
      <dsp:nvSpPr>
        <dsp:cNvPr id="0" name=""/>
        <dsp:cNvSpPr/>
      </dsp:nvSpPr>
      <dsp:spPr>
        <a:xfrm>
          <a:off x="0" y="507"/>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7A258B3-1E4C-4FAD-A3EC-BE4CA7380285}">
      <dsp:nvSpPr>
        <dsp:cNvPr id="0" name=""/>
        <dsp:cNvSpPr/>
      </dsp:nvSpPr>
      <dsp:spPr>
        <a:xfrm>
          <a:off x="0" y="507"/>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a:t>Immunosuppression</a:t>
          </a:r>
          <a:endParaRPr lang="en-US" sz="3800" kern="1200"/>
        </a:p>
      </dsp:txBody>
      <dsp:txXfrm>
        <a:off x="0" y="507"/>
        <a:ext cx="10515600" cy="831964"/>
      </dsp:txXfrm>
    </dsp:sp>
    <dsp:sp modelId="{166D4DC4-95D8-4C4D-8F44-A15A7B110D73}">
      <dsp:nvSpPr>
        <dsp:cNvPr id="0" name=""/>
        <dsp:cNvSpPr/>
      </dsp:nvSpPr>
      <dsp:spPr>
        <a:xfrm>
          <a:off x="0" y="832472"/>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511AF22-C994-4379-A823-DFE7ABBBC1DB}">
      <dsp:nvSpPr>
        <dsp:cNvPr id="0" name=""/>
        <dsp:cNvSpPr/>
      </dsp:nvSpPr>
      <dsp:spPr>
        <a:xfrm>
          <a:off x="0" y="832472"/>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a:t>Autoimmune diseases</a:t>
          </a:r>
          <a:endParaRPr lang="en-US" sz="3800" kern="1200"/>
        </a:p>
      </dsp:txBody>
      <dsp:txXfrm>
        <a:off x="0" y="832472"/>
        <a:ext cx="10515600" cy="831964"/>
      </dsp:txXfrm>
    </dsp:sp>
    <dsp:sp modelId="{27C6A2CC-7430-4873-836A-07FFDBDF92D7}">
      <dsp:nvSpPr>
        <dsp:cNvPr id="0" name=""/>
        <dsp:cNvSpPr/>
      </dsp:nvSpPr>
      <dsp:spPr>
        <a:xfrm>
          <a:off x="0" y="1664436"/>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F7997B2-541A-4BEA-B07F-B9DF99AC8A7A}">
      <dsp:nvSpPr>
        <dsp:cNvPr id="0" name=""/>
        <dsp:cNvSpPr/>
      </dsp:nvSpPr>
      <dsp:spPr>
        <a:xfrm>
          <a:off x="0" y="1664436"/>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a:t>Psychoneuroimmunology</a:t>
          </a:r>
          <a:endParaRPr lang="en-US" sz="3800" kern="1200"/>
        </a:p>
      </dsp:txBody>
      <dsp:txXfrm>
        <a:off x="0" y="1664436"/>
        <a:ext cx="10515600" cy="831964"/>
      </dsp:txXfrm>
    </dsp:sp>
    <dsp:sp modelId="{AC9E2D02-F8FE-4AB5-97D2-860DD39D3E2B}">
      <dsp:nvSpPr>
        <dsp:cNvPr id="0" name=""/>
        <dsp:cNvSpPr/>
      </dsp:nvSpPr>
      <dsp:spPr>
        <a:xfrm>
          <a:off x="0" y="2496400"/>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3B8B2CC-567C-4FFD-82EE-8F0018EFE146}">
      <dsp:nvSpPr>
        <dsp:cNvPr id="0" name=""/>
        <dsp:cNvSpPr/>
      </dsp:nvSpPr>
      <dsp:spPr>
        <a:xfrm>
          <a:off x="0" y="2496400"/>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a:t>Lymphocytes</a:t>
          </a:r>
          <a:endParaRPr lang="en-US" sz="3800" kern="1200"/>
        </a:p>
      </dsp:txBody>
      <dsp:txXfrm>
        <a:off x="0" y="2496400"/>
        <a:ext cx="10515600" cy="831964"/>
      </dsp:txXfrm>
    </dsp:sp>
    <dsp:sp modelId="{828D0797-6568-45AF-A820-9D1F09BBE67C}">
      <dsp:nvSpPr>
        <dsp:cNvPr id="0" name=""/>
        <dsp:cNvSpPr/>
      </dsp:nvSpPr>
      <dsp:spPr>
        <a:xfrm>
          <a:off x="0" y="332836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1C3B7BD-A82C-4061-BDA1-71E7DF297D9B}">
      <dsp:nvSpPr>
        <dsp:cNvPr id="0" name=""/>
        <dsp:cNvSpPr/>
      </dsp:nvSpPr>
      <dsp:spPr>
        <a:xfrm>
          <a:off x="0" y="3328364"/>
          <a:ext cx="10515600" cy="831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baseline="0" dirty="0"/>
            <a:t>Lymphoma</a:t>
          </a:r>
          <a:endParaRPr lang="en-US" sz="3800" kern="1200" dirty="0"/>
        </a:p>
      </dsp:txBody>
      <dsp:txXfrm>
        <a:off x="0" y="3328364"/>
        <a:ext cx="10515600" cy="8319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5391C3-E4B0-4FB4-9FAB-DAA3EF8D6399}">
      <dsp:nvSpPr>
        <dsp:cNvPr id="0" name=""/>
        <dsp:cNvSpPr/>
      </dsp:nvSpPr>
      <dsp:spPr>
        <a:xfrm>
          <a:off x="3080"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C3A6A3-13A3-48D7-981A-05F9D0ED8BD5}">
      <dsp:nvSpPr>
        <dsp:cNvPr id="0" name=""/>
        <dsp:cNvSpPr/>
      </dsp:nvSpPr>
      <dsp:spPr>
        <a:xfrm>
          <a:off x="247486"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dirty="0"/>
            <a:t>Perceived control</a:t>
          </a:r>
          <a:endParaRPr lang="en-US" sz="2400" kern="1200" dirty="0"/>
        </a:p>
      </dsp:txBody>
      <dsp:txXfrm>
        <a:off x="288396" y="1539032"/>
        <a:ext cx="2117829" cy="1314957"/>
      </dsp:txXfrm>
    </dsp:sp>
    <dsp:sp modelId="{95122526-BC53-4638-AE5D-C920E352DA16}">
      <dsp:nvSpPr>
        <dsp:cNvPr id="0" name=""/>
        <dsp:cNvSpPr/>
      </dsp:nvSpPr>
      <dsp:spPr>
        <a:xfrm>
          <a:off x="2691541"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06CD6E-9B26-446F-B986-37AD4A384C33}">
      <dsp:nvSpPr>
        <dsp:cNvPr id="0" name=""/>
        <dsp:cNvSpPr/>
      </dsp:nvSpPr>
      <dsp:spPr>
        <a:xfrm>
          <a:off x="2935947"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Social support</a:t>
          </a:r>
          <a:endParaRPr lang="en-US" sz="2400" kern="1200"/>
        </a:p>
      </dsp:txBody>
      <dsp:txXfrm>
        <a:off x="2976857" y="1539032"/>
        <a:ext cx="2117829" cy="1314957"/>
      </dsp:txXfrm>
    </dsp:sp>
    <dsp:sp modelId="{167E8D7C-26DB-4E10-A351-36904A4ED1D6}">
      <dsp:nvSpPr>
        <dsp:cNvPr id="0" name=""/>
        <dsp:cNvSpPr/>
      </dsp:nvSpPr>
      <dsp:spPr>
        <a:xfrm>
          <a:off x="5380002"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4D8016-F7BA-4A67-B10E-7675859ECFF1}">
      <dsp:nvSpPr>
        <dsp:cNvPr id="0" name=""/>
        <dsp:cNvSpPr/>
      </dsp:nvSpPr>
      <dsp:spPr>
        <a:xfrm>
          <a:off x="5624408"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Relaxation response techniques</a:t>
          </a:r>
          <a:endParaRPr lang="en-US" sz="2400" kern="1200"/>
        </a:p>
      </dsp:txBody>
      <dsp:txXfrm>
        <a:off x="5665318" y="1539032"/>
        <a:ext cx="2117829" cy="1314957"/>
      </dsp:txXfrm>
    </dsp:sp>
    <dsp:sp modelId="{20B08678-C70E-48EB-927F-F23259B4C531}">
      <dsp:nvSpPr>
        <dsp:cNvPr id="0" name=""/>
        <dsp:cNvSpPr/>
      </dsp:nvSpPr>
      <dsp:spPr>
        <a:xfrm>
          <a:off x="8068463" y="1265937"/>
          <a:ext cx="2199649" cy="13967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A70C8-D616-499B-865B-166427405B4C}">
      <dsp:nvSpPr>
        <dsp:cNvPr id="0" name=""/>
        <dsp:cNvSpPr/>
      </dsp:nvSpPr>
      <dsp:spPr>
        <a:xfrm>
          <a:off x="8312869" y="149812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t>Biofeedback</a:t>
          </a:r>
          <a:endParaRPr lang="en-US" sz="2400" kern="1200"/>
        </a:p>
      </dsp:txBody>
      <dsp:txXfrm>
        <a:off x="8353779" y="1539032"/>
        <a:ext cx="2117829" cy="13149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56905-DDDD-43F4-AB6F-9596C2119C54}"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7C3A1-86B3-4ECD-B065-964C7D45BD0C}" type="slidenum">
              <a:rPr lang="en-US" smtClean="0"/>
              <a:t>‹#›</a:t>
            </a:fld>
            <a:endParaRPr lang="en-US"/>
          </a:p>
        </p:txBody>
      </p:sp>
    </p:spTree>
    <p:extLst>
      <p:ext uri="{BB962C8B-B14F-4D97-AF65-F5344CB8AC3E}">
        <p14:creationId xmlns:p14="http://schemas.microsoft.com/office/powerpoint/2010/main" val="269342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stress</a:t>
            </a:r>
            <a:r>
              <a:rPr lang="en-US" sz="1200" b="0" i="0" kern="1200" dirty="0">
                <a:solidFill>
                  <a:schemeClr val="tx1"/>
                </a:solidFill>
                <a:effectLst/>
                <a:latin typeface="+mn-lt"/>
                <a:ea typeface="+mn-ea"/>
                <a:cs typeface="+mn-cs"/>
              </a:rPr>
              <a:t> -a process whereby an individual perceives and responds to events that they appraise as overwhelming or threatening to their well-being</a:t>
            </a:r>
          </a:p>
          <a:p>
            <a:r>
              <a:rPr lang="en-US" sz="1200" b="1" i="0" kern="1200" dirty="0">
                <a:solidFill>
                  <a:schemeClr val="tx1"/>
                </a:solidFill>
                <a:effectLst/>
                <a:latin typeface="+mn-lt"/>
                <a:ea typeface="+mn-ea"/>
                <a:cs typeface="+mn-cs"/>
              </a:rPr>
              <a:t>stressors</a:t>
            </a:r>
            <a:r>
              <a:rPr lang="en-US" sz="1200" b="0" i="0" kern="1200" dirty="0">
                <a:solidFill>
                  <a:schemeClr val="tx1"/>
                </a:solidFill>
                <a:effectLst/>
                <a:latin typeface="+mn-lt"/>
                <a:ea typeface="+mn-ea"/>
                <a:cs typeface="+mn-cs"/>
              </a:rPr>
              <a:t> - threatening events</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3</a:t>
            </a:fld>
            <a:endParaRPr lang="en-US"/>
          </a:p>
        </p:txBody>
      </p:sp>
    </p:spTree>
    <p:extLst>
      <p:ext uri="{BB962C8B-B14F-4D97-AF65-F5344CB8AC3E}">
        <p14:creationId xmlns:p14="http://schemas.microsoft.com/office/powerpoint/2010/main" val="1699200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primary appraisal</a:t>
            </a:r>
            <a:r>
              <a:rPr lang="en-US" sz="1200" b="0" i="0" kern="1200" dirty="0">
                <a:solidFill>
                  <a:schemeClr val="tx1"/>
                </a:solidFill>
                <a:effectLst/>
                <a:latin typeface="+mn-lt"/>
                <a:ea typeface="+mn-ea"/>
                <a:cs typeface="+mn-cs"/>
              </a:rPr>
              <a:t> involves judgment about the degree of potential harm or threat to well-being that a stressor might entail.</a:t>
            </a:r>
          </a:p>
          <a:p>
            <a:r>
              <a:rPr lang="en-US" sz="1200" b="1" i="0" kern="1200" dirty="0">
                <a:solidFill>
                  <a:schemeClr val="tx1"/>
                </a:solidFill>
                <a:effectLst/>
                <a:latin typeface="+mn-lt"/>
                <a:ea typeface="+mn-ea"/>
                <a:cs typeface="+mn-cs"/>
              </a:rPr>
              <a:t>secondary appraisal</a:t>
            </a:r>
            <a:r>
              <a:rPr lang="en-US" sz="1200" b="0" i="0" kern="1200" dirty="0">
                <a:solidFill>
                  <a:schemeClr val="tx1"/>
                </a:solidFill>
                <a:effectLst/>
                <a:latin typeface="+mn-lt"/>
                <a:ea typeface="+mn-ea"/>
                <a:cs typeface="+mn-cs"/>
              </a:rPr>
              <a:t>: judgment of the options available to cope with a stressor, as well as perceptions of how effective such options will be</a:t>
            </a:r>
            <a:endParaRPr lang="en-US" dirty="0"/>
          </a:p>
          <a:p>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5</a:t>
            </a:fld>
            <a:endParaRPr lang="en-US"/>
          </a:p>
        </p:txBody>
      </p:sp>
    </p:spTree>
    <p:extLst>
      <p:ext uri="{BB962C8B-B14F-4D97-AF65-F5344CB8AC3E}">
        <p14:creationId xmlns:p14="http://schemas.microsoft.com/office/powerpoint/2010/main" val="2261507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eustress</a:t>
            </a:r>
            <a:r>
              <a:rPr lang="en-US" sz="1200" b="0" i="0" kern="1200" dirty="0">
                <a:solidFill>
                  <a:schemeClr val="tx1"/>
                </a:solidFill>
                <a:effectLst/>
                <a:latin typeface="+mn-lt"/>
                <a:ea typeface="+mn-ea"/>
                <a:cs typeface="+mn-cs"/>
              </a:rPr>
              <a:t> (from the Greek </a:t>
            </a:r>
            <a:r>
              <a:rPr lang="en-US" sz="1200" b="0" i="1" kern="1200" dirty="0" err="1">
                <a:solidFill>
                  <a:schemeClr val="tx1"/>
                </a:solidFill>
                <a:effectLst/>
                <a:latin typeface="+mn-lt"/>
                <a:ea typeface="+mn-ea"/>
                <a:cs typeface="+mn-cs"/>
              </a:rPr>
              <a:t>eu</a:t>
            </a:r>
            <a:r>
              <a:rPr lang="en-US" sz="1200" b="0" i="0" kern="1200" dirty="0">
                <a:solidFill>
                  <a:schemeClr val="tx1"/>
                </a:solidFill>
                <a:effectLst/>
                <a:latin typeface="+mn-lt"/>
                <a:ea typeface="+mn-ea"/>
                <a:cs typeface="+mn-cs"/>
              </a:rPr>
              <a:t> = “good”), is a good kind of stress associated with positive feelings, optimal health, and performance.</a:t>
            </a:r>
          </a:p>
          <a:p>
            <a:r>
              <a:rPr lang="en-US" sz="1200" b="1" i="0" kern="1200" dirty="0">
                <a:solidFill>
                  <a:schemeClr val="tx1"/>
                </a:solidFill>
                <a:effectLst/>
                <a:latin typeface="+mn-lt"/>
                <a:ea typeface="+mn-ea"/>
                <a:cs typeface="+mn-cs"/>
              </a:rPr>
              <a:t>Distress </a:t>
            </a:r>
            <a:r>
              <a:rPr lang="en-US" sz="1200" b="0" i="0" kern="1200" dirty="0">
                <a:solidFill>
                  <a:schemeClr val="tx1"/>
                </a:solidFill>
                <a:effectLst/>
                <a:latin typeface="+mn-lt"/>
                <a:ea typeface="+mn-ea"/>
                <a:cs typeface="+mn-cs"/>
              </a:rPr>
              <a:t>- when stress exceeds this optimal level, it is no longer a positive force—it becomes excessive and debilitating,</a:t>
            </a:r>
            <a:endParaRPr lang="en-US" b="1" dirty="0"/>
          </a:p>
          <a:p>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6</a:t>
            </a:fld>
            <a:endParaRPr lang="en-US"/>
          </a:p>
        </p:txBody>
      </p:sp>
    </p:spTree>
    <p:extLst>
      <p:ext uri="{BB962C8B-B14F-4D97-AF65-F5344CB8AC3E}">
        <p14:creationId xmlns:p14="http://schemas.microsoft.com/office/powerpoint/2010/main" val="2798386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Originally proposed by Walter Cannon</a:t>
            </a:r>
          </a:p>
        </p:txBody>
      </p:sp>
      <p:sp>
        <p:nvSpPr>
          <p:cNvPr id="4" name="Slide Number Placeholder 3"/>
          <p:cNvSpPr>
            <a:spLocks noGrp="1"/>
          </p:cNvSpPr>
          <p:nvPr>
            <p:ph type="sldNum" sz="quarter" idx="5"/>
          </p:nvPr>
        </p:nvSpPr>
        <p:spPr/>
        <p:txBody>
          <a:bodyPr/>
          <a:lstStyle/>
          <a:p>
            <a:fld id="{1FA7C3A1-86B3-4ECD-B065-964C7D45BD0C}" type="slidenum">
              <a:rPr lang="en-US" smtClean="0"/>
              <a:t>7</a:t>
            </a:fld>
            <a:endParaRPr lang="en-US"/>
          </a:p>
        </p:txBody>
      </p:sp>
    </p:spTree>
    <p:extLst>
      <p:ext uri="{BB962C8B-B14F-4D97-AF65-F5344CB8AC3E}">
        <p14:creationId xmlns:p14="http://schemas.microsoft.com/office/powerpoint/2010/main" val="4259060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Alarm reaction</a:t>
            </a:r>
            <a:r>
              <a:rPr lang="en-US" sz="1200" b="0" i="0" kern="1200" dirty="0">
                <a:solidFill>
                  <a:schemeClr val="tx1"/>
                </a:solidFill>
                <a:effectLst/>
                <a:latin typeface="+mn-lt"/>
                <a:ea typeface="+mn-ea"/>
                <a:cs typeface="+mn-cs"/>
              </a:rPr>
              <a:t> describes the body’s immediate reaction upon facing a threatening situation or emergency,</a:t>
            </a:r>
          </a:p>
          <a:p>
            <a:r>
              <a:rPr lang="en-US" sz="1200" b="1" i="0" kern="1200" dirty="0">
                <a:solidFill>
                  <a:schemeClr val="tx1"/>
                </a:solidFill>
                <a:effectLst/>
                <a:latin typeface="+mn-lt"/>
                <a:ea typeface="+mn-ea"/>
                <a:cs typeface="+mn-cs"/>
              </a:rPr>
              <a:t>stage of resistance</a:t>
            </a:r>
            <a:r>
              <a:rPr lang="en-US" sz="1200" b="0" i="0" kern="1200" dirty="0">
                <a:solidFill>
                  <a:schemeClr val="tx1"/>
                </a:solidFill>
                <a:effectLst/>
                <a:latin typeface="+mn-lt"/>
                <a:ea typeface="+mn-ea"/>
                <a:cs typeface="+mn-cs"/>
              </a:rPr>
              <a:t>, the initial shock of alarm reaction has worn off and the body has adapted to the stressor.</a:t>
            </a:r>
          </a:p>
          <a:p>
            <a:r>
              <a:rPr lang="en-US" sz="1200" b="1" i="0" kern="1200" dirty="0">
                <a:solidFill>
                  <a:schemeClr val="tx1"/>
                </a:solidFill>
                <a:effectLst/>
                <a:latin typeface="+mn-lt"/>
                <a:ea typeface="+mn-ea"/>
                <a:cs typeface="+mn-cs"/>
              </a:rPr>
              <a:t>stage of exhaustion-</a:t>
            </a:r>
            <a:r>
              <a:rPr lang="en-US" sz="1200" b="0" i="0" kern="1200" dirty="0">
                <a:solidFill>
                  <a:schemeClr val="tx1"/>
                </a:solidFill>
                <a:effectLst/>
                <a:latin typeface="+mn-lt"/>
                <a:ea typeface="+mn-ea"/>
                <a:cs typeface="+mn-cs"/>
              </a:rPr>
              <a:t>the person is no longer able to adapt to the stressor: the body’s ability to resist becomes depleted as physical wear takes its toll on the body’s tissues and organs.</a:t>
            </a:r>
            <a:endParaRPr lang="en-US" dirty="0"/>
          </a:p>
          <a:p>
            <a:r>
              <a:rPr lang="en-US" dirty="0"/>
              <a:t>-doesn’t account for individual differences </a:t>
            </a:r>
          </a:p>
        </p:txBody>
      </p:sp>
      <p:sp>
        <p:nvSpPr>
          <p:cNvPr id="4" name="Slide Number Placeholder 3"/>
          <p:cNvSpPr>
            <a:spLocks noGrp="1"/>
          </p:cNvSpPr>
          <p:nvPr>
            <p:ph type="sldNum" sz="quarter" idx="5"/>
          </p:nvPr>
        </p:nvSpPr>
        <p:spPr/>
        <p:txBody>
          <a:bodyPr/>
          <a:lstStyle/>
          <a:p>
            <a:fld id="{1FA7C3A1-86B3-4ECD-B065-964C7D45BD0C}" type="slidenum">
              <a:rPr lang="en-US" smtClean="0"/>
              <a:t>8</a:t>
            </a:fld>
            <a:endParaRPr lang="en-US"/>
          </a:p>
        </p:txBody>
      </p:sp>
    </p:spTree>
    <p:extLst>
      <p:ext uri="{BB962C8B-B14F-4D97-AF65-F5344CB8AC3E}">
        <p14:creationId xmlns:p14="http://schemas.microsoft.com/office/powerpoint/2010/main" val="1454406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C0D42F3-CDD5-4B19-B3DB-7C5223465A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5648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5D4C-066A-1BD0-79D1-DBF450118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B4C7C-5C23-CA3B-4764-9655439E4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B5326-DAE5-D807-2A0C-1AF651C0097D}"/>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5C4202E7-78F7-B2C2-6E5F-D72BF8009F9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C0D42F3-CDD5-4B19-B3DB-7C5223465A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2158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3208F-4DAC-99C8-B09A-0AACB7833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FA277-E6E2-F2E2-0147-116E58961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D530A-0927-679A-8C70-63799CC3F6E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8D86E835-FF2A-4449-802B-7B6F6ACE273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C0D42F3-CDD5-4B19-B3DB-7C5223465A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3834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41854-4D45-B202-FDD8-DEB27470A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12F21-591F-96D9-BCA9-56242AB76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414D2-D763-AFE7-1B96-69B1C9F9D75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523557B1-DF58-1BD1-5375-45A87DC4367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C0D42F3-CDD5-4B19-B3DB-7C5223465A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1939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CCD30-4A50-15AF-D0E4-3383DD0C3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01EA9-F943-C773-FA61-AFB3CDD39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895C7-09C5-6DF7-1433-0376A9029E8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4EDCC3D8-FD10-FDE6-53F8-72B57896801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C0D42F3-CDD5-4B19-B3DB-7C5223465A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9709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844E-8391-8EF3-3093-3F0B1EED9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BB590-8D19-9BB2-46A0-DFCF7CE9F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0CBC4-9C4E-2C3B-FA85-78CD4F64FFFA}"/>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EC007307-888E-C21C-B6A9-79EF6015FA4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C0D42F3-CDD5-4B19-B3DB-7C5223465A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5201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7537-E8B5-93A3-9DE4-87F6F33BA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69941-CD0E-59E7-FAF9-305A09044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1E4F7-71D6-FD65-F242-40176C700C09}"/>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A7F49F25-58E0-A059-4110-6EB11B2530E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C0D42F3-CDD5-4B19-B3DB-7C5223465A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7364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even impact the likelihood of heart attacks</a:t>
            </a:r>
          </a:p>
        </p:txBody>
      </p:sp>
      <p:sp>
        <p:nvSpPr>
          <p:cNvPr id="4" name="Slide Number Placeholder 3"/>
          <p:cNvSpPr>
            <a:spLocks noGrp="1"/>
          </p:cNvSpPr>
          <p:nvPr>
            <p:ph type="sldNum" sz="quarter" idx="5"/>
          </p:nvPr>
        </p:nvSpPr>
        <p:spPr/>
        <p:txBody>
          <a:bodyPr/>
          <a:lstStyle/>
          <a:p>
            <a:fld id="{1FA7C3A1-86B3-4ECD-B065-964C7D45BD0C}" type="slidenum">
              <a:rPr lang="en-US" smtClean="0"/>
              <a:t>19</a:t>
            </a:fld>
            <a:endParaRPr lang="en-US"/>
          </a:p>
        </p:txBody>
      </p:sp>
    </p:spTree>
    <p:extLst>
      <p:ext uri="{BB962C8B-B14F-4D97-AF65-F5344CB8AC3E}">
        <p14:creationId xmlns:p14="http://schemas.microsoft.com/office/powerpoint/2010/main" val="957360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immunosuppression</a:t>
            </a:r>
            <a:r>
              <a:rPr lang="en-US" sz="1200" b="0" i="0" kern="1200" dirty="0">
                <a:solidFill>
                  <a:schemeClr val="tx1"/>
                </a:solidFill>
                <a:effectLst/>
                <a:latin typeface="+mn-lt"/>
                <a:ea typeface="+mn-ea"/>
                <a:cs typeface="+mn-cs"/>
              </a:rPr>
              <a:t>, the decreased effectiveness of the immune system.</a:t>
            </a:r>
          </a:p>
          <a:p>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autoimmune disease </a:t>
            </a:r>
            <a:r>
              <a:rPr lang="en-US" dirty="0"/>
              <a:t>occurs when the body's immune system mistakenly attacks its own healthy tissues and organs</a:t>
            </a:r>
          </a:p>
          <a:p>
            <a:r>
              <a:rPr lang="en-US" sz="1200" b="1" i="0" kern="1200" dirty="0">
                <a:solidFill>
                  <a:schemeClr val="tx1"/>
                </a:solidFill>
                <a:effectLst/>
                <a:latin typeface="+mn-lt"/>
                <a:ea typeface="+mn-ea"/>
                <a:cs typeface="+mn-cs"/>
              </a:rPr>
              <a:t>Psychoneuroimmunology</a:t>
            </a:r>
            <a:r>
              <a:rPr lang="en-US" sz="1200" b="0" i="0" kern="1200" dirty="0">
                <a:solidFill>
                  <a:schemeClr val="tx1"/>
                </a:solidFill>
                <a:effectLst/>
                <a:latin typeface="+mn-lt"/>
                <a:ea typeface="+mn-ea"/>
                <a:cs typeface="+mn-cs"/>
              </a:rPr>
              <a:t> is the field that studies how psychological factors such as stress influence the immune system and immune functioning.</a:t>
            </a:r>
          </a:p>
          <a:p>
            <a:r>
              <a:rPr lang="en-US" sz="1200" b="1" i="0" kern="1200" dirty="0">
                <a:solidFill>
                  <a:schemeClr val="tx1"/>
                </a:solidFill>
                <a:effectLst/>
                <a:latin typeface="+mn-lt"/>
                <a:ea typeface="+mn-ea"/>
                <a:cs typeface="+mn-cs"/>
              </a:rPr>
              <a:t>lymphocytes</a:t>
            </a:r>
            <a:r>
              <a:rPr lang="en-US" sz="1200" b="0" i="0" kern="1200" dirty="0">
                <a:solidFill>
                  <a:schemeClr val="tx1"/>
                </a:solidFill>
                <a:effectLst/>
                <a:latin typeface="+mn-lt"/>
                <a:ea typeface="+mn-ea"/>
                <a:cs typeface="+mn-cs"/>
              </a:rPr>
              <a:t>, white blood cells that circulate in the body’s fluids that are important in the immune response; hormones released by HPA axis inhibit the production of lymphocytes</a:t>
            </a:r>
          </a:p>
          <a:p>
            <a:r>
              <a:rPr lang="en-US" sz="1200" b="0" i="0" kern="1200" dirty="0">
                <a:solidFill>
                  <a:schemeClr val="tx1"/>
                </a:solidFill>
                <a:effectLst/>
                <a:latin typeface="+mn-lt"/>
                <a:ea typeface="+mn-ea"/>
                <a:cs typeface="+mn-cs"/>
              </a:rPr>
              <a:t>Lymphoma – one of the most common cancers in young adults</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20</a:t>
            </a:fld>
            <a:endParaRPr lang="en-US"/>
          </a:p>
        </p:txBody>
      </p:sp>
    </p:spTree>
    <p:extLst>
      <p:ext uri="{BB962C8B-B14F-4D97-AF65-F5344CB8AC3E}">
        <p14:creationId xmlns:p14="http://schemas.microsoft.com/office/powerpoint/2010/main" val="3550809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Negative affectivity</a:t>
            </a:r>
            <a:r>
              <a:rPr lang="en-US" sz="1200" b="0" i="0" kern="1200" dirty="0">
                <a:solidFill>
                  <a:schemeClr val="tx1"/>
                </a:solidFill>
                <a:effectLst/>
                <a:latin typeface="+mn-lt"/>
                <a:ea typeface="+mn-ea"/>
                <a:cs typeface="+mn-cs"/>
              </a:rPr>
              <a:t> has been linked with the development of both hypertension and heart disease.</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22</a:t>
            </a:fld>
            <a:endParaRPr lang="en-US"/>
          </a:p>
        </p:txBody>
      </p:sp>
    </p:spTree>
    <p:extLst>
      <p:ext uri="{BB962C8B-B14F-4D97-AF65-F5344CB8AC3E}">
        <p14:creationId xmlns:p14="http://schemas.microsoft.com/office/powerpoint/2010/main" val="4282153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Perceived control</a:t>
            </a:r>
            <a:r>
              <a:rPr lang="en-US" sz="1200" b="0" i="0" kern="1200" dirty="0">
                <a:solidFill>
                  <a:schemeClr val="tx1"/>
                </a:solidFill>
                <a:effectLst/>
                <a:latin typeface="+mn-lt"/>
                <a:ea typeface="+mn-ea"/>
                <a:cs typeface="+mn-cs"/>
              </a:rPr>
              <a:t> is our beliefs about our personal capacity to exert influence over and shape outcomes, and it has major implications for our health and happiness</a:t>
            </a:r>
          </a:p>
          <a:p>
            <a:r>
              <a:rPr lang="en-US" sz="1200" b="0" i="0" kern="1200" dirty="0">
                <a:solidFill>
                  <a:schemeClr val="tx1"/>
                </a:solidFill>
                <a:effectLst/>
                <a:latin typeface="+mn-lt"/>
                <a:ea typeface="+mn-ea"/>
                <a:cs typeface="+mn-cs"/>
              </a:rPr>
              <a:t>Biofeedback is a technique that uses electronic equipment to accurately measure a person’s neuromuscular and autonomic activity—feedback is provided in the form of visual or auditory signals.</a:t>
            </a:r>
          </a:p>
          <a:p>
            <a:r>
              <a:rPr lang="en-US" sz="1200" b="0" i="0" kern="1200" dirty="0">
                <a:solidFill>
                  <a:schemeClr val="tx1"/>
                </a:solidFill>
                <a:effectLst/>
                <a:latin typeface="+mn-lt"/>
                <a:ea typeface="+mn-ea"/>
                <a:cs typeface="+mn-cs"/>
              </a:rPr>
              <a:t>Relaxation techniques- square breathing; progressive muscle reaction; guided imagery; yoga</a:t>
            </a:r>
            <a:endParaRPr lang="en-US" dirty="0"/>
          </a:p>
        </p:txBody>
      </p:sp>
      <p:sp>
        <p:nvSpPr>
          <p:cNvPr id="4" name="Slide Number Placeholder 3"/>
          <p:cNvSpPr>
            <a:spLocks noGrp="1"/>
          </p:cNvSpPr>
          <p:nvPr>
            <p:ph type="sldNum" sz="quarter" idx="5"/>
          </p:nvPr>
        </p:nvSpPr>
        <p:spPr/>
        <p:txBody>
          <a:bodyPr/>
          <a:lstStyle/>
          <a:p>
            <a:fld id="{1FA7C3A1-86B3-4ECD-B065-964C7D45BD0C}" type="slidenum">
              <a:rPr lang="en-US" smtClean="0"/>
              <a:t>27</a:t>
            </a:fld>
            <a:endParaRPr lang="en-US"/>
          </a:p>
        </p:txBody>
      </p:sp>
    </p:spTree>
    <p:extLst>
      <p:ext uri="{BB962C8B-B14F-4D97-AF65-F5344CB8AC3E}">
        <p14:creationId xmlns:p14="http://schemas.microsoft.com/office/powerpoint/2010/main" val="42824619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happiness before and after major life events</a:t>
            </a:r>
          </a:p>
        </p:txBody>
      </p:sp>
      <p:sp>
        <p:nvSpPr>
          <p:cNvPr id="4" name="Slide Number Placeholder 3"/>
          <p:cNvSpPr>
            <a:spLocks noGrp="1"/>
          </p:cNvSpPr>
          <p:nvPr>
            <p:ph type="sldNum" sz="quarter" idx="5"/>
          </p:nvPr>
        </p:nvSpPr>
        <p:spPr/>
        <p:txBody>
          <a:bodyPr/>
          <a:lstStyle/>
          <a:p>
            <a:fld id="{1FA7C3A1-86B3-4ECD-B065-964C7D45BD0C}" type="slidenum">
              <a:rPr lang="en-US" smtClean="0"/>
              <a:t>28</a:t>
            </a:fld>
            <a:endParaRPr lang="en-US"/>
          </a:p>
        </p:txBody>
      </p:sp>
    </p:spTree>
    <p:extLst>
      <p:ext uri="{BB962C8B-B14F-4D97-AF65-F5344CB8AC3E}">
        <p14:creationId xmlns:p14="http://schemas.microsoft.com/office/powerpoint/2010/main" val="2329595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22025EEA-A722-4F60-B634-4BDA1FDDBC7E}" type="datetime1">
              <a:rPr lang="en-US" smtClean="0"/>
              <a:t>4/7/2026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070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F0A22534-3E3E-45B5-ABBA-ADD6A21E5EDD}" type="datetime1">
              <a:rPr lang="en-US" smtClean="0"/>
              <a:t>4/7/2026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5126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814B996D-7AAA-4D38-8356-2B02E35486CE}" type="datetime1">
              <a:rPr lang="en-US" smtClean="0"/>
              <a:t>4/7/2026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1654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E58FEFEA-0D41-421B-952E-63C8585ACEC9}" type="datetime1">
              <a:rPr lang="en-US" smtClean="0"/>
              <a:t>4/7/2026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42376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22274275-1DC3-448D-9BB3-35A2193BD4BF}" type="datetime1">
              <a:rPr lang="en-US" smtClean="0"/>
              <a:t>4/7/2026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93314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0AC90C22-D93B-40CD-ACCC-3EE49E5F5AC6}" type="datetime1">
              <a:rPr lang="en-US" smtClean="0"/>
              <a:t>4/7/2026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58780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89FF474C-C56E-4C4D-883A-DDDA4392092C}" type="datetime1">
              <a:rPr lang="en-US" smtClean="0"/>
              <a:t>4/7/2026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53981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8B40FA84-0CD3-4731-ACBC-76694EFB7BDE}" type="datetime1">
              <a:rPr lang="en-US" smtClean="0"/>
              <a:t>4/7/2026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0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9A1B13C7-CD60-4088-941A-3884CEF954D1}" type="datetime1">
              <a:rPr lang="en-US" smtClean="0"/>
              <a:t>4/7/2026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8377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24EB6623-2C39-4DAA-9E04-D8A02E7997E8}" type="datetime1">
              <a:rPr lang="en-US" smtClean="0"/>
              <a:t>4/7/2026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94221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9196B9FD-666C-4D1C-B242-8EC3A469124B}" type="datetime1">
              <a:rPr lang="en-US" smtClean="0"/>
              <a:t>4/7/2026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15308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5AB1E42C-0624-4C92-8B5B-7AEB04E73311}" type="datetime1">
              <a:rPr lang="en-US" smtClean="0"/>
              <a:t>4/7/2026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46937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28980A-6E91-462F-B68B-E0AC6DE6BF42}"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022C2-2FFD-4CE1-9D9D-2CEAD46126A7}" type="slidenum">
              <a:rPr lang="en-US" smtClean="0"/>
              <a:t>‹#›</a:t>
            </a:fld>
            <a:endParaRPr lang="en-US"/>
          </a:p>
        </p:txBody>
      </p:sp>
    </p:spTree>
    <p:extLst>
      <p:ext uri="{BB962C8B-B14F-4D97-AF65-F5344CB8AC3E}">
        <p14:creationId xmlns:p14="http://schemas.microsoft.com/office/powerpoint/2010/main" val="359571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9AADAB-D644-4598-B356-5E5B9814053A}" type="datetime1">
              <a:rPr lang="en-US" smtClean="0"/>
              <a:t>4/7/2026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551842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2" r:id="rId8"/>
    <p:sldLayoutId id="2147483668" r:id="rId9"/>
    <p:sldLayoutId id="2147483669" r:id="rId10"/>
    <p:sldLayoutId id="2147483670" r:id="rId11"/>
    <p:sldLayoutId id="2147483671" r:id="rId12"/>
    <p:sldLayoutId id="2147483673" r:id="rId13"/>
  </p:sldLayoutIdLst>
  <p:hf hdr="0" ftr="0" dt="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CCBA-6C2C-4420-F570-EB773FCC4326}"/>
              </a:ext>
            </a:extLst>
          </p:cNvPr>
          <p:cNvSpPr>
            <a:spLocks noGrp="1"/>
          </p:cNvSpPr>
          <p:nvPr>
            <p:ph type="ctrTitle"/>
          </p:nvPr>
        </p:nvSpPr>
        <p:spPr>
          <a:xfrm>
            <a:off x="2856745" y="1216242"/>
            <a:ext cx="6478510" cy="3034120"/>
          </a:xfrm>
        </p:spPr>
        <p:txBody>
          <a:bodyPr>
            <a:normAutofit/>
          </a:bodyPr>
          <a:lstStyle/>
          <a:p>
            <a:pPr algn="ctr"/>
            <a:r>
              <a:rPr lang="en-US" sz="7200" dirty="0">
                <a:latin typeface="Constantia" panose="02030602050306030303" pitchFamily="18" charset="0"/>
              </a:rPr>
              <a:t>Stress, Lifestyle, and Health</a:t>
            </a:r>
          </a:p>
        </p:txBody>
      </p:sp>
      <p:sp>
        <p:nvSpPr>
          <p:cNvPr id="3" name="Subtitle 2">
            <a:extLst>
              <a:ext uri="{FF2B5EF4-FFF2-40B4-BE49-F238E27FC236}">
                <a16:creationId xmlns:a16="http://schemas.microsoft.com/office/drawing/2014/main" id="{C31E3762-1D12-CAD6-EA41-B498CA68F4B9}"/>
              </a:ext>
            </a:extLst>
          </p:cNvPr>
          <p:cNvSpPr>
            <a:spLocks noGrp="1"/>
          </p:cNvSpPr>
          <p:nvPr>
            <p:ph type="subTitle" idx="1"/>
          </p:nvPr>
        </p:nvSpPr>
        <p:spPr/>
        <p:txBody>
          <a:bodyPr/>
          <a:lstStyle/>
          <a:p>
            <a:r>
              <a:rPr lang="en-US" dirty="0"/>
              <a:t>Chapter 14</a:t>
            </a:r>
          </a:p>
        </p:txBody>
      </p:sp>
      <p:sp>
        <p:nvSpPr>
          <p:cNvPr id="4" name="Slide Number Placeholder 3">
            <a:extLst>
              <a:ext uri="{FF2B5EF4-FFF2-40B4-BE49-F238E27FC236}">
                <a16:creationId xmlns:a16="http://schemas.microsoft.com/office/drawing/2014/main" id="{8BAB0AFE-A354-EE4B-A432-E572D3181550}"/>
              </a:ext>
            </a:extLst>
          </p:cNvPr>
          <p:cNvSpPr>
            <a:spLocks noGrp="1"/>
          </p:cNvSpPr>
          <p:nvPr>
            <p:ph type="sldNum" sz="quarter" idx="12"/>
          </p:nvPr>
        </p:nvSpPr>
        <p:spPr/>
        <p:txBody>
          <a:bodyPr/>
          <a:lstStyle/>
          <a:p>
            <a:fld id="{51845F5A-061D-4825-9AE9-D7794091C6CF}" type="slidenum">
              <a:rPr lang="en-US" smtClean="0"/>
              <a:t>1</a:t>
            </a:fld>
            <a:endParaRPr lang="en-US"/>
          </a:p>
        </p:txBody>
      </p:sp>
    </p:spTree>
    <p:extLst>
      <p:ext uri="{BB962C8B-B14F-4D97-AF65-F5344CB8AC3E}">
        <p14:creationId xmlns:p14="http://schemas.microsoft.com/office/powerpoint/2010/main" val="3077683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A452C9-97F2-AF6B-A137-270B04C802F7}"/>
              </a:ext>
            </a:extLst>
          </p:cNvPr>
          <p:cNvSpPr>
            <a:spLocks noGrp="1"/>
          </p:cNvSpPr>
          <p:nvPr>
            <p:ph type="title"/>
          </p:nvPr>
        </p:nvSpPr>
        <p:spPr>
          <a:xfrm>
            <a:off x="7342360" y="753066"/>
            <a:ext cx="4288100" cy="3610704"/>
          </a:xfrm>
        </p:spPr>
        <p:txBody>
          <a:bodyPr>
            <a:normAutofit/>
          </a:bodyPr>
          <a:lstStyle/>
          <a:p>
            <a:r>
              <a:rPr lang="en-US" sz="8800" dirty="0">
                <a:latin typeface="Constantia" panose="02030602050306030303" pitchFamily="18" charset="0"/>
              </a:rPr>
              <a:t>Agenda</a:t>
            </a:r>
          </a:p>
        </p:txBody>
      </p:sp>
      <p:sp>
        <p:nvSpPr>
          <p:cNvPr id="4" name="Slide Number Placeholder 3">
            <a:extLst>
              <a:ext uri="{FF2B5EF4-FFF2-40B4-BE49-F238E27FC236}">
                <a16:creationId xmlns:a16="http://schemas.microsoft.com/office/drawing/2014/main" id="{96796DA0-B161-6B42-A870-EEFA90597320}"/>
              </a:ext>
            </a:extLst>
          </p:cNvPr>
          <p:cNvSpPr>
            <a:spLocks noGrp="1"/>
          </p:cNvSpPr>
          <p:nvPr>
            <p:ph type="sldNum" sz="quarter" idx="12"/>
          </p:nvPr>
        </p:nvSpPr>
        <p:spPr/>
        <p:txBody>
          <a:bodyPr/>
          <a:lstStyle/>
          <a:p>
            <a:fld id="{51845F5A-061D-4825-9AE9-D7794091C6CF}" type="slidenum">
              <a:rPr lang="en-US" smtClean="0"/>
              <a:t>2</a:t>
            </a:fld>
            <a:endParaRPr lang="en-US"/>
          </a:p>
        </p:txBody>
      </p:sp>
      <p:sp>
        <p:nvSpPr>
          <p:cNvPr id="7" name="TextBox 6">
            <a:extLst>
              <a:ext uri="{FF2B5EF4-FFF2-40B4-BE49-F238E27FC236}">
                <a16:creationId xmlns:a16="http://schemas.microsoft.com/office/drawing/2014/main" id="{AB467369-AD1A-715A-8F30-68981B26BB4C}"/>
              </a:ext>
            </a:extLst>
          </p:cNvPr>
          <p:cNvSpPr txBox="1"/>
          <p:nvPr/>
        </p:nvSpPr>
        <p:spPr>
          <a:xfrm>
            <a:off x="686994" y="1874728"/>
            <a:ext cx="5604095"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t>What is Stress?</a:t>
            </a:r>
          </a:p>
          <a:p>
            <a:pPr marL="285750" indent="-285750">
              <a:buFont typeface="Arial" panose="020B0604020202020204" pitchFamily="34" charset="0"/>
              <a:buChar char="•"/>
            </a:pPr>
            <a:r>
              <a:rPr lang="en-US" sz="2800" dirty="0"/>
              <a:t>The Stress Response</a:t>
            </a:r>
          </a:p>
          <a:p>
            <a:pPr marL="285750" indent="-285750">
              <a:buFont typeface="Arial" panose="020B0604020202020204" pitchFamily="34" charset="0"/>
              <a:buChar char="•"/>
            </a:pPr>
            <a:r>
              <a:rPr lang="en-US" sz="2800" dirty="0"/>
              <a:t>Stress and Illness</a:t>
            </a:r>
          </a:p>
          <a:p>
            <a:pPr marL="285750" indent="-285750">
              <a:buFont typeface="Arial" panose="020B0604020202020204" pitchFamily="34" charset="0"/>
              <a:buChar char="•"/>
            </a:pPr>
            <a:r>
              <a:rPr lang="en-US" sz="2800" dirty="0"/>
              <a:t>Regulation of Stress</a:t>
            </a:r>
          </a:p>
          <a:p>
            <a:pPr marL="285750" indent="-285750">
              <a:buFont typeface="Arial" panose="020B0604020202020204" pitchFamily="34" charset="0"/>
              <a:buChar char="•"/>
            </a:pPr>
            <a:r>
              <a:rPr lang="en-US" sz="2800" dirty="0"/>
              <a:t>Positive Psychology</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831845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4E407B-F4AE-4A95-B0C6-7EDA4F1EFEE2}"/>
              </a:ext>
              <a:ext uri="{C183D7F6-B498-43B3-948B-1728B52AA6E4}">
                <adec:decorative xmlns:adec="http://schemas.microsoft.com/office/drawing/2017/decorative" val="1"/>
              </a:ext>
            </a:extLst>
          </p:cNvPr>
          <p:cNvPicPr>
            <a:picLocks noChangeAspect="1"/>
          </p:cNvPicPr>
          <p:nvPr/>
        </p:nvPicPr>
        <p:blipFill rotWithShape="1">
          <a:blip r:embed="rId3"/>
          <a:srcRect b="15730"/>
          <a:stretch/>
        </p:blipFill>
        <p:spPr>
          <a:xfrm>
            <a:off x="20" y="2754"/>
            <a:ext cx="12191980" cy="6858000"/>
          </a:xfrm>
          <a:prstGeom prst="rect">
            <a:avLst/>
          </a:prstGeom>
        </p:spPr>
      </p:pic>
      <p:sp>
        <p:nvSpPr>
          <p:cNvPr id="3" name="Content Placeholder 2">
            <a:extLst>
              <a:ext uri="{FF2B5EF4-FFF2-40B4-BE49-F238E27FC236}">
                <a16:creationId xmlns:a16="http://schemas.microsoft.com/office/drawing/2014/main" id="{1DD1F4AF-C44E-4790-A7D2-981944B73D5B}"/>
              </a:ext>
            </a:extLst>
          </p:cNvPr>
          <p:cNvSpPr>
            <a:spLocks noGrp="1"/>
          </p:cNvSpPr>
          <p:nvPr>
            <p:ph sz="quarter" idx="13"/>
          </p:nvPr>
        </p:nvSpPr>
        <p:spPr>
          <a:xfrm>
            <a:off x="5471706" y="2025950"/>
            <a:ext cx="5402620" cy="1403050"/>
          </a:xfrm>
        </p:spPr>
        <p:txBody>
          <a:bodyPr>
            <a:normAutofit/>
          </a:bodyPr>
          <a:lstStyle/>
          <a:p>
            <a:pPr marL="0" indent="0">
              <a:buNone/>
            </a:pPr>
            <a:r>
              <a:rPr lang="en-US" sz="4000" cap="none" dirty="0"/>
              <a:t>What do you think a stressor is?</a:t>
            </a:r>
            <a:endParaRPr lang="en-US" sz="4000" dirty="0"/>
          </a:p>
        </p:txBody>
      </p:sp>
    </p:spTree>
    <p:extLst>
      <p:ext uri="{BB962C8B-B14F-4D97-AF65-F5344CB8AC3E}">
        <p14:creationId xmlns:p14="http://schemas.microsoft.com/office/powerpoint/2010/main" val="9459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03F16-9853-81C9-0B86-2DB2EB78F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961A5-405E-D5C7-C511-B1627652B9FB}"/>
              </a:ext>
            </a:extLst>
          </p:cNvPr>
          <p:cNvSpPr>
            <a:spLocks noGrp="1"/>
          </p:cNvSpPr>
          <p:nvPr>
            <p:ph type="title"/>
          </p:nvPr>
        </p:nvSpPr>
        <p:spPr>
          <a:xfrm>
            <a:off x="838200" y="1164431"/>
            <a:ext cx="10515600" cy="1325563"/>
          </a:xfrm>
        </p:spPr>
        <p:txBody>
          <a:bodyPr/>
          <a:lstStyle/>
          <a:p>
            <a:r>
              <a:rPr lang="en-US" dirty="0">
                <a:latin typeface="Constantia" panose="02030602050306030303" pitchFamily="18" charset="0"/>
              </a:rPr>
              <a:t>What are some examples of each of these stressors?</a:t>
            </a:r>
          </a:p>
        </p:txBody>
      </p:sp>
      <p:sp>
        <p:nvSpPr>
          <p:cNvPr id="4" name="Slide Number Placeholder 3">
            <a:extLst>
              <a:ext uri="{FF2B5EF4-FFF2-40B4-BE49-F238E27FC236}">
                <a16:creationId xmlns:a16="http://schemas.microsoft.com/office/drawing/2014/main" id="{82CB7F93-FDC0-D6B7-7646-BEAD3E3BC961}"/>
              </a:ext>
            </a:extLst>
          </p:cNvPr>
          <p:cNvSpPr>
            <a:spLocks noGrp="1"/>
          </p:cNvSpPr>
          <p:nvPr>
            <p:ph type="sldNum" sz="quarter" idx="12"/>
          </p:nvPr>
        </p:nvSpPr>
        <p:spPr/>
        <p:txBody>
          <a:bodyPr/>
          <a:lstStyle/>
          <a:p>
            <a:fld id="{51845F5A-061D-4825-9AE9-D7794091C6CF}" type="slidenum">
              <a:rPr lang="en-US" smtClean="0"/>
              <a:t>4</a:t>
            </a:fld>
            <a:endParaRPr lang="en-US"/>
          </a:p>
        </p:txBody>
      </p:sp>
      <p:graphicFrame>
        <p:nvGraphicFramePr>
          <p:cNvPr id="5" name="Content Placeholder 2">
            <a:extLst>
              <a:ext uri="{FF2B5EF4-FFF2-40B4-BE49-F238E27FC236}">
                <a16:creationId xmlns:a16="http://schemas.microsoft.com/office/drawing/2014/main" id="{9B940CD1-FA80-AEF5-64C6-C8F5181328DD}"/>
              </a:ext>
            </a:extLst>
          </p:cNvPr>
          <p:cNvGraphicFramePr>
            <a:graphicFrameLocks noGrp="1"/>
          </p:cNvGraphicFramePr>
          <p:nvPr>
            <p:ph idx="1"/>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8863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1440E-DBE0-6751-42C4-1A76433645EC}"/>
              </a:ext>
            </a:extLst>
          </p:cNvPr>
          <p:cNvSpPr>
            <a:spLocks noGrp="1"/>
          </p:cNvSpPr>
          <p:nvPr>
            <p:ph type="title"/>
          </p:nvPr>
        </p:nvSpPr>
        <p:spPr>
          <a:xfrm>
            <a:off x="838200" y="2564039"/>
            <a:ext cx="10515600" cy="1325563"/>
          </a:xfrm>
        </p:spPr>
        <p:txBody>
          <a:bodyPr/>
          <a:lstStyle/>
          <a:p>
            <a:r>
              <a:rPr lang="en-US" dirty="0">
                <a:latin typeface="Constantia" panose="02030602050306030303" pitchFamily="18" charset="0"/>
              </a:rPr>
              <a:t>Appraising a </a:t>
            </a:r>
            <a:br>
              <a:rPr lang="en-US" dirty="0">
                <a:latin typeface="Constantia" panose="02030602050306030303" pitchFamily="18" charset="0"/>
              </a:rPr>
            </a:br>
            <a:r>
              <a:rPr lang="en-US" dirty="0">
                <a:latin typeface="Constantia" panose="02030602050306030303" pitchFamily="18" charset="0"/>
              </a:rPr>
              <a:t>Threat</a:t>
            </a:r>
          </a:p>
        </p:txBody>
      </p:sp>
      <p:sp>
        <p:nvSpPr>
          <p:cNvPr id="4" name="Slide Number Placeholder 3">
            <a:extLst>
              <a:ext uri="{FF2B5EF4-FFF2-40B4-BE49-F238E27FC236}">
                <a16:creationId xmlns:a16="http://schemas.microsoft.com/office/drawing/2014/main" id="{D19C29CA-3ECC-EC84-C833-0E5385836715}"/>
              </a:ext>
            </a:extLst>
          </p:cNvPr>
          <p:cNvSpPr>
            <a:spLocks noGrp="1"/>
          </p:cNvSpPr>
          <p:nvPr>
            <p:ph type="sldNum" sz="quarter" idx="12"/>
          </p:nvPr>
        </p:nvSpPr>
        <p:spPr/>
        <p:txBody>
          <a:bodyPr/>
          <a:lstStyle/>
          <a:p>
            <a:fld id="{51845F5A-061D-4825-9AE9-D7794091C6CF}" type="slidenum">
              <a:rPr lang="en-US" smtClean="0"/>
              <a:t>5</a:t>
            </a:fld>
            <a:endParaRPr lang="en-US"/>
          </a:p>
        </p:txBody>
      </p:sp>
      <p:pic>
        <p:nvPicPr>
          <p:cNvPr id="5" name="Picture 2" descr="A concept map begins with a box titled “Stressor” at the top with an arrow underneath that leads to a box labeled “Primary appraisal: challenge or threat?” Below “Primary appraisal: challenge or threat?” is a line leading to the word “challenge” on the left side and “threat” on the right side. Below the word “challenge” is a box labeled “Potential for gain or growth.” There are no additional lines, arrows, or boxes under “Potential for gain or growth.” Below the word “threat,” there is a box labeled “May lead to harm, loss, or negative consequences.” Underneath the box, there is an arrow leading to another box labeled “Secondary appraisal: potential options and how effective?” The box has a line underneath that leads to the words “effective option” on the left side and “ineffective/no option” on the right side. Below the words “effective option,” there is an arrow leading to a box labeled “Low threat.” Below the words “ineffective/no option,” there is an arrow leading to a box labeled “High threat.”">
            <a:extLst>
              <a:ext uri="{FF2B5EF4-FFF2-40B4-BE49-F238E27FC236}">
                <a16:creationId xmlns:a16="http://schemas.microsoft.com/office/drawing/2014/main" id="{A9D3D58F-28D0-69C8-0C45-5EAC2F8CD22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234543" y="479151"/>
            <a:ext cx="5471939" cy="6385179"/>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853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5881-F90B-E4FC-C919-920401BAF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DD5D3-D439-4699-EB80-17250628E03D}"/>
              </a:ext>
            </a:extLst>
          </p:cNvPr>
          <p:cNvSpPr>
            <a:spLocks noGrp="1"/>
          </p:cNvSpPr>
          <p:nvPr>
            <p:ph type="title"/>
          </p:nvPr>
        </p:nvSpPr>
        <p:spPr/>
        <p:txBody>
          <a:bodyPr/>
          <a:lstStyle/>
          <a:p>
            <a:r>
              <a:rPr lang="en-US" dirty="0">
                <a:latin typeface="Constantia" panose="02030602050306030303" pitchFamily="18" charset="0"/>
              </a:rPr>
              <a:t>Good and Bad Stress</a:t>
            </a:r>
          </a:p>
        </p:txBody>
      </p:sp>
      <p:sp>
        <p:nvSpPr>
          <p:cNvPr id="4" name="Slide Number Placeholder 3">
            <a:extLst>
              <a:ext uri="{FF2B5EF4-FFF2-40B4-BE49-F238E27FC236}">
                <a16:creationId xmlns:a16="http://schemas.microsoft.com/office/drawing/2014/main" id="{A7D3D5F3-A794-5C01-0C31-66DE233190C3}"/>
              </a:ext>
            </a:extLst>
          </p:cNvPr>
          <p:cNvSpPr>
            <a:spLocks noGrp="1"/>
          </p:cNvSpPr>
          <p:nvPr>
            <p:ph type="sldNum" sz="quarter" idx="12"/>
          </p:nvPr>
        </p:nvSpPr>
        <p:spPr/>
        <p:txBody>
          <a:bodyPr/>
          <a:lstStyle/>
          <a:p>
            <a:fld id="{51845F5A-061D-4825-9AE9-D7794091C6CF}" type="slidenum">
              <a:rPr lang="en-US" smtClean="0"/>
              <a:t>6</a:t>
            </a:fld>
            <a:endParaRPr lang="en-US"/>
          </a:p>
        </p:txBody>
      </p:sp>
      <p:pic>
        <p:nvPicPr>
          <p:cNvPr id="5" name="Picture 2" descr="A graph features a bell curve that has a line going through the middle labeled “Optimal level.” The curve is labeled “eustress” on the left side and “distress” on the right side. The x-axis is labeled “Stress level” and moves from low to high, and the y-axis is labeled “Performance level” and moves from low to high.” The graph shows that stress levels increase with performance levels and that once stress levels reach optimal level, they move from eustress to distress.">
            <a:extLst>
              <a:ext uri="{FF2B5EF4-FFF2-40B4-BE49-F238E27FC236}">
                <a16:creationId xmlns:a16="http://schemas.microsoft.com/office/drawing/2014/main" id="{B3083DBA-3648-427C-0060-0943369DB8C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98713" y="2177143"/>
            <a:ext cx="10442871" cy="4042862"/>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35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5DB3C-0C0E-C95E-5256-395544A56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FA944-938C-4EE3-73BE-9B85412746A8}"/>
              </a:ext>
            </a:extLst>
          </p:cNvPr>
          <p:cNvSpPr>
            <a:spLocks noGrp="1"/>
          </p:cNvSpPr>
          <p:nvPr>
            <p:ph type="title"/>
          </p:nvPr>
        </p:nvSpPr>
        <p:spPr/>
        <p:txBody>
          <a:bodyPr/>
          <a:lstStyle/>
          <a:p>
            <a:r>
              <a:rPr lang="en-US" dirty="0">
                <a:latin typeface="Constantia" panose="02030602050306030303" pitchFamily="18" charset="0"/>
              </a:rPr>
              <a:t>Fight or Flight Response</a:t>
            </a:r>
          </a:p>
        </p:txBody>
      </p:sp>
      <p:sp>
        <p:nvSpPr>
          <p:cNvPr id="4" name="Slide Number Placeholder 3">
            <a:extLst>
              <a:ext uri="{FF2B5EF4-FFF2-40B4-BE49-F238E27FC236}">
                <a16:creationId xmlns:a16="http://schemas.microsoft.com/office/drawing/2014/main" id="{4A031B32-FFCF-CC5D-2EFC-7FF372ADAA08}"/>
              </a:ext>
            </a:extLst>
          </p:cNvPr>
          <p:cNvSpPr>
            <a:spLocks noGrp="1"/>
          </p:cNvSpPr>
          <p:nvPr>
            <p:ph type="sldNum" sz="quarter" idx="12"/>
          </p:nvPr>
        </p:nvSpPr>
        <p:spPr/>
        <p:txBody>
          <a:bodyPr/>
          <a:lstStyle/>
          <a:p>
            <a:fld id="{51845F5A-061D-4825-9AE9-D7794091C6CF}" type="slidenum">
              <a:rPr lang="en-US" smtClean="0"/>
              <a:t>7</a:t>
            </a:fld>
            <a:endParaRPr lang="en-US"/>
          </a:p>
        </p:txBody>
      </p:sp>
      <p:pic>
        <p:nvPicPr>
          <p:cNvPr id="6" name="Google Shape;141;p17" descr="A figure shows the basic outline of a human body and indicates the body’s various responses to fight or flight, including: pupils dilate, heart rate increases, muscles tense and may tremble, respiration quickens, bronchial tubes dilate, and perspiration begins.">
            <a:extLst>
              <a:ext uri="{FF2B5EF4-FFF2-40B4-BE49-F238E27FC236}">
                <a16:creationId xmlns:a16="http://schemas.microsoft.com/office/drawing/2014/main" id="{F91E228B-B1F9-F817-C07F-AC1783F0D938}"/>
              </a:ext>
            </a:extLst>
          </p:cNvPr>
          <p:cNvPicPr preferRelativeResize="0">
            <a:picLocks/>
          </p:cNvPicPr>
          <p:nvPr/>
        </p:nvPicPr>
        <p:blipFill rotWithShape="1">
          <a:blip r:embed="rId3">
            <a:alphaModFix/>
          </a:blip>
          <a:srcRect l="-14501" r="-14502"/>
          <a:stretch/>
        </p:blipFill>
        <p:spPr>
          <a:xfrm>
            <a:off x="1500734" y="1679881"/>
            <a:ext cx="9570037" cy="4676469"/>
          </a:xfrm>
          <a:prstGeom prst="rect">
            <a:avLst/>
          </a:prstGeom>
          <a:noFill/>
          <a:ln>
            <a:noFill/>
          </a:ln>
        </p:spPr>
      </p:pic>
    </p:spTree>
    <p:extLst>
      <p:ext uri="{BB962C8B-B14F-4D97-AF65-F5344CB8AC3E}">
        <p14:creationId xmlns:p14="http://schemas.microsoft.com/office/powerpoint/2010/main" val="120003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AD318-9B05-1BD8-7EAF-31D09ED6E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51051-EA5D-94CF-749C-BFC7C552D3D7}"/>
              </a:ext>
            </a:extLst>
          </p:cNvPr>
          <p:cNvSpPr>
            <a:spLocks noGrp="1"/>
          </p:cNvSpPr>
          <p:nvPr>
            <p:ph type="title"/>
          </p:nvPr>
        </p:nvSpPr>
        <p:spPr/>
        <p:txBody>
          <a:bodyPr/>
          <a:lstStyle/>
          <a:p>
            <a:r>
              <a:rPr lang="en-US" dirty="0">
                <a:latin typeface="Constantia" panose="02030602050306030303" pitchFamily="18" charset="0"/>
              </a:rPr>
              <a:t>Selye &amp; The General Adaption Syndrome</a:t>
            </a:r>
          </a:p>
        </p:txBody>
      </p:sp>
      <p:sp>
        <p:nvSpPr>
          <p:cNvPr id="4" name="Slide Number Placeholder 3">
            <a:extLst>
              <a:ext uri="{FF2B5EF4-FFF2-40B4-BE49-F238E27FC236}">
                <a16:creationId xmlns:a16="http://schemas.microsoft.com/office/drawing/2014/main" id="{DCEB9039-6948-C19D-DD90-B60AAB1F42AB}"/>
              </a:ext>
            </a:extLst>
          </p:cNvPr>
          <p:cNvSpPr>
            <a:spLocks noGrp="1"/>
          </p:cNvSpPr>
          <p:nvPr>
            <p:ph type="sldNum" sz="quarter" idx="12"/>
          </p:nvPr>
        </p:nvSpPr>
        <p:spPr/>
        <p:txBody>
          <a:bodyPr/>
          <a:lstStyle/>
          <a:p>
            <a:fld id="{51845F5A-061D-4825-9AE9-D7794091C6CF}" type="slidenum">
              <a:rPr lang="en-US" smtClean="0"/>
              <a:t>8</a:t>
            </a:fld>
            <a:endParaRPr lang="en-US"/>
          </a:p>
        </p:txBody>
      </p:sp>
      <p:pic>
        <p:nvPicPr>
          <p:cNvPr id="5" name="Picture 2" descr="A graph shows the three stages of Selye’s general adaption syndrome: alarm reaction, resistance, and exhaustion. The x-axis represents time while the y-axis represents stress levels. The x-axis is labeled “Time” and the y-axis is labeled “Stress resistance.” The graph shows that an increase in time and stress ultimately leads to exhaustion.">
            <a:extLst>
              <a:ext uri="{FF2B5EF4-FFF2-40B4-BE49-F238E27FC236}">
                <a16:creationId xmlns:a16="http://schemas.microsoft.com/office/drawing/2014/main" id="{6FDABE78-2FC8-B9D7-B473-C08EEADD29A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396381" y="1952763"/>
            <a:ext cx="7399238" cy="3944740"/>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461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FC36-CBB1-071D-1CF7-DC9A3D0939C4}"/>
              </a:ext>
            </a:extLst>
          </p:cNvPr>
          <p:cNvSpPr>
            <a:spLocks noGrp="1"/>
          </p:cNvSpPr>
          <p:nvPr>
            <p:ph type="title"/>
          </p:nvPr>
        </p:nvSpPr>
        <p:spPr>
          <a:xfrm>
            <a:off x="838200" y="598714"/>
            <a:ext cx="10515600" cy="1091974"/>
          </a:xfrm>
        </p:spPr>
        <p:txBody>
          <a:bodyPr anchor="t">
            <a:normAutofit/>
          </a:bodyPr>
          <a:lstStyle/>
          <a:p>
            <a:r>
              <a:rPr lang="en-US" dirty="0">
                <a:latin typeface="Constantia" panose="02030602050306030303" pitchFamily="18" charset="0"/>
              </a:rPr>
              <a:t>How much stress is too much?</a:t>
            </a:r>
          </a:p>
        </p:txBody>
      </p:sp>
      <p:pic>
        <p:nvPicPr>
          <p:cNvPr id="1028" name="Picture 4" descr="A figure discussing allostatic load as a bucket of inflammation, with multiple factors contributing to inflammation, including excessive exercise, inadequate energy intake, stress, inadequate sleep, low dietary quality, substance abuse, trauma/ oppression, and social isolation">
            <a:extLst>
              <a:ext uri="{FF2B5EF4-FFF2-40B4-BE49-F238E27FC236}">
                <a16:creationId xmlns:a16="http://schemas.microsoft.com/office/drawing/2014/main" id="{3DD06463-308C-97D7-1DAD-22D214B05B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005466" y="2011363"/>
            <a:ext cx="4181067" cy="4160837"/>
          </a:xfrm>
          <a:prstGeom prst="rect">
            <a:avLst/>
          </a:prstGeom>
          <a:solidFill>
            <a:srgbClr val="FFFFFF"/>
          </a:solidFill>
        </p:spPr>
      </p:pic>
      <p:sp>
        <p:nvSpPr>
          <p:cNvPr id="3" name="Slide Number Placeholder 2">
            <a:extLst>
              <a:ext uri="{FF2B5EF4-FFF2-40B4-BE49-F238E27FC236}">
                <a16:creationId xmlns:a16="http://schemas.microsoft.com/office/drawing/2014/main" id="{B11037E2-27BC-C0AF-7C00-1E2CAA548D7E}"/>
              </a:ext>
            </a:extLst>
          </p:cNvPr>
          <p:cNvSpPr>
            <a:spLocks noGrp="1"/>
          </p:cNvSpPr>
          <p:nvPr>
            <p:ph type="sldNum" sz="quarter" idx="12"/>
          </p:nvPr>
        </p:nvSpPr>
        <p:spPr/>
        <p:txBody>
          <a:bodyPr anchor="t">
            <a:normAutofit fontScale="70000" lnSpcReduction="20000"/>
          </a:bodyPr>
          <a:lstStyle/>
          <a:p>
            <a:pPr marL="0" marR="0" lvl="0" indent="0" algn="r" defTabSz="457200" rtl="0" eaLnBrk="1" fontAlgn="auto" latinLnBrk="0" hangingPunct="1">
              <a:lnSpc>
                <a:spcPct val="90000"/>
              </a:lnSpc>
              <a:spcBef>
                <a:spcPts val="0"/>
              </a:spcBef>
              <a:spcAft>
                <a:spcPts val="600"/>
              </a:spcAft>
              <a:buClrTx/>
              <a:buSzTx/>
              <a:buFontTx/>
              <a:buNone/>
              <a:tabLst/>
              <a:defRPr/>
            </a:pPr>
            <a:fld id="{6D22F896-40B5-4ADD-8801-0D06FADFA095}" type="slidenum">
              <a:rPr kumimoji="0" lang="en-US" sz="3200" b="1"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90000"/>
                </a:lnSpc>
                <a:spcBef>
                  <a:spcPts val="0"/>
                </a:spcBef>
                <a:spcAft>
                  <a:spcPts val="600"/>
                </a:spcAft>
                <a:buClrTx/>
                <a:buSzTx/>
                <a:buFontTx/>
                <a:buNone/>
                <a:tabLst/>
                <a:defRPr/>
              </a:pPr>
              <a:t>9</a:t>
            </a:fld>
            <a:endParaRPr kumimoji="0" lang="en-US" sz="3200" b="1" i="0" u="none" strike="noStrike" kern="1200" cap="none" spc="0" normalizeH="0" baseline="0" noProof="0">
              <a:ln>
                <a:noFill/>
              </a:ln>
              <a:solidFill>
                <a:srgbClr val="000000"/>
              </a:solidFill>
              <a:effectLst/>
              <a:uLnTx/>
              <a:uFillTx/>
              <a:latin typeface="Kalinga"/>
              <a:ea typeface="+mn-ea"/>
              <a:cs typeface="Kalinga" panose="020B0502040204020203" pitchFamily="34" charset="0"/>
            </a:endParaRPr>
          </a:p>
        </p:txBody>
      </p:sp>
      <p:sp>
        <p:nvSpPr>
          <p:cNvPr id="4" name="Content Placeholder 3">
            <a:extLst>
              <a:ext uri="{FF2B5EF4-FFF2-40B4-BE49-F238E27FC236}">
                <a16:creationId xmlns:a16="http://schemas.microsoft.com/office/drawing/2014/main" id="{80350161-9921-C130-D0BA-92BD193941CC}"/>
              </a:ext>
            </a:extLst>
          </p:cNvPr>
          <p:cNvSpPr>
            <a:spLocks noGrp="1"/>
          </p:cNvSpPr>
          <p:nvPr>
            <p:ph sz="quarter" idx="4294967295"/>
          </p:nvPr>
        </p:nvSpPr>
        <p:spPr>
          <a:xfrm>
            <a:off x="0" y="2863850"/>
            <a:ext cx="4114800" cy="3495675"/>
          </a:xfrm>
        </p:spPr>
        <p:txBody>
          <a:bodyPr>
            <a:normAutofit/>
          </a:bodyPr>
          <a:lstStyle/>
          <a:p>
            <a:r>
              <a:rPr lang="en-US" dirty="0"/>
              <a:t>It depends on your capacity to carry stress</a:t>
            </a:r>
          </a:p>
        </p:txBody>
      </p:sp>
    </p:spTree>
    <p:extLst>
      <p:ext uri="{BB962C8B-B14F-4D97-AF65-F5344CB8AC3E}">
        <p14:creationId xmlns:p14="http://schemas.microsoft.com/office/powerpoint/2010/main" val="3030341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AB83F82-A062-FC8C-6E93-52F0EDE93A9B}"/>
              </a:ext>
            </a:extLst>
          </p:cNvPr>
          <p:cNvSpPr>
            <a:spLocks noGrp="1"/>
          </p:cNvSpPr>
          <p:nvPr>
            <p:ph type="body" idx="1"/>
          </p:nvPr>
        </p:nvSpPr>
        <p:spPr>
          <a:xfrm>
            <a:off x="831849" y="3156858"/>
            <a:ext cx="7506607" cy="2622722"/>
          </a:xfrm>
        </p:spPr>
        <p:txBody>
          <a:bodyPr>
            <a:normAutofit/>
          </a:bodyPr>
          <a:lstStyle/>
          <a:p>
            <a:r>
              <a:rPr lang="en-US" sz="4400" dirty="0"/>
              <a:t>The STRESS RESPONSE</a:t>
            </a:r>
          </a:p>
        </p:txBody>
      </p:sp>
      <p:sp>
        <p:nvSpPr>
          <p:cNvPr id="4" name="Slide Number Placeholder 3">
            <a:extLst>
              <a:ext uri="{FF2B5EF4-FFF2-40B4-BE49-F238E27FC236}">
                <a16:creationId xmlns:a16="http://schemas.microsoft.com/office/drawing/2014/main" id="{7894CC91-B25E-65A2-8574-FB5F503D1806}"/>
              </a:ext>
            </a:extLst>
          </p:cNvPr>
          <p:cNvSpPr>
            <a:spLocks noGrp="1"/>
          </p:cNvSpPr>
          <p:nvPr>
            <p:ph type="sldNum" sz="quarter" idx="12"/>
          </p:nvPr>
        </p:nvSpPr>
        <p:spPr/>
        <p:txBody>
          <a:bodyPr/>
          <a:lstStyle/>
          <a:p>
            <a:fld id="{51845F5A-061D-4825-9AE9-D7794091C6CF}" type="slidenum">
              <a:rPr lang="en-US" smtClean="0"/>
              <a:t>10</a:t>
            </a:fld>
            <a:endParaRPr lang="en-US"/>
          </a:p>
        </p:txBody>
      </p:sp>
    </p:spTree>
    <p:extLst>
      <p:ext uri="{BB962C8B-B14F-4D97-AF65-F5344CB8AC3E}">
        <p14:creationId xmlns:p14="http://schemas.microsoft.com/office/powerpoint/2010/main" val="331500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0BD5-FB6E-8858-B9B2-D7AAAB2C7F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A0A5A0-2F4F-24CE-4CAC-C077F961957A}"/>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32ECA44D-12D7-29F0-F593-7813083657CB}"/>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079171" y="1183494"/>
            <a:ext cx="7747056" cy="5164705"/>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F6A7BCC9-F138-C9B2-631F-AB4C537EA3C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32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ABA97AB6-A466-F999-6B07-3FA208A2F904}"/>
              </a:ext>
            </a:extLst>
          </p:cNvPr>
          <p:cNvSpPr txBox="1"/>
          <p:nvPr/>
        </p:nvSpPr>
        <p:spPr>
          <a:xfrm>
            <a:off x="8011391" y="997688"/>
            <a:ext cx="3243452"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1: </a:t>
            </a:r>
            <a:r>
              <a:rPr kumimoji="0" lang="en-US" sz="2000" b="0" i="0" u="none" strike="noStrike" kern="1200" cap="none" spc="0" normalizeH="0" baseline="0" noProof="0" dirty="0">
                <a:ln>
                  <a:noFill/>
                </a:ln>
                <a:solidFill>
                  <a:srgbClr val="000000"/>
                </a:solidFill>
                <a:effectLst/>
                <a:uLnTx/>
                <a:uFillTx/>
                <a:latin typeface="Kalinga"/>
                <a:ea typeface="+mn-ea"/>
                <a:cs typeface="+mn-cs"/>
              </a:rPr>
              <a:t>Hypothalamus releases CRF at a higher-than-usual rate</a:t>
            </a:r>
          </a:p>
        </p:txBody>
      </p:sp>
      <p:sp>
        <p:nvSpPr>
          <p:cNvPr id="7" name="TextBox 6">
            <a:extLst>
              <a:ext uri="{FF2B5EF4-FFF2-40B4-BE49-F238E27FC236}">
                <a16:creationId xmlns:a16="http://schemas.microsoft.com/office/drawing/2014/main" id="{F71B6051-B6D8-3C02-294E-97932ACD88DA}"/>
              </a:ext>
            </a:extLst>
          </p:cNvPr>
          <p:cNvSpPr txBox="1"/>
          <p:nvPr/>
        </p:nvSpPr>
        <p:spPr>
          <a:xfrm>
            <a:off x="5725885" y="6301530"/>
            <a:ext cx="504424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Kalinga"/>
                <a:ea typeface="+mn-ea"/>
                <a:cs typeface="+mn-cs"/>
              </a:rPr>
              <a:t>Note: CRF = corticotropin-releasing factor</a:t>
            </a:r>
          </a:p>
        </p:txBody>
      </p:sp>
      <p:sp>
        <p:nvSpPr>
          <p:cNvPr id="8" name="Oval 7">
            <a:extLst>
              <a:ext uri="{FF2B5EF4-FFF2-40B4-BE49-F238E27FC236}">
                <a16:creationId xmlns:a16="http://schemas.microsoft.com/office/drawing/2014/main" id="{A1546DBB-2947-D120-90A4-967BC29B6CE2}"/>
              </a:ext>
            </a:extLst>
          </p:cNvPr>
          <p:cNvSpPr/>
          <p:nvPr/>
        </p:nvSpPr>
        <p:spPr>
          <a:xfrm>
            <a:off x="3896590" y="2013351"/>
            <a:ext cx="2919845"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3896059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AD16-A9B2-DD7C-16D3-C9F5E41586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109295-A8F9-37FD-8888-0F03A51389F0}"/>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BC6C2D3B-E834-6A20-B105-EFEF759B14E5}"/>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1654629" y="1261495"/>
            <a:ext cx="7978488" cy="5318994"/>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65194D99-A53A-3D01-975B-881F2728D0A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32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A055BF40-7072-61F0-DE00-478DC3323DE5}"/>
              </a:ext>
            </a:extLst>
          </p:cNvPr>
          <p:cNvSpPr txBox="1"/>
          <p:nvPr/>
        </p:nvSpPr>
        <p:spPr>
          <a:xfrm>
            <a:off x="8011391" y="997688"/>
            <a:ext cx="3243452"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2: </a:t>
            </a:r>
            <a:r>
              <a:rPr kumimoji="0" lang="en-US" sz="2000" b="0" i="0" u="none" strike="noStrike" kern="1200" cap="none" spc="0" normalizeH="0" baseline="0" noProof="0" dirty="0">
                <a:ln>
                  <a:noFill/>
                </a:ln>
                <a:solidFill>
                  <a:srgbClr val="000000"/>
                </a:solidFill>
                <a:effectLst/>
                <a:uLnTx/>
                <a:uFillTx/>
                <a:latin typeface="Kalinga"/>
                <a:ea typeface="+mn-ea"/>
                <a:cs typeface="+mn-cs"/>
              </a:rPr>
              <a:t>Pituitary gland is hit with CRF, triggering it to release ACTH</a:t>
            </a:r>
          </a:p>
        </p:txBody>
      </p:sp>
      <p:sp>
        <p:nvSpPr>
          <p:cNvPr id="7" name="TextBox 6">
            <a:extLst>
              <a:ext uri="{FF2B5EF4-FFF2-40B4-BE49-F238E27FC236}">
                <a16:creationId xmlns:a16="http://schemas.microsoft.com/office/drawing/2014/main" id="{D06E8000-1084-A9E0-59BC-9F5F2229099C}"/>
              </a:ext>
            </a:extLst>
          </p:cNvPr>
          <p:cNvSpPr txBox="1"/>
          <p:nvPr/>
        </p:nvSpPr>
        <p:spPr>
          <a:xfrm>
            <a:off x="5771902" y="6309681"/>
            <a:ext cx="504424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Kalinga"/>
                <a:ea typeface="+mn-ea"/>
                <a:cs typeface="+mn-cs"/>
              </a:rPr>
              <a:t>Note: ACTH = adrenocorticotropic hormone</a:t>
            </a:r>
          </a:p>
        </p:txBody>
      </p:sp>
      <p:sp>
        <p:nvSpPr>
          <p:cNvPr id="8" name="Oval 7">
            <a:extLst>
              <a:ext uri="{FF2B5EF4-FFF2-40B4-BE49-F238E27FC236}">
                <a16:creationId xmlns:a16="http://schemas.microsoft.com/office/drawing/2014/main" id="{14A44C4E-A970-6B47-7E4E-5E0CBF560DA4}"/>
              </a:ext>
            </a:extLst>
          </p:cNvPr>
          <p:cNvSpPr/>
          <p:nvPr/>
        </p:nvSpPr>
        <p:spPr>
          <a:xfrm>
            <a:off x="2311233" y="2665277"/>
            <a:ext cx="2919845"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2801471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28EFE-1D86-A50C-D694-A01EDE578F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E0E540-7BDA-B533-476F-5154D0E19138}"/>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E1AC6667-3B06-E882-7F43-8CE478ADF75E}"/>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307770" y="1422624"/>
            <a:ext cx="7674429" cy="5116287"/>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969D913C-DB19-C640-C60A-9A9A135948F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8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39C9616D-2964-D42D-EF5C-D6D1EC1E4663}"/>
              </a:ext>
            </a:extLst>
          </p:cNvPr>
          <p:cNvSpPr txBox="1"/>
          <p:nvPr/>
        </p:nvSpPr>
        <p:spPr>
          <a:xfrm>
            <a:off x="7616536" y="997688"/>
            <a:ext cx="4044913"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3: </a:t>
            </a:r>
            <a:r>
              <a:rPr kumimoji="0" lang="en-US" sz="2000" b="0" i="0" u="none" strike="noStrike" kern="1200" cap="none" spc="0" normalizeH="0" baseline="0" noProof="0" dirty="0">
                <a:ln>
                  <a:noFill/>
                </a:ln>
                <a:solidFill>
                  <a:srgbClr val="000000"/>
                </a:solidFill>
                <a:effectLst/>
                <a:uLnTx/>
                <a:uFillTx/>
                <a:latin typeface="Kalinga"/>
                <a:ea typeface="+mn-ea"/>
                <a:cs typeface="+mn-cs"/>
              </a:rPr>
              <a:t>Adrenal gland is triggered by both the HPA axis and the SNS, at the same time</a:t>
            </a:r>
          </a:p>
        </p:txBody>
      </p:sp>
      <p:sp>
        <p:nvSpPr>
          <p:cNvPr id="7" name="TextBox 6">
            <a:extLst>
              <a:ext uri="{FF2B5EF4-FFF2-40B4-BE49-F238E27FC236}">
                <a16:creationId xmlns:a16="http://schemas.microsoft.com/office/drawing/2014/main" id="{00EBF94F-3C6E-8798-EB97-D3F1A2F25550}"/>
              </a:ext>
            </a:extLst>
          </p:cNvPr>
          <p:cNvSpPr txBox="1"/>
          <p:nvPr/>
        </p:nvSpPr>
        <p:spPr>
          <a:xfrm>
            <a:off x="838200" y="6356350"/>
            <a:ext cx="1027086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Kalinga"/>
                <a:ea typeface="+mn-ea"/>
                <a:cs typeface="+mn-cs"/>
              </a:rPr>
              <a:t>Note: HPA axis = hypothalamic-pituitary-adrenal axis; SNS = sympathetic nervous system</a:t>
            </a:r>
          </a:p>
        </p:txBody>
      </p:sp>
      <p:sp>
        <p:nvSpPr>
          <p:cNvPr id="8" name="Oval 7">
            <a:extLst>
              <a:ext uri="{FF2B5EF4-FFF2-40B4-BE49-F238E27FC236}">
                <a16:creationId xmlns:a16="http://schemas.microsoft.com/office/drawing/2014/main" id="{1A7A957F-B346-CC21-4FA6-D82BE7EC03E0}"/>
              </a:ext>
            </a:extLst>
          </p:cNvPr>
          <p:cNvSpPr/>
          <p:nvPr/>
        </p:nvSpPr>
        <p:spPr>
          <a:xfrm>
            <a:off x="2556164" y="4208318"/>
            <a:ext cx="4946071" cy="2006702"/>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1059829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E1804-CF6D-B054-36D7-FF521AD9F3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79E2D5-966C-4218-339B-0FCC4CCCDEA6}"/>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E8355714-53BE-455C-FA9C-AE1693D5923A}"/>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456521" y="1549878"/>
            <a:ext cx="7525679" cy="5017121"/>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96267045-6643-68A1-0052-BFA27CF3668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8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818C8D6D-47A1-8258-84FF-782F4DC310E3}"/>
              </a:ext>
            </a:extLst>
          </p:cNvPr>
          <p:cNvSpPr txBox="1"/>
          <p:nvPr/>
        </p:nvSpPr>
        <p:spPr>
          <a:xfrm>
            <a:off x="7678882" y="997688"/>
            <a:ext cx="3982567" cy="707886"/>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4: </a:t>
            </a:r>
            <a:r>
              <a:rPr kumimoji="0" lang="en-US" sz="2000" b="0" i="0" u="none" strike="noStrike" kern="1200" cap="none" spc="0" normalizeH="0" baseline="0" noProof="0" dirty="0">
                <a:ln>
                  <a:noFill/>
                </a:ln>
                <a:solidFill>
                  <a:srgbClr val="000000"/>
                </a:solidFill>
                <a:effectLst/>
                <a:uLnTx/>
                <a:uFillTx/>
                <a:latin typeface="Kalinga"/>
                <a:ea typeface="+mn-ea"/>
                <a:cs typeface="+mn-cs"/>
              </a:rPr>
              <a:t>Adrenal gland releases a bunch of hormones</a:t>
            </a:r>
          </a:p>
        </p:txBody>
      </p:sp>
      <p:sp>
        <p:nvSpPr>
          <p:cNvPr id="8" name="Oval 7">
            <a:extLst>
              <a:ext uri="{FF2B5EF4-FFF2-40B4-BE49-F238E27FC236}">
                <a16:creationId xmlns:a16="http://schemas.microsoft.com/office/drawing/2014/main" id="{25C5CC0F-1C29-E131-8F17-60A703E6EA21}"/>
              </a:ext>
            </a:extLst>
          </p:cNvPr>
          <p:cNvSpPr/>
          <p:nvPr/>
        </p:nvSpPr>
        <p:spPr>
          <a:xfrm>
            <a:off x="5091546" y="4278514"/>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2177300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38E3-7469-9991-049C-F221C37723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0B2DD7-412D-C90D-9E64-0B3E614BE0CC}"/>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C0FFD6E4-1895-E93B-BB26-0A36BB9E3CC7}"/>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369260" y="1690688"/>
            <a:ext cx="7453480" cy="4968987"/>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C4B47257-A89F-B114-CBB7-F76074129EA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6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6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8EF1910A-8DD0-13FA-A001-4A751A38E919}"/>
              </a:ext>
            </a:extLst>
          </p:cNvPr>
          <p:cNvSpPr txBox="1"/>
          <p:nvPr/>
        </p:nvSpPr>
        <p:spPr>
          <a:xfrm>
            <a:off x="7024256" y="997688"/>
            <a:ext cx="4810990"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5: </a:t>
            </a:r>
            <a:r>
              <a:rPr kumimoji="0" lang="en-US" sz="2000" b="0" i="0" u="none" strike="noStrike" kern="1200" cap="none" spc="0" normalizeH="0" baseline="0" noProof="0" dirty="0">
                <a:ln>
                  <a:noFill/>
                </a:ln>
                <a:solidFill>
                  <a:srgbClr val="000000"/>
                </a:solidFill>
                <a:effectLst/>
                <a:uLnTx/>
                <a:uFillTx/>
                <a:latin typeface="Kalinga"/>
                <a:ea typeface="+mn-ea"/>
                <a:cs typeface="+mn-cs"/>
              </a:rPr>
              <a:t>In a </a:t>
            </a:r>
            <a:r>
              <a:rPr kumimoji="0" lang="en-US" sz="2000" b="1" i="0" u="none" strike="noStrike" kern="1200" cap="none" spc="0" normalizeH="0" baseline="0" noProof="0" dirty="0">
                <a:ln>
                  <a:noFill/>
                </a:ln>
                <a:solidFill>
                  <a:srgbClr val="000000"/>
                </a:solidFill>
                <a:effectLst/>
                <a:uLnTx/>
                <a:uFillTx/>
                <a:latin typeface="Kalinga"/>
                <a:ea typeface="+mn-ea"/>
                <a:cs typeface="+mn-cs"/>
              </a:rPr>
              <a:t>healthy</a:t>
            </a:r>
            <a:r>
              <a:rPr kumimoji="0" lang="en-US" sz="2000" b="0" i="0" u="none" strike="noStrike" kern="1200" cap="none" spc="0" normalizeH="0" baseline="0" noProof="0" dirty="0">
                <a:ln>
                  <a:noFill/>
                </a:ln>
                <a:solidFill>
                  <a:srgbClr val="000000"/>
                </a:solidFill>
                <a:effectLst/>
                <a:uLnTx/>
                <a:uFillTx/>
                <a:latin typeface="Kalinga"/>
                <a:ea typeface="+mn-ea"/>
                <a:cs typeface="+mn-cs"/>
              </a:rPr>
              <a:t> system, hormones like cortisol tell the hypothalamus to stop CRF production</a:t>
            </a:r>
          </a:p>
        </p:txBody>
      </p:sp>
      <p:sp>
        <p:nvSpPr>
          <p:cNvPr id="8" name="Oval 7">
            <a:extLst>
              <a:ext uri="{FF2B5EF4-FFF2-40B4-BE49-F238E27FC236}">
                <a16:creationId xmlns:a16="http://schemas.microsoft.com/office/drawing/2014/main" id="{9326DD9D-B920-13BA-AF93-C2E3BD22D22B}"/>
              </a:ext>
            </a:extLst>
          </p:cNvPr>
          <p:cNvSpPr/>
          <p:nvPr/>
        </p:nvSpPr>
        <p:spPr>
          <a:xfrm rot="2359356">
            <a:off x="5424056" y="3603105"/>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3115656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BFFF-7F4F-10BD-080A-1AF28E9989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DCE2A7-3E49-9344-8DAF-531B4F38F502}"/>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26F09D01-512A-9861-F494-09B8C11AD19F}"/>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392734" y="1690688"/>
            <a:ext cx="7272334" cy="4848224"/>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48394B97-30C7-1B10-1CA3-78B8E214542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32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CB1BD972-B381-1ED8-9C21-193E9DF48B75}"/>
              </a:ext>
            </a:extLst>
          </p:cNvPr>
          <p:cNvSpPr txBox="1"/>
          <p:nvPr/>
        </p:nvSpPr>
        <p:spPr>
          <a:xfrm>
            <a:off x="6702137" y="913615"/>
            <a:ext cx="5216237" cy="1631216"/>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5b:</a:t>
            </a:r>
            <a:r>
              <a:rPr kumimoji="0" lang="en-US" sz="2000" b="0" i="0" u="none" strike="noStrike" kern="1200" cap="none" spc="0" normalizeH="0" baseline="0" noProof="0" dirty="0">
                <a:ln>
                  <a:noFill/>
                </a:ln>
                <a:solidFill>
                  <a:srgbClr val="000000"/>
                </a:solidFill>
                <a:effectLst/>
                <a:uLnTx/>
                <a:uFillTx/>
                <a:latin typeface="Kalinga"/>
                <a:ea typeface="+mn-ea"/>
                <a:cs typeface="+mn-cs"/>
              </a:rPr>
              <a:t> In a</a:t>
            </a:r>
            <a:r>
              <a:rPr kumimoji="0" lang="en-US" sz="2000" b="1" i="0" u="none" strike="noStrike" kern="1200" cap="none" spc="0" normalizeH="0" baseline="0" noProof="0" dirty="0">
                <a:ln>
                  <a:noFill/>
                </a:ln>
                <a:solidFill>
                  <a:srgbClr val="000000"/>
                </a:solidFill>
                <a:effectLst/>
                <a:uLnTx/>
                <a:uFillTx/>
                <a:latin typeface="Kalinga"/>
                <a:ea typeface="+mn-ea"/>
                <a:cs typeface="+mn-cs"/>
              </a:rPr>
              <a:t> chronically stressed </a:t>
            </a:r>
            <a:r>
              <a:rPr kumimoji="0" lang="en-US" sz="2000" b="0" i="0" u="none" strike="noStrike" kern="1200" cap="none" spc="0" normalizeH="0" baseline="0" noProof="0" dirty="0">
                <a:ln>
                  <a:noFill/>
                </a:ln>
                <a:solidFill>
                  <a:srgbClr val="000000"/>
                </a:solidFill>
                <a:effectLst/>
                <a:uLnTx/>
                <a:uFillTx/>
                <a:latin typeface="Kalinga"/>
                <a:ea typeface="+mn-ea"/>
                <a:cs typeface="+mn-cs"/>
              </a:rPr>
              <a:t>system, hypothalamus desensitizes to cortisol, while corticosteroids mass produce pro-inflammatory cytokines (which can also activate hypothalamus)</a:t>
            </a:r>
          </a:p>
        </p:txBody>
      </p:sp>
      <p:sp>
        <p:nvSpPr>
          <p:cNvPr id="8" name="Oval 7">
            <a:extLst>
              <a:ext uri="{FF2B5EF4-FFF2-40B4-BE49-F238E27FC236}">
                <a16:creationId xmlns:a16="http://schemas.microsoft.com/office/drawing/2014/main" id="{88427A66-E8FC-6CE0-10F9-2B2CE47CF2D6}"/>
              </a:ext>
            </a:extLst>
          </p:cNvPr>
          <p:cNvSpPr/>
          <p:nvPr/>
        </p:nvSpPr>
        <p:spPr>
          <a:xfrm rot="2359356">
            <a:off x="4807987" y="3136610"/>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
        <p:nvSpPr>
          <p:cNvPr id="6" name="TextBox 5">
            <a:extLst>
              <a:ext uri="{FF2B5EF4-FFF2-40B4-BE49-F238E27FC236}">
                <a16:creationId xmlns:a16="http://schemas.microsoft.com/office/drawing/2014/main" id="{768A72E7-DB42-729E-45EA-C0542AA4EBAD}"/>
              </a:ext>
            </a:extLst>
          </p:cNvPr>
          <p:cNvSpPr txBox="1"/>
          <p:nvPr/>
        </p:nvSpPr>
        <p:spPr>
          <a:xfrm>
            <a:off x="912615" y="6350454"/>
            <a:ext cx="1027086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Kalinga"/>
                <a:ea typeface="+mn-ea"/>
                <a:cs typeface="+mn-cs"/>
              </a:rPr>
              <a:t>Note: cytokines = potent signaling molecules; the immune system’s version of a hormone</a:t>
            </a:r>
          </a:p>
        </p:txBody>
      </p:sp>
    </p:spTree>
    <p:extLst>
      <p:ext uri="{BB962C8B-B14F-4D97-AF65-F5344CB8AC3E}">
        <p14:creationId xmlns:p14="http://schemas.microsoft.com/office/powerpoint/2010/main" val="780011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DD78-54C3-00F6-B7BD-423C4596C0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C63C16-43A0-2940-AAC2-430E46085E22}"/>
              </a:ext>
            </a:extLst>
          </p:cNvPr>
          <p:cNvSpPr>
            <a:spLocks noGrp="1"/>
          </p:cNvSpPr>
          <p:nvPr>
            <p:ph type="title"/>
          </p:nvPr>
        </p:nvSpPr>
        <p:spPr/>
        <p:txBody>
          <a:bodyPr/>
          <a:lstStyle/>
          <a:p>
            <a:r>
              <a:rPr lang="en-US" dirty="0">
                <a:latin typeface="Constantia" panose="02030602050306030303" pitchFamily="18" charset="0"/>
              </a:rPr>
              <a:t>The Physiology of Stress</a:t>
            </a:r>
          </a:p>
        </p:txBody>
      </p:sp>
      <p:pic>
        <p:nvPicPr>
          <p:cNvPr id="2" name="Content Placeholder 1" descr="Diagram illustrating chronic stress impact on hormonal pathways, showing HPA axis and SNS routes activating hypothalamus, pituitary gland, and adrenal gland. Key elements include red arrows for stress signals, black arrows for hormone release (CRF, ACTH), and dashed lines indicating adrenal gland secretion of corticosteroids, norepinephrine, adrenaline, and cortisol, highlighting pro-inflammatory cytokines' role.">
            <a:extLst>
              <a:ext uri="{FF2B5EF4-FFF2-40B4-BE49-F238E27FC236}">
                <a16:creationId xmlns:a16="http://schemas.microsoft.com/office/drawing/2014/main" id="{51AFD4ED-80C2-6CA3-EE78-3182850BEBAD}"/>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tretch/>
        </p:blipFill>
        <p:spPr bwMode="auto">
          <a:xfrm>
            <a:off x="2017431" y="1249301"/>
            <a:ext cx="7964769" cy="5309847"/>
          </a:xfrm>
          <a:prstGeom prst="rect">
            <a:avLst/>
          </a:prstGeom>
          <a:noFill/>
          <a:ln>
            <a:noFill/>
          </a:ln>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B5EDCA37-4BA4-7678-5AFA-3BD6A598145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22F896-40B5-4ADD-8801-0D06FADFA095}" type="slidenum">
              <a:rPr kumimoji="0" lang="en-US" sz="1800" i="0" u="none" strike="noStrike" kern="1200" cap="none" spc="0" normalizeH="0" baseline="0" noProof="0" smtClean="0">
                <a:ln>
                  <a:noFill/>
                </a:ln>
                <a:solidFill>
                  <a:srgbClr val="000000"/>
                </a:solidFill>
                <a:effectLst/>
                <a:uLnTx/>
                <a:uFillTx/>
                <a:latin typeface="Kalinga"/>
                <a:ea typeface="+mn-ea"/>
                <a:cs typeface="Kalinga" panose="020B0502040204020203"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800" i="0" u="none" strike="noStrike" kern="1200" cap="none" spc="0" normalizeH="0" baseline="0" noProof="0" dirty="0">
              <a:ln>
                <a:noFill/>
              </a:ln>
              <a:solidFill>
                <a:srgbClr val="000000"/>
              </a:solidFill>
              <a:effectLst/>
              <a:uLnTx/>
              <a:uFillTx/>
              <a:latin typeface="Kalinga"/>
              <a:ea typeface="+mn-ea"/>
              <a:cs typeface="Kalinga" panose="020B0502040204020203" pitchFamily="34" charset="0"/>
            </a:endParaRPr>
          </a:p>
        </p:txBody>
      </p:sp>
      <p:sp>
        <p:nvSpPr>
          <p:cNvPr id="4" name="TextBox 3">
            <a:extLst>
              <a:ext uri="{FF2B5EF4-FFF2-40B4-BE49-F238E27FC236}">
                <a16:creationId xmlns:a16="http://schemas.microsoft.com/office/drawing/2014/main" id="{F9045A65-B972-12E1-6764-3859B98AAD1D}"/>
              </a:ext>
            </a:extLst>
          </p:cNvPr>
          <p:cNvSpPr txBox="1"/>
          <p:nvPr/>
        </p:nvSpPr>
        <p:spPr>
          <a:xfrm>
            <a:off x="6702137" y="913615"/>
            <a:ext cx="5216237" cy="1015663"/>
          </a:xfrm>
          <a:prstGeom prst="rect">
            <a:avLst/>
          </a:prstGeom>
          <a:noFill/>
          <a:ln w="38100">
            <a:solidFill>
              <a:srgbClr val="00B0F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Kalinga"/>
                <a:ea typeface="+mn-ea"/>
                <a:cs typeface="+mn-cs"/>
              </a:rPr>
              <a:t>Step 6: </a:t>
            </a:r>
            <a:r>
              <a:rPr kumimoji="0" lang="en-US" sz="2000" b="0" i="0" u="none" strike="noStrike" kern="1200" cap="none" spc="0" normalizeH="0" baseline="0" noProof="0" dirty="0">
                <a:ln>
                  <a:noFill/>
                </a:ln>
                <a:solidFill>
                  <a:srgbClr val="000000"/>
                </a:solidFill>
                <a:effectLst/>
                <a:uLnTx/>
                <a:uFillTx/>
                <a:latin typeface="Kalinga"/>
                <a:ea typeface="+mn-ea"/>
                <a:cs typeface="+mn-cs"/>
              </a:rPr>
              <a:t>Hypothalamus never turns “off”, and continually releases CRF into bloodstream</a:t>
            </a:r>
          </a:p>
        </p:txBody>
      </p:sp>
      <p:sp>
        <p:nvSpPr>
          <p:cNvPr id="8" name="Oval 7">
            <a:extLst>
              <a:ext uri="{FF2B5EF4-FFF2-40B4-BE49-F238E27FC236}">
                <a16:creationId xmlns:a16="http://schemas.microsoft.com/office/drawing/2014/main" id="{1CBC9F88-1787-8D0A-7CA2-4AD506E665A5}"/>
              </a:ext>
            </a:extLst>
          </p:cNvPr>
          <p:cNvSpPr/>
          <p:nvPr/>
        </p:nvSpPr>
        <p:spPr>
          <a:xfrm rot="21218365">
            <a:off x="3831386" y="2099756"/>
            <a:ext cx="3185338" cy="1938083"/>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Kalinga"/>
              <a:ea typeface="+mn-ea"/>
              <a:cs typeface="+mn-cs"/>
            </a:endParaRPr>
          </a:p>
        </p:txBody>
      </p:sp>
    </p:spTree>
    <p:extLst>
      <p:ext uri="{BB962C8B-B14F-4D97-AF65-F5344CB8AC3E}">
        <p14:creationId xmlns:p14="http://schemas.microsoft.com/office/powerpoint/2010/main" val="399401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37CAB-7CC7-B21E-1A03-0CCE6416B2BE}"/>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3E82307C-9784-01FC-31DB-80A0F13DE645}"/>
              </a:ext>
            </a:extLst>
          </p:cNvPr>
          <p:cNvSpPr>
            <a:spLocks noGrp="1"/>
          </p:cNvSpPr>
          <p:nvPr>
            <p:ph type="body" idx="1"/>
          </p:nvPr>
        </p:nvSpPr>
        <p:spPr>
          <a:xfrm>
            <a:off x="831849" y="3156858"/>
            <a:ext cx="7506607" cy="2622722"/>
          </a:xfrm>
        </p:spPr>
        <p:txBody>
          <a:bodyPr>
            <a:normAutofit/>
          </a:bodyPr>
          <a:lstStyle/>
          <a:p>
            <a:r>
              <a:rPr lang="en-US" sz="4400" dirty="0"/>
              <a:t>STRESS &amp; Illness</a:t>
            </a:r>
          </a:p>
        </p:txBody>
      </p:sp>
      <p:sp>
        <p:nvSpPr>
          <p:cNvPr id="4" name="Slide Number Placeholder 3">
            <a:extLst>
              <a:ext uri="{FF2B5EF4-FFF2-40B4-BE49-F238E27FC236}">
                <a16:creationId xmlns:a16="http://schemas.microsoft.com/office/drawing/2014/main" id="{6DCCA3A3-9BFB-CB71-0921-11F780195834}"/>
              </a:ext>
            </a:extLst>
          </p:cNvPr>
          <p:cNvSpPr>
            <a:spLocks noGrp="1"/>
          </p:cNvSpPr>
          <p:nvPr>
            <p:ph type="sldNum" sz="quarter" idx="12"/>
          </p:nvPr>
        </p:nvSpPr>
        <p:spPr/>
        <p:txBody>
          <a:bodyPr/>
          <a:lstStyle/>
          <a:p>
            <a:fld id="{51845F5A-061D-4825-9AE9-D7794091C6CF}" type="slidenum">
              <a:rPr lang="en-US" smtClean="0"/>
              <a:t>18</a:t>
            </a:fld>
            <a:endParaRPr lang="en-US"/>
          </a:p>
        </p:txBody>
      </p:sp>
    </p:spTree>
    <p:extLst>
      <p:ext uri="{BB962C8B-B14F-4D97-AF65-F5344CB8AC3E}">
        <p14:creationId xmlns:p14="http://schemas.microsoft.com/office/powerpoint/2010/main" val="2872265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524BA-0C3E-5CEC-5EE9-A32EB4D01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69296-70F5-98F3-45C4-96C3FEDA3A81}"/>
              </a:ext>
            </a:extLst>
          </p:cNvPr>
          <p:cNvSpPr>
            <a:spLocks noGrp="1"/>
          </p:cNvSpPr>
          <p:nvPr>
            <p:ph type="title"/>
          </p:nvPr>
        </p:nvSpPr>
        <p:spPr>
          <a:xfrm>
            <a:off x="696685" y="3119211"/>
            <a:ext cx="3984171" cy="1409246"/>
          </a:xfrm>
        </p:spPr>
        <p:txBody>
          <a:bodyPr/>
          <a:lstStyle/>
          <a:p>
            <a:r>
              <a:rPr lang="en-US" dirty="0">
                <a:latin typeface="Constantia" panose="02030602050306030303" pitchFamily="18" charset="0"/>
              </a:rPr>
              <a:t>How Stress Impacts the Body</a:t>
            </a:r>
          </a:p>
        </p:txBody>
      </p:sp>
      <p:pic>
        <p:nvPicPr>
          <p:cNvPr id="6" name="Content Placeholder 5">
            <a:extLst>
              <a:ext uri="{FF2B5EF4-FFF2-40B4-BE49-F238E27FC236}">
                <a16:creationId xmlns:a16="http://schemas.microsoft.com/office/drawing/2014/main" id="{1D711954-9B36-A247-1EDD-727384467E61}"/>
              </a:ext>
            </a:extLst>
          </p:cNvPr>
          <p:cNvPicPr>
            <a:picLocks noGrp="1" noChangeAspect="1"/>
          </p:cNvPicPr>
          <p:nvPr>
            <p:ph idx="1"/>
          </p:nvPr>
        </p:nvPicPr>
        <p:blipFill>
          <a:blip r:embed="rId3"/>
          <a:stretch>
            <a:fillRect/>
          </a:stretch>
        </p:blipFill>
        <p:spPr>
          <a:xfrm>
            <a:off x="4822371" y="662249"/>
            <a:ext cx="6672944" cy="5533502"/>
          </a:xfrm>
          <a:prstGeom prst="rect">
            <a:avLst/>
          </a:prstGeom>
        </p:spPr>
      </p:pic>
      <p:sp>
        <p:nvSpPr>
          <p:cNvPr id="4" name="Slide Number Placeholder 3">
            <a:extLst>
              <a:ext uri="{FF2B5EF4-FFF2-40B4-BE49-F238E27FC236}">
                <a16:creationId xmlns:a16="http://schemas.microsoft.com/office/drawing/2014/main" id="{2832CA9D-97BA-39E3-6E0A-05797E02D91B}"/>
              </a:ext>
            </a:extLst>
          </p:cNvPr>
          <p:cNvSpPr>
            <a:spLocks noGrp="1"/>
          </p:cNvSpPr>
          <p:nvPr>
            <p:ph type="sldNum" sz="quarter" idx="12"/>
          </p:nvPr>
        </p:nvSpPr>
        <p:spPr/>
        <p:txBody>
          <a:bodyPr/>
          <a:lstStyle/>
          <a:p>
            <a:fld id="{51845F5A-061D-4825-9AE9-D7794091C6CF}" type="slidenum">
              <a:rPr lang="en-US" smtClean="0"/>
              <a:t>19</a:t>
            </a:fld>
            <a:endParaRPr lang="en-US"/>
          </a:p>
        </p:txBody>
      </p:sp>
    </p:spTree>
    <p:extLst>
      <p:ext uri="{BB962C8B-B14F-4D97-AF65-F5344CB8AC3E}">
        <p14:creationId xmlns:p14="http://schemas.microsoft.com/office/powerpoint/2010/main" val="3805866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7FF24-5D73-4CB8-D0AC-8C13E385F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2589D-B5A4-E60B-569F-73C4BD9FF137}"/>
              </a:ext>
            </a:extLst>
          </p:cNvPr>
          <p:cNvSpPr>
            <a:spLocks noGrp="1"/>
          </p:cNvSpPr>
          <p:nvPr>
            <p:ph type="title"/>
          </p:nvPr>
        </p:nvSpPr>
        <p:spPr/>
        <p:txBody>
          <a:bodyPr/>
          <a:lstStyle/>
          <a:p>
            <a:r>
              <a:rPr lang="en-US" dirty="0">
                <a:latin typeface="Constantia" panose="02030602050306030303" pitchFamily="18" charset="0"/>
              </a:rPr>
              <a:t>Stress and The Immune System</a:t>
            </a:r>
          </a:p>
        </p:txBody>
      </p:sp>
      <p:sp>
        <p:nvSpPr>
          <p:cNvPr id="4" name="Slide Number Placeholder 3">
            <a:extLst>
              <a:ext uri="{FF2B5EF4-FFF2-40B4-BE49-F238E27FC236}">
                <a16:creationId xmlns:a16="http://schemas.microsoft.com/office/drawing/2014/main" id="{0337CCAB-CE47-805A-4D26-0BF25071FD78}"/>
              </a:ext>
            </a:extLst>
          </p:cNvPr>
          <p:cNvSpPr>
            <a:spLocks noGrp="1"/>
          </p:cNvSpPr>
          <p:nvPr>
            <p:ph type="sldNum" sz="quarter" idx="12"/>
          </p:nvPr>
        </p:nvSpPr>
        <p:spPr/>
        <p:txBody>
          <a:bodyPr/>
          <a:lstStyle/>
          <a:p>
            <a:fld id="{51845F5A-061D-4825-9AE9-D7794091C6CF}" type="slidenum">
              <a:rPr lang="en-US" smtClean="0"/>
              <a:t>20</a:t>
            </a:fld>
            <a:endParaRPr lang="en-US"/>
          </a:p>
        </p:txBody>
      </p:sp>
      <p:graphicFrame>
        <p:nvGraphicFramePr>
          <p:cNvPr id="5" name="Content Placeholder 2">
            <a:extLst>
              <a:ext uri="{FF2B5EF4-FFF2-40B4-BE49-F238E27FC236}">
                <a16:creationId xmlns:a16="http://schemas.microsoft.com/office/drawing/2014/main" id="{F91F5448-21B0-D540-621C-F3B19F1E7EB4}"/>
              </a:ext>
            </a:extLst>
          </p:cNvPr>
          <p:cNvGraphicFramePr>
            <a:graphicFrameLocks noGrp="1"/>
          </p:cNvGraphicFramePr>
          <p:nvPr>
            <p:ph idx="1"/>
            <p:extLst>
              <p:ext uri="{D42A27DB-BD31-4B8C-83A1-F6EECF244321}">
                <p14:modId xmlns:p14="http://schemas.microsoft.com/office/powerpoint/2010/main" val="1438464124"/>
              </p:ext>
            </p:extLst>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1845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8A790-3D22-072E-20DD-292EF7DF3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F39CF-0D39-39B5-BC47-EA998AC78165}"/>
              </a:ext>
            </a:extLst>
          </p:cNvPr>
          <p:cNvSpPr>
            <a:spLocks noGrp="1"/>
          </p:cNvSpPr>
          <p:nvPr>
            <p:ph type="title"/>
          </p:nvPr>
        </p:nvSpPr>
        <p:spPr/>
        <p:txBody>
          <a:bodyPr/>
          <a:lstStyle/>
          <a:p>
            <a:r>
              <a:rPr lang="en-US" dirty="0">
                <a:latin typeface="Constantia" panose="02030602050306030303" pitchFamily="18" charset="0"/>
              </a:rPr>
              <a:t>Stress and Common Colds</a:t>
            </a:r>
          </a:p>
        </p:txBody>
      </p:sp>
      <p:sp>
        <p:nvSpPr>
          <p:cNvPr id="4" name="Slide Number Placeholder 3">
            <a:extLst>
              <a:ext uri="{FF2B5EF4-FFF2-40B4-BE49-F238E27FC236}">
                <a16:creationId xmlns:a16="http://schemas.microsoft.com/office/drawing/2014/main" id="{215B48A5-F95A-139D-E225-F85E68B24352}"/>
              </a:ext>
            </a:extLst>
          </p:cNvPr>
          <p:cNvSpPr>
            <a:spLocks noGrp="1"/>
          </p:cNvSpPr>
          <p:nvPr>
            <p:ph type="sldNum" sz="quarter" idx="12"/>
          </p:nvPr>
        </p:nvSpPr>
        <p:spPr/>
        <p:txBody>
          <a:bodyPr/>
          <a:lstStyle/>
          <a:p>
            <a:fld id="{51845F5A-061D-4825-9AE9-D7794091C6CF}" type="slidenum">
              <a:rPr lang="en-US" smtClean="0"/>
              <a:t>21</a:t>
            </a:fld>
            <a:endParaRPr lang="en-US"/>
          </a:p>
        </p:txBody>
      </p:sp>
      <p:pic>
        <p:nvPicPr>
          <p:cNvPr id="5" name="Picture 2" descr="A bar graph shows the relationship between chronic stressors and the percentage of people who developed colds after receiving the cold virus. About 50% of people with chronic stressors for at least one month developed a cold compared to about 35% without chronic stressors. About 52% of people with chronic stressors for at least three months developed a cold compared to about 35% without chronic stressors. About 51% of people with chronic stressors for at least six months developed a cold compared to about 35% without chronic stressors.">
            <a:extLst>
              <a:ext uri="{FF2B5EF4-FFF2-40B4-BE49-F238E27FC236}">
                <a16:creationId xmlns:a16="http://schemas.microsoft.com/office/drawing/2014/main" id="{0A5DD430-C3A5-498F-4B4B-85F944469F8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09"/>
          <a:stretch/>
        </p:blipFill>
        <p:spPr bwMode="auto">
          <a:xfrm>
            <a:off x="1705433" y="1690688"/>
            <a:ext cx="8440053" cy="4611178"/>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042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3721-B119-BA26-76F4-FD120E805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BCFA2-E641-365C-0302-04FEBDD55E8D}"/>
              </a:ext>
            </a:extLst>
          </p:cNvPr>
          <p:cNvSpPr>
            <a:spLocks noGrp="1"/>
          </p:cNvSpPr>
          <p:nvPr>
            <p:ph type="title"/>
          </p:nvPr>
        </p:nvSpPr>
        <p:spPr/>
        <p:txBody>
          <a:bodyPr/>
          <a:lstStyle/>
          <a:p>
            <a:r>
              <a:rPr lang="en-US" dirty="0">
                <a:latin typeface="Constantia" panose="02030602050306030303" pitchFamily="18" charset="0"/>
              </a:rPr>
              <a:t>The Transactional Model of  Hostility</a:t>
            </a:r>
          </a:p>
        </p:txBody>
      </p:sp>
      <p:sp>
        <p:nvSpPr>
          <p:cNvPr id="4" name="Slide Number Placeholder 3">
            <a:extLst>
              <a:ext uri="{FF2B5EF4-FFF2-40B4-BE49-F238E27FC236}">
                <a16:creationId xmlns:a16="http://schemas.microsoft.com/office/drawing/2014/main" id="{26701350-82AA-F0D3-7984-26F43969BB1F}"/>
              </a:ext>
            </a:extLst>
          </p:cNvPr>
          <p:cNvSpPr>
            <a:spLocks noGrp="1"/>
          </p:cNvSpPr>
          <p:nvPr>
            <p:ph type="sldNum" sz="quarter" idx="12"/>
          </p:nvPr>
        </p:nvSpPr>
        <p:spPr/>
        <p:txBody>
          <a:bodyPr/>
          <a:lstStyle/>
          <a:p>
            <a:fld id="{51845F5A-061D-4825-9AE9-D7794091C6CF}" type="slidenum">
              <a:rPr lang="en-US" smtClean="0"/>
              <a:t>22</a:t>
            </a:fld>
            <a:endParaRPr lang="en-US"/>
          </a:p>
        </p:txBody>
      </p:sp>
      <p:pic>
        <p:nvPicPr>
          <p:cNvPr id="5" name="Picture 2" descr="A figure showing the outlines of the female and male body represent the social interactions outlined in the transactional model of hostility. A hostile person’s behavior is listed as hostile, confrontational, defensive, and aggressive. The recipient’s response is surprise, avoidance, and defensiveness. The transactional cycle is reinforcement of hostile behavior, and the hostile person’s thoughts and feelings are anger, mistrust, and devalues others. Arrows connecting the female and male figures show a continuous pattern.">
            <a:extLst>
              <a:ext uri="{FF2B5EF4-FFF2-40B4-BE49-F238E27FC236}">
                <a16:creationId xmlns:a16="http://schemas.microsoft.com/office/drawing/2014/main" id="{16161532-AD7E-21CD-7D7C-61B13572077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996767" y="1690688"/>
            <a:ext cx="6934201" cy="4480561"/>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
        <p:nvSpPr>
          <p:cNvPr id="6" name="Content Placeholder 9221">
            <a:extLst>
              <a:ext uri="{FF2B5EF4-FFF2-40B4-BE49-F238E27FC236}">
                <a16:creationId xmlns:a16="http://schemas.microsoft.com/office/drawing/2014/main" id="{1D7E6322-DB53-095E-1826-E5D74B9593F8}"/>
              </a:ext>
            </a:extLst>
          </p:cNvPr>
          <p:cNvSpPr txBox="1">
            <a:spLocks/>
          </p:cNvSpPr>
          <p:nvPr/>
        </p:nvSpPr>
        <p:spPr>
          <a:xfrm>
            <a:off x="321206" y="2565492"/>
            <a:ext cx="3252730" cy="28555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200" b="1" dirty="0">
                <a:solidFill>
                  <a:schemeClr val="bg1">
                    <a:lumMod val="50000"/>
                  </a:schemeClr>
                </a:solidFill>
              </a:rPr>
              <a:t>Negative affectivity </a:t>
            </a:r>
            <a:r>
              <a:rPr lang="en-US" sz="2200" dirty="0">
                <a:solidFill>
                  <a:schemeClr val="bg1">
                    <a:lumMod val="50000"/>
                  </a:schemeClr>
                </a:solidFill>
              </a:rPr>
              <a:t>– is a tendency to experience distressed emotional states involving anger, contempt, disgust, guilt, fear, and nervousness </a:t>
            </a:r>
          </a:p>
        </p:txBody>
      </p:sp>
    </p:spTree>
    <p:extLst>
      <p:ext uri="{BB962C8B-B14F-4D97-AF65-F5344CB8AC3E}">
        <p14:creationId xmlns:p14="http://schemas.microsoft.com/office/powerpoint/2010/main" val="1692181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529C-6289-0CAC-E868-6CBF001EF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564B3-2360-B834-DEFD-57A686B01322}"/>
              </a:ext>
            </a:extLst>
          </p:cNvPr>
          <p:cNvSpPr>
            <a:spLocks noGrp="1"/>
          </p:cNvSpPr>
          <p:nvPr>
            <p:ph type="title"/>
          </p:nvPr>
        </p:nvSpPr>
        <p:spPr/>
        <p:txBody>
          <a:bodyPr/>
          <a:lstStyle/>
          <a:p>
            <a:r>
              <a:rPr lang="en-US" dirty="0">
                <a:latin typeface="Constantia" panose="02030602050306030303" pitchFamily="18" charset="0"/>
              </a:rPr>
              <a:t>Asthma</a:t>
            </a:r>
          </a:p>
        </p:txBody>
      </p:sp>
      <p:sp>
        <p:nvSpPr>
          <p:cNvPr id="4" name="Slide Number Placeholder 3">
            <a:extLst>
              <a:ext uri="{FF2B5EF4-FFF2-40B4-BE49-F238E27FC236}">
                <a16:creationId xmlns:a16="http://schemas.microsoft.com/office/drawing/2014/main" id="{D81201C5-64FD-EC49-FF4B-BB7BD7482BCA}"/>
              </a:ext>
            </a:extLst>
          </p:cNvPr>
          <p:cNvSpPr>
            <a:spLocks noGrp="1"/>
          </p:cNvSpPr>
          <p:nvPr>
            <p:ph type="sldNum" sz="quarter" idx="12"/>
          </p:nvPr>
        </p:nvSpPr>
        <p:spPr/>
        <p:txBody>
          <a:bodyPr/>
          <a:lstStyle/>
          <a:p>
            <a:fld id="{51845F5A-061D-4825-9AE9-D7794091C6CF}" type="slidenum">
              <a:rPr lang="en-US" smtClean="0"/>
              <a:t>23</a:t>
            </a:fld>
            <a:endParaRPr lang="en-US"/>
          </a:p>
        </p:txBody>
      </p:sp>
      <p:pic>
        <p:nvPicPr>
          <p:cNvPr id="5" name="Picture 2" descr="The effect of asthma on airways is illustrated. A silhouette of a person is shown with the lungs and airways labeled. There is an arrow coming from an airway in the lung leading to a magnification of a normal airway. A cross-section of the normal airway shows the muscle and the airway wall, with plenty of room for air to get through. An airway during asthma symptoms is also shown, and the labeled symptoms are narrowed airway (limited air flow), tightened muscles constrict airway, inflamed/thickened airway wall, and mucus. A cross-section of the airway during asthma symptoms shows the thickened airway wall, mucus and muscle. There is much less room for air to get through.">
            <a:extLst>
              <a:ext uri="{FF2B5EF4-FFF2-40B4-BE49-F238E27FC236}">
                <a16:creationId xmlns:a16="http://schemas.microsoft.com/office/drawing/2014/main" id="{79BE17E5-4A64-083A-013E-244CB5854C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13856" y="1630142"/>
            <a:ext cx="7772401" cy="4862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8978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38109-63C8-6A06-662E-CB9DE9C96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626D-2358-FA8A-217E-5B958023411F}"/>
              </a:ext>
            </a:extLst>
          </p:cNvPr>
          <p:cNvSpPr>
            <a:spLocks noGrp="1"/>
          </p:cNvSpPr>
          <p:nvPr>
            <p:ph type="title"/>
          </p:nvPr>
        </p:nvSpPr>
        <p:spPr/>
        <p:txBody>
          <a:bodyPr/>
          <a:lstStyle/>
          <a:p>
            <a:r>
              <a:rPr lang="en-US" dirty="0">
                <a:latin typeface="Constantia" panose="02030602050306030303" pitchFamily="18" charset="0"/>
              </a:rPr>
              <a:t>Headaches</a:t>
            </a:r>
          </a:p>
        </p:txBody>
      </p:sp>
      <p:sp>
        <p:nvSpPr>
          <p:cNvPr id="4" name="Slide Number Placeholder 3">
            <a:extLst>
              <a:ext uri="{FF2B5EF4-FFF2-40B4-BE49-F238E27FC236}">
                <a16:creationId xmlns:a16="http://schemas.microsoft.com/office/drawing/2014/main" id="{1C20259C-DF0E-2C2F-9771-7C723C573D22}"/>
              </a:ext>
            </a:extLst>
          </p:cNvPr>
          <p:cNvSpPr>
            <a:spLocks noGrp="1"/>
          </p:cNvSpPr>
          <p:nvPr>
            <p:ph type="sldNum" sz="quarter" idx="12"/>
          </p:nvPr>
        </p:nvSpPr>
        <p:spPr/>
        <p:txBody>
          <a:bodyPr/>
          <a:lstStyle/>
          <a:p>
            <a:fld id="{51845F5A-061D-4825-9AE9-D7794091C6CF}" type="slidenum">
              <a:rPr lang="en-US" smtClean="0"/>
              <a:t>24</a:t>
            </a:fld>
            <a:endParaRPr lang="en-US"/>
          </a:p>
        </p:txBody>
      </p:sp>
      <p:pic>
        <p:nvPicPr>
          <p:cNvPr id="5" name="Content Placeholder 4" descr="Diagram illustrating four headache types: sinus, tension, migraine, and cluster. Each type is represented by a head with red shading indicating typical pain areas, such as forehead for sinus, across the forehead for tension, one side of the head for migraine, and around one eye for cluster headaches.&#10;&#10;AI-generated content may be incorrect.">
            <a:extLst>
              <a:ext uri="{FF2B5EF4-FFF2-40B4-BE49-F238E27FC236}">
                <a16:creationId xmlns:a16="http://schemas.microsoft.com/office/drawing/2014/main" id="{FFBD2377-928B-37B6-FFED-532F9CECF9D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32668" b="7025"/>
          <a:stretch/>
        </p:blipFill>
        <p:spPr bwMode="auto">
          <a:xfrm>
            <a:off x="650421" y="2111829"/>
            <a:ext cx="10435231" cy="3585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185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98D5C-2425-5C89-6ABE-888CE0402221}"/>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A24DE5C2-3F84-60A9-48E6-95F69C5EDC3A}"/>
              </a:ext>
            </a:extLst>
          </p:cNvPr>
          <p:cNvSpPr>
            <a:spLocks noGrp="1"/>
          </p:cNvSpPr>
          <p:nvPr>
            <p:ph type="body" idx="1"/>
          </p:nvPr>
        </p:nvSpPr>
        <p:spPr>
          <a:xfrm>
            <a:off x="831849" y="3156858"/>
            <a:ext cx="7506607" cy="2622722"/>
          </a:xfrm>
        </p:spPr>
        <p:txBody>
          <a:bodyPr>
            <a:normAutofit/>
          </a:bodyPr>
          <a:lstStyle/>
          <a:p>
            <a:r>
              <a:rPr lang="en-US" sz="4400" dirty="0"/>
              <a:t>The Regulation of STRESS</a:t>
            </a:r>
          </a:p>
        </p:txBody>
      </p:sp>
      <p:sp>
        <p:nvSpPr>
          <p:cNvPr id="4" name="Slide Number Placeholder 3">
            <a:extLst>
              <a:ext uri="{FF2B5EF4-FFF2-40B4-BE49-F238E27FC236}">
                <a16:creationId xmlns:a16="http://schemas.microsoft.com/office/drawing/2014/main" id="{EDA20D13-68E1-53A7-FC92-94FB6BA4B94C}"/>
              </a:ext>
            </a:extLst>
          </p:cNvPr>
          <p:cNvSpPr>
            <a:spLocks noGrp="1"/>
          </p:cNvSpPr>
          <p:nvPr>
            <p:ph type="sldNum" sz="quarter" idx="12"/>
          </p:nvPr>
        </p:nvSpPr>
        <p:spPr/>
        <p:txBody>
          <a:bodyPr/>
          <a:lstStyle/>
          <a:p>
            <a:fld id="{51845F5A-061D-4825-9AE9-D7794091C6CF}" type="slidenum">
              <a:rPr lang="en-US" smtClean="0"/>
              <a:t>25</a:t>
            </a:fld>
            <a:endParaRPr lang="en-US"/>
          </a:p>
        </p:txBody>
      </p:sp>
    </p:spTree>
    <p:extLst>
      <p:ext uri="{BB962C8B-B14F-4D97-AF65-F5344CB8AC3E}">
        <p14:creationId xmlns:p14="http://schemas.microsoft.com/office/powerpoint/2010/main" val="2569027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254AF-C83D-96F6-2D5B-72E6F85CF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52DE8-5F9A-2711-7199-3F89D86BBAC9}"/>
              </a:ext>
            </a:extLst>
          </p:cNvPr>
          <p:cNvSpPr>
            <a:spLocks noGrp="1"/>
          </p:cNvSpPr>
          <p:nvPr>
            <p:ph type="title"/>
          </p:nvPr>
        </p:nvSpPr>
        <p:spPr/>
        <p:txBody>
          <a:bodyPr/>
          <a:lstStyle/>
          <a:p>
            <a:r>
              <a:rPr lang="en-US" dirty="0">
                <a:latin typeface="Constantia" panose="02030602050306030303" pitchFamily="18" charset="0"/>
              </a:rPr>
              <a:t>Coping Styles</a:t>
            </a:r>
          </a:p>
        </p:txBody>
      </p:sp>
      <p:sp>
        <p:nvSpPr>
          <p:cNvPr id="3" name="Content Placeholder 2">
            <a:extLst>
              <a:ext uri="{FF2B5EF4-FFF2-40B4-BE49-F238E27FC236}">
                <a16:creationId xmlns:a16="http://schemas.microsoft.com/office/drawing/2014/main" id="{5BE5B67C-792B-5A65-850E-E3E2CBB10F91}"/>
              </a:ext>
            </a:extLst>
          </p:cNvPr>
          <p:cNvSpPr>
            <a:spLocks noGrp="1"/>
          </p:cNvSpPr>
          <p:nvPr>
            <p:ph idx="1"/>
          </p:nvPr>
        </p:nvSpPr>
        <p:spPr>
          <a:xfrm>
            <a:off x="337457" y="1469571"/>
            <a:ext cx="11114313" cy="5023304"/>
          </a:xfrm>
        </p:spPr>
        <p:txBody>
          <a:bodyPr>
            <a:normAutofit fontScale="92500" lnSpcReduction="20000"/>
          </a:bodyPr>
          <a:lstStyle/>
          <a:p>
            <a:r>
              <a:rPr lang="en-US" b="1" dirty="0"/>
              <a:t>Coping style</a:t>
            </a:r>
            <a:r>
              <a:rPr lang="en-US" dirty="0"/>
              <a:t> – the approach a person typically utilizes when processing stress</a:t>
            </a:r>
          </a:p>
          <a:p>
            <a:r>
              <a:rPr lang="en-US" dirty="0"/>
              <a:t>How do you respond to a stressor?</a:t>
            </a:r>
          </a:p>
          <a:p>
            <a:pPr lvl="1"/>
            <a:r>
              <a:rPr lang="en-US" b="1" dirty="0"/>
              <a:t>Avoidance-oriented coping </a:t>
            </a:r>
            <a:r>
              <a:rPr lang="en-US" dirty="0"/>
              <a:t>– a coping style where a person will push away stressor-related thoughts and feelings, deny the existence or seriousness of the stressor, or distract oneself</a:t>
            </a:r>
          </a:p>
          <a:p>
            <a:pPr lvl="1"/>
            <a:r>
              <a:rPr lang="en-US" b="1" dirty="0"/>
              <a:t>Approach-oriented coping </a:t>
            </a:r>
            <a:r>
              <a:rPr lang="en-US" dirty="0"/>
              <a:t>– a coping style where a person makes an effort to solve the problem, seek support, and actively reframe the stressor towards the positive</a:t>
            </a:r>
          </a:p>
          <a:p>
            <a:pPr lvl="2"/>
            <a:r>
              <a:rPr lang="en-US" dirty="0"/>
              <a:t>Leads to better health outcomes</a:t>
            </a:r>
          </a:p>
          <a:p>
            <a:r>
              <a:rPr lang="en-US" dirty="0"/>
              <a:t>How do you cope with the stressor?</a:t>
            </a:r>
          </a:p>
          <a:p>
            <a:pPr lvl="1"/>
            <a:r>
              <a:rPr lang="en-US" b="1" dirty="0"/>
              <a:t>Problem-focused coping </a:t>
            </a:r>
            <a:r>
              <a:rPr lang="en-US" dirty="0"/>
              <a:t>– attempting to do something constructive about the stressful conditions.</a:t>
            </a:r>
          </a:p>
          <a:p>
            <a:pPr lvl="1"/>
            <a:r>
              <a:rPr lang="en-US" b="1" dirty="0"/>
              <a:t>Emotion-focused coping </a:t>
            </a:r>
            <a:r>
              <a:rPr lang="en-US" dirty="0"/>
              <a:t>– regulating emotions experienced because of the stressful event.</a:t>
            </a:r>
          </a:p>
          <a:p>
            <a:endParaRPr lang="en-US" dirty="0"/>
          </a:p>
        </p:txBody>
      </p:sp>
      <p:sp>
        <p:nvSpPr>
          <p:cNvPr id="4" name="Slide Number Placeholder 3">
            <a:extLst>
              <a:ext uri="{FF2B5EF4-FFF2-40B4-BE49-F238E27FC236}">
                <a16:creationId xmlns:a16="http://schemas.microsoft.com/office/drawing/2014/main" id="{51461043-A53C-BD3D-C17F-B2C7259B6A3D}"/>
              </a:ext>
            </a:extLst>
          </p:cNvPr>
          <p:cNvSpPr>
            <a:spLocks noGrp="1"/>
          </p:cNvSpPr>
          <p:nvPr>
            <p:ph type="sldNum" sz="quarter" idx="12"/>
          </p:nvPr>
        </p:nvSpPr>
        <p:spPr/>
        <p:txBody>
          <a:bodyPr/>
          <a:lstStyle/>
          <a:p>
            <a:fld id="{51845F5A-061D-4825-9AE9-D7794091C6CF}" type="slidenum">
              <a:rPr lang="en-US" smtClean="0"/>
              <a:t>26</a:t>
            </a:fld>
            <a:endParaRPr lang="en-US"/>
          </a:p>
        </p:txBody>
      </p:sp>
    </p:spTree>
    <p:extLst>
      <p:ext uri="{BB962C8B-B14F-4D97-AF65-F5344CB8AC3E}">
        <p14:creationId xmlns:p14="http://schemas.microsoft.com/office/powerpoint/2010/main" val="2943231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39CCF-0740-7AE7-11FA-53CBCEF84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41165-9471-7FCB-3056-287185C51C8D}"/>
              </a:ext>
            </a:extLst>
          </p:cNvPr>
          <p:cNvSpPr>
            <a:spLocks noGrp="1"/>
          </p:cNvSpPr>
          <p:nvPr>
            <p:ph type="title"/>
          </p:nvPr>
        </p:nvSpPr>
        <p:spPr/>
        <p:txBody>
          <a:bodyPr/>
          <a:lstStyle/>
          <a:p>
            <a:r>
              <a:rPr lang="en-US" dirty="0">
                <a:latin typeface="Constantia" panose="02030602050306030303" pitchFamily="18" charset="0"/>
              </a:rPr>
              <a:t>Handling Stress</a:t>
            </a:r>
          </a:p>
        </p:txBody>
      </p:sp>
      <p:sp>
        <p:nvSpPr>
          <p:cNvPr id="4" name="Slide Number Placeholder 3">
            <a:extLst>
              <a:ext uri="{FF2B5EF4-FFF2-40B4-BE49-F238E27FC236}">
                <a16:creationId xmlns:a16="http://schemas.microsoft.com/office/drawing/2014/main" id="{358C96D2-4BE5-FD38-A23E-E013CFD17B6A}"/>
              </a:ext>
            </a:extLst>
          </p:cNvPr>
          <p:cNvSpPr>
            <a:spLocks noGrp="1"/>
          </p:cNvSpPr>
          <p:nvPr>
            <p:ph type="sldNum" sz="quarter" idx="12"/>
          </p:nvPr>
        </p:nvSpPr>
        <p:spPr/>
        <p:txBody>
          <a:bodyPr/>
          <a:lstStyle/>
          <a:p>
            <a:fld id="{51845F5A-061D-4825-9AE9-D7794091C6CF}" type="slidenum">
              <a:rPr lang="en-US" smtClean="0"/>
              <a:t>27</a:t>
            </a:fld>
            <a:endParaRPr lang="en-US"/>
          </a:p>
        </p:txBody>
      </p:sp>
      <p:graphicFrame>
        <p:nvGraphicFramePr>
          <p:cNvPr id="5" name="Content Placeholder 2">
            <a:extLst>
              <a:ext uri="{FF2B5EF4-FFF2-40B4-BE49-F238E27FC236}">
                <a16:creationId xmlns:a16="http://schemas.microsoft.com/office/drawing/2014/main" id="{D3DD58A3-7C70-7577-3E0A-17811829A964}"/>
              </a:ext>
            </a:extLst>
          </p:cNvPr>
          <p:cNvGraphicFramePr>
            <a:graphicFrameLocks noGrp="1"/>
          </p:cNvGraphicFramePr>
          <p:nvPr>
            <p:ph idx="1"/>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09119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8E152-606E-A8D7-F0F6-4AB0D2CBE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43ACA-3B21-D618-55BE-E838BA73D6B7}"/>
              </a:ext>
            </a:extLst>
          </p:cNvPr>
          <p:cNvSpPr>
            <a:spLocks noGrp="1"/>
          </p:cNvSpPr>
          <p:nvPr>
            <p:ph type="title"/>
          </p:nvPr>
        </p:nvSpPr>
        <p:spPr/>
        <p:txBody>
          <a:bodyPr/>
          <a:lstStyle/>
          <a:p>
            <a:r>
              <a:rPr lang="en-US" dirty="0">
                <a:latin typeface="Constantia" panose="02030602050306030303" pitchFamily="18" charset="0"/>
              </a:rPr>
              <a:t>Positive Psychology: The Science of Happiness</a:t>
            </a:r>
          </a:p>
        </p:txBody>
      </p:sp>
      <p:sp>
        <p:nvSpPr>
          <p:cNvPr id="4" name="Slide Number Placeholder 3">
            <a:extLst>
              <a:ext uri="{FF2B5EF4-FFF2-40B4-BE49-F238E27FC236}">
                <a16:creationId xmlns:a16="http://schemas.microsoft.com/office/drawing/2014/main" id="{56D00648-5CE8-FE17-E425-6F74C0F26B31}"/>
              </a:ext>
            </a:extLst>
          </p:cNvPr>
          <p:cNvSpPr>
            <a:spLocks noGrp="1"/>
          </p:cNvSpPr>
          <p:nvPr>
            <p:ph type="sldNum" sz="quarter" idx="12"/>
          </p:nvPr>
        </p:nvSpPr>
        <p:spPr/>
        <p:txBody>
          <a:bodyPr/>
          <a:lstStyle/>
          <a:p>
            <a:fld id="{51845F5A-061D-4825-9AE9-D7794091C6CF}" type="slidenum">
              <a:rPr lang="en-US" smtClean="0"/>
              <a:t>28</a:t>
            </a:fld>
            <a:endParaRPr lang="en-US"/>
          </a:p>
        </p:txBody>
      </p:sp>
      <p:pic>
        <p:nvPicPr>
          <p:cNvPr id="5" name="Picture 2" descr="A Venn diagram features three circles: one labeled “Good life: using skills for enrichment,” one labeled “Pleasant life: enjoying daily pleasures,” and another labeled: Meaningful life: contributing to the greater good.” All three circles overlap at a section labeled “Happiness.”">
            <a:extLst>
              <a:ext uri="{FF2B5EF4-FFF2-40B4-BE49-F238E27FC236}">
                <a16:creationId xmlns:a16="http://schemas.microsoft.com/office/drawing/2014/main" id="{6CC926EE-5A71-6BE2-AEDA-4E03D5649EB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75052" y="2042158"/>
            <a:ext cx="4199129" cy="3923211"/>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6" name="Picture 4" descr="A chart compares life satisfaction scores in the years before and after significant life events. Life satisfaction is steady in the five years before and after marriage. There is a gradual incline that peaks in the year of marriage and declines slightly in the years following. With respect to unemployment, life satisfaction five years before is roughly the same as it is with marriage at that time, but begins to decline sharply around 2 years before unemployment. One year after unemployment, life satisfaction has risen slightly, but then becomes steady at a much lower level than at five years before. With respect to the death of a spouse, life satisfaction five years before is about the same as marriage at that time, but steadily declines until the death, when it starts to gradually rise again. After five years, the person who has suffered the death of a spouse has roughly the same life satisfaction as the person who was unemployed.">
            <a:extLst>
              <a:ext uri="{FF2B5EF4-FFF2-40B4-BE49-F238E27FC236}">
                <a16:creationId xmlns:a16="http://schemas.microsoft.com/office/drawing/2014/main" id="{5A1FB618-CA32-FFBA-A70E-AEF07BF4D33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092901" y="2148263"/>
            <a:ext cx="6369755" cy="3471516"/>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293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71A65-3278-98EF-D9A3-58D118593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2EF9A-3165-5172-DCC1-4ADF5B3F23EF}"/>
              </a:ext>
            </a:extLst>
          </p:cNvPr>
          <p:cNvSpPr>
            <a:spLocks noGrp="1"/>
          </p:cNvSpPr>
          <p:nvPr>
            <p:ph type="title"/>
          </p:nvPr>
        </p:nvSpPr>
        <p:spPr/>
        <p:txBody>
          <a:bodyPr/>
          <a:lstStyle/>
          <a:p>
            <a:r>
              <a:rPr lang="en-US" dirty="0">
                <a:latin typeface="Constantia" panose="02030602050306030303" pitchFamily="18" charset="0"/>
              </a:rPr>
              <a:t>Class Activity</a:t>
            </a:r>
          </a:p>
        </p:txBody>
      </p:sp>
      <p:sp>
        <p:nvSpPr>
          <p:cNvPr id="3" name="Content Placeholder 2">
            <a:extLst>
              <a:ext uri="{FF2B5EF4-FFF2-40B4-BE49-F238E27FC236}">
                <a16:creationId xmlns:a16="http://schemas.microsoft.com/office/drawing/2014/main" id="{CDC63B3B-CCAF-0535-FE0B-07057D4D288C}"/>
              </a:ext>
            </a:extLst>
          </p:cNvPr>
          <p:cNvSpPr>
            <a:spLocks noGrp="1"/>
          </p:cNvSpPr>
          <p:nvPr>
            <p:ph idx="1"/>
          </p:nvPr>
        </p:nvSpPr>
        <p:spPr/>
        <p:txBody>
          <a:bodyPr/>
          <a:lstStyle/>
          <a:p>
            <a:r>
              <a:rPr lang="en-US" dirty="0"/>
              <a:t>For today’s class activity, we will practice relaxation techniques</a:t>
            </a:r>
          </a:p>
          <a:p>
            <a:r>
              <a:rPr lang="en-US" dirty="0"/>
              <a:t>I will guide you three examples: square breathing, progressive muscle relaxation, and guided imagery</a:t>
            </a:r>
          </a:p>
          <a:p>
            <a:r>
              <a:rPr lang="en-US" dirty="0"/>
              <a:t>After we go through the examples, on the provided sheet of paper, write your name and your favorite technique</a:t>
            </a:r>
          </a:p>
          <a:p>
            <a:r>
              <a:rPr lang="en-US" dirty="0"/>
              <a:t>Be sure to turn in your answer before leaving</a:t>
            </a:r>
          </a:p>
        </p:txBody>
      </p:sp>
      <p:sp>
        <p:nvSpPr>
          <p:cNvPr id="4" name="Slide Number Placeholder 3">
            <a:extLst>
              <a:ext uri="{FF2B5EF4-FFF2-40B4-BE49-F238E27FC236}">
                <a16:creationId xmlns:a16="http://schemas.microsoft.com/office/drawing/2014/main" id="{37837E42-9C09-C5F4-986C-723FF9FD4E52}"/>
              </a:ext>
            </a:extLst>
          </p:cNvPr>
          <p:cNvSpPr>
            <a:spLocks noGrp="1"/>
          </p:cNvSpPr>
          <p:nvPr>
            <p:ph type="sldNum" sz="quarter" idx="12"/>
          </p:nvPr>
        </p:nvSpPr>
        <p:spPr/>
        <p:txBody>
          <a:bodyPr/>
          <a:lstStyle/>
          <a:p>
            <a:fld id="{51845F5A-061D-4825-9AE9-D7794091C6CF}" type="slidenum">
              <a:rPr lang="en-US" smtClean="0"/>
              <a:t>29</a:t>
            </a:fld>
            <a:endParaRPr lang="en-US"/>
          </a:p>
        </p:txBody>
      </p:sp>
    </p:spTree>
    <p:extLst>
      <p:ext uri="{BB962C8B-B14F-4D97-AF65-F5344CB8AC3E}">
        <p14:creationId xmlns:p14="http://schemas.microsoft.com/office/powerpoint/2010/main" val="381148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EF60D8-5909-700B-C971-490F5961B276}"/>
              </a:ext>
            </a:extLst>
          </p:cNvPr>
          <p:cNvSpPr>
            <a:spLocks noGrp="1"/>
          </p:cNvSpPr>
          <p:nvPr>
            <p:ph type="title"/>
          </p:nvPr>
        </p:nvSpPr>
        <p:spPr/>
        <p:txBody>
          <a:bodyPr/>
          <a:lstStyle/>
          <a:p>
            <a:r>
              <a:rPr lang="en-US" dirty="0">
                <a:latin typeface="Constantia" panose="02030602050306030303" pitchFamily="18" charset="0"/>
              </a:rPr>
              <a:t>Next time on PSY 203…</a:t>
            </a:r>
          </a:p>
        </p:txBody>
      </p:sp>
      <p:sp>
        <p:nvSpPr>
          <p:cNvPr id="6" name="Text Placeholder 5">
            <a:extLst>
              <a:ext uri="{FF2B5EF4-FFF2-40B4-BE49-F238E27FC236}">
                <a16:creationId xmlns:a16="http://schemas.microsoft.com/office/drawing/2014/main" id="{702B8E05-273B-DC86-27E7-90258A740309}"/>
              </a:ext>
            </a:extLst>
          </p:cNvPr>
          <p:cNvSpPr>
            <a:spLocks noGrp="1"/>
          </p:cNvSpPr>
          <p:nvPr>
            <p:ph type="body" idx="1"/>
          </p:nvPr>
        </p:nvSpPr>
        <p:spPr/>
        <p:txBody>
          <a:bodyPr/>
          <a:lstStyle/>
          <a:p>
            <a:r>
              <a:rPr lang="en-US" dirty="0"/>
              <a:t>BEFORE NEXT CLASS:</a:t>
            </a:r>
          </a:p>
        </p:txBody>
      </p:sp>
      <p:sp>
        <p:nvSpPr>
          <p:cNvPr id="7" name="Content Placeholder 6">
            <a:extLst>
              <a:ext uri="{FF2B5EF4-FFF2-40B4-BE49-F238E27FC236}">
                <a16:creationId xmlns:a16="http://schemas.microsoft.com/office/drawing/2014/main" id="{CCE1FC58-900D-705F-5675-DBB0D6E46BA9}"/>
              </a:ext>
            </a:extLst>
          </p:cNvPr>
          <p:cNvSpPr>
            <a:spLocks noGrp="1"/>
          </p:cNvSpPr>
          <p:nvPr>
            <p:ph sz="half" idx="2"/>
          </p:nvPr>
        </p:nvSpPr>
        <p:spPr/>
        <p:txBody>
          <a:bodyPr/>
          <a:lstStyle/>
          <a:p>
            <a:r>
              <a:rPr lang="en-US" dirty="0"/>
              <a:t>Complete Exam 3 Reflection</a:t>
            </a:r>
          </a:p>
          <a:p>
            <a:pPr lvl="1"/>
            <a:r>
              <a:rPr lang="en-US" dirty="0"/>
              <a:t>Due tonight!</a:t>
            </a:r>
          </a:p>
          <a:p>
            <a:r>
              <a:rPr lang="en-US" dirty="0"/>
              <a:t>Read Chapter 15 &amp; take quiz</a:t>
            </a:r>
          </a:p>
        </p:txBody>
      </p:sp>
      <p:sp>
        <p:nvSpPr>
          <p:cNvPr id="8" name="Text Placeholder 7">
            <a:extLst>
              <a:ext uri="{FF2B5EF4-FFF2-40B4-BE49-F238E27FC236}">
                <a16:creationId xmlns:a16="http://schemas.microsoft.com/office/drawing/2014/main" id="{816777B8-FBCE-35BB-3108-AFFFE83D5F94}"/>
              </a:ext>
            </a:extLst>
          </p:cNvPr>
          <p:cNvSpPr>
            <a:spLocks noGrp="1"/>
          </p:cNvSpPr>
          <p:nvPr>
            <p:ph type="body" sz="quarter" idx="3"/>
          </p:nvPr>
        </p:nvSpPr>
        <p:spPr/>
        <p:txBody>
          <a:bodyPr/>
          <a:lstStyle/>
          <a:p>
            <a:r>
              <a:rPr lang="en-US" dirty="0"/>
              <a:t>NEXT CLASS:</a:t>
            </a:r>
          </a:p>
        </p:txBody>
      </p:sp>
      <p:sp>
        <p:nvSpPr>
          <p:cNvPr id="9" name="Content Placeholder 8">
            <a:extLst>
              <a:ext uri="{FF2B5EF4-FFF2-40B4-BE49-F238E27FC236}">
                <a16:creationId xmlns:a16="http://schemas.microsoft.com/office/drawing/2014/main" id="{204E9B5D-D43B-16D8-C996-08F047122481}"/>
              </a:ext>
            </a:extLst>
          </p:cNvPr>
          <p:cNvSpPr>
            <a:spLocks noGrp="1"/>
          </p:cNvSpPr>
          <p:nvPr>
            <p:ph sz="quarter" idx="4"/>
          </p:nvPr>
        </p:nvSpPr>
        <p:spPr/>
        <p:txBody>
          <a:bodyPr/>
          <a:lstStyle/>
          <a:p>
            <a:r>
              <a:rPr lang="en-US" dirty="0"/>
              <a:t>Chapter 15 – Psychological Disorders</a:t>
            </a:r>
          </a:p>
        </p:txBody>
      </p:sp>
      <p:sp>
        <p:nvSpPr>
          <p:cNvPr id="4" name="Slide Number Placeholder 3">
            <a:extLst>
              <a:ext uri="{FF2B5EF4-FFF2-40B4-BE49-F238E27FC236}">
                <a16:creationId xmlns:a16="http://schemas.microsoft.com/office/drawing/2014/main" id="{B2D64CDD-7DEC-B99B-8D9C-8BD6C327FA70}"/>
              </a:ext>
            </a:extLst>
          </p:cNvPr>
          <p:cNvSpPr>
            <a:spLocks noGrp="1"/>
          </p:cNvSpPr>
          <p:nvPr>
            <p:ph type="sldNum" sz="quarter" idx="12"/>
          </p:nvPr>
        </p:nvSpPr>
        <p:spPr/>
        <p:txBody>
          <a:bodyPr/>
          <a:lstStyle/>
          <a:p>
            <a:fld id="{51845F5A-061D-4825-9AE9-D7794091C6CF}" type="slidenum">
              <a:rPr lang="en-US" smtClean="0"/>
              <a:t>30</a:t>
            </a:fld>
            <a:endParaRPr lang="en-US"/>
          </a:p>
        </p:txBody>
      </p:sp>
    </p:spTree>
    <p:extLst>
      <p:ext uri="{BB962C8B-B14F-4D97-AF65-F5344CB8AC3E}">
        <p14:creationId xmlns:p14="http://schemas.microsoft.com/office/powerpoint/2010/main" val="4268346957"/>
      </p:ext>
    </p:extLst>
  </p:cSld>
  <p:clrMapOvr>
    <a:masterClrMapping/>
  </p:clrMapOvr>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207</TotalTime>
  <Words>3250</Words>
  <Application>Microsoft Office PowerPoint</Application>
  <PresentationFormat>Widescreen</PresentationFormat>
  <Paragraphs>155</Paragraphs>
  <Slides>30</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Century Gothic</vt:lpstr>
      <vt:lpstr>Constantia</vt:lpstr>
      <vt:lpstr>Elephant</vt:lpstr>
      <vt:lpstr>Kalinga</vt:lpstr>
      <vt:lpstr>BrushVTI</vt:lpstr>
      <vt:lpstr>Stress, Lifestyle, and Health</vt:lpstr>
      <vt:lpstr>Agenda</vt:lpstr>
      <vt:lpstr>PowerPoint Presentation</vt:lpstr>
      <vt:lpstr>What are some examples of each of these stressors?</vt:lpstr>
      <vt:lpstr>Appraising a  Threat</vt:lpstr>
      <vt:lpstr>Good and Bad Stress</vt:lpstr>
      <vt:lpstr>Fight or Flight Response</vt:lpstr>
      <vt:lpstr>Selye &amp; The General Adaption Syndrome</vt:lpstr>
      <vt:lpstr>How much stress is too much?</vt:lpstr>
      <vt:lpstr>PowerPoint Presentation</vt:lpstr>
      <vt:lpstr>The Physiology of Stress</vt:lpstr>
      <vt:lpstr>The Physiology of Stress</vt:lpstr>
      <vt:lpstr>The Physiology of Stress</vt:lpstr>
      <vt:lpstr>The Physiology of Stress</vt:lpstr>
      <vt:lpstr>The Physiology of Stress</vt:lpstr>
      <vt:lpstr>The Physiology of Stress</vt:lpstr>
      <vt:lpstr>The Physiology of Stress</vt:lpstr>
      <vt:lpstr>PowerPoint Presentation</vt:lpstr>
      <vt:lpstr>How Stress Impacts the Body</vt:lpstr>
      <vt:lpstr>Stress and The Immune System</vt:lpstr>
      <vt:lpstr>Stress and Common Colds</vt:lpstr>
      <vt:lpstr>The Transactional Model of  Hostility</vt:lpstr>
      <vt:lpstr>Asthma</vt:lpstr>
      <vt:lpstr>Headaches</vt:lpstr>
      <vt:lpstr>PowerPoint Presentation</vt:lpstr>
      <vt:lpstr>Coping Styles</vt:lpstr>
      <vt:lpstr>Handling Stress</vt:lpstr>
      <vt:lpstr>Positive Psychology: The Science of Happiness</vt:lpstr>
      <vt:lpstr>Class Activity</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10</cp:revision>
  <dcterms:created xsi:type="dcterms:W3CDTF">2025-11-11T11:11:12Z</dcterms:created>
  <dcterms:modified xsi:type="dcterms:W3CDTF">2026-04-07T15:24:13Z</dcterms:modified>
</cp:coreProperties>
</file>