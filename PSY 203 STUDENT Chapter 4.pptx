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90" r:id="rId3"/>
    <p:sldId id="341" r:id="rId4"/>
    <p:sldId id="327" r:id="rId5"/>
    <p:sldId id="340" r:id="rId6"/>
    <p:sldId id="329" r:id="rId7"/>
    <p:sldId id="331" r:id="rId8"/>
    <p:sldId id="332" r:id="rId9"/>
    <p:sldId id="333" r:id="rId10"/>
    <p:sldId id="266" r:id="rId11"/>
    <p:sldId id="334" r:id="rId12"/>
    <p:sldId id="337" r:id="rId13"/>
    <p:sldId id="335" r:id="rId14"/>
    <p:sldId id="336" r:id="rId15"/>
    <p:sldId id="275" r:id="rId16"/>
    <p:sldId id="28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93F70D-6D20-45AC-8377-07C620CC2916}" v="28" dt="2021-10-04T08:58:33.3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5350" autoAdjust="0"/>
  </p:normalViewPr>
  <p:slideViewPr>
    <p:cSldViewPr snapToGrid="0">
      <p:cViewPr varScale="1">
        <p:scale>
          <a:sx n="110" d="100"/>
          <a:sy n="110" d="100"/>
        </p:scale>
        <p:origin x="11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A58BE9-2A99-4D33-9C7E-B7F2BC92830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82E7D41-E14C-4F3E-99A8-E21481E92A32}">
      <dgm:prSet/>
      <dgm:spPr/>
      <dgm:t>
        <a:bodyPr/>
        <a:lstStyle/>
        <a:p>
          <a:r>
            <a:rPr lang="en-US" dirty="0"/>
            <a:t>Job/</a:t>
          </a:r>
        </a:p>
        <a:p>
          <a:r>
            <a:rPr lang="en-US" dirty="0"/>
            <a:t>School/</a:t>
          </a:r>
        </a:p>
        <a:p>
          <a:r>
            <a:rPr lang="en-US" dirty="0"/>
            <a:t>Responsibilities</a:t>
          </a:r>
        </a:p>
      </dgm:t>
    </dgm:pt>
    <dgm:pt modelId="{819693AE-9230-4E98-A867-6287A29E7C40}" type="parTrans" cxnId="{4617DCA2-1EC9-4435-BDD8-B2D44B568028}">
      <dgm:prSet/>
      <dgm:spPr/>
      <dgm:t>
        <a:bodyPr/>
        <a:lstStyle/>
        <a:p>
          <a:endParaRPr lang="en-US"/>
        </a:p>
      </dgm:t>
    </dgm:pt>
    <dgm:pt modelId="{460C4CFA-C5CB-4865-BAFF-B40B70EEF0A5}" type="sibTrans" cxnId="{4617DCA2-1EC9-4435-BDD8-B2D44B568028}">
      <dgm:prSet/>
      <dgm:spPr/>
      <dgm:t>
        <a:bodyPr/>
        <a:lstStyle/>
        <a:p>
          <a:endParaRPr lang="en-US"/>
        </a:p>
      </dgm:t>
    </dgm:pt>
    <dgm:pt modelId="{2AD8C457-618D-4236-9382-EF0AE70F2FC7}">
      <dgm:prSet/>
      <dgm:spPr/>
      <dgm:t>
        <a:bodyPr/>
        <a:lstStyle/>
        <a:p>
          <a:r>
            <a:rPr lang="en-US" dirty="0"/>
            <a:t>Health Conditions</a:t>
          </a:r>
        </a:p>
      </dgm:t>
    </dgm:pt>
    <dgm:pt modelId="{53F54CB6-CD8B-4AB2-B576-9B081F415083}" type="parTrans" cxnId="{C6714B6C-C2C7-4AF5-90CA-EC3F4B37B2F9}">
      <dgm:prSet/>
      <dgm:spPr/>
      <dgm:t>
        <a:bodyPr/>
        <a:lstStyle/>
        <a:p>
          <a:endParaRPr lang="en-US"/>
        </a:p>
      </dgm:t>
    </dgm:pt>
    <dgm:pt modelId="{05C14834-9535-42BE-8AA0-C3CBF1D060DA}" type="sibTrans" cxnId="{C6714B6C-C2C7-4AF5-90CA-EC3F4B37B2F9}">
      <dgm:prSet/>
      <dgm:spPr/>
      <dgm:t>
        <a:bodyPr/>
        <a:lstStyle/>
        <a:p>
          <a:endParaRPr lang="en-US"/>
        </a:p>
      </dgm:t>
    </dgm:pt>
    <dgm:pt modelId="{1BC60A27-2A04-4372-BC36-7E5F2DB314E7}">
      <dgm:prSet/>
      <dgm:spPr/>
      <dgm:t>
        <a:bodyPr/>
        <a:lstStyle/>
        <a:p>
          <a:r>
            <a:rPr lang="en-US" dirty="0"/>
            <a:t>Sleep Debt</a:t>
          </a:r>
        </a:p>
      </dgm:t>
    </dgm:pt>
    <dgm:pt modelId="{79F1BECA-7629-4E7B-B9CC-AEA45FAF9D6B}" type="parTrans" cxnId="{8465A5B5-EBB9-4DD2-A15A-EC5EC375E87B}">
      <dgm:prSet/>
      <dgm:spPr/>
      <dgm:t>
        <a:bodyPr/>
        <a:lstStyle/>
        <a:p>
          <a:endParaRPr lang="en-US"/>
        </a:p>
      </dgm:t>
    </dgm:pt>
    <dgm:pt modelId="{956E10DA-8672-4F31-963A-FF834A1F0661}" type="sibTrans" cxnId="{8465A5B5-EBB9-4DD2-A15A-EC5EC375E87B}">
      <dgm:prSet/>
      <dgm:spPr/>
      <dgm:t>
        <a:bodyPr/>
        <a:lstStyle/>
        <a:p>
          <a:endParaRPr lang="en-US"/>
        </a:p>
      </dgm:t>
    </dgm:pt>
    <dgm:pt modelId="{588F704D-97F1-4584-B05E-F361A9FB8C0C}" type="pres">
      <dgm:prSet presAssocID="{9BA58BE9-2A99-4D33-9C7E-B7F2BC92830C}" presName="root" presStyleCnt="0">
        <dgm:presLayoutVars>
          <dgm:dir/>
          <dgm:resizeHandles val="exact"/>
        </dgm:presLayoutVars>
      </dgm:prSet>
      <dgm:spPr/>
    </dgm:pt>
    <dgm:pt modelId="{A5246283-7DEB-4090-83A7-A986D3FC77AC}" type="pres">
      <dgm:prSet presAssocID="{C82E7D41-E14C-4F3E-99A8-E21481E92A32}" presName="compNode" presStyleCnt="0"/>
      <dgm:spPr/>
    </dgm:pt>
    <dgm:pt modelId="{D330D707-F42B-4099-9D7C-BC8606F08CB8}" type="pres">
      <dgm:prSet presAssocID="{C82E7D41-E14C-4F3E-99A8-E21481E92A32}" presName="iconRect" presStyleLbl="node1" presStyleIdx="0" presStyleCnt="3" custLinFactNeighborX="2798" custLinFactNeighborY="3152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33F7F2FB-7F7B-4241-BAFA-FBBC79FE9498}" type="pres">
      <dgm:prSet presAssocID="{C82E7D41-E14C-4F3E-99A8-E21481E92A32}" presName="spaceRect" presStyleCnt="0"/>
      <dgm:spPr/>
    </dgm:pt>
    <dgm:pt modelId="{BC4A7554-92AC-4069-88A0-53E9F4D3119B}" type="pres">
      <dgm:prSet presAssocID="{C82E7D41-E14C-4F3E-99A8-E21481E92A32}" presName="textRect" presStyleLbl="revTx" presStyleIdx="0" presStyleCnt="3" custScaleY="169183" custLinFactNeighborX="1259" custLinFactNeighborY="60320">
        <dgm:presLayoutVars>
          <dgm:chMax val="1"/>
          <dgm:chPref val="1"/>
        </dgm:presLayoutVars>
      </dgm:prSet>
      <dgm:spPr/>
    </dgm:pt>
    <dgm:pt modelId="{DEED217D-ED29-4A00-A799-0E595B2B4658}" type="pres">
      <dgm:prSet presAssocID="{460C4CFA-C5CB-4865-BAFF-B40B70EEF0A5}" presName="sibTrans" presStyleCnt="0"/>
      <dgm:spPr/>
    </dgm:pt>
    <dgm:pt modelId="{1CDB66CD-EBC1-4D96-A383-C2027E075224}" type="pres">
      <dgm:prSet presAssocID="{2AD8C457-618D-4236-9382-EF0AE70F2FC7}" presName="compNode" presStyleCnt="0"/>
      <dgm:spPr/>
    </dgm:pt>
    <dgm:pt modelId="{19CB9603-EB8B-40AD-AA38-4500B56E7164}" type="pres">
      <dgm:prSet presAssocID="{2AD8C457-618D-4236-9382-EF0AE70F2FC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A49B995-40C3-4DA2-804C-A11C3152975F}" type="pres">
      <dgm:prSet presAssocID="{2AD8C457-618D-4236-9382-EF0AE70F2FC7}" presName="spaceRect" presStyleCnt="0"/>
      <dgm:spPr/>
    </dgm:pt>
    <dgm:pt modelId="{99E65FB5-F7DE-4E5B-8383-14D1A7A3D064}" type="pres">
      <dgm:prSet presAssocID="{2AD8C457-618D-4236-9382-EF0AE70F2FC7}" presName="textRect" presStyleLbl="revTx" presStyleIdx="1" presStyleCnt="3">
        <dgm:presLayoutVars>
          <dgm:chMax val="1"/>
          <dgm:chPref val="1"/>
        </dgm:presLayoutVars>
      </dgm:prSet>
      <dgm:spPr/>
    </dgm:pt>
    <dgm:pt modelId="{569545D8-1A39-4CA4-BB4B-4B5F3BA9C38E}" type="pres">
      <dgm:prSet presAssocID="{05C14834-9535-42BE-8AA0-C3CBF1D060DA}" presName="sibTrans" presStyleCnt="0"/>
      <dgm:spPr/>
    </dgm:pt>
    <dgm:pt modelId="{520807DE-6AA4-43D0-ACDD-0A7B45CF48A9}" type="pres">
      <dgm:prSet presAssocID="{1BC60A27-2A04-4372-BC36-7E5F2DB314E7}" presName="compNode" presStyleCnt="0"/>
      <dgm:spPr/>
    </dgm:pt>
    <dgm:pt modelId="{E932ECF3-A904-4516-845C-C2DA7804F2CF}" type="pres">
      <dgm:prSet presAssocID="{1BC60A27-2A04-4372-BC36-7E5F2DB314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9131C3C-566D-44E7-BDEB-10937EFBDB90}" type="pres">
      <dgm:prSet presAssocID="{1BC60A27-2A04-4372-BC36-7E5F2DB314E7}" presName="spaceRect" presStyleCnt="0"/>
      <dgm:spPr/>
    </dgm:pt>
    <dgm:pt modelId="{7A900FBB-6D44-443D-8AF3-650EEA27D95C}" type="pres">
      <dgm:prSet presAssocID="{1BC60A27-2A04-4372-BC36-7E5F2DB314E7}" presName="textRect" presStyleLbl="revTx" presStyleIdx="2" presStyleCnt="3">
        <dgm:presLayoutVars>
          <dgm:chMax val="1"/>
          <dgm:chPref val="1"/>
        </dgm:presLayoutVars>
      </dgm:prSet>
      <dgm:spPr/>
    </dgm:pt>
  </dgm:ptLst>
  <dgm:cxnLst>
    <dgm:cxn modelId="{C6714B6C-C2C7-4AF5-90CA-EC3F4B37B2F9}" srcId="{9BA58BE9-2A99-4D33-9C7E-B7F2BC92830C}" destId="{2AD8C457-618D-4236-9382-EF0AE70F2FC7}" srcOrd="1" destOrd="0" parTransId="{53F54CB6-CD8B-4AB2-B576-9B081F415083}" sibTransId="{05C14834-9535-42BE-8AA0-C3CBF1D060DA}"/>
    <dgm:cxn modelId="{B2D85A6C-21F2-45BD-94E5-25A775A236F4}" type="presOf" srcId="{2AD8C457-618D-4236-9382-EF0AE70F2FC7}" destId="{99E65FB5-F7DE-4E5B-8383-14D1A7A3D064}" srcOrd="0" destOrd="0" presId="urn:microsoft.com/office/officeart/2018/2/layout/IconLabelList"/>
    <dgm:cxn modelId="{0C7B9A58-D2D6-4E48-BEC5-6AFDFFD8B2EB}" type="presOf" srcId="{1BC60A27-2A04-4372-BC36-7E5F2DB314E7}" destId="{7A900FBB-6D44-443D-8AF3-650EEA27D95C}" srcOrd="0" destOrd="0" presId="urn:microsoft.com/office/officeart/2018/2/layout/IconLabelList"/>
    <dgm:cxn modelId="{4617DCA2-1EC9-4435-BDD8-B2D44B568028}" srcId="{9BA58BE9-2A99-4D33-9C7E-B7F2BC92830C}" destId="{C82E7D41-E14C-4F3E-99A8-E21481E92A32}" srcOrd="0" destOrd="0" parTransId="{819693AE-9230-4E98-A867-6287A29E7C40}" sibTransId="{460C4CFA-C5CB-4865-BAFF-B40B70EEF0A5}"/>
    <dgm:cxn modelId="{656D3EAC-5B29-4144-928D-DD0B10995C7C}" type="presOf" srcId="{C82E7D41-E14C-4F3E-99A8-E21481E92A32}" destId="{BC4A7554-92AC-4069-88A0-53E9F4D3119B}" srcOrd="0" destOrd="0" presId="urn:microsoft.com/office/officeart/2018/2/layout/IconLabelList"/>
    <dgm:cxn modelId="{8465A5B5-EBB9-4DD2-A15A-EC5EC375E87B}" srcId="{9BA58BE9-2A99-4D33-9C7E-B7F2BC92830C}" destId="{1BC60A27-2A04-4372-BC36-7E5F2DB314E7}" srcOrd="2" destOrd="0" parTransId="{79F1BECA-7629-4E7B-B9CC-AEA45FAF9D6B}" sibTransId="{956E10DA-8672-4F31-963A-FF834A1F0661}"/>
    <dgm:cxn modelId="{709216EF-1527-41D4-A575-3DC404803326}" type="presOf" srcId="{9BA58BE9-2A99-4D33-9C7E-B7F2BC92830C}" destId="{588F704D-97F1-4584-B05E-F361A9FB8C0C}" srcOrd="0" destOrd="0" presId="urn:microsoft.com/office/officeart/2018/2/layout/IconLabelList"/>
    <dgm:cxn modelId="{001F6AB6-7A75-447D-9669-9E14DE72D422}" type="presParOf" srcId="{588F704D-97F1-4584-B05E-F361A9FB8C0C}" destId="{A5246283-7DEB-4090-83A7-A986D3FC77AC}" srcOrd="0" destOrd="0" presId="urn:microsoft.com/office/officeart/2018/2/layout/IconLabelList"/>
    <dgm:cxn modelId="{F6D05BE9-E4F9-42E2-9741-A8A0F449104B}" type="presParOf" srcId="{A5246283-7DEB-4090-83A7-A986D3FC77AC}" destId="{D330D707-F42B-4099-9D7C-BC8606F08CB8}" srcOrd="0" destOrd="0" presId="urn:microsoft.com/office/officeart/2018/2/layout/IconLabelList"/>
    <dgm:cxn modelId="{9EC5CBF8-8083-442A-AC9C-FDCAE9BEF475}" type="presParOf" srcId="{A5246283-7DEB-4090-83A7-A986D3FC77AC}" destId="{33F7F2FB-7F7B-4241-BAFA-FBBC79FE9498}" srcOrd="1" destOrd="0" presId="urn:microsoft.com/office/officeart/2018/2/layout/IconLabelList"/>
    <dgm:cxn modelId="{001FA41B-1ED9-456E-A870-513BFAFC1C60}" type="presParOf" srcId="{A5246283-7DEB-4090-83A7-A986D3FC77AC}" destId="{BC4A7554-92AC-4069-88A0-53E9F4D3119B}" srcOrd="2" destOrd="0" presId="urn:microsoft.com/office/officeart/2018/2/layout/IconLabelList"/>
    <dgm:cxn modelId="{4364B36D-FDC2-49A6-84FE-38FE73027954}" type="presParOf" srcId="{588F704D-97F1-4584-B05E-F361A9FB8C0C}" destId="{DEED217D-ED29-4A00-A799-0E595B2B4658}" srcOrd="1" destOrd="0" presId="urn:microsoft.com/office/officeart/2018/2/layout/IconLabelList"/>
    <dgm:cxn modelId="{4FCF6F73-BC33-4D20-9A96-2FD524138311}" type="presParOf" srcId="{588F704D-97F1-4584-B05E-F361A9FB8C0C}" destId="{1CDB66CD-EBC1-4D96-A383-C2027E075224}" srcOrd="2" destOrd="0" presId="urn:microsoft.com/office/officeart/2018/2/layout/IconLabelList"/>
    <dgm:cxn modelId="{5BA6C7BD-4DE7-4E0C-80BB-5C87B59CF128}" type="presParOf" srcId="{1CDB66CD-EBC1-4D96-A383-C2027E075224}" destId="{19CB9603-EB8B-40AD-AA38-4500B56E7164}" srcOrd="0" destOrd="0" presId="urn:microsoft.com/office/officeart/2018/2/layout/IconLabelList"/>
    <dgm:cxn modelId="{7DC4A067-63E5-46AA-B852-DF9BFDAFB928}" type="presParOf" srcId="{1CDB66CD-EBC1-4D96-A383-C2027E075224}" destId="{9A49B995-40C3-4DA2-804C-A11C3152975F}" srcOrd="1" destOrd="0" presId="urn:microsoft.com/office/officeart/2018/2/layout/IconLabelList"/>
    <dgm:cxn modelId="{E6BC9854-C92D-45F9-B343-19D11042D052}" type="presParOf" srcId="{1CDB66CD-EBC1-4D96-A383-C2027E075224}" destId="{99E65FB5-F7DE-4E5B-8383-14D1A7A3D064}" srcOrd="2" destOrd="0" presId="urn:microsoft.com/office/officeart/2018/2/layout/IconLabelList"/>
    <dgm:cxn modelId="{D0253CC4-55F6-41A2-992B-47F974C72505}" type="presParOf" srcId="{588F704D-97F1-4584-B05E-F361A9FB8C0C}" destId="{569545D8-1A39-4CA4-BB4B-4B5F3BA9C38E}" srcOrd="3" destOrd="0" presId="urn:microsoft.com/office/officeart/2018/2/layout/IconLabelList"/>
    <dgm:cxn modelId="{644295C2-9AF2-432C-BFBC-066B4E755780}" type="presParOf" srcId="{588F704D-97F1-4584-B05E-F361A9FB8C0C}" destId="{520807DE-6AA4-43D0-ACDD-0A7B45CF48A9}" srcOrd="4" destOrd="0" presId="urn:microsoft.com/office/officeart/2018/2/layout/IconLabelList"/>
    <dgm:cxn modelId="{A3198BB3-BEA9-41F7-8CE8-25457471B4E3}" type="presParOf" srcId="{520807DE-6AA4-43D0-ACDD-0A7B45CF48A9}" destId="{E932ECF3-A904-4516-845C-C2DA7804F2CF}" srcOrd="0" destOrd="0" presId="urn:microsoft.com/office/officeart/2018/2/layout/IconLabelList"/>
    <dgm:cxn modelId="{F28CD06A-85B8-4EB1-9CA2-C29284454878}" type="presParOf" srcId="{520807DE-6AA4-43D0-ACDD-0A7B45CF48A9}" destId="{39131C3C-566D-44E7-BDEB-10937EFBDB90}" srcOrd="1" destOrd="0" presId="urn:microsoft.com/office/officeart/2018/2/layout/IconLabelList"/>
    <dgm:cxn modelId="{E4D6DA73-C6FB-44D6-96B6-445766ABAD7C}" type="presParOf" srcId="{520807DE-6AA4-43D0-ACDD-0A7B45CF48A9}" destId="{7A900FBB-6D44-443D-8AF3-650EEA27D95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DEE5A0-5E9C-457A-8ADE-7E1355CAF9A6}"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9DFB24CE-5A03-4A27-BD7D-CD66738773A2}">
      <dgm:prSet/>
      <dgm:spPr/>
      <dgm:t>
        <a:bodyPr/>
        <a:lstStyle/>
        <a:p>
          <a:r>
            <a:rPr lang="en-US" dirty="0"/>
            <a:t>Sigmund Freud: manifest content vs latent content</a:t>
          </a:r>
        </a:p>
      </dgm:t>
    </dgm:pt>
    <dgm:pt modelId="{CC8BACEB-AB98-4D5A-BD82-24FFBC3F1343}" type="parTrans" cxnId="{BEE62883-94B2-4772-A66B-19F962202AB7}">
      <dgm:prSet/>
      <dgm:spPr/>
      <dgm:t>
        <a:bodyPr/>
        <a:lstStyle/>
        <a:p>
          <a:endParaRPr lang="en-US"/>
        </a:p>
      </dgm:t>
    </dgm:pt>
    <dgm:pt modelId="{8038A59D-E66A-40C0-8BB0-1161D4DA9620}" type="sibTrans" cxnId="{BEE62883-94B2-4772-A66B-19F962202AB7}">
      <dgm:prSet/>
      <dgm:spPr/>
      <dgm:t>
        <a:bodyPr/>
        <a:lstStyle/>
        <a:p>
          <a:endParaRPr lang="en-US"/>
        </a:p>
      </dgm:t>
    </dgm:pt>
    <dgm:pt modelId="{5ADA4E29-6470-475F-8102-F0A6DA87E9BE}">
      <dgm:prSet/>
      <dgm:spPr/>
      <dgm:t>
        <a:bodyPr/>
        <a:lstStyle/>
        <a:p>
          <a:r>
            <a:rPr lang="en-US"/>
            <a:t>Carl Jung: the collective unconscious</a:t>
          </a:r>
        </a:p>
      </dgm:t>
    </dgm:pt>
    <dgm:pt modelId="{717347DC-80B4-45F8-BEF5-2781590011FA}" type="parTrans" cxnId="{A4E59924-B56C-45AA-B025-5166D2BEF547}">
      <dgm:prSet/>
      <dgm:spPr/>
      <dgm:t>
        <a:bodyPr/>
        <a:lstStyle/>
        <a:p>
          <a:endParaRPr lang="en-US"/>
        </a:p>
      </dgm:t>
    </dgm:pt>
    <dgm:pt modelId="{06225E64-4D73-4D12-8C87-F0A73043CA16}" type="sibTrans" cxnId="{A4E59924-B56C-45AA-B025-5166D2BEF547}">
      <dgm:prSet/>
      <dgm:spPr/>
      <dgm:t>
        <a:bodyPr/>
        <a:lstStyle/>
        <a:p>
          <a:endParaRPr lang="en-US"/>
        </a:p>
      </dgm:t>
    </dgm:pt>
    <dgm:pt modelId="{7AFA820A-81AC-487E-AFC8-44C9A8839127}">
      <dgm:prSet/>
      <dgm:spPr/>
      <dgm:t>
        <a:bodyPr/>
        <a:lstStyle/>
        <a:p>
          <a:r>
            <a:rPr lang="en-US" dirty="0"/>
            <a:t>Rosalind Cartwright: reflection of important life events</a:t>
          </a:r>
        </a:p>
      </dgm:t>
    </dgm:pt>
    <dgm:pt modelId="{EE4CEC6D-B255-4803-8CD1-ADDE3E503B61}" type="parTrans" cxnId="{4C39B5D2-9D94-4F9A-B2BD-827F36775EC1}">
      <dgm:prSet/>
      <dgm:spPr/>
      <dgm:t>
        <a:bodyPr/>
        <a:lstStyle/>
        <a:p>
          <a:endParaRPr lang="en-US"/>
        </a:p>
      </dgm:t>
    </dgm:pt>
    <dgm:pt modelId="{FCC50939-A86F-4566-A35F-061DA624637E}" type="sibTrans" cxnId="{4C39B5D2-9D94-4F9A-B2BD-827F36775EC1}">
      <dgm:prSet/>
      <dgm:spPr/>
      <dgm:t>
        <a:bodyPr/>
        <a:lstStyle/>
        <a:p>
          <a:endParaRPr lang="en-US"/>
        </a:p>
      </dgm:t>
    </dgm:pt>
    <dgm:pt modelId="{C059F26B-F5E1-46A0-BC2D-9943C1209BDB}">
      <dgm:prSet/>
      <dgm:spPr/>
      <dgm:t>
        <a:bodyPr/>
        <a:lstStyle/>
        <a:p>
          <a:r>
            <a:rPr lang="en-US" dirty="0"/>
            <a:t>Alan Hobson: </a:t>
          </a:r>
          <a:r>
            <a:rPr lang="en-US" b="0" i="1" dirty="0"/>
            <a:t>activation-synthesis theory </a:t>
          </a:r>
          <a:r>
            <a:rPr lang="en-US" dirty="0"/>
            <a:t>of dreaming and lucid dreams</a:t>
          </a:r>
        </a:p>
      </dgm:t>
    </dgm:pt>
    <dgm:pt modelId="{A2AF8A86-AB4F-4FB2-A4EB-536140A15085}" type="parTrans" cxnId="{3C047051-921E-4882-A47D-A08E272FC18B}">
      <dgm:prSet/>
      <dgm:spPr/>
      <dgm:t>
        <a:bodyPr/>
        <a:lstStyle/>
        <a:p>
          <a:endParaRPr lang="en-US"/>
        </a:p>
      </dgm:t>
    </dgm:pt>
    <dgm:pt modelId="{23369662-1BD0-4727-8A7F-4EFBEB98A4E6}" type="sibTrans" cxnId="{3C047051-921E-4882-A47D-A08E272FC18B}">
      <dgm:prSet/>
      <dgm:spPr/>
      <dgm:t>
        <a:bodyPr/>
        <a:lstStyle/>
        <a:p>
          <a:endParaRPr lang="en-US"/>
        </a:p>
      </dgm:t>
    </dgm:pt>
    <dgm:pt modelId="{8DD1929A-3404-4CEA-A2DB-0DA00C6C94B5}" type="pres">
      <dgm:prSet presAssocID="{FADEE5A0-5E9C-457A-8ADE-7E1355CAF9A6}" presName="vert0" presStyleCnt="0">
        <dgm:presLayoutVars>
          <dgm:dir/>
          <dgm:animOne val="branch"/>
          <dgm:animLvl val="lvl"/>
        </dgm:presLayoutVars>
      </dgm:prSet>
      <dgm:spPr/>
    </dgm:pt>
    <dgm:pt modelId="{89C49EC7-6C9E-4928-94E3-C4DC4B6DED48}" type="pres">
      <dgm:prSet presAssocID="{9DFB24CE-5A03-4A27-BD7D-CD66738773A2}" presName="thickLine" presStyleLbl="alignNode1" presStyleIdx="0" presStyleCnt="4"/>
      <dgm:spPr/>
    </dgm:pt>
    <dgm:pt modelId="{4BA51D6C-5AC6-40D3-A7D7-DDEE93AF43B1}" type="pres">
      <dgm:prSet presAssocID="{9DFB24CE-5A03-4A27-BD7D-CD66738773A2}" presName="horz1" presStyleCnt="0"/>
      <dgm:spPr/>
    </dgm:pt>
    <dgm:pt modelId="{2FF324C5-39C5-4C0A-876D-BDFB556CB241}" type="pres">
      <dgm:prSet presAssocID="{9DFB24CE-5A03-4A27-BD7D-CD66738773A2}" presName="tx1" presStyleLbl="revTx" presStyleIdx="0" presStyleCnt="4"/>
      <dgm:spPr/>
    </dgm:pt>
    <dgm:pt modelId="{98F6D65C-F386-4F25-BD84-7F13CA7A6B0E}" type="pres">
      <dgm:prSet presAssocID="{9DFB24CE-5A03-4A27-BD7D-CD66738773A2}" presName="vert1" presStyleCnt="0"/>
      <dgm:spPr/>
    </dgm:pt>
    <dgm:pt modelId="{E47E2C95-09D0-406D-9685-1312DFF0EFCC}" type="pres">
      <dgm:prSet presAssocID="{5ADA4E29-6470-475F-8102-F0A6DA87E9BE}" presName="thickLine" presStyleLbl="alignNode1" presStyleIdx="1" presStyleCnt="4"/>
      <dgm:spPr/>
    </dgm:pt>
    <dgm:pt modelId="{380B9673-3426-4C13-BDC5-3BAF7CA9A401}" type="pres">
      <dgm:prSet presAssocID="{5ADA4E29-6470-475F-8102-F0A6DA87E9BE}" presName="horz1" presStyleCnt="0"/>
      <dgm:spPr/>
    </dgm:pt>
    <dgm:pt modelId="{76898544-B0B4-49C6-9789-EB31C448382F}" type="pres">
      <dgm:prSet presAssocID="{5ADA4E29-6470-475F-8102-F0A6DA87E9BE}" presName="tx1" presStyleLbl="revTx" presStyleIdx="1" presStyleCnt="4"/>
      <dgm:spPr/>
    </dgm:pt>
    <dgm:pt modelId="{36A42582-D044-4704-BEC0-7CE246A73AD3}" type="pres">
      <dgm:prSet presAssocID="{5ADA4E29-6470-475F-8102-F0A6DA87E9BE}" presName="vert1" presStyleCnt="0"/>
      <dgm:spPr/>
    </dgm:pt>
    <dgm:pt modelId="{DCBF3461-36A7-4601-B1F2-FE2F42C4871E}" type="pres">
      <dgm:prSet presAssocID="{7AFA820A-81AC-487E-AFC8-44C9A8839127}" presName="thickLine" presStyleLbl="alignNode1" presStyleIdx="2" presStyleCnt="4"/>
      <dgm:spPr/>
    </dgm:pt>
    <dgm:pt modelId="{AD7F6EF0-A74A-45F1-9AA6-B2F90009E75A}" type="pres">
      <dgm:prSet presAssocID="{7AFA820A-81AC-487E-AFC8-44C9A8839127}" presName="horz1" presStyleCnt="0"/>
      <dgm:spPr/>
    </dgm:pt>
    <dgm:pt modelId="{09379594-6C0D-42F4-ABF7-23210A8D442F}" type="pres">
      <dgm:prSet presAssocID="{7AFA820A-81AC-487E-AFC8-44C9A8839127}" presName="tx1" presStyleLbl="revTx" presStyleIdx="2" presStyleCnt="4"/>
      <dgm:spPr/>
    </dgm:pt>
    <dgm:pt modelId="{3EE8488C-742B-41DC-BD59-62484B3E6F84}" type="pres">
      <dgm:prSet presAssocID="{7AFA820A-81AC-487E-AFC8-44C9A8839127}" presName="vert1" presStyleCnt="0"/>
      <dgm:spPr/>
    </dgm:pt>
    <dgm:pt modelId="{7C309BDC-7AF9-4726-8F5C-2AF5E3C6E142}" type="pres">
      <dgm:prSet presAssocID="{C059F26B-F5E1-46A0-BC2D-9943C1209BDB}" presName="thickLine" presStyleLbl="alignNode1" presStyleIdx="3" presStyleCnt="4"/>
      <dgm:spPr/>
    </dgm:pt>
    <dgm:pt modelId="{1F5B75BD-33D0-4DFB-A40A-471D218F9012}" type="pres">
      <dgm:prSet presAssocID="{C059F26B-F5E1-46A0-BC2D-9943C1209BDB}" presName="horz1" presStyleCnt="0"/>
      <dgm:spPr/>
    </dgm:pt>
    <dgm:pt modelId="{F6C65D13-D80D-43BA-A012-271E60E03886}" type="pres">
      <dgm:prSet presAssocID="{C059F26B-F5E1-46A0-BC2D-9943C1209BDB}" presName="tx1" presStyleLbl="revTx" presStyleIdx="3" presStyleCnt="4"/>
      <dgm:spPr/>
    </dgm:pt>
    <dgm:pt modelId="{64095BEE-64C0-45DA-88C6-0ADED82E2E8A}" type="pres">
      <dgm:prSet presAssocID="{C059F26B-F5E1-46A0-BC2D-9943C1209BDB}" presName="vert1" presStyleCnt="0"/>
      <dgm:spPr/>
    </dgm:pt>
  </dgm:ptLst>
  <dgm:cxnLst>
    <dgm:cxn modelId="{A4E59924-B56C-45AA-B025-5166D2BEF547}" srcId="{FADEE5A0-5E9C-457A-8ADE-7E1355CAF9A6}" destId="{5ADA4E29-6470-475F-8102-F0A6DA87E9BE}" srcOrd="1" destOrd="0" parTransId="{717347DC-80B4-45F8-BEF5-2781590011FA}" sibTransId="{06225E64-4D73-4D12-8C87-F0A73043CA16}"/>
    <dgm:cxn modelId="{3C047051-921E-4882-A47D-A08E272FC18B}" srcId="{FADEE5A0-5E9C-457A-8ADE-7E1355CAF9A6}" destId="{C059F26B-F5E1-46A0-BC2D-9943C1209BDB}" srcOrd="3" destOrd="0" parTransId="{A2AF8A86-AB4F-4FB2-A4EB-536140A15085}" sibTransId="{23369662-1BD0-4727-8A7F-4EFBEB98A4E6}"/>
    <dgm:cxn modelId="{138D8175-6BA2-44E9-A472-98BC8BF479E3}" type="presOf" srcId="{9DFB24CE-5A03-4A27-BD7D-CD66738773A2}" destId="{2FF324C5-39C5-4C0A-876D-BDFB556CB241}" srcOrd="0" destOrd="0" presId="urn:microsoft.com/office/officeart/2008/layout/LinedList"/>
    <dgm:cxn modelId="{9E7ECB75-C218-4EE0-9EBB-CB77CB439F43}" type="presOf" srcId="{7AFA820A-81AC-487E-AFC8-44C9A8839127}" destId="{09379594-6C0D-42F4-ABF7-23210A8D442F}" srcOrd="0" destOrd="0" presId="urn:microsoft.com/office/officeart/2008/layout/LinedList"/>
    <dgm:cxn modelId="{BEE62883-94B2-4772-A66B-19F962202AB7}" srcId="{FADEE5A0-5E9C-457A-8ADE-7E1355CAF9A6}" destId="{9DFB24CE-5A03-4A27-BD7D-CD66738773A2}" srcOrd="0" destOrd="0" parTransId="{CC8BACEB-AB98-4D5A-BD82-24FFBC3F1343}" sibTransId="{8038A59D-E66A-40C0-8BB0-1161D4DA9620}"/>
    <dgm:cxn modelId="{9FFB26B4-0325-4A67-BB0B-9A23B0854B3E}" type="presOf" srcId="{FADEE5A0-5E9C-457A-8ADE-7E1355CAF9A6}" destId="{8DD1929A-3404-4CEA-A2DB-0DA00C6C94B5}" srcOrd="0" destOrd="0" presId="urn:microsoft.com/office/officeart/2008/layout/LinedList"/>
    <dgm:cxn modelId="{9323EBCC-BC06-4678-A40D-5DBBDFF2D578}" type="presOf" srcId="{C059F26B-F5E1-46A0-BC2D-9943C1209BDB}" destId="{F6C65D13-D80D-43BA-A012-271E60E03886}" srcOrd="0" destOrd="0" presId="urn:microsoft.com/office/officeart/2008/layout/LinedList"/>
    <dgm:cxn modelId="{4C39B5D2-9D94-4F9A-B2BD-827F36775EC1}" srcId="{FADEE5A0-5E9C-457A-8ADE-7E1355CAF9A6}" destId="{7AFA820A-81AC-487E-AFC8-44C9A8839127}" srcOrd="2" destOrd="0" parTransId="{EE4CEC6D-B255-4803-8CD1-ADDE3E503B61}" sibTransId="{FCC50939-A86F-4566-A35F-061DA624637E}"/>
    <dgm:cxn modelId="{F41115EB-D5BB-4696-BC03-6DFF884EAEDA}" type="presOf" srcId="{5ADA4E29-6470-475F-8102-F0A6DA87E9BE}" destId="{76898544-B0B4-49C6-9789-EB31C448382F}" srcOrd="0" destOrd="0" presId="urn:microsoft.com/office/officeart/2008/layout/LinedList"/>
    <dgm:cxn modelId="{48532D19-C707-404D-88D9-7C2686B716C1}" type="presParOf" srcId="{8DD1929A-3404-4CEA-A2DB-0DA00C6C94B5}" destId="{89C49EC7-6C9E-4928-94E3-C4DC4B6DED48}" srcOrd="0" destOrd="0" presId="urn:microsoft.com/office/officeart/2008/layout/LinedList"/>
    <dgm:cxn modelId="{1AF45ADA-190C-4756-986B-5917644048C0}" type="presParOf" srcId="{8DD1929A-3404-4CEA-A2DB-0DA00C6C94B5}" destId="{4BA51D6C-5AC6-40D3-A7D7-DDEE93AF43B1}" srcOrd="1" destOrd="0" presId="urn:microsoft.com/office/officeart/2008/layout/LinedList"/>
    <dgm:cxn modelId="{D0153F5D-7B5A-4D31-AB7B-1A2FFD84FE07}" type="presParOf" srcId="{4BA51D6C-5AC6-40D3-A7D7-DDEE93AF43B1}" destId="{2FF324C5-39C5-4C0A-876D-BDFB556CB241}" srcOrd="0" destOrd="0" presId="urn:microsoft.com/office/officeart/2008/layout/LinedList"/>
    <dgm:cxn modelId="{693EFEA8-B659-471D-B0E3-8F98F276CAD8}" type="presParOf" srcId="{4BA51D6C-5AC6-40D3-A7D7-DDEE93AF43B1}" destId="{98F6D65C-F386-4F25-BD84-7F13CA7A6B0E}" srcOrd="1" destOrd="0" presId="urn:microsoft.com/office/officeart/2008/layout/LinedList"/>
    <dgm:cxn modelId="{DBF30A78-2F1A-477C-80E6-E88A158E29EF}" type="presParOf" srcId="{8DD1929A-3404-4CEA-A2DB-0DA00C6C94B5}" destId="{E47E2C95-09D0-406D-9685-1312DFF0EFCC}" srcOrd="2" destOrd="0" presId="urn:microsoft.com/office/officeart/2008/layout/LinedList"/>
    <dgm:cxn modelId="{58C74347-82A7-4FE6-8663-A6884461927E}" type="presParOf" srcId="{8DD1929A-3404-4CEA-A2DB-0DA00C6C94B5}" destId="{380B9673-3426-4C13-BDC5-3BAF7CA9A401}" srcOrd="3" destOrd="0" presId="urn:microsoft.com/office/officeart/2008/layout/LinedList"/>
    <dgm:cxn modelId="{F1698EB3-1976-41C2-8EC4-E97B8E1E38A0}" type="presParOf" srcId="{380B9673-3426-4C13-BDC5-3BAF7CA9A401}" destId="{76898544-B0B4-49C6-9789-EB31C448382F}" srcOrd="0" destOrd="0" presId="urn:microsoft.com/office/officeart/2008/layout/LinedList"/>
    <dgm:cxn modelId="{A5779F6A-4BDA-4184-95F0-2DCA4C89F265}" type="presParOf" srcId="{380B9673-3426-4C13-BDC5-3BAF7CA9A401}" destId="{36A42582-D044-4704-BEC0-7CE246A73AD3}" srcOrd="1" destOrd="0" presId="urn:microsoft.com/office/officeart/2008/layout/LinedList"/>
    <dgm:cxn modelId="{E2C751FB-7E94-4877-8A80-43D3AF8F5BE6}" type="presParOf" srcId="{8DD1929A-3404-4CEA-A2DB-0DA00C6C94B5}" destId="{DCBF3461-36A7-4601-B1F2-FE2F42C4871E}" srcOrd="4" destOrd="0" presId="urn:microsoft.com/office/officeart/2008/layout/LinedList"/>
    <dgm:cxn modelId="{8A901BEA-DDE4-4ADF-87EE-3A87EDF8FB49}" type="presParOf" srcId="{8DD1929A-3404-4CEA-A2DB-0DA00C6C94B5}" destId="{AD7F6EF0-A74A-45F1-9AA6-B2F90009E75A}" srcOrd="5" destOrd="0" presId="urn:microsoft.com/office/officeart/2008/layout/LinedList"/>
    <dgm:cxn modelId="{B3655BD8-7A9F-45E5-BE1A-EB03D6FC2C8B}" type="presParOf" srcId="{AD7F6EF0-A74A-45F1-9AA6-B2F90009E75A}" destId="{09379594-6C0D-42F4-ABF7-23210A8D442F}" srcOrd="0" destOrd="0" presId="urn:microsoft.com/office/officeart/2008/layout/LinedList"/>
    <dgm:cxn modelId="{04EAE0CC-C3D4-4811-ACE6-8A7DD78D5730}" type="presParOf" srcId="{AD7F6EF0-A74A-45F1-9AA6-B2F90009E75A}" destId="{3EE8488C-742B-41DC-BD59-62484B3E6F84}" srcOrd="1" destOrd="0" presId="urn:microsoft.com/office/officeart/2008/layout/LinedList"/>
    <dgm:cxn modelId="{3C0D3DB2-EA43-45FD-A4F0-5343521CB3F3}" type="presParOf" srcId="{8DD1929A-3404-4CEA-A2DB-0DA00C6C94B5}" destId="{7C309BDC-7AF9-4726-8F5C-2AF5E3C6E142}" srcOrd="6" destOrd="0" presId="urn:microsoft.com/office/officeart/2008/layout/LinedList"/>
    <dgm:cxn modelId="{AA844D9A-0C09-4AD9-B949-D901568C890F}" type="presParOf" srcId="{8DD1929A-3404-4CEA-A2DB-0DA00C6C94B5}" destId="{1F5B75BD-33D0-4DFB-A40A-471D218F9012}" srcOrd="7" destOrd="0" presId="urn:microsoft.com/office/officeart/2008/layout/LinedList"/>
    <dgm:cxn modelId="{91D371C6-6E9E-4E43-BA1F-B5EDA8CF5646}" type="presParOf" srcId="{1F5B75BD-33D0-4DFB-A40A-471D218F9012}" destId="{F6C65D13-D80D-43BA-A012-271E60E03886}" srcOrd="0" destOrd="0" presId="urn:microsoft.com/office/officeart/2008/layout/LinedList"/>
    <dgm:cxn modelId="{3165C22C-5A19-49EE-A410-7E92E0B97587}" type="presParOf" srcId="{1F5B75BD-33D0-4DFB-A40A-471D218F9012}" destId="{64095BEE-64C0-45DA-88C6-0ADED82E2E8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4911B8-B51F-4A8C-A2CA-F38EDFA348D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BE01CAA-EC7C-4FB9-92F4-176CA383BCDD}">
      <dgm:prSet custT="1"/>
      <dgm:spPr/>
      <dgm:t>
        <a:bodyPr/>
        <a:lstStyle/>
        <a:p>
          <a:r>
            <a:rPr lang="en-US" sz="1600" u="sng" dirty="0"/>
            <a:t>Hypnosis</a:t>
          </a:r>
          <a:r>
            <a:rPr lang="en-US" sz="1600" dirty="0"/>
            <a:t>: a state of extreme self-focus and attention in which minimal attention is given to external stimuli</a:t>
          </a:r>
        </a:p>
      </dgm:t>
    </dgm:pt>
    <dgm:pt modelId="{1EE98073-6281-42A6-82F0-3A0B59D50286}" type="parTrans" cxnId="{B3A7BCED-4407-46B0-9937-383B06A3F4C9}">
      <dgm:prSet/>
      <dgm:spPr/>
      <dgm:t>
        <a:bodyPr/>
        <a:lstStyle/>
        <a:p>
          <a:endParaRPr lang="en-US"/>
        </a:p>
      </dgm:t>
    </dgm:pt>
    <dgm:pt modelId="{A0D5373D-F83E-4CA5-B948-76FB5ED5F359}" type="sibTrans" cxnId="{B3A7BCED-4407-46B0-9937-383B06A3F4C9}">
      <dgm:prSet/>
      <dgm:spPr/>
      <dgm:t>
        <a:bodyPr/>
        <a:lstStyle/>
        <a:p>
          <a:endParaRPr lang="en-US"/>
        </a:p>
      </dgm:t>
    </dgm:pt>
    <dgm:pt modelId="{8773122A-017D-4BF5-AA5C-2BE237E9E0E4}">
      <dgm:prSet custT="1"/>
      <dgm:spPr/>
      <dgm:t>
        <a:bodyPr/>
        <a:lstStyle/>
        <a:p>
          <a:r>
            <a:rPr lang="en-US" sz="1600" u="sng" dirty="0"/>
            <a:t>Meditation</a:t>
          </a:r>
          <a:r>
            <a:rPr lang="en-US" sz="1600" dirty="0"/>
            <a:t>: the act of focusing on a single target to increase awareness of the moment</a:t>
          </a:r>
        </a:p>
      </dgm:t>
    </dgm:pt>
    <dgm:pt modelId="{19DF7DB2-E50E-42FD-A021-9766CC265E25}" type="parTrans" cxnId="{E402F090-D6B2-4626-9F88-75F5021A73F0}">
      <dgm:prSet/>
      <dgm:spPr/>
      <dgm:t>
        <a:bodyPr/>
        <a:lstStyle/>
        <a:p>
          <a:endParaRPr lang="en-US"/>
        </a:p>
      </dgm:t>
    </dgm:pt>
    <dgm:pt modelId="{5DEB7A5D-34BE-4BE5-A1BB-AFA0BA35F85B}" type="sibTrans" cxnId="{E402F090-D6B2-4626-9F88-75F5021A73F0}">
      <dgm:prSet/>
      <dgm:spPr/>
      <dgm:t>
        <a:bodyPr/>
        <a:lstStyle/>
        <a:p>
          <a:endParaRPr lang="en-US"/>
        </a:p>
      </dgm:t>
    </dgm:pt>
    <dgm:pt modelId="{82999EEA-88B4-40BC-9B60-A9F27C280687}">
      <dgm:prSet/>
      <dgm:spPr/>
      <dgm:t>
        <a:bodyPr/>
        <a:lstStyle/>
        <a:p>
          <a:r>
            <a:rPr lang="en-US"/>
            <a:t>Fun fact: there have been studies that show some people can undergo surgeries while in a hypnotized state, and they report no more pain than someone who received medication for the surgery. We don’t know why this was possible, just that it does work for some people.</a:t>
          </a:r>
        </a:p>
      </dgm:t>
    </dgm:pt>
    <dgm:pt modelId="{E6BA5E22-35B2-4474-9990-B9861BD520E7}" type="parTrans" cxnId="{C9E7C14D-62EC-4111-92D7-CFFD4B077B9B}">
      <dgm:prSet/>
      <dgm:spPr/>
      <dgm:t>
        <a:bodyPr/>
        <a:lstStyle/>
        <a:p>
          <a:endParaRPr lang="en-US"/>
        </a:p>
      </dgm:t>
    </dgm:pt>
    <dgm:pt modelId="{769FF1AE-4968-40B2-BBA3-2318E6A19F8E}" type="sibTrans" cxnId="{C9E7C14D-62EC-4111-92D7-CFFD4B077B9B}">
      <dgm:prSet/>
      <dgm:spPr/>
      <dgm:t>
        <a:bodyPr/>
        <a:lstStyle/>
        <a:p>
          <a:endParaRPr lang="en-US"/>
        </a:p>
      </dgm:t>
    </dgm:pt>
    <dgm:pt modelId="{8BB57448-98AA-4B13-B6D2-50E5613C9149}" type="pres">
      <dgm:prSet presAssocID="{0A4911B8-B51F-4A8C-A2CA-F38EDFA348D6}" presName="root" presStyleCnt="0">
        <dgm:presLayoutVars>
          <dgm:dir/>
          <dgm:resizeHandles val="exact"/>
        </dgm:presLayoutVars>
      </dgm:prSet>
      <dgm:spPr/>
    </dgm:pt>
    <dgm:pt modelId="{C328B790-B1FD-45A2-8B46-E2B58CBE2F54}" type="pres">
      <dgm:prSet presAssocID="{9BE01CAA-EC7C-4FB9-92F4-176CA383BCDD}" presName="compNode" presStyleCnt="0"/>
      <dgm:spPr/>
    </dgm:pt>
    <dgm:pt modelId="{63728933-18DE-49D1-87C3-C121B4895E81}" type="pres">
      <dgm:prSet presAssocID="{9BE01CAA-EC7C-4FB9-92F4-176CA383BCDD}" presName="bgRect" presStyleLbl="bgShp" presStyleIdx="0" presStyleCnt="3"/>
      <dgm:spPr/>
    </dgm:pt>
    <dgm:pt modelId="{5A671002-7694-43B8-BFAC-93085E67D4A3}" type="pres">
      <dgm:prSet presAssocID="{9BE01CAA-EC7C-4FB9-92F4-176CA383BCD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345F995-1E92-4697-8B5F-78E7726B8F68}" type="pres">
      <dgm:prSet presAssocID="{9BE01CAA-EC7C-4FB9-92F4-176CA383BCDD}" presName="spaceRect" presStyleCnt="0"/>
      <dgm:spPr/>
    </dgm:pt>
    <dgm:pt modelId="{CEBD56CC-CDEB-4730-8AF6-9047F96D112C}" type="pres">
      <dgm:prSet presAssocID="{9BE01CAA-EC7C-4FB9-92F4-176CA383BCDD}" presName="parTx" presStyleLbl="revTx" presStyleIdx="0" presStyleCnt="3">
        <dgm:presLayoutVars>
          <dgm:chMax val="0"/>
          <dgm:chPref val="0"/>
        </dgm:presLayoutVars>
      </dgm:prSet>
      <dgm:spPr/>
    </dgm:pt>
    <dgm:pt modelId="{88A352FD-0015-4D68-94CC-0B358C06F040}" type="pres">
      <dgm:prSet presAssocID="{A0D5373D-F83E-4CA5-B948-76FB5ED5F359}" presName="sibTrans" presStyleCnt="0"/>
      <dgm:spPr/>
    </dgm:pt>
    <dgm:pt modelId="{78E2CE22-755B-42EF-9372-8BA955900B19}" type="pres">
      <dgm:prSet presAssocID="{8773122A-017D-4BF5-AA5C-2BE237E9E0E4}" presName="compNode" presStyleCnt="0"/>
      <dgm:spPr/>
    </dgm:pt>
    <dgm:pt modelId="{9E45B43A-E139-4118-A9F2-1589B50449C8}" type="pres">
      <dgm:prSet presAssocID="{8773122A-017D-4BF5-AA5C-2BE237E9E0E4}" presName="bgRect" presStyleLbl="bgShp" presStyleIdx="1" presStyleCnt="3"/>
      <dgm:spPr/>
    </dgm:pt>
    <dgm:pt modelId="{756D2B9F-7102-45B6-A216-71E6E1FF72D3}" type="pres">
      <dgm:prSet presAssocID="{8773122A-017D-4BF5-AA5C-2BE237E9E0E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CF4DF9AB-F07A-4908-9E82-B0563E669FDB}" type="pres">
      <dgm:prSet presAssocID="{8773122A-017D-4BF5-AA5C-2BE237E9E0E4}" presName="spaceRect" presStyleCnt="0"/>
      <dgm:spPr/>
    </dgm:pt>
    <dgm:pt modelId="{C3F7D9AC-A021-409B-8203-D70AE8511A52}" type="pres">
      <dgm:prSet presAssocID="{8773122A-017D-4BF5-AA5C-2BE237E9E0E4}" presName="parTx" presStyleLbl="revTx" presStyleIdx="1" presStyleCnt="3">
        <dgm:presLayoutVars>
          <dgm:chMax val="0"/>
          <dgm:chPref val="0"/>
        </dgm:presLayoutVars>
      </dgm:prSet>
      <dgm:spPr/>
    </dgm:pt>
    <dgm:pt modelId="{BC441887-6F4D-43BB-96BE-FFA36CDD2E14}" type="pres">
      <dgm:prSet presAssocID="{5DEB7A5D-34BE-4BE5-A1BB-AFA0BA35F85B}" presName="sibTrans" presStyleCnt="0"/>
      <dgm:spPr/>
    </dgm:pt>
    <dgm:pt modelId="{0708D9F3-F2C2-4E89-8820-7425CCBB5D51}" type="pres">
      <dgm:prSet presAssocID="{82999EEA-88B4-40BC-9B60-A9F27C280687}" presName="compNode" presStyleCnt="0"/>
      <dgm:spPr/>
    </dgm:pt>
    <dgm:pt modelId="{012493E3-5710-4DBD-AED8-25C84B711311}" type="pres">
      <dgm:prSet presAssocID="{82999EEA-88B4-40BC-9B60-A9F27C280687}" presName="bgRect" presStyleLbl="bgShp" presStyleIdx="2" presStyleCnt="3"/>
      <dgm:spPr/>
    </dgm:pt>
    <dgm:pt modelId="{E6001EC1-8C9B-4D93-8E41-3D22E4183C21}" type="pres">
      <dgm:prSet presAssocID="{82999EEA-88B4-40BC-9B60-A9F27C28068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C21A549-5688-4BA0-AF3C-631E514BD1B0}" type="pres">
      <dgm:prSet presAssocID="{82999EEA-88B4-40BC-9B60-A9F27C280687}" presName="spaceRect" presStyleCnt="0"/>
      <dgm:spPr/>
    </dgm:pt>
    <dgm:pt modelId="{368CD746-A82D-4857-B145-19CC9F1AE990}" type="pres">
      <dgm:prSet presAssocID="{82999EEA-88B4-40BC-9B60-A9F27C280687}" presName="parTx" presStyleLbl="revTx" presStyleIdx="2" presStyleCnt="3">
        <dgm:presLayoutVars>
          <dgm:chMax val="0"/>
          <dgm:chPref val="0"/>
        </dgm:presLayoutVars>
      </dgm:prSet>
      <dgm:spPr/>
    </dgm:pt>
  </dgm:ptLst>
  <dgm:cxnLst>
    <dgm:cxn modelId="{C9E7C14D-62EC-4111-92D7-CFFD4B077B9B}" srcId="{0A4911B8-B51F-4A8C-A2CA-F38EDFA348D6}" destId="{82999EEA-88B4-40BC-9B60-A9F27C280687}" srcOrd="2" destOrd="0" parTransId="{E6BA5E22-35B2-4474-9990-B9861BD520E7}" sibTransId="{769FF1AE-4968-40B2-BBA3-2318E6A19F8E}"/>
    <dgm:cxn modelId="{056D046E-5989-4D20-8164-72B3CA988A5C}" type="presOf" srcId="{9BE01CAA-EC7C-4FB9-92F4-176CA383BCDD}" destId="{CEBD56CC-CDEB-4730-8AF6-9047F96D112C}" srcOrd="0" destOrd="0" presId="urn:microsoft.com/office/officeart/2018/2/layout/IconVerticalSolidList"/>
    <dgm:cxn modelId="{FE72E17A-3AC8-40AC-92ED-A19C0DCA0E90}" type="presOf" srcId="{82999EEA-88B4-40BC-9B60-A9F27C280687}" destId="{368CD746-A82D-4857-B145-19CC9F1AE990}" srcOrd="0" destOrd="0" presId="urn:microsoft.com/office/officeart/2018/2/layout/IconVerticalSolidList"/>
    <dgm:cxn modelId="{E402F090-D6B2-4626-9F88-75F5021A73F0}" srcId="{0A4911B8-B51F-4A8C-A2CA-F38EDFA348D6}" destId="{8773122A-017D-4BF5-AA5C-2BE237E9E0E4}" srcOrd="1" destOrd="0" parTransId="{19DF7DB2-E50E-42FD-A021-9766CC265E25}" sibTransId="{5DEB7A5D-34BE-4BE5-A1BB-AFA0BA35F85B}"/>
    <dgm:cxn modelId="{2445FBA6-AB1E-4DFA-A984-3EC5AFBD32B6}" type="presOf" srcId="{0A4911B8-B51F-4A8C-A2CA-F38EDFA348D6}" destId="{8BB57448-98AA-4B13-B6D2-50E5613C9149}" srcOrd="0" destOrd="0" presId="urn:microsoft.com/office/officeart/2018/2/layout/IconVerticalSolidList"/>
    <dgm:cxn modelId="{6DFE86DA-E4EB-41C5-AE8A-205B87152271}" type="presOf" srcId="{8773122A-017D-4BF5-AA5C-2BE237E9E0E4}" destId="{C3F7D9AC-A021-409B-8203-D70AE8511A52}" srcOrd="0" destOrd="0" presId="urn:microsoft.com/office/officeart/2018/2/layout/IconVerticalSolidList"/>
    <dgm:cxn modelId="{B3A7BCED-4407-46B0-9937-383B06A3F4C9}" srcId="{0A4911B8-B51F-4A8C-A2CA-F38EDFA348D6}" destId="{9BE01CAA-EC7C-4FB9-92F4-176CA383BCDD}" srcOrd="0" destOrd="0" parTransId="{1EE98073-6281-42A6-82F0-3A0B59D50286}" sibTransId="{A0D5373D-F83E-4CA5-B948-76FB5ED5F359}"/>
    <dgm:cxn modelId="{7B43313E-4BAE-499F-94F8-11C1181E3B16}" type="presParOf" srcId="{8BB57448-98AA-4B13-B6D2-50E5613C9149}" destId="{C328B790-B1FD-45A2-8B46-E2B58CBE2F54}" srcOrd="0" destOrd="0" presId="urn:microsoft.com/office/officeart/2018/2/layout/IconVerticalSolidList"/>
    <dgm:cxn modelId="{8D9B9D79-4CD0-48C8-9337-31EE98562AE4}" type="presParOf" srcId="{C328B790-B1FD-45A2-8B46-E2B58CBE2F54}" destId="{63728933-18DE-49D1-87C3-C121B4895E81}" srcOrd="0" destOrd="0" presId="urn:microsoft.com/office/officeart/2018/2/layout/IconVerticalSolidList"/>
    <dgm:cxn modelId="{A367B438-2628-4AC5-91F2-4487EC5D9B37}" type="presParOf" srcId="{C328B790-B1FD-45A2-8B46-E2B58CBE2F54}" destId="{5A671002-7694-43B8-BFAC-93085E67D4A3}" srcOrd="1" destOrd="0" presId="urn:microsoft.com/office/officeart/2018/2/layout/IconVerticalSolidList"/>
    <dgm:cxn modelId="{EE8A82E3-9738-4ACD-BE79-8979576955A3}" type="presParOf" srcId="{C328B790-B1FD-45A2-8B46-E2B58CBE2F54}" destId="{1345F995-1E92-4697-8B5F-78E7726B8F68}" srcOrd="2" destOrd="0" presId="urn:microsoft.com/office/officeart/2018/2/layout/IconVerticalSolidList"/>
    <dgm:cxn modelId="{5A242C79-7984-470B-A211-ECCDF2852629}" type="presParOf" srcId="{C328B790-B1FD-45A2-8B46-E2B58CBE2F54}" destId="{CEBD56CC-CDEB-4730-8AF6-9047F96D112C}" srcOrd="3" destOrd="0" presId="urn:microsoft.com/office/officeart/2018/2/layout/IconVerticalSolidList"/>
    <dgm:cxn modelId="{96BBBBA1-124E-458B-BB7B-2F89230C27FC}" type="presParOf" srcId="{8BB57448-98AA-4B13-B6D2-50E5613C9149}" destId="{88A352FD-0015-4D68-94CC-0B358C06F040}" srcOrd="1" destOrd="0" presId="urn:microsoft.com/office/officeart/2018/2/layout/IconVerticalSolidList"/>
    <dgm:cxn modelId="{E4DFC782-0D17-4A1D-AE15-9243A4CC538F}" type="presParOf" srcId="{8BB57448-98AA-4B13-B6D2-50E5613C9149}" destId="{78E2CE22-755B-42EF-9372-8BA955900B19}" srcOrd="2" destOrd="0" presId="urn:microsoft.com/office/officeart/2018/2/layout/IconVerticalSolidList"/>
    <dgm:cxn modelId="{C715FC77-CA04-407D-AC8B-18C11D832FAE}" type="presParOf" srcId="{78E2CE22-755B-42EF-9372-8BA955900B19}" destId="{9E45B43A-E139-4118-A9F2-1589B50449C8}" srcOrd="0" destOrd="0" presId="urn:microsoft.com/office/officeart/2018/2/layout/IconVerticalSolidList"/>
    <dgm:cxn modelId="{88CDAE65-ACA5-483D-93C8-F9061A6548F7}" type="presParOf" srcId="{78E2CE22-755B-42EF-9372-8BA955900B19}" destId="{756D2B9F-7102-45B6-A216-71E6E1FF72D3}" srcOrd="1" destOrd="0" presId="urn:microsoft.com/office/officeart/2018/2/layout/IconVerticalSolidList"/>
    <dgm:cxn modelId="{04C9F838-77B4-4FAC-9B54-98C2FADA1EAB}" type="presParOf" srcId="{78E2CE22-755B-42EF-9372-8BA955900B19}" destId="{CF4DF9AB-F07A-4908-9E82-B0563E669FDB}" srcOrd="2" destOrd="0" presId="urn:microsoft.com/office/officeart/2018/2/layout/IconVerticalSolidList"/>
    <dgm:cxn modelId="{09B8E10F-8466-40DE-B123-3E202F5F3461}" type="presParOf" srcId="{78E2CE22-755B-42EF-9372-8BA955900B19}" destId="{C3F7D9AC-A021-409B-8203-D70AE8511A52}" srcOrd="3" destOrd="0" presId="urn:microsoft.com/office/officeart/2018/2/layout/IconVerticalSolidList"/>
    <dgm:cxn modelId="{D5D427FE-40AA-4978-9524-B22B24F2192A}" type="presParOf" srcId="{8BB57448-98AA-4B13-B6D2-50E5613C9149}" destId="{BC441887-6F4D-43BB-96BE-FFA36CDD2E14}" srcOrd="3" destOrd="0" presId="urn:microsoft.com/office/officeart/2018/2/layout/IconVerticalSolidList"/>
    <dgm:cxn modelId="{6E300A8B-5EFC-42AC-992A-84518B5B5873}" type="presParOf" srcId="{8BB57448-98AA-4B13-B6D2-50E5613C9149}" destId="{0708D9F3-F2C2-4E89-8820-7425CCBB5D51}" srcOrd="4" destOrd="0" presId="urn:microsoft.com/office/officeart/2018/2/layout/IconVerticalSolidList"/>
    <dgm:cxn modelId="{01BC085C-796B-498D-9323-B5138F6C1FA9}" type="presParOf" srcId="{0708D9F3-F2C2-4E89-8820-7425CCBB5D51}" destId="{012493E3-5710-4DBD-AED8-25C84B711311}" srcOrd="0" destOrd="0" presId="urn:microsoft.com/office/officeart/2018/2/layout/IconVerticalSolidList"/>
    <dgm:cxn modelId="{C5AD7EF0-60BA-424D-8A8B-E124A37D8A55}" type="presParOf" srcId="{0708D9F3-F2C2-4E89-8820-7425CCBB5D51}" destId="{E6001EC1-8C9B-4D93-8E41-3D22E4183C21}" srcOrd="1" destOrd="0" presId="urn:microsoft.com/office/officeart/2018/2/layout/IconVerticalSolidList"/>
    <dgm:cxn modelId="{C6AB8896-887E-4FA3-B749-F775FD1DCE27}" type="presParOf" srcId="{0708D9F3-F2C2-4E89-8820-7425CCBB5D51}" destId="{9C21A549-5688-4BA0-AF3C-631E514BD1B0}" srcOrd="2" destOrd="0" presId="urn:microsoft.com/office/officeart/2018/2/layout/IconVerticalSolidList"/>
    <dgm:cxn modelId="{5614B18F-4E04-4B9C-AE35-A709BAC8907D}" type="presParOf" srcId="{0708D9F3-F2C2-4E89-8820-7425CCBB5D51}" destId="{368CD746-A82D-4857-B145-19CC9F1AE99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0D707-F42B-4099-9D7C-BC8606F08CB8}">
      <dsp:nvSpPr>
        <dsp:cNvPr id="0" name=""/>
        <dsp:cNvSpPr/>
      </dsp:nvSpPr>
      <dsp:spPr>
        <a:xfrm>
          <a:off x="983789" y="1251145"/>
          <a:ext cx="1104356" cy="11043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4A7554-92AC-4069-88A0-53E9F4D3119B}">
      <dsp:nvSpPr>
        <dsp:cNvPr id="0" name=""/>
        <dsp:cNvSpPr/>
      </dsp:nvSpPr>
      <dsp:spPr>
        <a:xfrm>
          <a:off x="308903" y="2514635"/>
          <a:ext cx="2454124" cy="1218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Job/</a:t>
          </a:r>
        </a:p>
        <a:p>
          <a:pPr marL="0" lvl="0" indent="0" algn="ctr" defTabSz="889000">
            <a:lnSpc>
              <a:spcPct val="90000"/>
            </a:lnSpc>
            <a:spcBef>
              <a:spcPct val="0"/>
            </a:spcBef>
            <a:spcAft>
              <a:spcPct val="35000"/>
            </a:spcAft>
            <a:buNone/>
          </a:pPr>
          <a:r>
            <a:rPr lang="en-US" sz="2000" kern="1200" dirty="0"/>
            <a:t>School/</a:t>
          </a:r>
        </a:p>
        <a:p>
          <a:pPr marL="0" lvl="0" indent="0" algn="ctr" defTabSz="889000">
            <a:lnSpc>
              <a:spcPct val="90000"/>
            </a:lnSpc>
            <a:spcBef>
              <a:spcPct val="0"/>
            </a:spcBef>
            <a:spcAft>
              <a:spcPct val="35000"/>
            </a:spcAft>
            <a:buNone/>
          </a:pPr>
          <a:r>
            <a:rPr lang="en-US" sz="2000" kern="1200" dirty="0"/>
            <a:t>Responsibilities</a:t>
          </a:r>
        </a:p>
      </dsp:txBody>
      <dsp:txXfrm>
        <a:off x="308903" y="2514635"/>
        <a:ext cx="2454124" cy="1218117"/>
      </dsp:txXfrm>
    </dsp:sp>
    <dsp:sp modelId="{19CB9603-EB8B-40AD-AA38-4500B56E7164}">
      <dsp:nvSpPr>
        <dsp:cNvPr id="0" name=""/>
        <dsp:cNvSpPr/>
      </dsp:nvSpPr>
      <dsp:spPr>
        <a:xfrm>
          <a:off x="3836486" y="1027559"/>
          <a:ext cx="1104356" cy="11043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9E65FB5-F7DE-4E5B-8383-14D1A7A3D064}">
      <dsp:nvSpPr>
        <dsp:cNvPr id="0" name=""/>
        <dsp:cNvSpPr/>
      </dsp:nvSpPr>
      <dsp:spPr>
        <a:xfrm>
          <a:off x="3161602" y="2453919"/>
          <a:ext cx="245412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Health Conditions</a:t>
          </a:r>
        </a:p>
      </dsp:txBody>
      <dsp:txXfrm>
        <a:off x="3161602" y="2453919"/>
        <a:ext cx="2454124" cy="720000"/>
      </dsp:txXfrm>
    </dsp:sp>
    <dsp:sp modelId="{E932ECF3-A904-4516-845C-C2DA7804F2CF}">
      <dsp:nvSpPr>
        <dsp:cNvPr id="0" name=""/>
        <dsp:cNvSpPr/>
      </dsp:nvSpPr>
      <dsp:spPr>
        <a:xfrm>
          <a:off x="6720082" y="1027559"/>
          <a:ext cx="1104356" cy="11043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900FBB-6D44-443D-8AF3-650EEA27D95C}">
      <dsp:nvSpPr>
        <dsp:cNvPr id="0" name=""/>
        <dsp:cNvSpPr/>
      </dsp:nvSpPr>
      <dsp:spPr>
        <a:xfrm>
          <a:off x="6045198" y="2453919"/>
          <a:ext cx="245412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Sleep Debt</a:t>
          </a:r>
        </a:p>
      </dsp:txBody>
      <dsp:txXfrm>
        <a:off x="6045198" y="2453919"/>
        <a:ext cx="2454124"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49EC7-6C9E-4928-94E3-C4DC4B6DED48}">
      <dsp:nvSpPr>
        <dsp:cNvPr id="0" name=""/>
        <dsp:cNvSpPr/>
      </dsp:nvSpPr>
      <dsp:spPr>
        <a:xfrm>
          <a:off x="0" y="0"/>
          <a:ext cx="6832212" cy="0"/>
        </a:xfrm>
        <a:prstGeom prst="line">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0"/>
              <a:satOff val="0"/>
              <a:lumOff val="0"/>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2FF324C5-39C5-4C0A-876D-BDFB556CB241}">
      <dsp:nvSpPr>
        <dsp:cNvPr id="0" name=""/>
        <dsp:cNvSpPr/>
      </dsp:nvSpPr>
      <dsp:spPr>
        <a:xfrm>
          <a:off x="0" y="0"/>
          <a:ext cx="6832212" cy="1316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Sigmund Freud: manifest content vs latent content</a:t>
          </a:r>
        </a:p>
      </dsp:txBody>
      <dsp:txXfrm>
        <a:off x="0" y="0"/>
        <a:ext cx="6832212" cy="1316194"/>
      </dsp:txXfrm>
    </dsp:sp>
    <dsp:sp modelId="{E47E2C95-09D0-406D-9685-1312DFF0EFCC}">
      <dsp:nvSpPr>
        <dsp:cNvPr id="0" name=""/>
        <dsp:cNvSpPr/>
      </dsp:nvSpPr>
      <dsp:spPr>
        <a:xfrm>
          <a:off x="0" y="1316194"/>
          <a:ext cx="6832212" cy="0"/>
        </a:xfrm>
        <a:prstGeom prst="line">
          <a:avLst/>
        </a:prstGeom>
        <a:solidFill>
          <a:schemeClr val="accent2">
            <a:hueOff val="-2474889"/>
            <a:satOff val="807"/>
            <a:lumOff val="-719"/>
            <a:alphaOff val="0"/>
          </a:schemeClr>
        </a:solidFill>
        <a:ln w="9525" cap="flat" cmpd="sng" algn="ctr">
          <a:solidFill>
            <a:schemeClr val="accent2">
              <a:hueOff val="-2474889"/>
              <a:satOff val="807"/>
              <a:lumOff val="-719"/>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2474889"/>
              <a:satOff val="807"/>
              <a:lumOff val="-719"/>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76898544-B0B4-49C6-9789-EB31C448382F}">
      <dsp:nvSpPr>
        <dsp:cNvPr id="0" name=""/>
        <dsp:cNvSpPr/>
      </dsp:nvSpPr>
      <dsp:spPr>
        <a:xfrm>
          <a:off x="0" y="1316194"/>
          <a:ext cx="6832212" cy="1316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Carl Jung: the collective unconscious</a:t>
          </a:r>
        </a:p>
      </dsp:txBody>
      <dsp:txXfrm>
        <a:off x="0" y="1316194"/>
        <a:ext cx="6832212" cy="1316194"/>
      </dsp:txXfrm>
    </dsp:sp>
    <dsp:sp modelId="{DCBF3461-36A7-4601-B1F2-FE2F42C4871E}">
      <dsp:nvSpPr>
        <dsp:cNvPr id="0" name=""/>
        <dsp:cNvSpPr/>
      </dsp:nvSpPr>
      <dsp:spPr>
        <a:xfrm>
          <a:off x="0" y="2632389"/>
          <a:ext cx="6832212" cy="0"/>
        </a:xfrm>
        <a:prstGeom prst="line">
          <a:avLst/>
        </a:prstGeom>
        <a:solidFill>
          <a:schemeClr val="accent2">
            <a:hueOff val="-4949778"/>
            <a:satOff val="1615"/>
            <a:lumOff val="-1438"/>
            <a:alphaOff val="0"/>
          </a:schemeClr>
        </a:solidFill>
        <a:ln w="9525" cap="flat" cmpd="sng" algn="ctr">
          <a:solidFill>
            <a:schemeClr val="accent2">
              <a:hueOff val="-4949778"/>
              <a:satOff val="1615"/>
              <a:lumOff val="-1438"/>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4949778"/>
              <a:satOff val="1615"/>
              <a:lumOff val="-1438"/>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09379594-6C0D-42F4-ABF7-23210A8D442F}">
      <dsp:nvSpPr>
        <dsp:cNvPr id="0" name=""/>
        <dsp:cNvSpPr/>
      </dsp:nvSpPr>
      <dsp:spPr>
        <a:xfrm>
          <a:off x="0" y="2632389"/>
          <a:ext cx="6832212" cy="1316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Rosalind Cartwright: reflection of important life events</a:t>
          </a:r>
        </a:p>
      </dsp:txBody>
      <dsp:txXfrm>
        <a:off x="0" y="2632389"/>
        <a:ext cx="6832212" cy="1316194"/>
      </dsp:txXfrm>
    </dsp:sp>
    <dsp:sp modelId="{7C309BDC-7AF9-4726-8F5C-2AF5E3C6E142}">
      <dsp:nvSpPr>
        <dsp:cNvPr id="0" name=""/>
        <dsp:cNvSpPr/>
      </dsp:nvSpPr>
      <dsp:spPr>
        <a:xfrm>
          <a:off x="0" y="3948584"/>
          <a:ext cx="6832212" cy="0"/>
        </a:xfrm>
        <a:prstGeom prst="line">
          <a:avLst/>
        </a:prstGeom>
        <a:solidFill>
          <a:schemeClr val="accent2">
            <a:hueOff val="-7424668"/>
            <a:satOff val="2422"/>
            <a:lumOff val="-2157"/>
            <a:alphaOff val="0"/>
          </a:schemeClr>
        </a:solidFill>
        <a:ln w="9525" cap="flat" cmpd="sng" algn="ctr">
          <a:solidFill>
            <a:schemeClr val="accent2">
              <a:hueOff val="-7424668"/>
              <a:satOff val="2422"/>
              <a:lumOff val="-2157"/>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2">
              <a:hueOff val="-7424668"/>
              <a:satOff val="2422"/>
              <a:lumOff val="-2157"/>
              <a:alphaOff val="0"/>
              <a:shade val="35000"/>
              <a:satMod val="130000"/>
            </a:schemeClr>
          </a:contourClr>
        </a:sp3d>
      </dsp:spPr>
      <dsp:style>
        <a:lnRef idx="1">
          <a:scrgbClr r="0" g="0" b="0"/>
        </a:lnRef>
        <a:fillRef idx="3">
          <a:scrgbClr r="0" g="0" b="0"/>
        </a:fillRef>
        <a:effectRef idx="2">
          <a:scrgbClr r="0" g="0" b="0"/>
        </a:effectRef>
        <a:fontRef idx="minor">
          <a:schemeClr val="lt1"/>
        </a:fontRef>
      </dsp:style>
    </dsp:sp>
    <dsp:sp modelId="{F6C65D13-D80D-43BA-A012-271E60E03886}">
      <dsp:nvSpPr>
        <dsp:cNvPr id="0" name=""/>
        <dsp:cNvSpPr/>
      </dsp:nvSpPr>
      <dsp:spPr>
        <a:xfrm>
          <a:off x="0" y="3948584"/>
          <a:ext cx="6832212" cy="1316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Alan Hobson: </a:t>
          </a:r>
          <a:r>
            <a:rPr lang="en-US" sz="3000" b="0" i="1" kern="1200" dirty="0"/>
            <a:t>activation-synthesis theory </a:t>
          </a:r>
          <a:r>
            <a:rPr lang="en-US" sz="3000" kern="1200" dirty="0"/>
            <a:t>of dreaming and lucid dreams</a:t>
          </a:r>
        </a:p>
      </dsp:txBody>
      <dsp:txXfrm>
        <a:off x="0" y="3948584"/>
        <a:ext cx="6832212" cy="13161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728933-18DE-49D1-87C3-C121B4895E81}">
      <dsp:nvSpPr>
        <dsp:cNvPr id="0" name=""/>
        <dsp:cNvSpPr/>
      </dsp:nvSpPr>
      <dsp:spPr>
        <a:xfrm>
          <a:off x="0" y="642"/>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71002-7694-43B8-BFAC-93085E67D4A3}">
      <dsp:nvSpPr>
        <dsp:cNvPr id="0" name=""/>
        <dsp:cNvSpPr/>
      </dsp:nvSpPr>
      <dsp:spPr>
        <a:xfrm>
          <a:off x="454916" y="339010"/>
          <a:ext cx="827120" cy="8271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BD56CC-CDEB-4730-8AF6-9047F96D112C}">
      <dsp:nvSpPr>
        <dsp:cNvPr id="0" name=""/>
        <dsp:cNvSpPr/>
      </dsp:nvSpPr>
      <dsp:spPr>
        <a:xfrm>
          <a:off x="1736952" y="642"/>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711200">
            <a:lnSpc>
              <a:spcPct val="90000"/>
            </a:lnSpc>
            <a:spcBef>
              <a:spcPct val="0"/>
            </a:spcBef>
            <a:spcAft>
              <a:spcPct val="35000"/>
            </a:spcAft>
            <a:buNone/>
          </a:pPr>
          <a:r>
            <a:rPr lang="en-US" sz="1600" u="sng" kern="1200" dirty="0"/>
            <a:t>Hypnosis</a:t>
          </a:r>
          <a:r>
            <a:rPr lang="en-US" sz="1600" kern="1200" dirty="0"/>
            <a:t>: a state of extreme self-focus and attention in which minimal attention is given to external stimuli</a:t>
          </a:r>
        </a:p>
      </dsp:txBody>
      <dsp:txXfrm>
        <a:off x="1736952" y="642"/>
        <a:ext cx="5095259" cy="1503855"/>
      </dsp:txXfrm>
    </dsp:sp>
    <dsp:sp modelId="{9E45B43A-E139-4118-A9F2-1589B50449C8}">
      <dsp:nvSpPr>
        <dsp:cNvPr id="0" name=""/>
        <dsp:cNvSpPr/>
      </dsp:nvSpPr>
      <dsp:spPr>
        <a:xfrm>
          <a:off x="0" y="1880461"/>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6D2B9F-7102-45B6-A216-71E6E1FF72D3}">
      <dsp:nvSpPr>
        <dsp:cNvPr id="0" name=""/>
        <dsp:cNvSpPr/>
      </dsp:nvSpPr>
      <dsp:spPr>
        <a:xfrm>
          <a:off x="454916" y="2218829"/>
          <a:ext cx="827120" cy="8271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F7D9AC-A021-409B-8203-D70AE8511A52}">
      <dsp:nvSpPr>
        <dsp:cNvPr id="0" name=""/>
        <dsp:cNvSpPr/>
      </dsp:nvSpPr>
      <dsp:spPr>
        <a:xfrm>
          <a:off x="1736952" y="1880461"/>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711200">
            <a:lnSpc>
              <a:spcPct val="90000"/>
            </a:lnSpc>
            <a:spcBef>
              <a:spcPct val="0"/>
            </a:spcBef>
            <a:spcAft>
              <a:spcPct val="35000"/>
            </a:spcAft>
            <a:buNone/>
          </a:pPr>
          <a:r>
            <a:rPr lang="en-US" sz="1600" u="sng" kern="1200" dirty="0"/>
            <a:t>Meditation</a:t>
          </a:r>
          <a:r>
            <a:rPr lang="en-US" sz="1600" kern="1200" dirty="0"/>
            <a:t>: the act of focusing on a single target to increase awareness of the moment</a:t>
          </a:r>
        </a:p>
      </dsp:txBody>
      <dsp:txXfrm>
        <a:off x="1736952" y="1880461"/>
        <a:ext cx="5095259" cy="1503855"/>
      </dsp:txXfrm>
    </dsp:sp>
    <dsp:sp modelId="{012493E3-5710-4DBD-AED8-25C84B711311}">
      <dsp:nvSpPr>
        <dsp:cNvPr id="0" name=""/>
        <dsp:cNvSpPr/>
      </dsp:nvSpPr>
      <dsp:spPr>
        <a:xfrm>
          <a:off x="0" y="3760280"/>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001EC1-8C9B-4D93-8E41-3D22E4183C21}">
      <dsp:nvSpPr>
        <dsp:cNvPr id="0" name=""/>
        <dsp:cNvSpPr/>
      </dsp:nvSpPr>
      <dsp:spPr>
        <a:xfrm>
          <a:off x="454916" y="4098648"/>
          <a:ext cx="827120" cy="8271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8CD746-A82D-4857-B145-19CC9F1AE990}">
      <dsp:nvSpPr>
        <dsp:cNvPr id="0" name=""/>
        <dsp:cNvSpPr/>
      </dsp:nvSpPr>
      <dsp:spPr>
        <a:xfrm>
          <a:off x="1736952" y="3760280"/>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622300">
            <a:lnSpc>
              <a:spcPct val="90000"/>
            </a:lnSpc>
            <a:spcBef>
              <a:spcPct val="0"/>
            </a:spcBef>
            <a:spcAft>
              <a:spcPct val="35000"/>
            </a:spcAft>
            <a:buNone/>
          </a:pPr>
          <a:r>
            <a:rPr lang="en-US" sz="1400" kern="1200"/>
            <a:t>Fun fact: there have been studies that show some people can undergo surgeries while in a hypnotized state, and they report no more pain than someone who received medication for the surgery. We don’t know why this was possible, just that it does work for some people.</a:t>
          </a:r>
        </a:p>
      </dsp:txBody>
      <dsp:txXfrm>
        <a:off x="1736952" y="3760280"/>
        <a:ext cx="5095259" cy="150385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42352-6408-4A7C-A204-0956D8FA2D92}"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F6382-2D07-4C87-9191-F5A3E509E88F}" type="slidenum">
              <a:rPr lang="en-US" smtClean="0"/>
              <a:t>‹#›</a:t>
            </a:fld>
            <a:endParaRPr lang="en-US"/>
          </a:p>
        </p:txBody>
      </p:sp>
    </p:spTree>
    <p:extLst>
      <p:ext uri="{BB962C8B-B14F-4D97-AF65-F5344CB8AC3E}">
        <p14:creationId xmlns:p14="http://schemas.microsoft.com/office/powerpoint/2010/main" val="3999294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17584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41558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8511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704069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377833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505931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896343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287442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088801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2912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417469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33DC-2B07-7949-412B-DF71D77CF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919E5-234A-1C41-B302-29EF6B221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29479-D5CE-4040-98EF-05644DDF82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840C00-5A0F-7B5D-E71A-F92D3F84259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28273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43964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847540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68624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1680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83B67AC-8988-40CC-8159-955757AC10C1}" type="datetimeFigureOut">
              <a:rPr lang="en-US" smtClean="0"/>
              <a:t>2/12/2026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807D9C04-648E-44C6-80BD-15F19B219BA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7480484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474532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3B67AC-8988-40CC-8159-955757AC10C1}"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83299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3B67AC-8988-40CC-8159-955757AC10C1}"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46544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3B67AC-8988-40CC-8159-955757AC10C1}"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493520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3B67AC-8988-40CC-8159-955757AC10C1}"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42452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B67AC-8988-40CC-8159-955757AC10C1}"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74495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B67AC-8988-40CC-8159-955757AC10C1}"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1595250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B67AC-8988-40CC-8159-955757AC10C1}"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2772937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326869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B67AC-8988-40CC-8159-955757AC10C1}"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7D9C04-648E-44C6-80BD-15F19B219BA3}" type="slidenum">
              <a:rPr lang="en-US" smtClean="0"/>
              <a:t>‹#›</a:t>
            </a:fld>
            <a:endParaRPr lang="en-US"/>
          </a:p>
        </p:txBody>
      </p:sp>
    </p:spTree>
    <p:extLst>
      <p:ext uri="{BB962C8B-B14F-4D97-AF65-F5344CB8AC3E}">
        <p14:creationId xmlns:p14="http://schemas.microsoft.com/office/powerpoint/2010/main" val="4020679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530572"/>
            <a:ext cx="10907016" cy="1162882"/>
          </a:xfrm>
        </p:spPr>
        <p:txBody>
          <a:bodyPr tIns="182880"/>
          <a:lstStyle>
            <a:lvl1pPr algn="l">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917700"/>
            <a:ext cx="10907016" cy="3340099"/>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2/12/2026</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518454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4"/>
            <a:ext cx="5946389" cy="199753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a:t>Click icon to add picture</a:t>
            </a:r>
            <a:endParaRPr lang="en-US" dirty="0"/>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2/12/2026</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463225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F5E973-5CF4-405E-8D74-248795EDEB26}"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FAAA-6080-4B47-91B3-87CC5056B1F2}" type="slidenum">
              <a:rPr lang="en-US" smtClean="0"/>
              <a:t>‹#›</a:t>
            </a:fld>
            <a:endParaRPr lang="en-US"/>
          </a:p>
        </p:txBody>
      </p:sp>
    </p:spTree>
    <p:extLst>
      <p:ext uri="{BB962C8B-B14F-4D97-AF65-F5344CB8AC3E}">
        <p14:creationId xmlns:p14="http://schemas.microsoft.com/office/powerpoint/2010/main" val="18623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83B67AC-8988-40CC-8159-955757AC10C1}" type="datetimeFigureOut">
              <a:rPr lang="en-US" smtClean="0"/>
              <a:t>2/12/2026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807D9C04-648E-44C6-80BD-15F19B219BA3}" type="slidenum">
              <a:rPr lang="en-US" smtClean="0"/>
              <a:t>‹#›</a:t>
            </a:fld>
            <a:endParaRPr lang="en-US"/>
          </a:p>
        </p:txBody>
      </p:sp>
    </p:spTree>
    <p:extLst>
      <p:ext uri="{BB962C8B-B14F-4D97-AF65-F5344CB8AC3E}">
        <p14:creationId xmlns:p14="http://schemas.microsoft.com/office/powerpoint/2010/main" val="17493953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10" r:id="rId13"/>
    <p:sldLayoutId id="2147483711" r:id="rId14"/>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www.nytimes.com/interactive/2023/01/13/well/mind/alcohol-health-quiz.html"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2A153-7D40-4752-8D00-080CB1A524DB}"/>
              </a:ext>
            </a:extLst>
          </p:cNvPr>
          <p:cNvSpPr>
            <a:spLocks noGrp="1"/>
          </p:cNvSpPr>
          <p:nvPr>
            <p:ph type="ctrTitle"/>
          </p:nvPr>
        </p:nvSpPr>
        <p:spPr>
          <a:xfrm>
            <a:off x="2393063" y="1590734"/>
            <a:ext cx="7405874" cy="2520012"/>
          </a:xfrm>
          <a:solidFill>
            <a:schemeClr val="bg2"/>
          </a:solidFill>
        </p:spPr>
        <p:txBody>
          <a:bodyPr anchor="ctr">
            <a:normAutofit/>
          </a:bodyPr>
          <a:lstStyle/>
          <a:p>
            <a:pPr algn="ctr"/>
            <a:r>
              <a:rPr lang="en-US" sz="6000" dirty="0">
                <a:solidFill>
                  <a:schemeClr val="tx2"/>
                </a:solidFill>
              </a:rPr>
              <a:t>States of Consciousness</a:t>
            </a:r>
          </a:p>
        </p:txBody>
      </p:sp>
      <p:sp>
        <p:nvSpPr>
          <p:cNvPr id="3" name="Subtitle 2">
            <a:extLst>
              <a:ext uri="{FF2B5EF4-FFF2-40B4-BE49-F238E27FC236}">
                <a16:creationId xmlns:a16="http://schemas.microsoft.com/office/drawing/2014/main" id="{9EEFD706-CA66-427E-B3F9-AA974919035C}"/>
              </a:ext>
            </a:extLst>
          </p:cNvPr>
          <p:cNvSpPr>
            <a:spLocks noGrp="1"/>
          </p:cNvSpPr>
          <p:nvPr>
            <p:ph type="subTitle" idx="1"/>
          </p:nvPr>
        </p:nvSpPr>
        <p:spPr>
          <a:xfrm>
            <a:off x="2220686" y="4427182"/>
            <a:ext cx="7576595" cy="1633984"/>
          </a:xfrm>
        </p:spPr>
        <p:txBody>
          <a:bodyPr>
            <a:normAutofit/>
          </a:bodyPr>
          <a:lstStyle/>
          <a:p>
            <a:pPr algn="ctr"/>
            <a:r>
              <a:rPr lang="en-US" sz="6600" b="1" dirty="0">
                <a:solidFill>
                  <a:schemeClr val="tx1"/>
                </a:solidFill>
              </a:rPr>
              <a:t>Chapter 4</a:t>
            </a:r>
          </a:p>
        </p:txBody>
      </p:sp>
    </p:spTree>
    <p:extLst>
      <p:ext uri="{BB962C8B-B14F-4D97-AF65-F5344CB8AC3E}">
        <p14:creationId xmlns:p14="http://schemas.microsoft.com/office/powerpoint/2010/main" val="329889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9AD17-80B2-F882-0411-22DAD50A97B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23419026-63A6-D701-D52F-7C65C59B7373}"/>
              </a:ext>
            </a:extLst>
          </p:cNvPr>
          <p:cNvSpPr>
            <a:spLocks noGrp="1"/>
          </p:cNvSpPr>
          <p:nvPr>
            <p:ph idx="1"/>
          </p:nvPr>
        </p:nvSpPr>
        <p:spPr>
          <a:xfrm>
            <a:off x="1261872" y="1828800"/>
            <a:ext cx="5086677" cy="4351337"/>
          </a:xfrm>
        </p:spPr>
        <p:txBody>
          <a:bodyPr>
            <a:normAutofit/>
          </a:bodyPr>
          <a:lstStyle/>
          <a:p>
            <a:r>
              <a:rPr lang="en-US" sz="2800" dirty="0"/>
              <a:t>Exam discussion</a:t>
            </a:r>
          </a:p>
          <a:p>
            <a:r>
              <a:rPr lang="en-US" sz="2800" dirty="0"/>
              <a:t>Consciousness</a:t>
            </a:r>
          </a:p>
          <a:p>
            <a:r>
              <a:rPr lang="en-US" sz="2800" dirty="0"/>
              <a:t>Sleep</a:t>
            </a:r>
          </a:p>
          <a:p>
            <a:r>
              <a:rPr lang="en-US" sz="2800" dirty="0"/>
              <a:t>Substance Use</a:t>
            </a:r>
          </a:p>
        </p:txBody>
      </p:sp>
    </p:spTree>
    <p:extLst>
      <p:ext uri="{BB962C8B-B14F-4D97-AF65-F5344CB8AC3E}">
        <p14:creationId xmlns:p14="http://schemas.microsoft.com/office/powerpoint/2010/main" val="2721038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088DD0-1564-20DF-24B7-05DC41400735}"/>
              </a:ext>
            </a:extLst>
          </p:cNvPr>
          <p:cNvSpPr>
            <a:spLocks noGrp="1"/>
          </p:cNvSpPr>
          <p:nvPr>
            <p:ph type="title"/>
          </p:nvPr>
        </p:nvSpPr>
        <p:spPr/>
        <p:txBody>
          <a:bodyPr/>
          <a:lstStyle/>
          <a:p>
            <a:r>
              <a:rPr lang="en-US" dirty="0"/>
              <a:t>Consciousness</a:t>
            </a:r>
          </a:p>
        </p:txBody>
      </p:sp>
      <p:sp>
        <p:nvSpPr>
          <p:cNvPr id="5" name="Content Placeholder 4">
            <a:extLst>
              <a:ext uri="{FF2B5EF4-FFF2-40B4-BE49-F238E27FC236}">
                <a16:creationId xmlns:a16="http://schemas.microsoft.com/office/drawing/2014/main" id="{9A1F71DB-9495-06F4-AAA4-9ED6034AFBB8}"/>
              </a:ext>
            </a:extLst>
          </p:cNvPr>
          <p:cNvSpPr>
            <a:spLocks noGrp="1"/>
          </p:cNvSpPr>
          <p:nvPr>
            <p:ph idx="1"/>
          </p:nvPr>
        </p:nvSpPr>
        <p:spPr/>
        <p:txBody>
          <a:bodyPr/>
          <a:lstStyle/>
          <a:p>
            <a:r>
              <a:rPr lang="en-US" b="1" dirty="0"/>
              <a:t>Consciousness- </a:t>
            </a:r>
            <a:r>
              <a:rPr lang="en-US" dirty="0"/>
              <a:t>our awareness of internal and external stimuli</a:t>
            </a:r>
          </a:p>
          <a:p>
            <a:r>
              <a:rPr lang="en-US" b="1" dirty="0"/>
              <a:t>Biological rhythms</a:t>
            </a:r>
            <a:r>
              <a:rPr lang="en-US" dirty="0"/>
              <a:t>- internal rhythms of biological activity</a:t>
            </a:r>
          </a:p>
          <a:p>
            <a:r>
              <a:rPr lang="en-US" b="1" dirty="0"/>
              <a:t>Circadian rhythms</a:t>
            </a:r>
            <a:r>
              <a:rPr lang="en-US" dirty="0"/>
              <a:t>- biological rhythms that take place over a period of 24 hours</a:t>
            </a:r>
          </a:p>
          <a:p>
            <a:pPr lvl="1"/>
            <a:r>
              <a:rPr lang="en-US" dirty="0"/>
              <a:t>Ex: temperature, blood sugar, and sleep/ wake cycles</a:t>
            </a:r>
          </a:p>
          <a:p>
            <a:r>
              <a:rPr lang="en-US" b="1" dirty="0"/>
              <a:t>Homeostasis</a:t>
            </a:r>
            <a:r>
              <a:rPr lang="en-US" dirty="0"/>
              <a:t>- tendency (and need) to maintain balance</a:t>
            </a:r>
          </a:p>
          <a:p>
            <a:r>
              <a:rPr lang="en-US" dirty="0"/>
              <a:t>Circadian rhythms are often driven by hormones, such as melatonin influencing sleep regulation</a:t>
            </a:r>
          </a:p>
          <a:p>
            <a:endParaRPr lang="en-US" dirty="0"/>
          </a:p>
        </p:txBody>
      </p:sp>
    </p:spTree>
    <p:extLst>
      <p:ext uri="{BB962C8B-B14F-4D97-AF65-F5344CB8AC3E}">
        <p14:creationId xmlns:p14="http://schemas.microsoft.com/office/powerpoint/2010/main" val="220747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1ACBE00-0221-433D-8EA5-D9D7B45F3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2" name="Rectangle 11">
            <a:extLst>
              <a:ext uri="{FF2B5EF4-FFF2-40B4-BE49-F238E27FC236}">
                <a16:creationId xmlns:a16="http://schemas.microsoft.com/office/drawing/2014/main" id="{EFB0C39A-F8CA-4A79-AFFC-E9780FB19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kitten sleeping on a rug">
            <a:extLst>
              <a:ext uri="{FF2B5EF4-FFF2-40B4-BE49-F238E27FC236}">
                <a16:creationId xmlns:a16="http://schemas.microsoft.com/office/drawing/2014/main" id="{F857167C-73B6-DDF1-264D-6CF4C8BF6FA2}"/>
              </a:ext>
            </a:extLst>
          </p:cNvPr>
          <p:cNvPicPr>
            <a:picLocks noChangeAspect="1"/>
          </p:cNvPicPr>
          <p:nvPr/>
        </p:nvPicPr>
        <p:blipFill>
          <a:blip r:embed="rId3">
            <a:alphaModFix amt="40000"/>
          </a:blip>
          <a:srcRect t="15730"/>
          <a:stretch>
            <a:fillRect/>
          </a:stretch>
        </p:blipFill>
        <p:spPr>
          <a:xfrm>
            <a:off x="20" y="-2"/>
            <a:ext cx="12191980" cy="6858000"/>
          </a:xfrm>
          <a:prstGeom prst="rect">
            <a:avLst/>
          </a:prstGeom>
        </p:spPr>
      </p:pic>
      <p:sp>
        <p:nvSpPr>
          <p:cNvPr id="4" name="TextBox 3">
            <a:extLst>
              <a:ext uri="{FF2B5EF4-FFF2-40B4-BE49-F238E27FC236}">
                <a16:creationId xmlns:a16="http://schemas.microsoft.com/office/drawing/2014/main" id="{87E15EBF-DDD6-8AA8-5673-1E1896786641}"/>
              </a:ext>
            </a:extLst>
          </p:cNvPr>
          <p:cNvSpPr txBox="1"/>
          <p:nvPr/>
        </p:nvSpPr>
        <p:spPr>
          <a:xfrm>
            <a:off x="1261872" y="758952"/>
            <a:ext cx="9418320" cy="4041648"/>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7200" b="1" spc="-50">
                <a:ln w="9525" cmpd="sng">
                  <a:solidFill>
                    <a:schemeClr val="accent1"/>
                  </a:solidFill>
                  <a:prstDash val="solid"/>
                </a:ln>
                <a:effectLst>
                  <a:glow rad="38100">
                    <a:schemeClr val="accent1">
                      <a:alpha val="40000"/>
                    </a:schemeClr>
                  </a:glow>
                </a:effectLst>
                <a:latin typeface="+mj-lt"/>
                <a:ea typeface="+mj-ea"/>
                <a:cs typeface="+mj-cs"/>
              </a:rPr>
              <a:t>Sleep</a:t>
            </a:r>
          </a:p>
        </p:txBody>
      </p:sp>
    </p:spTree>
    <p:extLst>
      <p:ext uri="{BB962C8B-B14F-4D97-AF65-F5344CB8AC3E}">
        <p14:creationId xmlns:p14="http://schemas.microsoft.com/office/powerpoint/2010/main" val="374489948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D50DF0-DD2F-5FDC-DBD0-6AA0DFB97706}"/>
              </a:ext>
            </a:extLst>
          </p:cNvPr>
          <p:cNvSpPr>
            <a:spLocks noGrp="1"/>
          </p:cNvSpPr>
          <p:nvPr>
            <p:ph type="title"/>
          </p:nvPr>
        </p:nvSpPr>
        <p:spPr>
          <a:xfrm>
            <a:off x="841248" y="457200"/>
            <a:ext cx="2633472" cy="4924040"/>
          </a:xfrm>
        </p:spPr>
        <p:txBody>
          <a:bodyPr/>
          <a:lstStyle/>
          <a:p>
            <a:r>
              <a:rPr lang="en-US" dirty="0"/>
              <a:t>Are you getting enough sleep?</a:t>
            </a:r>
          </a:p>
        </p:txBody>
      </p:sp>
      <p:graphicFrame>
        <p:nvGraphicFramePr>
          <p:cNvPr id="7" name="Content Placeholder 6">
            <a:extLst>
              <a:ext uri="{FF2B5EF4-FFF2-40B4-BE49-F238E27FC236}">
                <a16:creationId xmlns:a16="http://schemas.microsoft.com/office/drawing/2014/main" id="{5117B997-3349-EDAC-9ACF-FDBD4A6D561A}"/>
              </a:ext>
            </a:extLst>
          </p:cNvPr>
          <p:cNvGraphicFramePr>
            <a:graphicFrameLocks noGrp="1"/>
          </p:cNvGraphicFramePr>
          <p:nvPr>
            <p:ph idx="1"/>
            <p:extLst>
              <p:ext uri="{D42A27DB-BD31-4B8C-83A1-F6EECF244321}">
                <p14:modId xmlns:p14="http://schemas.microsoft.com/office/powerpoint/2010/main" val="3449154219"/>
              </p:ext>
            </p:extLst>
          </p:nvPr>
        </p:nvGraphicFramePr>
        <p:xfrm>
          <a:off x="3614057" y="685800"/>
          <a:ext cx="6969804" cy="5749832"/>
        </p:xfrm>
        <a:graphic>
          <a:graphicData uri="http://schemas.openxmlformats.org/drawingml/2006/table">
            <a:tbl>
              <a:tblPr firstRow="1" bandRow="1">
                <a:tableStyleId>{9DCAF9ED-07DC-4A11-8D7F-57B35C25682E}</a:tableStyleId>
              </a:tblPr>
              <a:tblGrid>
                <a:gridCol w="1742451">
                  <a:extLst>
                    <a:ext uri="{9D8B030D-6E8A-4147-A177-3AD203B41FA5}">
                      <a16:colId xmlns:a16="http://schemas.microsoft.com/office/drawing/2014/main" val="3527947409"/>
                    </a:ext>
                  </a:extLst>
                </a:gridCol>
                <a:gridCol w="1742451">
                  <a:extLst>
                    <a:ext uri="{9D8B030D-6E8A-4147-A177-3AD203B41FA5}">
                      <a16:colId xmlns:a16="http://schemas.microsoft.com/office/drawing/2014/main" val="2501122232"/>
                    </a:ext>
                  </a:extLst>
                </a:gridCol>
                <a:gridCol w="1742451">
                  <a:extLst>
                    <a:ext uri="{9D8B030D-6E8A-4147-A177-3AD203B41FA5}">
                      <a16:colId xmlns:a16="http://schemas.microsoft.com/office/drawing/2014/main" val="2741046231"/>
                    </a:ext>
                  </a:extLst>
                </a:gridCol>
                <a:gridCol w="1742451">
                  <a:extLst>
                    <a:ext uri="{9D8B030D-6E8A-4147-A177-3AD203B41FA5}">
                      <a16:colId xmlns:a16="http://schemas.microsoft.com/office/drawing/2014/main" val="3158494830"/>
                    </a:ext>
                  </a:extLst>
                </a:gridCol>
              </a:tblGrid>
              <a:tr h="607016">
                <a:tc>
                  <a:txBody>
                    <a:bodyPr/>
                    <a:lstStyle/>
                    <a:p>
                      <a:pPr algn="l" fontAlgn="b"/>
                      <a:r>
                        <a:rPr lang="en-US" sz="1200" b="1" cap="none" spc="0" dirty="0">
                          <a:solidFill>
                            <a:schemeClr val="tx1"/>
                          </a:solidFill>
                          <a:effectLst/>
                        </a:rPr>
                        <a:t>Age</a:t>
                      </a:r>
                    </a:p>
                  </a:txBody>
                  <a:tcPr marL="34536" marR="5291" marT="80072" marB="74004" anchor="ctr"/>
                </a:tc>
                <a:tc>
                  <a:txBody>
                    <a:bodyPr/>
                    <a:lstStyle/>
                    <a:p>
                      <a:pPr algn="l" fontAlgn="b"/>
                      <a:r>
                        <a:rPr lang="en-US" sz="1200" b="1" cap="none" spc="0" dirty="0">
                          <a:solidFill>
                            <a:schemeClr val="tx1"/>
                          </a:solidFill>
                          <a:effectLst/>
                        </a:rPr>
                        <a:t>Recommended</a:t>
                      </a:r>
                    </a:p>
                  </a:txBody>
                  <a:tcPr marL="34536" marR="5291" marT="80072" marB="74004" anchor="ctr"/>
                </a:tc>
                <a:tc>
                  <a:txBody>
                    <a:bodyPr/>
                    <a:lstStyle/>
                    <a:p>
                      <a:pPr algn="l" fontAlgn="b"/>
                      <a:r>
                        <a:rPr lang="en-US" sz="1200" b="1" cap="none" spc="0" dirty="0">
                          <a:solidFill>
                            <a:schemeClr val="tx1"/>
                          </a:solidFill>
                          <a:effectLst/>
                        </a:rPr>
                        <a:t>May Be Appropriate</a:t>
                      </a:r>
                    </a:p>
                  </a:txBody>
                  <a:tcPr marL="34536" marR="5291" marT="80072" marB="74004" anchor="ctr"/>
                </a:tc>
                <a:tc>
                  <a:txBody>
                    <a:bodyPr/>
                    <a:lstStyle/>
                    <a:p>
                      <a:pPr algn="l" fontAlgn="b"/>
                      <a:r>
                        <a:rPr lang="en-US" sz="1200" b="1" cap="none" spc="0" dirty="0">
                          <a:solidFill>
                            <a:schemeClr val="tx1"/>
                          </a:solidFill>
                          <a:effectLst/>
                        </a:rPr>
                        <a:t>Not Recommended</a:t>
                      </a:r>
                    </a:p>
                  </a:txBody>
                  <a:tcPr marL="34536" marR="5291" marT="80072" marB="74004" anchor="ctr"/>
                </a:tc>
                <a:extLst>
                  <a:ext uri="{0D108BD9-81ED-4DB2-BD59-A6C34878D82A}">
                    <a16:rowId xmlns:a16="http://schemas.microsoft.com/office/drawing/2014/main" val="91768627"/>
                  </a:ext>
                </a:extLst>
              </a:tr>
              <a:tr h="571424">
                <a:tc>
                  <a:txBody>
                    <a:bodyPr/>
                    <a:lstStyle/>
                    <a:p>
                      <a:pPr fontAlgn="ctr"/>
                      <a:r>
                        <a:rPr lang="en-US" sz="1100" cap="none" spc="0" dirty="0">
                          <a:solidFill>
                            <a:schemeClr val="tx1"/>
                          </a:solidFill>
                          <a:effectLst/>
                        </a:rPr>
                        <a:t>0–3 months</a:t>
                      </a:r>
                    </a:p>
                  </a:txBody>
                  <a:tcPr marL="34536" marR="5291" marT="80072" marB="74004" anchor="ctr"/>
                </a:tc>
                <a:tc>
                  <a:txBody>
                    <a:bodyPr/>
                    <a:lstStyle/>
                    <a:p>
                      <a:pPr fontAlgn="ctr"/>
                      <a:r>
                        <a:rPr lang="en-US" sz="1100" cap="none" spc="0">
                          <a:solidFill>
                            <a:schemeClr val="tx1"/>
                          </a:solidFill>
                          <a:effectLst/>
                        </a:rPr>
                        <a:t>14–17 hours</a:t>
                      </a:r>
                    </a:p>
                  </a:txBody>
                  <a:tcPr marL="34536" marR="5291" marT="80072" marB="74004" anchor="ctr"/>
                </a:tc>
                <a:tc>
                  <a:txBody>
                    <a:bodyPr/>
                    <a:lstStyle/>
                    <a:p>
                      <a:pPr fontAlgn="ctr"/>
                      <a:r>
                        <a:rPr lang="en-US" sz="1100" cap="none" spc="0">
                          <a:solidFill>
                            <a:schemeClr val="tx1"/>
                          </a:solidFill>
                          <a:effectLst/>
                        </a:rPr>
                        <a:t>11–13 hours</a:t>
                      </a:r>
                      <a:br>
                        <a:rPr lang="en-US" sz="1100" cap="none" spc="0">
                          <a:solidFill>
                            <a:schemeClr val="tx1"/>
                          </a:solidFill>
                          <a:effectLst/>
                        </a:rPr>
                      </a:br>
                      <a:r>
                        <a:rPr lang="en-US" sz="1100" cap="none" spc="0">
                          <a:solidFill>
                            <a:schemeClr val="tx1"/>
                          </a:solidFill>
                          <a:effectLst/>
                        </a:rPr>
                        <a:t>18–19 hours</a:t>
                      </a:r>
                    </a:p>
                  </a:txBody>
                  <a:tcPr marL="34536" marR="5291" marT="80072" marB="74004" anchor="ctr"/>
                </a:tc>
                <a:tc>
                  <a:txBody>
                    <a:bodyPr/>
                    <a:lstStyle/>
                    <a:p>
                      <a:pPr fontAlgn="ctr"/>
                      <a:r>
                        <a:rPr lang="en-US" sz="1100" cap="none" spc="0">
                          <a:solidFill>
                            <a:schemeClr val="tx1"/>
                          </a:solidFill>
                          <a:effectLst/>
                        </a:rPr>
                        <a:t>Fewer than 11 hours</a:t>
                      </a:r>
                      <a:br>
                        <a:rPr lang="en-US" sz="1100" cap="none" spc="0">
                          <a:solidFill>
                            <a:schemeClr val="tx1"/>
                          </a:solidFill>
                          <a:effectLst/>
                        </a:rPr>
                      </a:br>
                      <a:r>
                        <a:rPr lang="en-US" sz="1100" cap="none" spc="0">
                          <a:solidFill>
                            <a:schemeClr val="tx1"/>
                          </a:solidFill>
                          <a:effectLst/>
                        </a:rPr>
                        <a:t>More than 19 hours</a:t>
                      </a:r>
                    </a:p>
                  </a:txBody>
                  <a:tcPr marL="34536" marR="5291" marT="80072" marB="74004" anchor="ctr"/>
                </a:tc>
                <a:extLst>
                  <a:ext uri="{0D108BD9-81ED-4DB2-BD59-A6C34878D82A}">
                    <a16:rowId xmlns:a16="http://schemas.microsoft.com/office/drawing/2014/main" val="3787758043"/>
                  </a:ext>
                </a:extLst>
              </a:tr>
              <a:tr h="571424">
                <a:tc>
                  <a:txBody>
                    <a:bodyPr/>
                    <a:lstStyle/>
                    <a:p>
                      <a:pPr fontAlgn="ctr"/>
                      <a:r>
                        <a:rPr lang="en-US" sz="1100" cap="none" spc="0">
                          <a:solidFill>
                            <a:schemeClr val="tx1"/>
                          </a:solidFill>
                          <a:effectLst/>
                        </a:rPr>
                        <a:t>4–11 months</a:t>
                      </a:r>
                    </a:p>
                  </a:txBody>
                  <a:tcPr marL="34536" marR="5291" marT="80072" marB="74004" anchor="ctr"/>
                </a:tc>
                <a:tc>
                  <a:txBody>
                    <a:bodyPr/>
                    <a:lstStyle/>
                    <a:p>
                      <a:pPr fontAlgn="ctr"/>
                      <a:r>
                        <a:rPr lang="en-US" sz="1100" cap="none" spc="0">
                          <a:solidFill>
                            <a:schemeClr val="tx1"/>
                          </a:solidFill>
                          <a:effectLst/>
                        </a:rPr>
                        <a:t>12–15 hours</a:t>
                      </a:r>
                    </a:p>
                  </a:txBody>
                  <a:tcPr marL="34536" marR="5291" marT="80072" marB="74004" anchor="ctr"/>
                </a:tc>
                <a:tc>
                  <a:txBody>
                    <a:bodyPr/>
                    <a:lstStyle/>
                    <a:p>
                      <a:pPr fontAlgn="ctr"/>
                      <a:r>
                        <a:rPr lang="en-US" sz="1100" cap="none" spc="0" dirty="0">
                          <a:solidFill>
                            <a:schemeClr val="tx1"/>
                          </a:solidFill>
                          <a:effectLst/>
                        </a:rPr>
                        <a:t>10–11 hours</a:t>
                      </a:r>
                      <a:br>
                        <a:rPr lang="en-US" sz="1100" cap="none" spc="0" dirty="0">
                          <a:solidFill>
                            <a:schemeClr val="tx1"/>
                          </a:solidFill>
                          <a:effectLst/>
                        </a:rPr>
                      </a:br>
                      <a:r>
                        <a:rPr lang="en-US" sz="1100" cap="none" spc="0" dirty="0">
                          <a:solidFill>
                            <a:schemeClr val="tx1"/>
                          </a:solidFill>
                          <a:effectLst/>
                        </a:rPr>
                        <a:t>16–18 hours</a:t>
                      </a:r>
                    </a:p>
                  </a:txBody>
                  <a:tcPr marL="34536" marR="5291" marT="80072" marB="74004" anchor="ctr"/>
                </a:tc>
                <a:tc>
                  <a:txBody>
                    <a:bodyPr/>
                    <a:lstStyle/>
                    <a:p>
                      <a:pPr fontAlgn="ctr"/>
                      <a:r>
                        <a:rPr lang="en-US" sz="1100" cap="none" spc="0">
                          <a:solidFill>
                            <a:schemeClr val="tx1"/>
                          </a:solidFill>
                          <a:effectLst/>
                        </a:rPr>
                        <a:t>Fewer than 10 hours</a:t>
                      </a:r>
                      <a:br>
                        <a:rPr lang="en-US" sz="1100" cap="none" spc="0">
                          <a:solidFill>
                            <a:schemeClr val="tx1"/>
                          </a:solidFill>
                          <a:effectLst/>
                        </a:rPr>
                      </a:br>
                      <a:r>
                        <a:rPr lang="en-US" sz="1100" cap="none" spc="0">
                          <a:solidFill>
                            <a:schemeClr val="tx1"/>
                          </a:solidFill>
                          <a:effectLst/>
                        </a:rPr>
                        <a:t>More than 18 hours</a:t>
                      </a:r>
                    </a:p>
                  </a:txBody>
                  <a:tcPr marL="34536" marR="5291" marT="80072" marB="74004" anchor="ctr"/>
                </a:tc>
                <a:extLst>
                  <a:ext uri="{0D108BD9-81ED-4DB2-BD59-A6C34878D82A}">
                    <a16:rowId xmlns:a16="http://schemas.microsoft.com/office/drawing/2014/main" val="790160574"/>
                  </a:ext>
                </a:extLst>
              </a:tr>
              <a:tr h="571424">
                <a:tc>
                  <a:txBody>
                    <a:bodyPr/>
                    <a:lstStyle/>
                    <a:p>
                      <a:pPr fontAlgn="ctr"/>
                      <a:r>
                        <a:rPr lang="en-US" sz="1100" cap="none" spc="0">
                          <a:solidFill>
                            <a:schemeClr val="tx1"/>
                          </a:solidFill>
                          <a:effectLst/>
                        </a:rPr>
                        <a:t>1–2 years</a:t>
                      </a:r>
                    </a:p>
                  </a:txBody>
                  <a:tcPr marL="34536" marR="5291" marT="80072" marB="74004" anchor="ctr"/>
                </a:tc>
                <a:tc>
                  <a:txBody>
                    <a:bodyPr/>
                    <a:lstStyle/>
                    <a:p>
                      <a:pPr fontAlgn="ctr"/>
                      <a:r>
                        <a:rPr lang="en-US" sz="1100" cap="none" spc="0">
                          <a:solidFill>
                            <a:schemeClr val="tx1"/>
                          </a:solidFill>
                          <a:effectLst/>
                        </a:rPr>
                        <a:t>11–14 hours</a:t>
                      </a:r>
                    </a:p>
                  </a:txBody>
                  <a:tcPr marL="34536" marR="5291" marT="80072" marB="74004" anchor="ctr"/>
                </a:tc>
                <a:tc>
                  <a:txBody>
                    <a:bodyPr/>
                    <a:lstStyle/>
                    <a:p>
                      <a:pPr fontAlgn="ctr"/>
                      <a:r>
                        <a:rPr lang="en-US" sz="1100" cap="none" spc="0">
                          <a:solidFill>
                            <a:schemeClr val="tx1"/>
                          </a:solidFill>
                          <a:effectLst/>
                        </a:rPr>
                        <a:t>9–10 hours</a:t>
                      </a:r>
                      <a:br>
                        <a:rPr lang="en-US" sz="1100" cap="none" spc="0">
                          <a:solidFill>
                            <a:schemeClr val="tx1"/>
                          </a:solidFill>
                          <a:effectLst/>
                        </a:rPr>
                      </a:br>
                      <a:r>
                        <a:rPr lang="en-US" sz="1100" cap="none" spc="0">
                          <a:solidFill>
                            <a:schemeClr val="tx1"/>
                          </a:solidFill>
                          <a:effectLst/>
                        </a:rPr>
                        <a:t>15–16 hours</a:t>
                      </a:r>
                    </a:p>
                  </a:txBody>
                  <a:tcPr marL="34536" marR="5291" marT="80072" marB="74004" anchor="ctr"/>
                </a:tc>
                <a:tc>
                  <a:txBody>
                    <a:bodyPr/>
                    <a:lstStyle/>
                    <a:p>
                      <a:pPr fontAlgn="ctr"/>
                      <a:r>
                        <a:rPr lang="en-US" sz="1100" cap="none" spc="0">
                          <a:solidFill>
                            <a:schemeClr val="tx1"/>
                          </a:solidFill>
                          <a:effectLst/>
                        </a:rPr>
                        <a:t>Fewer than 9 hours</a:t>
                      </a:r>
                      <a:br>
                        <a:rPr lang="en-US" sz="1100" cap="none" spc="0">
                          <a:solidFill>
                            <a:schemeClr val="tx1"/>
                          </a:solidFill>
                          <a:effectLst/>
                        </a:rPr>
                      </a:br>
                      <a:r>
                        <a:rPr lang="en-US" sz="1100" cap="none" spc="0">
                          <a:solidFill>
                            <a:schemeClr val="tx1"/>
                          </a:solidFill>
                          <a:effectLst/>
                        </a:rPr>
                        <a:t>More than 16 hours</a:t>
                      </a:r>
                    </a:p>
                  </a:txBody>
                  <a:tcPr marL="34536" marR="5291" marT="80072" marB="74004" anchor="ctr"/>
                </a:tc>
                <a:extLst>
                  <a:ext uri="{0D108BD9-81ED-4DB2-BD59-A6C34878D82A}">
                    <a16:rowId xmlns:a16="http://schemas.microsoft.com/office/drawing/2014/main" val="2323162245"/>
                  </a:ext>
                </a:extLst>
              </a:tr>
              <a:tr h="571424">
                <a:tc>
                  <a:txBody>
                    <a:bodyPr/>
                    <a:lstStyle/>
                    <a:p>
                      <a:pPr fontAlgn="ctr"/>
                      <a:r>
                        <a:rPr lang="en-US" sz="1100" cap="none" spc="0">
                          <a:solidFill>
                            <a:schemeClr val="tx1"/>
                          </a:solidFill>
                          <a:effectLst/>
                        </a:rPr>
                        <a:t>3–5 years</a:t>
                      </a:r>
                    </a:p>
                  </a:txBody>
                  <a:tcPr marL="34536" marR="5291" marT="80072" marB="74004" anchor="ctr"/>
                </a:tc>
                <a:tc>
                  <a:txBody>
                    <a:bodyPr/>
                    <a:lstStyle/>
                    <a:p>
                      <a:pPr fontAlgn="ctr"/>
                      <a:r>
                        <a:rPr lang="en-US" sz="1100" cap="none" spc="0">
                          <a:solidFill>
                            <a:schemeClr val="tx1"/>
                          </a:solidFill>
                          <a:effectLst/>
                        </a:rPr>
                        <a:t>10–13 hours</a:t>
                      </a:r>
                    </a:p>
                  </a:txBody>
                  <a:tcPr marL="34536" marR="5291" marT="80072" marB="74004" anchor="ctr"/>
                </a:tc>
                <a:tc>
                  <a:txBody>
                    <a:bodyPr/>
                    <a:lstStyle/>
                    <a:p>
                      <a:pPr fontAlgn="ctr"/>
                      <a:r>
                        <a:rPr lang="en-US" sz="1100" cap="none" spc="0" dirty="0">
                          <a:solidFill>
                            <a:schemeClr val="tx1"/>
                          </a:solidFill>
                          <a:effectLst/>
                        </a:rPr>
                        <a:t>8–9 hours</a:t>
                      </a:r>
                      <a:br>
                        <a:rPr lang="en-US" sz="1100" cap="none" spc="0" dirty="0">
                          <a:solidFill>
                            <a:schemeClr val="tx1"/>
                          </a:solidFill>
                          <a:effectLst/>
                        </a:rPr>
                      </a:br>
                      <a:r>
                        <a:rPr lang="en-US" sz="1100" cap="none" spc="0" dirty="0">
                          <a:solidFill>
                            <a:schemeClr val="tx1"/>
                          </a:solidFill>
                          <a:effectLst/>
                        </a:rPr>
                        <a:t>14 hours</a:t>
                      </a:r>
                    </a:p>
                  </a:txBody>
                  <a:tcPr marL="34536" marR="5291" marT="80072" marB="74004" anchor="ctr"/>
                </a:tc>
                <a:tc>
                  <a:txBody>
                    <a:bodyPr/>
                    <a:lstStyle/>
                    <a:p>
                      <a:pPr fontAlgn="ctr"/>
                      <a:r>
                        <a:rPr lang="en-US" sz="1100" cap="none" spc="0">
                          <a:solidFill>
                            <a:schemeClr val="tx1"/>
                          </a:solidFill>
                          <a:effectLst/>
                        </a:rPr>
                        <a:t>Fewer than 8 hours</a:t>
                      </a:r>
                      <a:br>
                        <a:rPr lang="en-US" sz="1100" cap="none" spc="0">
                          <a:solidFill>
                            <a:schemeClr val="tx1"/>
                          </a:solidFill>
                          <a:effectLst/>
                        </a:rPr>
                      </a:br>
                      <a:r>
                        <a:rPr lang="en-US" sz="1100" cap="none" spc="0">
                          <a:solidFill>
                            <a:schemeClr val="tx1"/>
                          </a:solidFill>
                          <a:effectLst/>
                        </a:rPr>
                        <a:t>More than 14 hours</a:t>
                      </a:r>
                    </a:p>
                  </a:txBody>
                  <a:tcPr marL="34536" marR="5291" marT="80072" marB="74004" anchor="ctr"/>
                </a:tc>
                <a:extLst>
                  <a:ext uri="{0D108BD9-81ED-4DB2-BD59-A6C34878D82A}">
                    <a16:rowId xmlns:a16="http://schemas.microsoft.com/office/drawing/2014/main" val="2749592386"/>
                  </a:ext>
                </a:extLst>
              </a:tr>
              <a:tr h="571424">
                <a:tc>
                  <a:txBody>
                    <a:bodyPr/>
                    <a:lstStyle/>
                    <a:p>
                      <a:pPr fontAlgn="ctr"/>
                      <a:r>
                        <a:rPr lang="en-US" sz="1100" cap="none" spc="0">
                          <a:solidFill>
                            <a:schemeClr val="tx1"/>
                          </a:solidFill>
                          <a:effectLst/>
                        </a:rPr>
                        <a:t>6–13 years</a:t>
                      </a:r>
                    </a:p>
                  </a:txBody>
                  <a:tcPr marL="34536" marR="5291" marT="80072" marB="74004" anchor="ctr"/>
                </a:tc>
                <a:tc>
                  <a:txBody>
                    <a:bodyPr/>
                    <a:lstStyle/>
                    <a:p>
                      <a:pPr fontAlgn="ctr"/>
                      <a:r>
                        <a:rPr lang="en-US" sz="1100" cap="none" spc="0">
                          <a:solidFill>
                            <a:schemeClr val="tx1"/>
                          </a:solidFill>
                          <a:effectLst/>
                        </a:rPr>
                        <a:t>9–11 hours</a:t>
                      </a:r>
                    </a:p>
                  </a:txBody>
                  <a:tcPr marL="34536" marR="5291" marT="80072" marB="74004" anchor="ctr"/>
                </a:tc>
                <a:tc>
                  <a:txBody>
                    <a:bodyPr/>
                    <a:lstStyle/>
                    <a:p>
                      <a:pPr fontAlgn="ctr"/>
                      <a:r>
                        <a:rPr lang="en-US" sz="1100" cap="none" spc="0">
                          <a:solidFill>
                            <a:schemeClr val="tx1"/>
                          </a:solidFill>
                          <a:effectLst/>
                        </a:rPr>
                        <a:t>7–8 hours</a:t>
                      </a:r>
                      <a:br>
                        <a:rPr lang="en-US" sz="1100" cap="none" spc="0">
                          <a:solidFill>
                            <a:schemeClr val="tx1"/>
                          </a:solidFill>
                          <a:effectLst/>
                        </a:rPr>
                      </a:br>
                      <a:r>
                        <a:rPr lang="en-US" sz="1100" cap="none" spc="0">
                          <a:solidFill>
                            <a:schemeClr val="tx1"/>
                          </a:solidFill>
                          <a:effectLst/>
                        </a:rPr>
                        <a:t>12 hours</a:t>
                      </a:r>
                    </a:p>
                  </a:txBody>
                  <a:tcPr marL="34536" marR="5291" marT="80072" marB="74004" anchor="ctr"/>
                </a:tc>
                <a:tc>
                  <a:txBody>
                    <a:bodyPr/>
                    <a:lstStyle/>
                    <a:p>
                      <a:pPr fontAlgn="ctr"/>
                      <a:r>
                        <a:rPr lang="en-US" sz="1100" cap="none" spc="0">
                          <a:solidFill>
                            <a:schemeClr val="tx1"/>
                          </a:solidFill>
                          <a:effectLst/>
                        </a:rPr>
                        <a:t>Fewer than 7 hours</a:t>
                      </a:r>
                      <a:br>
                        <a:rPr lang="en-US" sz="1100" cap="none" spc="0">
                          <a:solidFill>
                            <a:schemeClr val="tx1"/>
                          </a:solidFill>
                          <a:effectLst/>
                        </a:rPr>
                      </a:br>
                      <a:r>
                        <a:rPr lang="en-US" sz="1100" cap="none" spc="0">
                          <a:solidFill>
                            <a:schemeClr val="tx1"/>
                          </a:solidFill>
                          <a:effectLst/>
                        </a:rPr>
                        <a:t>More than 12 hours</a:t>
                      </a:r>
                    </a:p>
                  </a:txBody>
                  <a:tcPr marL="34536" marR="5291" marT="80072" marB="74004" anchor="ctr"/>
                </a:tc>
                <a:extLst>
                  <a:ext uri="{0D108BD9-81ED-4DB2-BD59-A6C34878D82A}">
                    <a16:rowId xmlns:a16="http://schemas.microsoft.com/office/drawing/2014/main" val="3991490011"/>
                  </a:ext>
                </a:extLst>
              </a:tr>
              <a:tr h="571424">
                <a:tc>
                  <a:txBody>
                    <a:bodyPr/>
                    <a:lstStyle/>
                    <a:p>
                      <a:pPr fontAlgn="ctr"/>
                      <a:r>
                        <a:rPr lang="en-US" sz="1100" cap="none" spc="0">
                          <a:solidFill>
                            <a:schemeClr val="tx1"/>
                          </a:solidFill>
                          <a:effectLst/>
                        </a:rPr>
                        <a:t>14–17 years</a:t>
                      </a:r>
                    </a:p>
                  </a:txBody>
                  <a:tcPr marL="34536" marR="5291" marT="80072" marB="74004" anchor="ctr"/>
                </a:tc>
                <a:tc>
                  <a:txBody>
                    <a:bodyPr/>
                    <a:lstStyle/>
                    <a:p>
                      <a:pPr fontAlgn="ctr"/>
                      <a:r>
                        <a:rPr lang="en-US" sz="1100" cap="none" spc="0" dirty="0">
                          <a:solidFill>
                            <a:schemeClr val="tx1"/>
                          </a:solidFill>
                          <a:effectLst/>
                        </a:rPr>
                        <a:t>8–10 hours</a:t>
                      </a:r>
                    </a:p>
                  </a:txBody>
                  <a:tcPr marL="34536" marR="5291" marT="80072" marB="74004" anchor="ctr"/>
                </a:tc>
                <a:tc>
                  <a:txBody>
                    <a:bodyPr/>
                    <a:lstStyle/>
                    <a:p>
                      <a:pPr fontAlgn="ctr"/>
                      <a:r>
                        <a:rPr lang="en-US" sz="1100" cap="none" spc="0">
                          <a:solidFill>
                            <a:schemeClr val="tx1"/>
                          </a:solidFill>
                          <a:effectLst/>
                        </a:rPr>
                        <a:t>7 hours</a:t>
                      </a:r>
                      <a:br>
                        <a:rPr lang="en-US" sz="1100" cap="none" spc="0">
                          <a:solidFill>
                            <a:schemeClr val="tx1"/>
                          </a:solidFill>
                          <a:effectLst/>
                        </a:rPr>
                      </a:br>
                      <a:r>
                        <a:rPr lang="en-US" sz="1100" cap="none" spc="0">
                          <a:solidFill>
                            <a:schemeClr val="tx1"/>
                          </a:solidFill>
                          <a:effectLst/>
                        </a:rPr>
                        <a:t>11 hours</a:t>
                      </a:r>
                    </a:p>
                  </a:txBody>
                  <a:tcPr marL="34536" marR="5291" marT="80072" marB="74004" anchor="ctr"/>
                </a:tc>
                <a:tc>
                  <a:txBody>
                    <a:bodyPr/>
                    <a:lstStyle/>
                    <a:p>
                      <a:pPr fontAlgn="ctr"/>
                      <a:r>
                        <a:rPr lang="en-US" sz="1100" cap="none" spc="0">
                          <a:solidFill>
                            <a:schemeClr val="tx1"/>
                          </a:solidFill>
                          <a:effectLst/>
                        </a:rPr>
                        <a:t>Fewer than 7 hours</a:t>
                      </a:r>
                      <a:br>
                        <a:rPr lang="en-US" sz="1100" cap="none" spc="0">
                          <a:solidFill>
                            <a:schemeClr val="tx1"/>
                          </a:solidFill>
                          <a:effectLst/>
                        </a:rPr>
                      </a:br>
                      <a:r>
                        <a:rPr lang="en-US" sz="1100" cap="none" spc="0">
                          <a:solidFill>
                            <a:schemeClr val="tx1"/>
                          </a:solidFill>
                          <a:effectLst/>
                        </a:rPr>
                        <a:t>More than 11 hours</a:t>
                      </a:r>
                    </a:p>
                  </a:txBody>
                  <a:tcPr marL="34536" marR="5291" marT="80072" marB="74004" anchor="ctr"/>
                </a:tc>
                <a:extLst>
                  <a:ext uri="{0D108BD9-81ED-4DB2-BD59-A6C34878D82A}">
                    <a16:rowId xmlns:a16="http://schemas.microsoft.com/office/drawing/2014/main" val="456313671"/>
                  </a:ext>
                </a:extLst>
              </a:tr>
              <a:tr h="571424">
                <a:tc>
                  <a:txBody>
                    <a:bodyPr/>
                    <a:lstStyle/>
                    <a:p>
                      <a:pPr fontAlgn="ctr"/>
                      <a:r>
                        <a:rPr lang="en-US" sz="1100" cap="none" spc="0">
                          <a:solidFill>
                            <a:schemeClr val="tx1"/>
                          </a:solidFill>
                          <a:effectLst/>
                        </a:rPr>
                        <a:t>18–25 years</a:t>
                      </a:r>
                    </a:p>
                  </a:txBody>
                  <a:tcPr marL="34536" marR="5291" marT="80072" marB="74004" anchor="ctr"/>
                </a:tc>
                <a:tc>
                  <a:txBody>
                    <a:bodyPr/>
                    <a:lstStyle/>
                    <a:p>
                      <a:pPr fontAlgn="ctr"/>
                      <a:r>
                        <a:rPr lang="en-US" sz="1100" cap="none" spc="0">
                          <a:solidFill>
                            <a:schemeClr val="tx1"/>
                          </a:solidFill>
                          <a:effectLst/>
                        </a:rPr>
                        <a:t>7–9 hours</a:t>
                      </a:r>
                    </a:p>
                  </a:txBody>
                  <a:tcPr marL="34536" marR="5291" marT="80072" marB="74004" anchor="ctr"/>
                </a:tc>
                <a:tc>
                  <a:txBody>
                    <a:bodyPr/>
                    <a:lstStyle/>
                    <a:p>
                      <a:pPr fontAlgn="ctr"/>
                      <a:r>
                        <a:rPr lang="en-US" sz="1100" cap="none" spc="0">
                          <a:solidFill>
                            <a:schemeClr val="tx1"/>
                          </a:solidFill>
                          <a:effectLst/>
                        </a:rPr>
                        <a:t>6 hours</a:t>
                      </a:r>
                      <a:br>
                        <a:rPr lang="en-US" sz="1100" cap="none" spc="0">
                          <a:solidFill>
                            <a:schemeClr val="tx1"/>
                          </a:solidFill>
                          <a:effectLst/>
                        </a:rPr>
                      </a:br>
                      <a:r>
                        <a:rPr lang="en-US" sz="1100" cap="none" spc="0">
                          <a:solidFill>
                            <a:schemeClr val="tx1"/>
                          </a:solidFill>
                          <a:effectLst/>
                        </a:rPr>
                        <a:t>10–11 hours</a:t>
                      </a:r>
                    </a:p>
                  </a:txBody>
                  <a:tcPr marL="34536" marR="5291" marT="80072" marB="74004" anchor="ctr"/>
                </a:tc>
                <a:tc>
                  <a:txBody>
                    <a:bodyPr/>
                    <a:lstStyle/>
                    <a:p>
                      <a:pPr fontAlgn="ctr"/>
                      <a:r>
                        <a:rPr lang="en-US" sz="1100" cap="none" spc="0">
                          <a:solidFill>
                            <a:schemeClr val="tx1"/>
                          </a:solidFill>
                          <a:effectLst/>
                        </a:rPr>
                        <a:t>Fewer than 6 hours</a:t>
                      </a:r>
                      <a:br>
                        <a:rPr lang="en-US" sz="1100" cap="none" spc="0">
                          <a:solidFill>
                            <a:schemeClr val="tx1"/>
                          </a:solidFill>
                          <a:effectLst/>
                        </a:rPr>
                      </a:br>
                      <a:r>
                        <a:rPr lang="en-US" sz="1100" cap="none" spc="0">
                          <a:solidFill>
                            <a:schemeClr val="tx1"/>
                          </a:solidFill>
                          <a:effectLst/>
                        </a:rPr>
                        <a:t>More than 11 hours</a:t>
                      </a:r>
                    </a:p>
                  </a:txBody>
                  <a:tcPr marL="34536" marR="5291" marT="80072" marB="74004" anchor="ctr"/>
                </a:tc>
                <a:extLst>
                  <a:ext uri="{0D108BD9-81ED-4DB2-BD59-A6C34878D82A}">
                    <a16:rowId xmlns:a16="http://schemas.microsoft.com/office/drawing/2014/main" val="3072041533"/>
                  </a:ext>
                </a:extLst>
              </a:tr>
              <a:tr h="571424">
                <a:tc>
                  <a:txBody>
                    <a:bodyPr/>
                    <a:lstStyle/>
                    <a:p>
                      <a:pPr fontAlgn="ctr"/>
                      <a:r>
                        <a:rPr lang="en-US" sz="1100" cap="none" spc="0">
                          <a:solidFill>
                            <a:schemeClr val="tx1"/>
                          </a:solidFill>
                          <a:effectLst/>
                        </a:rPr>
                        <a:t>26–64 years</a:t>
                      </a:r>
                    </a:p>
                  </a:txBody>
                  <a:tcPr marL="34536" marR="5291" marT="80072" marB="74004" anchor="ctr"/>
                </a:tc>
                <a:tc>
                  <a:txBody>
                    <a:bodyPr/>
                    <a:lstStyle/>
                    <a:p>
                      <a:pPr fontAlgn="ctr"/>
                      <a:r>
                        <a:rPr lang="en-US" sz="1100" cap="none" spc="0">
                          <a:solidFill>
                            <a:schemeClr val="tx1"/>
                          </a:solidFill>
                          <a:effectLst/>
                        </a:rPr>
                        <a:t>7–9 hours</a:t>
                      </a:r>
                    </a:p>
                  </a:txBody>
                  <a:tcPr marL="34536" marR="5291" marT="80072" marB="74004" anchor="ctr"/>
                </a:tc>
                <a:tc>
                  <a:txBody>
                    <a:bodyPr/>
                    <a:lstStyle/>
                    <a:p>
                      <a:pPr fontAlgn="ctr"/>
                      <a:r>
                        <a:rPr lang="en-US" sz="1100" cap="none" spc="0">
                          <a:solidFill>
                            <a:schemeClr val="tx1"/>
                          </a:solidFill>
                          <a:effectLst/>
                        </a:rPr>
                        <a:t>6 hours</a:t>
                      </a:r>
                      <a:br>
                        <a:rPr lang="en-US" sz="1100" cap="none" spc="0">
                          <a:solidFill>
                            <a:schemeClr val="tx1"/>
                          </a:solidFill>
                          <a:effectLst/>
                        </a:rPr>
                      </a:br>
                      <a:r>
                        <a:rPr lang="en-US" sz="1100" cap="none" spc="0">
                          <a:solidFill>
                            <a:schemeClr val="tx1"/>
                          </a:solidFill>
                          <a:effectLst/>
                        </a:rPr>
                        <a:t>10 hours</a:t>
                      </a:r>
                    </a:p>
                  </a:txBody>
                  <a:tcPr marL="34536" marR="5291" marT="80072" marB="74004" anchor="ctr"/>
                </a:tc>
                <a:tc>
                  <a:txBody>
                    <a:bodyPr/>
                    <a:lstStyle/>
                    <a:p>
                      <a:pPr fontAlgn="ctr"/>
                      <a:r>
                        <a:rPr lang="en-US" sz="1100" cap="none" spc="0">
                          <a:solidFill>
                            <a:schemeClr val="tx1"/>
                          </a:solidFill>
                          <a:effectLst/>
                        </a:rPr>
                        <a:t>Fewer than 6 hours</a:t>
                      </a:r>
                      <a:br>
                        <a:rPr lang="en-US" sz="1100" cap="none" spc="0">
                          <a:solidFill>
                            <a:schemeClr val="tx1"/>
                          </a:solidFill>
                          <a:effectLst/>
                        </a:rPr>
                      </a:br>
                      <a:r>
                        <a:rPr lang="en-US" sz="1100" cap="none" spc="0">
                          <a:solidFill>
                            <a:schemeClr val="tx1"/>
                          </a:solidFill>
                          <a:effectLst/>
                        </a:rPr>
                        <a:t>More than 10 hours</a:t>
                      </a:r>
                    </a:p>
                  </a:txBody>
                  <a:tcPr marL="34536" marR="5291" marT="80072" marB="74004" anchor="ctr"/>
                </a:tc>
                <a:extLst>
                  <a:ext uri="{0D108BD9-81ED-4DB2-BD59-A6C34878D82A}">
                    <a16:rowId xmlns:a16="http://schemas.microsoft.com/office/drawing/2014/main" val="4118747291"/>
                  </a:ext>
                </a:extLst>
              </a:tr>
              <a:tr h="571424">
                <a:tc>
                  <a:txBody>
                    <a:bodyPr/>
                    <a:lstStyle/>
                    <a:p>
                      <a:pPr fontAlgn="ctr"/>
                      <a:r>
                        <a:rPr lang="en-US" sz="1100" cap="none" spc="0">
                          <a:solidFill>
                            <a:schemeClr val="tx1"/>
                          </a:solidFill>
                          <a:effectLst/>
                        </a:rPr>
                        <a:t>≥65 years</a:t>
                      </a:r>
                    </a:p>
                  </a:txBody>
                  <a:tcPr marL="34536" marR="5291" marT="80072" marB="74004" anchor="ctr"/>
                </a:tc>
                <a:tc>
                  <a:txBody>
                    <a:bodyPr/>
                    <a:lstStyle/>
                    <a:p>
                      <a:pPr fontAlgn="ctr"/>
                      <a:r>
                        <a:rPr lang="en-US" sz="1100" cap="none" spc="0">
                          <a:solidFill>
                            <a:schemeClr val="tx1"/>
                          </a:solidFill>
                          <a:effectLst/>
                        </a:rPr>
                        <a:t>7–8 hours</a:t>
                      </a:r>
                    </a:p>
                  </a:txBody>
                  <a:tcPr marL="34536" marR="5291" marT="80072" marB="74004" anchor="ctr"/>
                </a:tc>
                <a:tc>
                  <a:txBody>
                    <a:bodyPr/>
                    <a:lstStyle/>
                    <a:p>
                      <a:pPr fontAlgn="ctr"/>
                      <a:r>
                        <a:rPr lang="en-US" sz="1100" cap="none" spc="0">
                          <a:solidFill>
                            <a:schemeClr val="tx1"/>
                          </a:solidFill>
                          <a:effectLst/>
                        </a:rPr>
                        <a:t>5–6 hours</a:t>
                      </a:r>
                      <a:br>
                        <a:rPr lang="en-US" sz="1100" cap="none" spc="0">
                          <a:solidFill>
                            <a:schemeClr val="tx1"/>
                          </a:solidFill>
                          <a:effectLst/>
                        </a:rPr>
                      </a:br>
                      <a:r>
                        <a:rPr lang="en-US" sz="1100" cap="none" spc="0">
                          <a:solidFill>
                            <a:schemeClr val="tx1"/>
                          </a:solidFill>
                          <a:effectLst/>
                        </a:rPr>
                        <a:t>9 hours</a:t>
                      </a:r>
                    </a:p>
                  </a:txBody>
                  <a:tcPr marL="34536" marR="5291" marT="80072" marB="74004" anchor="ctr"/>
                </a:tc>
                <a:tc>
                  <a:txBody>
                    <a:bodyPr/>
                    <a:lstStyle/>
                    <a:p>
                      <a:pPr fontAlgn="ctr"/>
                      <a:r>
                        <a:rPr lang="en-US" sz="1100" cap="none" spc="0" dirty="0">
                          <a:solidFill>
                            <a:schemeClr val="tx1"/>
                          </a:solidFill>
                          <a:effectLst/>
                        </a:rPr>
                        <a:t>Fewer than 5 hours</a:t>
                      </a:r>
                      <a:br>
                        <a:rPr lang="en-US" sz="1100" cap="none" spc="0" dirty="0">
                          <a:solidFill>
                            <a:schemeClr val="tx1"/>
                          </a:solidFill>
                          <a:effectLst/>
                        </a:rPr>
                      </a:br>
                      <a:r>
                        <a:rPr lang="en-US" sz="1100" cap="none" spc="0" dirty="0">
                          <a:solidFill>
                            <a:schemeClr val="tx1"/>
                          </a:solidFill>
                          <a:effectLst/>
                        </a:rPr>
                        <a:t>More than 9 hours</a:t>
                      </a:r>
                    </a:p>
                  </a:txBody>
                  <a:tcPr marL="34536" marR="5291" marT="80072" marB="74004" anchor="ctr"/>
                </a:tc>
                <a:extLst>
                  <a:ext uri="{0D108BD9-81ED-4DB2-BD59-A6C34878D82A}">
                    <a16:rowId xmlns:a16="http://schemas.microsoft.com/office/drawing/2014/main" val="305235642"/>
                  </a:ext>
                </a:extLst>
              </a:tr>
            </a:tbl>
          </a:graphicData>
        </a:graphic>
      </p:graphicFrame>
    </p:spTree>
    <p:extLst>
      <p:ext uri="{BB962C8B-B14F-4D97-AF65-F5344CB8AC3E}">
        <p14:creationId xmlns:p14="http://schemas.microsoft.com/office/powerpoint/2010/main" val="264988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029D3-175D-B02E-47EC-8D3A404637C3}"/>
              </a:ext>
            </a:extLst>
          </p:cNvPr>
          <p:cNvSpPr>
            <a:spLocks noGrp="1"/>
          </p:cNvSpPr>
          <p:nvPr>
            <p:ph type="title"/>
          </p:nvPr>
        </p:nvSpPr>
        <p:spPr>
          <a:xfrm>
            <a:off x="1261872" y="365760"/>
            <a:ext cx="9692640" cy="1325562"/>
          </a:xfrm>
        </p:spPr>
        <p:txBody>
          <a:bodyPr>
            <a:normAutofit/>
          </a:bodyPr>
          <a:lstStyle/>
          <a:p>
            <a:r>
              <a:rPr lang="en-US" dirty="0"/>
              <a:t>What can cause an unhealthy sleep schedule?</a:t>
            </a:r>
          </a:p>
        </p:txBody>
      </p:sp>
      <p:sp>
        <p:nvSpPr>
          <p:cNvPr id="5" name="Slide Number Placeholder 4">
            <a:extLst>
              <a:ext uri="{FF2B5EF4-FFF2-40B4-BE49-F238E27FC236}">
                <a16:creationId xmlns:a16="http://schemas.microsoft.com/office/drawing/2014/main" id="{0F20033B-663C-EE54-2A4E-C061327111B5}"/>
              </a:ext>
            </a:extLst>
          </p:cNvPr>
          <p:cNvSpPr>
            <a:spLocks noGrp="1"/>
          </p:cNvSpPr>
          <p:nvPr>
            <p:ph type="sldNum" sz="quarter" idx="4"/>
          </p:nvPr>
        </p:nvSpPr>
        <p:spPr>
          <a:xfrm>
            <a:off x="11292840" y="6172200"/>
            <a:ext cx="914400" cy="593725"/>
          </a:xfrm>
          <a:prstGeom prst="rect">
            <a:avLst/>
          </a:prstGeom>
        </p:spPr>
        <p:txBody>
          <a:bodyPr vert="horz" lIns="91440" tIns="91440" rIns="91440" bIns="45720" rtlCol="0">
            <a:normAutofit/>
          </a:bodyPr>
          <a:lstStyle>
            <a:defPPr>
              <a:defRPr lang="en-US"/>
            </a:defPPr>
            <a:lvl1pPr marL="0" algn="ctr" defTabSz="914400" rtl="0" eaLnBrk="1" latinLnBrk="0" hangingPunct="1">
              <a:defRPr lang="en-US" sz="1800" kern="1200" smtClean="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94A09A9-5501-47C1-A89A-A340965A2BE2}" type="slidenum">
              <a:rPr lang="en-US" smtClean="0"/>
              <a:pPr>
                <a:spcAft>
                  <a:spcPts val="600"/>
                </a:spcAft>
              </a:pPr>
              <a:t>6</a:t>
            </a:fld>
            <a:endParaRPr lang="en-US"/>
          </a:p>
        </p:txBody>
      </p:sp>
      <p:graphicFrame>
        <p:nvGraphicFramePr>
          <p:cNvPr id="7" name="Text Placeholder 2">
            <a:extLst>
              <a:ext uri="{FF2B5EF4-FFF2-40B4-BE49-F238E27FC236}">
                <a16:creationId xmlns:a16="http://schemas.microsoft.com/office/drawing/2014/main" id="{BE48B920-7340-77EF-79AB-822974F7F4DA}"/>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809050506"/>
              </p:ext>
            </p:extLst>
          </p:nvPr>
        </p:nvGraphicFramePr>
        <p:xfrm>
          <a:off x="1262063" y="2013054"/>
          <a:ext cx="8777329" cy="4201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9999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5EDA4-E59E-FA53-BC15-8042F98A50F7}"/>
              </a:ext>
            </a:extLst>
          </p:cNvPr>
          <p:cNvSpPr>
            <a:spLocks noGrp="1"/>
          </p:cNvSpPr>
          <p:nvPr>
            <p:ph type="title"/>
          </p:nvPr>
        </p:nvSpPr>
        <p:spPr>
          <a:xfrm>
            <a:off x="335280" y="323080"/>
            <a:ext cx="7437120" cy="2109186"/>
          </a:xfrm>
        </p:spPr>
        <p:txBody>
          <a:bodyPr anchor="ctr">
            <a:normAutofit/>
          </a:bodyPr>
          <a:lstStyle/>
          <a:p>
            <a:r>
              <a:rPr lang="en-US" dirty="0"/>
              <a:t>Ramifications of Poor Sleep</a:t>
            </a:r>
          </a:p>
        </p:txBody>
      </p:sp>
      <p:pic>
        <p:nvPicPr>
          <p:cNvPr id="8" name="Figure" descr="An illustration of the top half of a human body identifies the locations in the body that correspond with various adverse affects of sleep deprivation. The brain is labeled with Irritability,&quot; &quot;Cognitive impairment,&quot; &quot;Memory lapses or loss,&quot; &quot;Impaired moral judgement,&quot; &quot;Severe yawning,&quot; &quot;Hallucinations,&quot; and &quot;Symptoms similar to ADHD.&quot; The heart is labeled with Increased heart rate variability and Risk of heart disease. The muscles are labeled with Increased reaction time, Decreased accuracy, Tremors, and Aches. There is an organ near the stomach labeled Risk of diabetes Type 2. Other risks include Growth suppression, Risk of obesity, Decreased temperature, and Impaired immune system.">
            <a:extLst>
              <a:ext uri="{FF2B5EF4-FFF2-40B4-BE49-F238E27FC236}">
                <a16:creationId xmlns:a16="http://schemas.microsoft.com/office/drawing/2014/main" id="{AD75A27B-D6ED-585D-A3AB-9DE805818742}"/>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287262" y="1952432"/>
            <a:ext cx="8565398" cy="4582487"/>
          </a:xfrm>
          <a:prstGeom prst="rect">
            <a:avLst/>
          </a:prstGeom>
          <a:noFill/>
        </p:spPr>
      </p:pic>
      <p:sp>
        <p:nvSpPr>
          <p:cNvPr id="5" name="Slide Number Placeholder 4">
            <a:extLst>
              <a:ext uri="{FF2B5EF4-FFF2-40B4-BE49-F238E27FC236}">
                <a16:creationId xmlns:a16="http://schemas.microsoft.com/office/drawing/2014/main" id="{00765202-2CEC-E9FE-C4C6-264CA8B9BB64}"/>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normAutofit/>
          </a:bodyPr>
          <a:lstStyle>
            <a:defPPr>
              <a:defRPr lang="en-US"/>
            </a:defPPr>
            <a:lvl1pPr marL="0" algn="ctr" defTabSz="914400" rtl="0" eaLnBrk="1" latinLnBrk="0" hangingPunct="1">
              <a:defRPr lang="en-US" sz="1800" kern="1200" smtClean="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294A09A9-5501-47C1-A89A-A340965A2BE2}" type="slidenum">
              <a:rPr lang="en-US" smtClean="0"/>
              <a:pPr>
                <a:spcAft>
                  <a:spcPts val="600"/>
                </a:spcAft>
              </a:pPr>
              <a:t>7</a:t>
            </a:fld>
            <a:endParaRPr lang="en-US"/>
          </a:p>
        </p:txBody>
      </p:sp>
    </p:spTree>
    <p:extLst>
      <p:ext uri="{BB962C8B-B14F-4D97-AF65-F5344CB8AC3E}">
        <p14:creationId xmlns:p14="http://schemas.microsoft.com/office/powerpoint/2010/main" val="44694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667329-FE05-036A-8054-C41F13A433C6}"/>
              </a:ext>
            </a:extLst>
          </p:cNvPr>
          <p:cNvSpPr>
            <a:spLocks noGrp="1"/>
          </p:cNvSpPr>
          <p:nvPr>
            <p:ph type="title"/>
          </p:nvPr>
        </p:nvSpPr>
        <p:spPr>
          <a:xfrm>
            <a:off x="598932" y="1497648"/>
            <a:ext cx="4834128" cy="1325562"/>
          </a:xfrm>
        </p:spPr>
        <p:txBody>
          <a:bodyPr anchor="b">
            <a:normAutofit/>
          </a:bodyPr>
          <a:lstStyle/>
          <a:p>
            <a:r>
              <a:rPr lang="en-US" dirty="0"/>
              <a:t>Types of Brain Waves</a:t>
            </a:r>
          </a:p>
        </p:txBody>
      </p:sp>
      <p:sp>
        <p:nvSpPr>
          <p:cNvPr id="8" name="Content Placeholder 7">
            <a:extLst>
              <a:ext uri="{FF2B5EF4-FFF2-40B4-BE49-F238E27FC236}">
                <a16:creationId xmlns:a16="http://schemas.microsoft.com/office/drawing/2014/main" id="{A78B2661-BA73-D632-1D3B-CE33C78F88E6}"/>
              </a:ext>
            </a:extLst>
          </p:cNvPr>
          <p:cNvSpPr>
            <a:spLocks noGrp="1"/>
          </p:cNvSpPr>
          <p:nvPr>
            <p:ph sz="half" idx="1"/>
          </p:nvPr>
        </p:nvSpPr>
        <p:spPr>
          <a:xfrm>
            <a:off x="793242" y="3829050"/>
            <a:ext cx="3252978" cy="2145347"/>
          </a:xfrm>
        </p:spPr>
        <p:txBody>
          <a:bodyPr>
            <a:normAutofit/>
          </a:bodyPr>
          <a:lstStyle/>
          <a:p>
            <a:r>
              <a:rPr lang="en-US" b="1" dirty="0"/>
              <a:t>Amplitude</a:t>
            </a:r>
            <a:r>
              <a:rPr lang="en-US" dirty="0"/>
              <a:t>: the height of a wave; determines loudness</a:t>
            </a:r>
          </a:p>
          <a:p>
            <a:r>
              <a:rPr lang="en-US" b="1" dirty="0"/>
              <a:t>Frequency</a:t>
            </a:r>
            <a:r>
              <a:rPr lang="en-US" dirty="0"/>
              <a:t>: the distance between waves; determines pitch</a:t>
            </a:r>
          </a:p>
          <a:p>
            <a:endParaRPr lang="en-US" dirty="0"/>
          </a:p>
        </p:txBody>
      </p:sp>
      <p:sp>
        <p:nvSpPr>
          <p:cNvPr id="5" name="Slide Number Placeholder 4">
            <a:extLst>
              <a:ext uri="{FF2B5EF4-FFF2-40B4-BE49-F238E27FC236}">
                <a16:creationId xmlns:a16="http://schemas.microsoft.com/office/drawing/2014/main" id="{0638F99B-E426-C686-55AD-44693979BAA0}"/>
              </a:ext>
            </a:extLst>
          </p:cNvPr>
          <p:cNvSpPr>
            <a:spLocks noGrp="1"/>
          </p:cNvSpPr>
          <p:nvPr>
            <p:ph type="sldNum" sz="quarter" idx="12"/>
          </p:nvPr>
        </p:nvSpPr>
        <p:spPr/>
        <p:txBody>
          <a:bodyPr anchor="ctr">
            <a:normAutofit lnSpcReduction="10000"/>
          </a:bodyPr>
          <a:lstStyle/>
          <a:p>
            <a:pPr>
              <a:spcAft>
                <a:spcPts val="600"/>
              </a:spcAft>
            </a:pPr>
            <a:fld id="{294A09A9-5501-47C1-A89A-A340965A2BE2}" type="slidenum">
              <a:rPr lang="en-US" smtClean="0"/>
              <a:pPr>
                <a:spcAft>
                  <a:spcPts val="600"/>
                </a:spcAft>
              </a:pPr>
              <a:t>8</a:t>
            </a:fld>
            <a:endParaRPr lang="en-US"/>
          </a:p>
        </p:txBody>
      </p:sp>
      <p:pic>
        <p:nvPicPr>
          <p:cNvPr id="15" name="Picture 2" descr="This is Your Brain on TrueDark® Twilights | TrueDark">
            <a:extLst>
              <a:ext uri="{FF2B5EF4-FFF2-40B4-BE49-F238E27FC236}">
                <a16:creationId xmlns:a16="http://schemas.microsoft.com/office/drawing/2014/main" id="{D0FF71D8-7FDF-CC0D-D835-33479B8788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84"/>
          <a:stretch/>
        </p:blipFill>
        <p:spPr bwMode="auto">
          <a:xfrm>
            <a:off x="4867139" y="890833"/>
            <a:ext cx="6840120" cy="516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446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785C-B2F3-6759-2115-92954AFAE579}"/>
              </a:ext>
            </a:extLst>
          </p:cNvPr>
          <p:cNvSpPr>
            <a:spLocks noGrp="1"/>
          </p:cNvSpPr>
          <p:nvPr>
            <p:ph type="title"/>
          </p:nvPr>
        </p:nvSpPr>
        <p:spPr>
          <a:xfrm>
            <a:off x="1261872" y="365760"/>
            <a:ext cx="2418588" cy="2240280"/>
          </a:xfrm>
        </p:spPr>
        <p:txBody>
          <a:bodyPr/>
          <a:lstStyle/>
          <a:p>
            <a:r>
              <a:rPr lang="en-US" dirty="0"/>
              <a:t>Stages of Sleep</a:t>
            </a:r>
          </a:p>
        </p:txBody>
      </p:sp>
      <p:sp>
        <p:nvSpPr>
          <p:cNvPr id="3" name="Text Placeholder 2">
            <a:extLst>
              <a:ext uri="{FF2B5EF4-FFF2-40B4-BE49-F238E27FC236}">
                <a16:creationId xmlns:a16="http://schemas.microsoft.com/office/drawing/2014/main" id="{6B2808A3-AA0A-3081-CF53-E4C70AF3B985}"/>
              </a:ext>
            </a:extLst>
          </p:cNvPr>
          <p:cNvSpPr>
            <a:spLocks noGrp="1"/>
          </p:cNvSpPr>
          <p:nvPr>
            <p:ph type="body" idx="1"/>
          </p:nvPr>
        </p:nvSpPr>
        <p:spPr>
          <a:xfrm>
            <a:off x="1056132" y="2890944"/>
            <a:ext cx="2830068" cy="3441275"/>
          </a:xfrm>
        </p:spPr>
        <p:txBody>
          <a:bodyPr>
            <a:normAutofit/>
          </a:bodyPr>
          <a:lstStyle/>
          <a:p>
            <a:r>
              <a:rPr lang="en-US" b="1" dirty="0">
                <a:solidFill>
                  <a:schemeClr val="tx1"/>
                </a:solidFill>
              </a:rPr>
              <a:t>Rapid Eye Movement (REM)</a:t>
            </a:r>
            <a:r>
              <a:rPr lang="en-US" dirty="0">
                <a:solidFill>
                  <a:schemeClr val="tx1"/>
                </a:solidFill>
              </a:rPr>
              <a:t>: when your eyes are darting about despite your eyelids being closed</a:t>
            </a:r>
          </a:p>
          <a:p>
            <a:r>
              <a:rPr lang="en-US" dirty="0">
                <a:solidFill>
                  <a:schemeClr val="tx1"/>
                </a:solidFill>
              </a:rPr>
              <a:t>Sleep is divided into REM sleep and non-REM (NREM) sleep</a:t>
            </a:r>
          </a:p>
          <a:p>
            <a:endParaRPr lang="en-US" dirty="0">
              <a:solidFill>
                <a:schemeClr val="tx1"/>
              </a:solidFill>
            </a:endParaRPr>
          </a:p>
        </p:txBody>
      </p:sp>
      <p:sp>
        <p:nvSpPr>
          <p:cNvPr id="7" name="Text Placeholder 6">
            <a:extLst>
              <a:ext uri="{FF2B5EF4-FFF2-40B4-BE49-F238E27FC236}">
                <a16:creationId xmlns:a16="http://schemas.microsoft.com/office/drawing/2014/main" id="{6FA16043-29A4-8BA7-C373-68BB8CFCAA07}"/>
              </a:ext>
            </a:extLst>
          </p:cNvPr>
          <p:cNvSpPr>
            <a:spLocks noGrp="1"/>
          </p:cNvSpPr>
          <p:nvPr>
            <p:ph type="body" sz="quarter" idx="3"/>
          </p:nvPr>
        </p:nvSpPr>
        <p:spPr/>
        <p:txBody>
          <a:bodyPr>
            <a:normAutofit/>
          </a:bodyPr>
          <a:lstStyle/>
          <a:p>
            <a:endParaRPr lang="en-US"/>
          </a:p>
        </p:txBody>
      </p:sp>
      <p:sp>
        <p:nvSpPr>
          <p:cNvPr id="6" name="Slide Number Placeholder 5">
            <a:extLst>
              <a:ext uri="{FF2B5EF4-FFF2-40B4-BE49-F238E27FC236}">
                <a16:creationId xmlns:a16="http://schemas.microsoft.com/office/drawing/2014/main" id="{0E64C7CC-22B0-F9AF-A6F7-7675E5CF1CFD}"/>
              </a:ext>
            </a:extLst>
          </p:cNvPr>
          <p:cNvSpPr>
            <a:spLocks noGrp="1"/>
          </p:cNvSpPr>
          <p:nvPr>
            <p:ph type="sldNum" sz="quarter" idx="12"/>
          </p:nvPr>
        </p:nvSpPr>
        <p:spPr/>
        <p:txBody>
          <a:bodyPr>
            <a:normAutofit lnSpcReduction="10000"/>
          </a:bodyPr>
          <a:lstStyle/>
          <a:p>
            <a:fld id="{294A09A9-5501-47C1-A89A-A340965A2BE2}" type="slidenum">
              <a:rPr lang="en-US" smtClean="0"/>
              <a:pPr/>
              <a:t>9</a:t>
            </a:fld>
            <a:endParaRPr lang="en-US" dirty="0"/>
          </a:p>
        </p:txBody>
      </p:sp>
      <p:graphicFrame>
        <p:nvGraphicFramePr>
          <p:cNvPr id="9" name="Table 4">
            <a:extLst>
              <a:ext uri="{FF2B5EF4-FFF2-40B4-BE49-F238E27FC236}">
                <a16:creationId xmlns:a16="http://schemas.microsoft.com/office/drawing/2014/main" id="{73B98728-04E4-1C92-294E-BF814F4669D9}"/>
              </a:ext>
            </a:extLst>
          </p:cNvPr>
          <p:cNvGraphicFramePr>
            <a:graphicFrameLocks/>
          </p:cNvGraphicFramePr>
          <p:nvPr>
            <p:extLst>
              <p:ext uri="{D42A27DB-BD31-4B8C-83A1-F6EECF244321}">
                <p14:modId xmlns:p14="http://schemas.microsoft.com/office/powerpoint/2010/main" val="2129174380"/>
              </p:ext>
            </p:extLst>
          </p:nvPr>
        </p:nvGraphicFramePr>
        <p:xfrm>
          <a:off x="4355710" y="656053"/>
          <a:ext cx="7521527" cy="5516147"/>
        </p:xfrm>
        <a:graphic>
          <a:graphicData uri="http://schemas.openxmlformats.org/drawingml/2006/table">
            <a:tbl>
              <a:tblPr firstRow="1" bandRow="1">
                <a:tableStyleId>{21E4AEA4-8DFA-4A89-87EB-49C32662AFE0}</a:tableStyleId>
              </a:tblPr>
              <a:tblGrid>
                <a:gridCol w="1837533">
                  <a:extLst>
                    <a:ext uri="{9D8B030D-6E8A-4147-A177-3AD203B41FA5}">
                      <a16:colId xmlns:a16="http://schemas.microsoft.com/office/drawing/2014/main" val="1812660932"/>
                    </a:ext>
                  </a:extLst>
                </a:gridCol>
                <a:gridCol w="3495249">
                  <a:extLst>
                    <a:ext uri="{9D8B030D-6E8A-4147-A177-3AD203B41FA5}">
                      <a16:colId xmlns:a16="http://schemas.microsoft.com/office/drawing/2014/main" val="232237984"/>
                    </a:ext>
                  </a:extLst>
                </a:gridCol>
                <a:gridCol w="2188745">
                  <a:extLst>
                    <a:ext uri="{9D8B030D-6E8A-4147-A177-3AD203B41FA5}">
                      <a16:colId xmlns:a16="http://schemas.microsoft.com/office/drawing/2014/main" val="1675708401"/>
                    </a:ext>
                  </a:extLst>
                </a:gridCol>
              </a:tblGrid>
              <a:tr h="304050">
                <a:tc>
                  <a:txBody>
                    <a:bodyPr/>
                    <a:lstStyle/>
                    <a:p>
                      <a:r>
                        <a:rPr lang="en-US" sz="1800" b="1">
                          <a:solidFill>
                            <a:schemeClr val="tx1"/>
                          </a:solidFill>
                        </a:rPr>
                        <a:t>Stage</a:t>
                      </a:r>
                    </a:p>
                  </a:txBody>
                  <a:tcPr marL="93511" marR="93511" marT="46755" marB="46755"/>
                </a:tc>
                <a:tc>
                  <a:txBody>
                    <a:bodyPr/>
                    <a:lstStyle/>
                    <a:p>
                      <a:r>
                        <a:rPr lang="en-US" sz="1800" b="1">
                          <a:solidFill>
                            <a:schemeClr val="tx1"/>
                          </a:solidFill>
                        </a:rPr>
                        <a:t>Description</a:t>
                      </a:r>
                    </a:p>
                  </a:txBody>
                  <a:tcPr marL="93511" marR="93511" marT="46755" marB="46755"/>
                </a:tc>
                <a:tc>
                  <a:txBody>
                    <a:bodyPr/>
                    <a:lstStyle/>
                    <a:p>
                      <a:r>
                        <a:rPr lang="en-US" sz="1800" b="1" dirty="0">
                          <a:solidFill>
                            <a:schemeClr val="tx1"/>
                          </a:solidFill>
                        </a:rPr>
                        <a:t>Wave Type</a:t>
                      </a:r>
                    </a:p>
                  </a:txBody>
                  <a:tcPr marL="93511" marR="93511" marT="46755" marB="46755"/>
                </a:tc>
                <a:extLst>
                  <a:ext uri="{0D108BD9-81ED-4DB2-BD59-A6C34878D82A}">
                    <a16:rowId xmlns:a16="http://schemas.microsoft.com/office/drawing/2014/main" val="4064583907"/>
                  </a:ext>
                </a:extLst>
              </a:tr>
              <a:tr h="757558">
                <a:tc>
                  <a:txBody>
                    <a:bodyPr/>
                    <a:lstStyle/>
                    <a:p>
                      <a:r>
                        <a:rPr lang="en-US" sz="1800" b="1" dirty="0"/>
                        <a:t>Awake</a:t>
                      </a:r>
                    </a:p>
                  </a:txBody>
                  <a:tcPr marL="93511" marR="93511" marT="46755" marB="46755"/>
                </a:tc>
                <a:tc>
                  <a:txBody>
                    <a:bodyPr/>
                    <a:lstStyle/>
                    <a:p>
                      <a:r>
                        <a:rPr lang="en-US" sz="1800"/>
                        <a:t>Responding to stimuli</a:t>
                      </a:r>
                    </a:p>
                  </a:txBody>
                  <a:tcPr marL="93511" marR="93511" marT="46755" marB="46755"/>
                </a:tc>
                <a:tc>
                  <a:txBody>
                    <a:bodyPr/>
                    <a:lstStyle/>
                    <a:p>
                      <a:r>
                        <a:rPr lang="en-US" sz="1800"/>
                        <a:t>Beta or gamma waves</a:t>
                      </a:r>
                    </a:p>
                  </a:txBody>
                  <a:tcPr marL="93511" marR="93511" marT="46755" marB="46755"/>
                </a:tc>
                <a:extLst>
                  <a:ext uri="{0D108BD9-81ED-4DB2-BD59-A6C34878D82A}">
                    <a16:rowId xmlns:a16="http://schemas.microsoft.com/office/drawing/2014/main" val="1202214471"/>
                  </a:ext>
                </a:extLst>
              </a:tr>
              <a:tr h="1211067">
                <a:tc>
                  <a:txBody>
                    <a:bodyPr/>
                    <a:lstStyle/>
                    <a:p>
                      <a:r>
                        <a:rPr lang="en-US" sz="1800" b="1"/>
                        <a:t>NREM Sleep Stage 1</a:t>
                      </a:r>
                    </a:p>
                  </a:txBody>
                  <a:tcPr marL="93511" marR="93511" marT="46755" marB="46755"/>
                </a:tc>
                <a:tc>
                  <a:txBody>
                    <a:bodyPr/>
                    <a:lstStyle/>
                    <a:p>
                      <a:r>
                        <a:rPr lang="en-US" sz="1800" dirty="0"/>
                        <a:t>Drifting to sleep; slow decrease in functions like heart rate and breathing; easy to wake from</a:t>
                      </a:r>
                    </a:p>
                  </a:txBody>
                  <a:tcPr marL="93511" marR="93511" marT="46755" marB="46755"/>
                </a:tc>
                <a:tc>
                  <a:txBody>
                    <a:bodyPr/>
                    <a:lstStyle/>
                    <a:p>
                      <a:r>
                        <a:rPr lang="en-US" sz="1800"/>
                        <a:t>Alpha then theta waves</a:t>
                      </a:r>
                    </a:p>
                  </a:txBody>
                  <a:tcPr marL="93511" marR="93511" marT="46755" marB="46755"/>
                </a:tc>
                <a:extLst>
                  <a:ext uri="{0D108BD9-81ED-4DB2-BD59-A6C34878D82A}">
                    <a16:rowId xmlns:a16="http://schemas.microsoft.com/office/drawing/2014/main" val="4222121426"/>
                  </a:ext>
                </a:extLst>
              </a:tr>
              <a:tr h="984313">
                <a:tc>
                  <a:txBody>
                    <a:bodyPr/>
                    <a:lstStyle/>
                    <a:p>
                      <a:r>
                        <a:rPr lang="en-US" sz="1800" b="1" dirty="0"/>
                        <a:t>NREM Sleep Stage 2</a:t>
                      </a:r>
                    </a:p>
                  </a:txBody>
                  <a:tcPr marL="93511" marR="93511" marT="46755" marB="46755"/>
                </a:tc>
                <a:tc>
                  <a:txBody>
                    <a:bodyPr/>
                    <a:lstStyle/>
                    <a:p>
                      <a:r>
                        <a:rPr lang="en-US" sz="1800"/>
                        <a:t>Deep relaxation; will see sleep spindles and K-complexes</a:t>
                      </a:r>
                      <a:endParaRPr lang="en-US" sz="1800" i="1"/>
                    </a:p>
                  </a:txBody>
                  <a:tcPr marL="93511" marR="93511" marT="46755" marB="46755"/>
                </a:tc>
                <a:tc>
                  <a:txBody>
                    <a:bodyPr/>
                    <a:lstStyle/>
                    <a:p>
                      <a:r>
                        <a:rPr lang="en-US" sz="1800"/>
                        <a:t>Theta waves</a:t>
                      </a:r>
                    </a:p>
                  </a:txBody>
                  <a:tcPr marL="93511" marR="93511" marT="46755" marB="46755"/>
                </a:tc>
                <a:extLst>
                  <a:ext uri="{0D108BD9-81ED-4DB2-BD59-A6C34878D82A}">
                    <a16:rowId xmlns:a16="http://schemas.microsoft.com/office/drawing/2014/main" val="3441180636"/>
                  </a:ext>
                </a:extLst>
              </a:tr>
              <a:tr h="757558">
                <a:tc>
                  <a:txBody>
                    <a:bodyPr/>
                    <a:lstStyle/>
                    <a:p>
                      <a:r>
                        <a:rPr lang="en-US" sz="1800" b="1"/>
                        <a:t>NREM Sleep Stage 3</a:t>
                      </a:r>
                    </a:p>
                  </a:txBody>
                  <a:tcPr marL="93511" marR="93511" marT="46755" marB="46755"/>
                </a:tc>
                <a:tc>
                  <a:txBody>
                    <a:bodyPr/>
                    <a:lstStyle/>
                    <a:p>
                      <a:r>
                        <a:rPr lang="en-US" sz="1800"/>
                        <a:t>Deep sleep; difficult to wake from</a:t>
                      </a:r>
                    </a:p>
                  </a:txBody>
                  <a:tcPr marL="93511" marR="93511" marT="46755" marB="46755"/>
                </a:tc>
                <a:tc>
                  <a:txBody>
                    <a:bodyPr/>
                    <a:lstStyle/>
                    <a:p>
                      <a:r>
                        <a:rPr lang="en-US" sz="1800"/>
                        <a:t>Delta waves</a:t>
                      </a:r>
                    </a:p>
                  </a:txBody>
                  <a:tcPr marL="93511" marR="93511" marT="46755" marB="46755"/>
                </a:tc>
                <a:extLst>
                  <a:ext uri="{0D108BD9-81ED-4DB2-BD59-A6C34878D82A}">
                    <a16:rowId xmlns:a16="http://schemas.microsoft.com/office/drawing/2014/main" val="2782794118"/>
                  </a:ext>
                </a:extLst>
              </a:tr>
              <a:tr h="1437821">
                <a:tc>
                  <a:txBody>
                    <a:bodyPr/>
                    <a:lstStyle/>
                    <a:p>
                      <a:r>
                        <a:rPr lang="en-US" sz="1800" b="1" dirty="0"/>
                        <a:t>REM Sleep</a:t>
                      </a:r>
                    </a:p>
                  </a:txBody>
                  <a:tcPr marL="93511" marR="93511" marT="46755" marB="46755"/>
                </a:tc>
                <a:tc>
                  <a:txBody>
                    <a:bodyPr/>
                    <a:lstStyle/>
                    <a:p>
                      <a:r>
                        <a:rPr lang="en-US" sz="1800" dirty="0"/>
                        <a:t>When dreaming occurs; active waves but muscle paralysis; important for memory and emotion processing </a:t>
                      </a:r>
                    </a:p>
                  </a:txBody>
                  <a:tcPr marL="93511" marR="93511" marT="46755" marB="46755"/>
                </a:tc>
                <a:tc>
                  <a:txBody>
                    <a:bodyPr/>
                    <a:lstStyle/>
                    <a:p>
                      <a:r>
                        <a:rPr lang="en-US" sz="1800" dirty="0"/>
                        <a:t>Variety</a:t>
                      </a:r>
                    </a:p>
                  </a:txBody>
                  <a:tcPr marL="93511" marR="93511" marT="46755" marB="46755"/>
                </a:tc>
                <a:extLst>
                  <a:ext uri="{0D108BD9-81ED-4DB2-BD59-A6C34878D82A}">
                    <a16:rowId xmlns:a16="http://schemas.microsoft.com/office/drawing/2014/main" val="4192525505"/>
                  </a:ext>
                </a:extLst>
              </a:tr>
            </a:tbl>
          </a:graphicData>
        </a:graphic>
      </p:graphicFrame>
    </p:spTree>
    <p:extLst>
      <p:ext uri="{BB962C8B-B14F-4D97-AF65-F5344CB8AC3E}">
        <p14:creationId xmlns:p14="http://schemas.microsoft.com/office/powerpoint/2010/main" val="160075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AD02-6737-4544-B6A1-38B43425CB65}"/>
              </a:ext>
            </a:extLst>
          </p:cNvPr>
          <p:cNvSpPr>
            <a:spLocks noGrp="1"/>
          </p:cNvSpPr>
          <p:nvPr>
            <p:ph type="title"/>
          </p:nvPr>
        </p:nvSpPr>
        <p:spPr>
          <a:xfrm>
            <a:off x="646644" y="2537717"/>
            <a:ext cx="3175343" cy="3263947"/>
          </a:xfrm>
        </p:spPr>
        <p:txBody>
          <a:bodyPr>
            <a:normAutofit/>
          </a:bodyPr>
          <a:lstStyle/>
          <a:p>
            <a:r>
              <a:rPr lang="en-US" sz="3200" b="1" dirty="0"/>
              <a:t>Historic Theories on Dreams</a:t>
            </a:r>
          </a:p>
        </p:txBody>
      </p:sp>
      <p:graphicFrame>
        <p:nvGraphicFramePr>
          <p:cNvPr id="5" name="Content Placeholder 2">
            <a:extLst>
              <a:ext uri="{FF2B5EF4-FFF2-40B4-BE49-F238E27FC236}">
                <a16:creationId xmlns:a16="http://schemas.microsoft.com/office/drawing/2014/main" id="{95BE8CA9-A84F-4C4D-B2BB-07328B989374}"/>
              </a:ext>
            </a:extLst>
          </p:cNvPr>
          <p:cNvGraphicFramePr>
            <a:graphicFrameLocks noGrp="1"/>
          </p:cNvGraphicFramePr>
          <p:nvPr>
            <p:ph sz="quarter" idx="13"/>
            <p:extLst>
              <p:ext uri="{D42A27DB-BD31-4B8C-83A1-F6EECF244321}">
                <p14:modId xmlns:p14="http://schemas.microsoft.com/office/powerpoint/2010/main" val="232474465"/>
              </p:ext>
            </p:extLst>
          </p:nvPr>
        </p:nvGraphicFramePr>
        <p:xfrm>
          <a:off x="4106968" y="1165533"/>
          <a:ext cx="6832212" cy="5264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4376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6557785-B05A-F8A2-6983-96CF628FFC61}"/>
              </a:ext>
            </a:extLst>
          </p:cNvPr>
          <p:cNvSpPr>
            <a:spLocks noGrp="1"/>
          </p:cNvSpPr>
          <p:nvPr>
            <p:ph type="title"/>
          </p:nvPr>
        </p:nvSpPr>
        <p:spPr/>
        <p:txBody>
          <a:bodyPr/>
          <a:lstStyle/>
          <a:p>
            <a:r>
              <a:rPr lang="en-US" dirty="0"/>
              <a:t>Disorders that Impact Sleep</a:t>
            </a:r>
          </a:p>
        </p:txBody>
      </p:sp>
      <p:sp>
        <p:nvSpPr>
          <p:cNvPr id="7" name="Text Placeholder 6">
            <a:extLst>
              <a:ext uri="{FF2B5EF4-FFF2-40B4-BE49-F238E27FC236}">
                <a16:creationId xmlns:a16="http://schemas.microsoft.com/office/drawing/2014/main" id="{D2754F7A-93AD-02A4-F00F-CF2C94445995}"/>
              </a:ext>
            </a:extLst>
          </p:cNvPr>
          <p:cNvSpPr>
            <a:spLocks noGrp="1"/>
          </p:cNvSpPr>
          <p:nvPr>
            <p:ph type="body" sz="quarter" idx="10"/>
          </p:nvPr>
        </p:nvSpPr>
        <p:spPr/>
        <p:txBody>
          <a:bodyPr/>
          <a:lstStyle/>
          <a:p>
            <a:r>
              <a:rPr lang="en-US" dirty="0"/>
              <a:t>Insomnia</a:t>
            </a:r>
          </a:p>
          <a:p>
            <a:r>
              <a:rPr lang="en-US" dirty="0"/>
              <a:t>Parasomnias</a:t>
            </a:r>
          </a:p>
          <a:p>
            <a:pPr lvl="1"/>
            <a:r>
              <a:rPr lang="en-US" dirty="0"/>
              <a:t>Sleepwalking (somnambulism), REM sleep behavior disorder, restless leg syndrome, night terrors</a:t>
            </a:r>
          </a:p>
          <a:p>
            <a:r>
              <a:rPr lang="en-US" dirty="0"/>
              <a:t>Sleep apnea</a:t>
            </a:r>
          </a:p>
          <a:p>
            <a:r>
              <a:rPr lang="en-US" dirty="0"/>
              <a:t>Sudden infant death syndrome (SIDS)</a:t>
            </a:r>
          </a:p>
          <a:p>
            <a:r>
              <a:rPr lang="en-US" dirty="0"/>
              <a:t>Narcolepsy</a:t>
            </a:r>
          </a:p>
          <a:p>
            <a:r>
              <a:rPr lang="en-US" dirty="0"/>
              <a:t>Substance use disorders</a:t>
            </a:r>
          </a:p>
          <a:p>
            <a:endParaRPr lang="en-US" dirty="0"/>
          </a:p>
        </p:txBody>
      </p:sp>
      <p:sp>
        <p:nvSpPr>
          <p:cNvPr id="4" name="Date Placeholder 3">
            <a:extLst>
              <a:ext uri="{FF2B5EF4-FFF2-40B4-BE49-F238E27FC236}">
                <a16:creationId xmlns:a16="http://schemas.microsoft.com/office/drawing/2014/main" id="{D26973E0-E9DE-4F74-6274-BF7B8E5AB907}"/>
              </a:ext>
            </a:extLst>
          </p:cNvPr>
          <p:cNvSpPr>
            <a:spLocks noGrp="1"/>
          </p:cNvSpPr>
          <p:nvPr>
            <p:ph type="dt" sz="half" idx="2"/>
          </p:nvPr>
        </p:nvSpPr>
        <p:spPr/>
        <p:txBody>
          <a:bodyPr/>
          <a:lstStyle/>
          <a:p>
            <a:fld id="{D78C8137-A112-46F9-AE95-DF8D524219EA}" type="datetime1">
              <a:rPr lang="en-US" smtClean="0"/>
              <a:t>2/12/2026</a:t>
            </a:fld>
            <a:endParaRPr lang="en-US"/>
          </a:p>
        </p:txBody>
      </p:sp>
      <p:sp>
        <p:nvSpPr>
          <p:cNvPr id="5" name="Slide Number Placeholder 4">
            <a:extLst>
              <a:ext uri="{FF2B5EF4-FFF2-40B4-BE49-F238E27FC236}">
                <a16:creationId xmlns:a16="http://schemas.microsoft.com/office/drawing/2014/main" id="{D4477139-3C9C-6C48-717C-0AB24C89A58D}"/>
              </a:ext>
            </a:extLst>
          </p:cNvPr>
          <p:cNvSpPr>
            <a:spLocks noGrp="1"/>
          </p:cNvSpPr>
          <p:nvPr>
            <p:ph type="sldNum" sz="quarter" idx="4"/>
          </p:nvPr>
        </p:nvSpPr>
        <p:spPr/>
        <p:txBody>
          <a:bodyPr/>
          <a:lstStyle/>
          <a:p>
            <a:fld id="{890AFAAA-6080-4B47-91B3-87CC5056B1F2}" type="slidenum">
              <a:rPr lang="en-US" smtClean="0"/>
              <a:t>11</a:t>
            </a:fld>
            <a:endParaRPr lang="en-US"/>
          </a:p>
        </p:txBody>
      </p:sp>
    </p:spTree>
    <p:extLst>
      <p:ext uri="{BB962C8B-B14F-4D97-AF65-F5344CB8AC3E}">
        <p14:creationId xmlns:p14="http://schemas.microsoft.com/office/powerpoint/2010/main" val="940512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2F57D3-CE9F-1E0C-1E49-4F34534591B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75470D1-A9BC-450A-94B8-E09E222C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1E70CD0-27FC-4FEF-AFA4-AF4624FB2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233670"/>
            <a:ext cx="464025" cy="262433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pic>
        <p:nvPicPr>
          <p:cNvPr id="5" name="Picture 4">
            <a:extLst>
              <a:ext uri="{FF2B5EF4-FFF2-40B4-BE49-F238E27FC236}">
                <a16:creationId xmlns:a16="http://schemas.microsoft.com/office/drawing/2014/main" id="{BA4A7CE0-2E88-D17B-12ED-CE18A1552A7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0373" r="808"/>
          <a:stretch>
            <a:fillRect/>
          </a:stretch>
        </p:blipFill>
        <p:spPr>
          <a:xfrm>
            <a:off x="464023" y="10"/>
            <a:ext cx="10828817" cy="6857990"/>
          </a:xfrm>
          <a:prstGeom prst="rect">
            <a:avLst/>
          </a:prstGeom>
        </p:spPr>
      </p:pic>
      <p:sp>
        <p:nvSpPr>
          <p:cNvPr id="14" name="Rectangle 13">
            <a:extLst>
              <a:ext uri="{FF2B5EF4-FFF2-40B4-BE49-F238E27FC236}">
                <a16:creationId xmlns:a16="http://schemas.microsoft.com/office/drawing/2014/main" id="{F8F6973A-3A5A-49EF-92B6-61A7A69C19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023" y="0"/>
            <a:ext cx="10828817" cy="4233670"/>
          </a:xfrm>
          <a:prstGeom prst="rect">
            <a:avLst/>
          </a:prstGeom>
          <a:solidFill>
            <a:srgbClr val="0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E1ACEFA0-FB7C-6551-9CF2-97A4663B9AAC}"/>
              </a:ext>
            </a:extLst>
          </p:cNvPr>
          <p:cNvSpPr>
            <a:spLocks noGrp="1"/>
          </p:cNvSpPr>
          <p:nvPr>
            <p:ph type="title"/>
          </p:nvPr>
        </p:nvSpPr>
        <p:spPr>
          <a:xfrm>
            <a:off x="839413" y="137160"/>
            <a:ext cx="3359346" cy="3417570"/>
          </a:xfrm>
        </p:spPr>
        <p:txBody>
          <a:bodyPr vert="horz" lIns="91440" tIns="45720" rIns="91440" bIns="45720" rtlCol="0" anchor="b">
            <a:normAutofit/>
          </a:bodyPr>
          <a:lstStyle/>
          <a:p>
            <a:pPr>
              <a:lnSpc>
                <a:spcPct val="85000"/>
              </a:lnSpc>
            </a:pPr>
            <a:r>
              <a:rPr lang="en-US" sz="4800" dirty="0">
                <a:solidFill>
                  <a:srgbClr val="FFFFFF"/>
                </a:solidFill>
              </a:rPr>
              <a:t>Substance Use</a:t>
            </a:r>
          </a:p>
        </p:txBody>
      </p:sp>
      <p:sp>
        <p:nvSpPr>
          <p:cNvPr id="16" name="Rectangle 15">
            <a:extLst>
              <a:ext uri="{FF2B5EF4-FFF2-40B4-BE49-F238E27FC236}">
                <a16:creationId xmlns:a16="http://schemas.microsoft.com/office/drawing/2014/main" id="{11C7EA21-44B6-4451-B1BD-31182C98A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811"/>
            <a:ext cx="464025" cy="423648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18" name="Rectangle 17">
            <a:extLst>
              <a:ext uri="{FF2B5EF4-FFF2-40B4-BE49-F238E27FC236}">
                <a16:creationId xmlns:a16="http://schemas.microsoft.com/office/drawing/2014/main" id="{BC7E6745-470B-4006-A0EF-30953608B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023" y="4233670"/>
            <a:ext cx="10828817" cy="2624330"/>
          </a:xfrm>
          <a:prstGeom prst="rect">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Tree>
    <p:extLst>
      <p:ext uri="{BB962C8B-B14F-4D97-AF65-F5344CB8AC3E}">
        <p14:creationId xmlns:p14="http://schemas.microsoft.com/office/powerpoint/2010/main" val="4168911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36C9D-F96C-F9E9-3243-D897E2C2D5B6}"/>
              </a:ext>
            </a:extLst>
          </p:cNvPr>
          <p:cNvSpPr>
            <a:spLocks noGrp="1"/>
          </p:cNvSpPr>
          <p:nvPr>
            <p:ph type="title"/>
          </p:nvPr>
        </p:nvSpPr>
        <p:spPr/>
        <p:txBody>
          <a:bodyPr/>
          <a:lstStyle/>
          <a:p>
            <a:r>
              <a:rPr lang="en-US" dirty="0"/>
              <a:t>Substance Use Disorders</a:t>
            </a:r>
          </a:p>
        </p:txBody>
      </p:sp>
      <p:sp>
        <p:nvSpPr>
          <p:cNvPr id="3" name="Text Placeholder 2">
            <a:extLst>
              <a:ext uri="{FF2B5EF4-FFF2-40B4-BE49-F238E27FC236}">
                <a16:creationId xmlns:a16="http://schemas.microsoft.com/office/drawing/2014/main" id="{AF267A43-C9BB-8B42-CE7B-4845FAB8B15B}"/>
              </a:ext>
            </a:extLst>
          </p:cNvPr>
          <p:cNvSpPr>
            <a:spLocks noGrp="1"/>
          </p:cNvSpPr>
          <p:nvPr>
            <p:ph idx="1"/>
          </p:nvPr>
        </p:nvSpPr>
        <p:spPr/>
        <p:txBody>
          <a:bodyPr>
            <a:normAutofit lnSpcReduction="10000"/>
          </a:bodyPr>
          <a:lstStyle/>
          <a:p>
            <a:pPr>
              <a:lnSpc>
                <a:spcPct val="90000"/>
              </a:lnSpc>
            </a:pPr>
            <a:r>
              <a:rPr lang="en-US" dirty="0"/>
              <a:t>In substance use disorders, there is a compulsive pattern of drug use (prescription and non-prescription) that is often associated with physical and psychological dependence</a:t>
            </a:r>
          </a:p>
          <a:p>
            <a:pPr>
              <a:lnSpc>
                <a:spcPct val="90000"/>
              </a:lnSpc>
            </a:pPr>
            <a:r>
              <a:rPr lang="en-US" b="1" dirty="0"/>
              <a:t>Physical dependence</a:t>
            </a:r>
            <a:r>
              <a:rPr lang="en-US" dirty="0"/>
              <a:t>: changes in bodily functions that can cause withdrawal symptoms upon cessation of use</a:t>
            </a:r>
          </a:p>
          <a:p>
            <a:pPr>
              <a:lnSpc>
                <a:spcPct val="90000"/>
              </a:lnSpc>
            </a:pPr>
            <a:r>
              <a:rPr lang="en-US" b="1" dirty="0"/>
              <a:t>Psychological dependence</a:t>
            </a:r>
            <a:r>
              <a:rPr lang="en-US" dirty="0"/>
              <a:t>: user is emotionally reliant on drug, and stopping may cause severe psychological distress</a:t>
            </a:r>
          </a:p>
          <a:p>
            <a:pPr>
              <a:lnSpc>
                <a:spcPct val="90000"/>
              </a:lnSpc>
            </a:pPr>
            <a:r>
              <a:rPr lang="en-US" b="1" dirty="0"/>
              <a:t>Withdrawal</a:t>
            </a:r>
            <a:r>
              <a:rPr lang="en-US" dirty="0"/>
              <a:t>: experiencing a variety of symptoms (ranging from agitation to possible death) when a person stops using a drug</a:t>
            </a:r>
          </a:p>
          <a:p>
            <a:pPr>
              <a:lnSpc>
                <a:spcPct val="90000"/>
              </a:lnSpc>
            </a:pPr>
            <a:r>
              <a:rPr lang="en-US" b="1" dirty="0"/>
              <a:t>Tolerance</a:t>
            </a:r>
            <a:r>
              <a:rPr lang="en-US" dirty="0"/>
              <a:t>: when a person needs more of a drug to receive the desired effect due to extended use</a:t>
            </a:r>
          </a:p>
          <a:p>
            <a:pPr>
              <a:lnSpc>
                <a:spcPct val="90000"/>
              </a:lnSpc>
            </a:pPr>
            <a:r>
              <a:rPr lang="en-US" b="1" u="sng" dirty="0"/>
              <a:t>IMPORTANT</a:t>
            </a:r>
            <a:r>
              <a:rPr lang="en-US" dirty="0"/>
              <a:t>: If you or a loved one are seeking to stop using a drug (prescribed or not), </a:t>
            </a:r>
            <a:r>
              <a:rPr lang="en-US" u="sng" dirty="0"/>
              <a:t>PLEASE</a:t>
            </a:r>
            <a:r>
              <a:rPr lang="en-US" dirty="0"/>
              <a:t> seek medical assistance. It is illegal for doctors to report drug use to police, so you will get help, not arrested.  </a:t>
            </a:r>
          </a:p>
          <a:p>
            <a:endParaRPr lang="en-US" dirty="0"/>
          </a:p>
        </p:txBody>
      </p:sp>
      <p:sp>
        <p:nvSpPr>
          <p:cNvPr id="5" name="Slide Number Placeholder 4">
            <a:extLst>
              <a:ext uri="{FF2B5EF4-FFF2-40B4-BE49-F238E27FC236}">
                <a16:creationId xmlns:a16="http://schemas.microsoft.com/office/drawing/2014/main" id="{AE171D90-94CC-316A-7AEF-5C747E4BB8A5}"/>
              </a:ext>
            </a:extLst>
          </p:cNvPr>
          <p:cNvSpPr>
            <a:spLocks noGrp="1"/>
          </p:cNvSpPr>
          <p:nvPr>
            <p:ph type="sldNum" sz="quarter" idx="12"/>
          </p:nvPr>
        </p:nvSpPr>
        <p:spPr/>
        <p:txBody>
          <a:bodyPr>
            <a:normAutofit lnSpcReduction="10000"/>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161237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5A583-1321-533E-C994-20BEEB81AF24}"/>
              </a:ext>
            </a:extLst>
          </p:cNvPr>
          <p:cNvSpPr>
            <a:spLocks noGrp="1"/>
          </p:cNvSpPr>
          <p:nvPr>
            <p:ph type="title"/>
          </p:nvPr>
        </p:nvSpPr>
        <p:spPr/>
        <p:txBody>
          <a:bodyPr/>
          <a:lstStyle/>
          <a:p>
            <a:r>
              <a:rPr lang="en-US" dirty="0"/>
              <a:t>Psychologically Addictive Drugs</a:t>
            </a:r>
          </a:p>
        </p:txBody>
      </p:sp>
      <p:sp>
        <p:nvSpPr>
          <p:cNvPr id="5" name="Slide Number Placeholder 4">
            <a:extLst>
              <a:ext uri="{FF2B5EF4-FFF2-40B4-BE49-F238E27FC236}">
                <a16:creationId xmlns:a16="http://schemas.microsoft.com/office/drawing/2014/main" id="{3E802527-AF71-C3AB-B925-35D493E56672}"/>
              </a:ext>
            </a:extLst>
          </p:cNvPr>
          <p:cNvSpPr>
            <a:spLocks noGrp="1"/>
          </p:cNvSpPr>
          <p:nvPr>
            <p:ph type="sldNum" sz="quarter" idx="12"/>
          </p:nvPr>
        </p:nvSpPr>
        <p:spPr/>
        <p:txBody>
          <a:bodyPr>
            <a:normAutofit lnSpcReduction="10000"/>
          </a:bodyPr>
          <a:lstStyle/>
          <a:p>
            <a:fld id="{294A09A9-5501-47C1-A89A-A340965A2BE2}" type="slidenum">
              <a:rPr lang="en-US" smtClean="0"/>
              <a:pPr/>
              <a:t>14</a:t>
            </a:fld>
            <a:endParaRPr lang="en-US" dirty="0"/>
          </a:p>
        </p:txBody>
      </p:sp>
      <p:graphicFrame>
        <p:nvGraphicFramePr>
          <p:cNvPr id="6" name="Table 5">
            <a:extLst>
              <a:ext uri="{FF2B5EF4-FFF2-40B4-BE49-F238E27FC236}">
                <a16:creationId xmlns:a16="http://schemas.microsoft.com/office/drawing/2014/main" id="{3A18C6DD-AE76-75BF-08EA-9E7E99D5939B}"/>
              </a:ext>
            </a:extLst>
          </p:cNvPr>
          <p:cNvGraphicFramePr>
            <a:graphicFrameLocks noGrp="1"/>
          </p:cNvGraphicFramePr>
          <p:nvPr>
            <p:extLst>
              <p:ext uri="{D42A27DB-BD31-4B8C-83A1-F6EECF244321}">
                <p14:modId xmlns:p14="http://schemas.microsoft.com/office/powerpoint/2010/main" val="2318233675"/>
              </p:ext>
            </p:extLst>
          </p:nvPr>
        </p:nvGraphicFramePr>
        <p:xfrm>
          <a:off x="248927" y="1787410"/>
          <a:ext cx="11303727" cy="4460870"/>
        </p:xfrm>
        <a:graphic>
          <a:graphicData uri="http://schemas.openxmlformats.org/drawingml/2006/table">
            <a:tbl>
              <a:tblPr firstRow="1" bandRow="1">
                <a:tableStyleId>{9DCAF9ED-07DC-4A11-8D7F-57B35C25682E}</a:tableStyleId>
              </a:tblPr>
              <a:tblGrid>
                <a:gridCol w="1866817">
                  <a:extLst>
                    <a:ext uri="{9D8B030D-6E8A-4147-A177-3AD203B41FA5}">
                      <a16:colId xmlns:a16="http://schemas.microsoft.com/office/drawing/2014/main" val="1251680909"/>
                    </a:ext>
                  </a:extLst>
                </a:gridCol>
                <a:gridCol w="3367035">
                  <a:extLst>
                    <a:ext uri="{9D8B030D-6E8A-4147-A177-3AD203B41FA5}">
                      <a16:colId xmlns:a16="http://schemas.microsoft.com/office/drawing/2014/main" val="2726588237"/>
                    </a:ext>
                  </a:extLst>
                </a:gridCol>
                <a:gridCol w="3243943">
                  <a:extLst>
                    <a:ext uri="{9D8B030D-6E8A-4147-A177-3AD203B41FA5}">
                      <a16:colId xmlns:a16="http://schemas.microsoft.com/office/drawing/2014/main" val="3926976308"/>
                    </a:ext>
                  </a:extLst>
                </a:gridCol>
                <a:gridCol w="2825932">
                  <a:extLst>
                    <a:ext uri="{9D8B030D-6E8A-4147-A177-3AD203B41FA5}">
                      <a16:colId xmlns:a16="http://schemas.microsoft.com/office/drawing/2014/main" val="2487198924"/>
                    </a:ext>
                  </a:extLst>
                </a:gridCol>
              </a:tblGrid>
              <a:tr h="814010">
                <a:tc>
                  <a:txBody>
                    <a:bodyPr/>
                    <a:lstStyle/>
                    <a:p>
                      <a:r>
                        <a:rPr lang="en-US" dirty="0">
                          <a:solidFill>
                            <a:schemeClr val="tx1"/>
                          </a:solidFill>
                        </a:rPr>
                        <a:t>Class of Drug</a:t>
                      </a:r>
                    </a:p>
                  </a:txBody>
                  <a:tcPr/>
                </a:tc>
                <a:tc>
                  <a:txBody>
                    <a:bodyPr/>
                    <a:lstStyle/>
                    <a:p>
                      <a:r>
                        <a:rPr lang="en-US" dirty="0">
                          <a:solidFill>
                            <a:schemeClr val="tx1"/>
                          </a:solidFill>
                        </a:rPr>
                        <a:t>Effects on Body</a:t>
                      </a:r>
                    </a:p>
                  </a:txBody>
                  <a:tcPr/>
                </a:tc>
                <a:tc>
                  <a:txBody>
                    <a:bodyPr/>
                    <a:lstStyle/>
                    <a:p>
                      <a:r>
                        <a:rPr lang="en-US" dirty="0">
                          <a:solidFill>
                            <a:schemeClr val="tx1"/>
                          </a:solidFill>
                        </a:rPr>
                        <a:t>Effects When Used</a:t>
                      </a:r>
                    </a:p>
                  </a:txBody>
                  <a:tcPr/>
                </a:tc>
                <a:tc>
                  <a:txBody>
                    <a:bodyPr/>
                    <a:lstStyle/>
                    <a:p>
                      <a:r>
                        <a:rPr lang="en-US" dirty="0">
                          <a:solidFill>
                            <a:schemeClr val="tx1"/>
                          </a:solidFill>
                        </a:rPr>
                        <a:t>Examples</a:t>
                      </a:r>
                    </a:p>
                  </a:txBody>
                  <a:tcPr/>
                </a:tc>
                <a:extLst>
                  <a:ext uri="{0D108BD9-81ED-4DB2-BD59-A6C34878D82A}">
                    <a16:rowId xmlns:a16="http://schemas.microsoft.com/office/drawing/2014/main" val="208283413"/>
                  </a:ext>
                </a:extLst>
              </a:tr>
              <a:tr h="814010">
                <a:tc>
                  <a:txBody>
                    <a:bodyPr/>
                    <a:lstStyle/>
                    <a:p>
                      <a:r>
                        <a:rPr lang="en-US" sz="1400" dirty="0"/>
                        <a:t>Stimulants</a:t>
                      </a:r>
                    </a:p>
                  </a:txBody>
                  <a:tcPr/>
                </a:tc>
                <a:tc>
                  <a:txBody>
                    <a:bodyPr/>
                    <a:lstStyle/>
                    <a:p>
                      <a:r>
                        <a:rPr lang="en-US" sz="1400" dirty="0"/>
                        <a:t>Increased heart rate, blood pressure, body temperature</a:t>
                      </a:r>
                    </a:p>
                  </a:txBody>
                  <a:tcPr/>
                </a:tc>
                <a:tc>
                  <a:txBody>
                    <a:bodyPr/>
                    <a:lstStyle/>
                    <a:p>
                      <a:r>
                        <a:rPr lang="en-US" sz="1400" dirty="0"/>
                        <a:t>Alertness, euphoria, agitation, paranoia, death</a:t>
                      </a:r>
                    </a:p>
                  </a:txBody>
                  <a:tcPr/>
                </a:tc>
                <a:tc>
                  <a:txBody>
                    <a:bodyPr/>
                    <a:lstStyle/>
                    <a:p>
                      <a:r>
                        <a:rPr lang="en-US" sz="1400" dirty="0"/>
                        <a:t>Cocaine, amphetamines (ex: Adderall), caffeine, methamphetamines (ex: Ecstasy)</a:t>
                      </a:r>
                    </a:p>
                  </a:txBody>
                  <a:tcPr/>
                </a:tc>
                <a:extLst>
                  <a:ext uri="{0D108BD9-81ED-4DB2-BD59-A6C34878D82A}">
                    <a16:rowId xmlns:a16="http://schemas.microsoft.com/office/drawing/2014/main" val="3940281885"/>
                  </a:ext>
                </a:extLst>
              </a:tr>
              <a:tr h="814010">
                <a:tc>
                  <a:txBody>
                    <a:bodyPr/>
                    <a:lstStyle/>
                    <a:p>
                      <a:r>
                        <a:rPr lang="en-US" sz="1400" dirty="0"/>
                        <a:t>Depressants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dk1"/>
                          </a:solidFill>
                          <a:effectLst/>
                        </a:rPr>
                        <a:t>Decreased heart rate &amp; blood pressure</a:t>
                      </a:r>
                      <a:endParaRPr lang="en-US" sz="1400" dirty="0"/>
                    </a:p>
                    <a:p>
                      <a:endParaRPr lang="en-US" sz="1500" dirty="0"/>
                    </a:p>
                  </a:txBody>
                  <a:tcPr marL="89649" marR="89649" marT="44825" marB="448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dk1"/>
                          </a:solidFill>
                          <a:effectLst/>
                        </a:rPr>
                        <a:t>relaxation, decreased inhibitions; sleep, motor disturbance, memory loss, decreased respiratory function, death</a:t>
                      </a:r>
                      <a:endParaRPr lang="en-US" sz="1400" dirty="0"/>
                    </a:p>
                  </a:txBody>
                  <a:tcPr marL="89649" marR="89649" marT="44825" marB="448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dirty="0">
                          <a:ln>
                            <a:noFill/>
                          </a:ln>
                          <a:solidFill>
                            <a:prstClr val="black"/>
                          </a:solidFill>
                          <a:effectLst/>
                          <a:uLnTx/>
                          <a:uFillTx/>
                        </a:rPr>
                        <a:t>Alcohol, barbiturates, Benzodiazepines (ex: Xanax)</a:t>
                      </a:r>
                    </a:p>
                    <a:p>
                      <a:endParaRPr lang="en-US" sz="1800" dirty="0"/>
                    </a:p>
                  </a:txBody>
                  <a:tcPr marL="89649" marR="89649" marT="44825" marB="44825"/>
                </a:tc>
                <a:extLst>
                  <a:ext uri="{0D108BD9-81ED-4DB2-BD59-A6C34878D82A}">
                    <a16:rowId xmlns:a16="http://schemas.microsoft.com/office/drawing/2014/main" val="2087445135"/>
                  </a:ext>
                </a:extLst>
              </a:tr>
              <a:tr h="814010">
                <a:tc>
                  <a:txBody>
                    <a:bodyPr/>
                    <a:lstStyle/>
                    <a:p>
                      <a:r>
                        <a:rPr lang="en-US" sz="1400" dirty="0"/>
                        <a:t>Opiates</a:t>
                      </a:r>
                    </a:p>
                  </a:txBody>
                  <a:tcPr/>
                </a:tc>
                <a:tc>
                  <a:txBody>
                    <a:bodyPr/>
                    <a:lstStyle/>
                    <a:p>
                      <a:r>
                        <a:rPr lang="en-US" sz="1400" dirty="0"/>
                        <a:t>Decreased pain, pupil dilation, decreased gut motility, decreased respiratory function</a:t>
                      </a:r>
                    </a:p>
                  </a:txBody>
                  <a:tcPr/>
                </a:tc>
                <a:tc>
                  <a:txBody>
                    <a:bodyPr/>
                    <a:lstStyle/>
                    <a:p>
                      <a:r>
                        <a:rPr lang="en-US" sz="1400" dirty="0"/>
                        <a:t>Pain relief, euphoria, sleepiness, </a:t>
                      </a:r>
                      <a:r>
                        <a:rPr lang="en-US" sz="1400" b="0" kern="1200" dirty="0">
                          <a:solidFill>
                            <a:schemeClr val="dk1"/>
                          </a:solidFill>
                          <a:effectLst/>
                        </a:rPr>
                        <a:t>decreased respiratory function, death</a:t>
                      </a:r>
                      <a:endParaRPr lang="en-US" sz="1400" dirty="0"/>
                    </a:p>
                  </a:txBody>
                  <a:tcPr/>
                </a:tc>
                <a:tc>
                  <a:txBody>
                    <a:bodyPr/>
                    <a:lstStyle/>
                    <a:p>
                      <a:r>
                        <a:rPr lang="en-US" sz="1400" dirty="0"/>
                        <a:t>Opium, Heroin, Fentanyl, Morphine, Oxycodone, </a:t>
                      </a:r>
                      <a:r>
                        <a:rPr lang="en-US" sz="1400" dirty="0" err="1"/>
                        <a:t>Vicoden</a:t>
                      </a:r>
                      <a:r>
                        <a:rPr lang="en-US" sz="1400" dirty="0"/>
                        <a:t>, methadone, and other prescription pain relievers</a:t>
                      </a:r>
                    </a:p>
                  </a:txBody>
                  <a:tcPr/>
                </a:tc>
                <a:extLst>
                  <a:ext uri="{0D108BD9-81ED-4DB2-BD59-A6C34878D82A}">
                    <a16:rowId xmlns:a16="http://schemas.microsoft.com/office/drawing/2014/main" val="1947961514"/>
                  </a:ext>
                </a:extLst>
              </a:tr>
              <a:tr h="814010">
                <a:tc>
                  <a:txBody>
                    <a:bodyPr/>
                    <a:lstStyle/>
                    <a:p>
                      <a:r>
                        <a:rPr lang="en-US" sz="1400" dirty="0"/>
                        <a:t>Hallucinogens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dk1"/>
                          </a:solidFill>
                          <a:effectLst/>
                        </a:rPr>
                        <a:t>Increased heart rate &amp; blood pressure</a:t>
                      </a:r>
                      <a:endParaRPr lang="en-US" sz="1400" dirty="0"/>
                    </a:p>
                    <a:p>
                      <a:endParaRPr lang="en-US" sz="1400" dirty="0"/>
                    </a:p>
                  </a:txBody>
                  <a:tcPr/>
                </a:tc>
                <a:tc>
                  <a:txBody>
                    <a:bodyPr/>
                    <a:lstStyle/>
                    <a:p>
                      <a:r>
                        <a:rPr lang="en-US" sz="1400" dirty="0"/>
                        <a:t>Mild to intense perceptual changes; physical reactions to mental experiences, death</a:t>
                      </a:r>
                    </a:p>
                  </a:txBody>
                  <a:tcPr/>
                </a:tc>
                <a:tc>
                  <a:txBody>
                    <a:bodyPr/>
                    <a:lstStyle/>
                    <a:p>
                      <a:r>
                        <a:rPr lang="en-US" sz="1400" dirty="0"/>
                        <a:t>Marijuana, LSD, ketamine, and PCP</a:t>
                      </a:r>
                    </a:p>
                    <a:p>
                      <a:endParaRPr lang="en-US" sz="1400" dirty="0"/>
                    </a:p>
                  </a:txBody>
                  <a:tcPr/>
                </a:tc>
                <a:extLst>
                  <a:ext uri="{0D108BD9-81ED-4DB2-BD59-A6C34878D82A}">
                    <a16:rowId xmlns:a16="http://schemas.microsoft.com/office/drawing/2014/main" val="2395668198"/>
                  </a:ext>
                </a:extLst>
              </a:tr>
            </a:tbl>
          </a:graphicData>
        </a:graphic>
      </p:graphicFrame>
    </p:spTree>
    <p:extLst>
      <p:ext uri="{BB962C8B-B14F-4D97-AF65-F5344CB8AC3E}">
        <p14:creationId xmlns:p14="http://schemas.microsoft.com/office/powerpoint/2010/main" val="2020100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8D47-0128-4EA4-9D69-0FA945FFFD68}"/>
              </a:ext>
            </a:extLst>
          </p:cNvPr>
          <p:cNvSpPr>
            <a:spLocks noGrp="1"/>
          </p:cNvSpPr>
          <p:nvPr>
            <p:ph type="title"/>
          </p:nvPr>
        </p:nvSpPr>
        <p:spPr>
          <a:xfrm>
            <a:off x="113210" y="2786742"/>
            <a:ext cx="4249783" cy="3779123"/>
          </a:xfrm>
        </p:spPr>
        <p:txBody>
          <a:bodyPr>
            <a:normAutofit/>
          </a:bodyPr>
          <a:lstStyle/>
          <a:p>
            <a:r>
              <a:rPr lang="en-US" dirty="0"/>
              <a:t>Other States of Consciousness</a:t>
            </a:r>
          </a:p>
        </p:txBody>
      </p:sp>
      <p:graphicFrame>
        <p:nvGraphicFramePr>
          <p:cNvPr id="5" name="Content Placeholder 2">
            <a:extLst>
              <a:ext uri="{FF2B5EF4-FFF2-40B4-BE49-F238E27FC236}">
                <a16:creationId xmlns:a16="http://schemas.microsoft.com/office/drawing/2014/main" id="{DC3AD5EB-4F30-43DB-9E4F-80A60DB1319C}"/>
              </a:ext>
            </a:extLst>
          </p:cNvPr>
          <p:cNvGraphicFramePr>
            <a:graphicFrameLocks noGrp="1"/>
          </p:cNvGraphicFramePr>
          <p:nvPr>
            <p:ph sz="quarter" idx="13"/>
            <p:extLst>
              <p:ext uri="{D42A27DB-BD31-4B8C-83A1-F6EECF244321}">
                <p14:modId xmlns:p14="http://schemas.microsoft.com/office/powerpoint/2010/main" val="1429087839"/>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8996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579E13-7CBA-399B-78C8-2204BA2620A7}"/>
              </a:ext>
            </a:extLst>
          </p:cNvPr>
          <p:cNvSpPr>
            <a:spLocks noGrp="1"/>
          </p:cNvSpPr>
          <p:nvPr>
            <p:ph type="title"/>
          </p:nvPr>
        </p:nvSpPr>
        <p:spPr/>
        <p:txBody>
          <a:bodyPr/>
          <a:lstStyle/>
          <a:p>
            <a:r>
              <a:rPr lang="en-US" dirty="0"/>
              <a:t>Next Time on PSY 203…</a:t>
            </a:r>
          </a:p>
        </p:txBody>
      </p:sp>
      <p:sp>
        <p:nvSpPr>
          <p:cNvPr id="5" name="Text Placeholder 4">
            <a:extLst>
              <a:ext uri="{FF2B5EF4-FFF2-40B4-BE49-F238E27FC236}">
                <a16:creationId xmlns:a16="http://schemas.microsoft.com/office/drawing/2014/main" id="{74442AC1-5422-C7D2-C750-B91A3D71B010}"/>
              </a:ext>
            </a:extLst>
          </p:cNvPr>
          <p:cNvSpPr>
            <a:spLocks noGrp="1"/>
          </p:cNvSpPr>
          <p:nvPr>
            <p:ph type="body" idx="1"/>
          </p:nvPr>
        </p:nvSpPr>
        <p:spPr/>
        <p:txBody>
          <a:bodyPr/>
          <a:lstStyle/>
          <a:p>
            <a:r>
              <a:rPr lang="en-US" dirty="0"/>
              <a:t>Before Next Class:</a:t>
            </a:r>
          </a:p>
        </p:txBody>
      </p:sp>
      <p:sp>
        <p:nvSpPr>
          <p:cNvPr id="6" name="Content Placeholder 5">
            <a:extLst>
              <a:ext uri="{FF2B5EF4-FFF2-40B4-BE49-F238E27FC236}">
                <a16:creationId xmlns:a16="http://schemas.microsoft.com/office/drawing/2014/main" id="{DD20C4AE-AEF6-D03B-4760-383DF3A338A4}"/>
              </a:ext>
            </a:extLst>
          </p:cNvPr>
          <p:cNvSpPr>
            <a:spLocks noGrp="1"/>
          </p:cNvSpPr>
          <p:nvPr>
            <p:ph sz="half" idx="2"/>
          </p:nvPr>
        </p:nvSpPr>
        <p:spPr/>
        <p:txBody>
          <a:bodyPr/>
          <a:lstStyle/>
          <a:p>
            <a:r>
              <a:rPr lang="en-US" dirty="0"/>
              <a:t>Read Chapter 5</a:t>
            </a:r>
          </a:p>
          <a:p>
            <a:r>
              <a:rPr lang="en-US" dirty="0"/>
              <a:t>Complete Chapter 5 Quiz</a:t>
            </a:r>
          </a:p>
          <a:p>
            <a:pPr lvl="1"/>
            <a:r>
              <a:rPr lang="en-US"/>
              <a:t>Due 2/17 at 2 pm</a:t>
            </a:r>
          </a:p>
          <a:p>
            <a:r>
              <a:rPr lang="en-US" dirty="0"/>
              <a:t>Submit Exam Reflection </a:t>
            </a:r>
          </a:p>
          <a:p>
            <a:pPr lvl="1"/>
            <a:r>
              <a:rPr lang="en-US" dirty="0"/>
              <a:t>Due 2/17 at 11:59 pm</a:t>
            </a:r>
          </a:p>
          <a:p>
            <a:r>
              <a:rPr lang="en-US" dirty="0"/>
              <a:t>Potentially: Email Dr. S to make up exam points</a:t>
            </a:r>
          </a:p>
        </p:txBody>
      </p:sp>
      <p:sp>
        <p:nvSpPr>
          <p:cNvPr id="7" name="Text Placeholder 6">
            <a:extLst>
              <a:ext uri="{FF2B5EF4-FFF2-40B4-BE49-F238E27FC236}">
                <a16:creationId xmlns:a16="http://schemas.microsoft.com/office/drawing/2014/main" id="{291D51B3-01B5-1A8E-BB59-2046615E9131}"/>
              </a:ext>
            </a:extLst>
          </p:cNvPr>
          <p:cNvSpPr>
            <a:spLocks noGrp="1"/>
          </p:cNvSpPr>
          <p:nvPr>
            <p:ph type="body" sz="quarter" idx="3"/>
          </p:nvPr>
        </p:nvSpPr>
        <p:spPr/>
        <p:txBody>
          <a:bodyPr/>
          <a:lstStyle/>
          <a:p>
            <a:r>
              <a:rPr lang="en-US" dirty="0"/>
              <a:t>Next Class:</a:t>
            </a:r>
          </a:p>
        </p:txBody>
      </p:sp>
      <p:sp>
        <p:nvSpPr>
          <p:cNvPr id="8" name="Content Placeholder 7">
            <a:extLst>
              <a:ext uri="{FF2B5EF4-FFF2-40B4-BE49-F238E27FC236}">
                <a16:creationId xmlns:a16="http://schemas.microsoft.com/office/drawing/2014/main" id="{FB208961-39B8-D4BA-5C5B-88A51E832452}"/>
              </a:ext>
            </a:extLst>
          </p:cNvPr>
          <p:cNvSpPr>
            <a:spLocks noGrp="1"/>
          </p:cNvSpPr>
          <p:nvPr>
            <p:ph sz="quarter" idx="4"/>
          </p:nvPr>
        </p:nvSpPr>
        <p:spPr/>
        <p:txBody>
          <a:bodyPr/>
          <a:lstStyle/>
          <a:p>
            <a:r>
              <a:rPr lang="en-US" dirty="0"/>
              <a:t>Chapter 5 – Sensation &amp; Perception</a:t>
            </a:r>
          </a:p>
        </p:txBody>
      </p:sp>
    </p:spTree>
    <p:extLst>
      <p:ext uri="{BB962C8B-B14F-4D97-AF65-F5344CB8AC3E}">
        <p14:creationId xmlns:p14="http://schemas.microsoft.com/office/powerpoint/2010/main" val="255730763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533</TotalTime>
  <Words>940</Words>
  <Application>Microsoft Office PowerPoint</Application>
  <PresentationFormat>Widescreen</PresentationFormat>
  <Paragraphs>151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Schoolbook</vt:lpstr>
      <vt:lpstr>Wingdings 2</vt:lpstr>
      <vt:lpstr>View</vt:lpstr>
      <vt:lpstr>States of Consciousness</vt:lpstr>
      <vt:lpstr>Agenda</vt:lpstr>
      <vt:lpstr>Consciousness</vt:lpstr>
      <vt:lpstr>PowerPoint Presentation</vt:lpstr>
      <vt:lpstr>Are you getting enough sleep?</vt:lpstr>
      <vt:lpstr>What can cause an unhealthy sleep schedule?</vt:lpstr>
      <vt:lpstr>Ramifications of Poor Sleep</vt:lpstr>
      <vt:lpstr>Types of Brain Waves</vt:lpstr>
      <vt:lpstr>Stages of Sleep</vt:lpstr>
      <vt:lpstr>Historic Theories on Dreams</vt:lpstr>
      <vt:lpstr>Disorders that Impact Sleep</vt:lpstr>
      <vt:lpstr>Substance Use</vt:lpstr>
      <vt:lpstr>Substance Use Disorders</vt:lpstr>
      <vt:lpstr>Psychologically Addictive Drugs</vt:lpstr>
      <vt:lpstr>Other States of Consciousness</vt:lpstr>
      <vt:lpstr>Next Time on PSY 203…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and Perception</dc:title>
  <dc:creator>Bryanna Scheuler</dc:creator>
  <cp:lastModifiedBy>Bryanna Scheuler</cp:lastModifiedBy>
  <cp:revision>11</cp:revision>
  <dcterms:created xsi:type="dcterms:W3CDTF">2021-09-21T10:31:29Z</dcterms:created>
  <dcterms:modified xsi:type="dcterms:W3CDTF">2026-02-12T17:57:19Z</dcterms:modified>
</cp:coreProperties>
</file>