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3"/>
  </p:notesMasterIdLst>
  <p:sldIdLst>
    <p:sldId id="256" r:id="rId2"/>
    <p:sldId id="278" r:id="rId3"/>
    <p:sldId id="259" r:id="rId4"/>
    <p:sldId id="260" r:id="rId5"/>
    <p:sldId id="261" r:id="rId6"/>
    <p:sldId id="262" r:id="rId7"/>
    <p:sldId id="263" r:id="rId8"/>
    <p:sldId id="275" r:id="rId9"/>
    <p:sldId id="276" r:id="rId10"/>
    <p:sldId id="277" r:id="rId11"/>
    <p:sldId id="264" r:id="rId12"/>
    <p:sldId id="265" r:id="rId13"/>
    <p:sldId id="267" r:id="rId14"/>
    <p:sldId id="344" r:id="rId15"/>
    <p:sldId id="269" r:id="rId16"/>
    <p:sldId id="271" r:id="rId17"/>
    <p:sldId id="270" r:id="rId18"/>
    <p:sldId id="273" r:id="rId19"/>
    <p:sldId id="345" r:id="rId20"/>
    <p:sldId id="346" r:id="rId21"/>
    <p:sldId id="34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7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4773" autoAdjust="0"/>
  </p:normalViewPr>
  <p:slideViewPr>
    <p:cSldViewPr snapToGrid="0">
      <p:cViewPr varScale="1">
        <p:scale>
          <a:sx n="81" d="100"/>
          <a:sy n="81" d="100"/>
        </p:scale>
        <p:origin x="31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26E78B-9395-449F-90B7-B3CA0BE9FED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B1488828-C5BB-4DB6-A34C-25B9F90927E6}">
      <dgm:prSet/>
      <dgm:spPr/>
      <dgm:t>
        <a:bodyPr/>
        <a:lstStyle/>
        <a:p>
          <a:r>
            <a:rPr lang="en-US"/>
            <a:t>How does your confidence in your ability to do something impact your drive to do the task?</a:t>
          </a:r>
        </a:p>
      </dgm:t>
    </dgm:pt>
    <dgm:pt modelId="{1F9028E1-2C46-4C20-A776-423E15841A29}" type="parTrans" cxnId="{1DE6C870-A19C-497E-B113-98F8A8787774}">
      <dgm:prSet/>
      <dgm:spPr/>
      <dgm:t>
        <a:bodyPr/>
        <a:lstStyle/>
        <a:p>
          <a:endParaRPr lang="en-US"/>
        </a:p>
      </dgm:t>
    </dgm:pt>
    <dgm:pt modelId="{FD73F0F1-5472-4F82-8265-1B2F34CEEA84}" type="sibTrans" cxnId="{1DE6C870-A19C-497E-B113-98F8A8787774}">
      <dgm:prSet/>
      <dgm:spPr/>
      <dgm:t>
        <a:bodyPr/>
        <a:lstStyle/>
        <a:p>
          <a:endParaRPr lang="en-US"/>
        </a:p>
      </dgm:t>
    </dgm:pt>
    <dgm:pt modelId="{8AC5F4CA-6FA8-426D-A3CB-DB98942CEECD}">
      <dgm:prSet/>
      <dgm:spPr/>
      <dgm:t>
        <a:bodyPr/>
        <a:lstStyle/>
        <a:p>
          <a:r>
            <a:rPr lang="en-US" dirty="0"/>
            <a:t>How might social motives impact your decisions and behavior?</a:t>
          </a:r>
        </a:p>
      </dgm:t>
    </dgm:pt>
    <dgm:pt modelId="{2B6F97F6-5F1D-4207-ACC3-F7F939E22A8A}" type="parTrans" cxnId="{A11B9D16-8CDC-44B4-9AC0-93D315C75E14}">
      <dgm:prSet/>
      <dgm:spPr/>
      <dgm:t>
        <a:bodyPr/>
        <a:lstStyle/>
        <a:p>
          <a:endParaRPr lang="en-US"/>
        </a:p>
      </dgm:t>
    </dgm:pt>
    <dgm:pt modelId="{B8C2F57D-0C40-4E32-A318-0B99D0DC47FD}" type="sibTrans" cxnId="{A11B9D16-8CDC-44B4-9AC0-93D315C75E14}">
      <dgm:prSet/>
      <dgm:spPr/>
      <dgm:t>
        <a:bodyPr/>
        <a:lstStyle/>
        <a:p>
          <a:endParaRPr lang="en-US"/>
        </a:p>
      </dgm:t>
    </dgm:pt>
    <dgm:pt modelId="{9D5CBAC7-1EE3-4DA4-A958-CF86C8D62DED}" type="pres">
      <dgm:prSet presAssocID="{3E26E78B-9395-449F-90B7-B3CA0BE9FED7}" presName="hierChild1" presStyleCnt="0">
        <dgm:presLayoutVars>
          <dgm:chPref val="1"/>
          <dgm:dir/>
          <dgm:animOne val="branch"/>
          <dgm:animLvl val="lvl"/>
          <dgm:resizeHandles/>
        </dgm:presLayoutVars>
      </dgm:prSet>
      <dgm:spPr/>
    </dgm:pt>
    <dgm:pt modelId="{C4CF8BD9-4063-4C77-B6D1-FCAF5738DF6D}" type="pres">
      <dgm:prSet presAssocID="{B1488828-C5BB-4DB6-A34C-25B9F90927E6}" presName="hierRoot1" presStyleCnt="0"/>
      <dgm:spPr/>
    </dgm:pt>
    <dgm:pt modelId="{120F3DF4-0E22-4CE8-8653-6326F05CF0FC}" type="pres">
      <dgm:prSet presAssocID="{B1488828-C5BB-4DB6-A34C-25B9F90927E6}" presName="composite" presStyleCnt="0"/>
      <dgm:spPr/>
    </dgm:pt>
    <dgm:pt modelId="{7C77E739-0DB6-457A-B7EA-3F8504AECE47}" type="pres">
      <dgm:prSet presAssocID="{B1488828-C5BB-4DB6-A34C-25B9F90927E6}" presName="background" presStyleLbl="node0" presStyleIdx="0" presStyleCnt="2"/>
      <dgm:spPr/>
    </dgm:pt>
    <dgm:pt modelId="{5B163DB5-3955-463B-B52B-00C3D469481E}" type="pres">
      <dgm:prSet presAssocID="{B1488828-C5BB-4DB6-A34C-25B9F90927E6}" presName="text" presStyleLbl="fgAcc0" presStyleIdx="0" presStyleCnt="2">
        <dgm:presLayoutVars>
          <dgm:chPref val="3"/>
        </dgm:presLayoutVars>
      </dgm:prSet>
      <dgm:spPr/>
    </dgm:pt>
    <dgm:pt modelId="{8F25AEA7-A746-4C51-B7AC-B3C95576BDF0}" type="pres">
      <dgm:prSet presAssocID="{B1488828-C5BB-4DB6-A34C-25B9F90927E6}" presName="hierChild2" presStyleCnt="0"/>
      <dgm:spPr/>
    </dgm:pt>
    <dgm:pt modelId="{4B6AE372-A042-4EE7-A8C6-A3BEFC92957A}" type="pres">
      <dgm:prSet presAssocID="{8AC5F4CA-6FA8-426D-A3CB-DB98942CEECD}" presName="hierRoot1" presStyleCnt="0"/>
      <dgm:spPr/>
    </dgm:pt>
    <dgm:pt modelId="{58717232-56C4-47DE-953B-335A4B76BB6A}" type="pres">
      <dgm:prSet presAssocID="{8AC5F4CA-6FA8-426D-A3CB-DB98942CEECD}" presName="composite" presStyleCnt="0"/>
      <dgm:spPr/>
    </dgm:pt>
    <dgm:pt modelId="{18D5779D-634D-4E13-ADF8-BAF25B71EBD6}" type="pres">
      <dgm:prSet presAssocID="{8AC5F4CA-6FA8-426D-A3CB-DB98942CEECD}" presName="background" presStyleLbl="node0" presStyleIdx="1" presStyleCnt="2"/>
      <dgm:spPr/>
    </dgm:pt>
    <dgm:pt modelId="{1490F72A-830F-4E04-BED1-1DFBE38C58B6}" type="pres">
      <dgm:prSet presAssocID="{8AC5F4CA-6FA8-426D-A3CB-DB98942CEECD}" presName="text" presStyleLbl="fgAcc0" presStyleIdx="1" presStyleCnt="2">
        <dgm:presLayoutVars>
          <dgm:chPref val="3"/>
        </dgm:presLayoutVars>
      </dgm:prSet>
      <dgm:spPr/>
    </dgm:pt>
    <dgm:pt modelId="{2F40E0F4-DA49-467F-ADD8-00702A753928}" type="pres">
      <dgm:prSet presAssocID="{8AC5F4CA-6FA8-426D-A3CB-DB98942CEECD}" presName="hierChild2" presStyleCnt="0"/>
      <dgm:spPr/>
    </dgm:pt>
  </dgm:ptLst>
  <dgm:cxnLst>
    <dgm:cxn modelId="{A11B9D16-8CDC-44B4-9AC0-93D315C75E14}" srcId="{3E26E78B-9395-449F-90B7-B3CA0BE9FED7}" destId="{8AC5F4CA-6FA8-426D-A3CB-DB98942CEECD}" srcOrd="1" destOrd="0" parTransId="{2B6F97F6-5F1D-4207-ACC3-F7F939E22A8A}" sibTransId="{B8C2F57D-0C40-4E32-A318-0B99D0DC47FD}"/>
    <dgm:cxn modelId="{1DE6C870-A19C-497E-B113-98F8A8787774}" srcId="{3E26E78B-9395-449F-90B7-B3CA0BE9FED7}" destId="{B1488828-C5BB-4DB6-A34C-25B9F90927E6}" srcOrd="0" destOrd="0" parTransId="{1F9028E1-2C46-4C20-A776-423E15841A29}" sibTransId="{FD73F0F1-5472-4F82-8265-1B2F34CEEA84}"/>
    <dgm:cxn modelId="{887D319C-462B-48A8-8DD5-FCD346599A35}" type="presOf" srcId="{3E26E78B-9395-449F-90B7-B3CA0BE9FED7}" destId="{9D5CBAC7-1EE3-4DA4-A958-CF86C8D62DED}" srcOrd="0" destOrd="0" presId="urn:microsoft.com/office/officeart/2005/8/layout/hierarchy1"/>
    <dgm:cxn modelId="{598396C0-4D35-49D1-9729-DF1B28C3107E}" type="presOf" srcId="{8AC5F4CA-6FA8-426D-A3CB-DB98942CEECD}" destId="{1490F72A-830F-4E04-BED1-1DFBE38C58B6}" srcOrd="0" destOrd="0" presId="urn:microsoft.com/office/officeart/2005/8/layout/hierarchy1"/>
    <dgm:cxn modelId="{D4129AFB-48F1-42ED-83EF-8755B66FDD97}" type="presOf" srcId="{B1488828-C5BB-4DB6-A34C-25B9F90927E6}" destId="{5B163DB5-3955-463B-B52B-00C3D469481E}" srcOrd="0" destOrd="0" presId="urn:microsoft.com/office/officeart/2005/8/layout/hierarchy1"/>
    <dgm:cxn modelId="{2D11D535-A42D-439E-8E38-DA1EDFA509C2}" type="presParOf" srcId="{9D5CBAC7-1EE3-4DA4-A958-CF86C8D62DED}" destId="{C4CF8BD9-4063-4C77-B6D1-FCAF5738DF6D}" srcOrd="0" destOrd="0" presId="urn:microsoft.com/office/officeart/2005/8/layout/hierarchy1"/>
    <dgm:cxn modelId="{65AB1A2C-9948-4D96-8431-397AD662F3AB}" type="presParOf" srcId="{C4CF8BD9-4063-4C77-B6D1-FCAF5738DF6D}" destId="{120F3DF4-0E22-4CE8-8653-6326F05CF0FC}" srcOrd="0" destOrd="0" presId="urn:microsoft.com/office/officeart/2005/8/layout/hierarchy1"/>
    <dgm:cxn modelId="{7BFD3291-F6D1-4681-83CE-4F677FC75C72}" type="presParOf" srcId="{120F3DF4-0E22-4CE8-8653-6326F05CF0FC}" destId="{7C77E739-0DB6-457A-B7EA-3F8504AECE47}" srcOrd="0" destOrd="0" presId="urn:microsoft.com/office/officeart/2005/8/layout/hierarchy1"/>
    <dgm:cxn modelId="{3D1F75A3-0DC3-4AC2-81E6-F1E48499D629}" type="presParOf" srcId="{120F3DF4-0E22-4CE8-8653-6326F05CF0FC}" destId="{5B163DB5-3955-463B-B52B-00C3D469481E}" srcOrd="1" destOrd="0" presId="urn:microsoft.com/office/officeart/2005/8/layout/hierarchy1"/>
    <dgm:cxn modelId="{5EAEC188-D4EC-41E1-8E2E-1D249CE2F4B3}" type="presParOf" srcId="{C4CF8BD9-4063-4C77-B6D1-FCAF5738DF6D}" destId="{8F25AEA7-A746-4C51-B7AC-B3C95576BDF0}" srcOrd="1" destOrd="0" presId="urn:microsoft.com/office/officeart/2005/8/layout/hierarchy1"/>
    <dgm:cxn modelId="{ACCDB82E-A29E-4E33-99B7-6CD2B88D9ED9}" type="presParOf" srcId="{9D5CBAC7-1EE3-4DA4-A958-CF86C8D62DED}" destId="{4B6AE372-A042-4EE7-A8C6-A3BEFC92957A}" srcOrd="1" destOrd="0" presId="urn:microsoft.com/office/officeart/2005/8/layout/hierarchy1"/>
    <dgm:cxn modelId="{AF3F5848-8A7C-4305-AEE9-A870E4F14BB8}" type="presParOf" srcId="{4B6AE372-A042-4EE7-A8C6-A3BEFC92957A}" destId="{58717232-56C4-47DE-953B-335A4B76BB6A}" srcOrd="0" destOrd="0" presId="urn:microsoft.com/office/officeart/2005/8/layout/hierarchy1"/>
    <dgm:cxn modelId="{DC2EA67A-F900-406E-A09C-33CCE7A7B91A}" type="presParOf" srcId="{58717232-56C4-47DE-953B-335A4B76BB6A}" destId="{18D5779D-634D-4E13-ADF8-BAF25B71EBD6}" srcOrd="0" destOrd="0" presId="urn:microsoft.com/office/officeart/2005/8/layout/hierarchy1"/>
    <dgm:cxn modelId="{6F7AE7D9-1E89-41C0-A825-86E35C5FD1AD}" type="presParOf" srcId="{58717232-56C4-47DE-953B-335A4B76BB6A}" destId="{1490F72A-830F-4E04-BED1-1DFBE38C58B6}" srcOrd="1" destOrd="0" presId="urn:microsoft.com/office/officeart/2005/8/layout/hierarchy1"/>
    <dgm:cxn modelId="{8C0781C9-94BF-4B1A-B4E4-467F14F7C15C}" type="presParOf" srcId="{4B6AE372-A042-4EE7-A8C6-A3BEFC92957A}" destId="{2F40E0F4-DA49-467F-ADD8-00702A75392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77E739-0DB6-457A-B7EA-3F8504AECE47}">
      <dsp:nvSpPr>
        <dsp:cNvPr id="0" name=""/>
        <dsp:cNvSpPr/>
      </dsp:nvSpPr>
      <dsp:spPr>
        <a:xfrm>
          <a:off x="1154" y="132960"/>
          <a:ext cx="4052779" cy="25735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163DB5-3955-463B-B52B-00C3D469481E}">
      <dsp:nvSpPr>
        <dsp:cNvPr id="0" name=""/>
        <dsp:cNvSpPr/>
      </dsp:nvSpPr>
      <dsp:spPr>
        <a:xfrm>
          <a:off x="451463" y="560754"/>
          <a:ext cx="4052779" cy="25735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How does your confidence in your ability to do something impact your drive to do the task?</a:t>
          </a:r>
        </a:p>
      </dsp:txBody>
      <dsp:txXfrm>
        <a:off x="526839" y="636130"/>
        <a:ext cx="3902027" cy="2422762"/>
      </dsp:txXfrm>
    </dsp:sp>
    <dsp:sp modelId="{18D5779D-634D-4E13-ADF8-BAF25B71EBD6}">
      <dsp:nvSpPr>
        <dsp:cNvPr id="0" name=""/>
        <dsp:cNvSpPr/>
      </dsp:nvSpPr>
      <dsp:spPr>
        <a:xfrm>
          <a:off x="4954551" y="132960"/>
          <a:ext cx="4052779" cy="25735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90F72A-830F-4E04-BED1-1DFBE38C58B6}">
      <dsp:nvSpPr>
        <dsp:cNvPr id="0" name=""/>
        <dsp:cNvSpPr/>
      </dsp:nvSpPr>
      <dsp:spPr>
        <a:xfrm>
          <a:off x="5404860" y="560754"/>
          <a:ext cx="4052779" cy="25735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might social motives impact your decisions and behavior?</a:t>
          </a:r>
        </a:p>
      </dsp:txBody>
      <dsp:txXfrm>
        <a:off x="5480236" y="636130"/>
        <a:ext cx="3902027" cy="242276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56905-DDDD-43F4-AB6F-9596C2119C54}"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7C3A1-86B3-4ECD-B065-964C7D45BD0C}" type="slidenum">
              <a:rPr lang="en-US" smtClean="0"/>
              <a:t>‹#›</a:t>
            </a:fld>
            <a:endParaRPr lang="en-US"/>
          </a:p>
        </p:txBody>
      </p:sp>
    </p:spTree>
    <p:extLst>
      <p:ext uri="{BB962C8B-B14F-4D97-AF65-F5344CB8AC3E}">
        <p14:creationId xmlns:p14="http://schemas.microsoft.com/office/powerpoint/2010/main" val="26934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intrinsic</a:t>
            </a:r>
            <a:r>
              <a:rPr lang="en-US" sz="1200" b="0" i="0" kern="1200" dirty="0">
                <a:solidFill>
                  <a:schemeClr val="tx1"/>
                </a:solidFill>
                <a:effectLst/>
                <a:latin typeface="+mn-lt"/>
                <a:ea typeface="+mn-ea"/>
                <a:cs typeface="+mn-cs"/>
              </a:rPr>
              <a:t> (arising from internal factors) – baking for friends because you enjoy watching them smile</a:t>
            </a:r>
          </a:p>
          <a:p>
            <a:r>
              <a:rPr lang="en-US" sz="1200" b="1" i="0" kern="1200" dirty="0">
                <a:solidFill>
                  <a:schemeClr val="tx1"/>
                </a:solidFill>
                <a:effectLst/>
                <a:latin typeface="+mn-lt"/>
                <a:ea typeface="+mn-ea"/>
                <a:cs typeface="+mn-cs"/>
              </a:rPr>
              <a:t>extrinsic</a:t>
            </a:r>
            <a:r>
              <a:rPr lang="en-US" sz="1200" b="0" i="0" kern="1200" dirty="0">
                <a:solidFill>
                  <a:schemeClr val="tx1"/>
                </a:solidFill>
                <a:effectLst/>
                <a:latin typeface="+mn-lt"/>
                <a:ea typeface="+mn-ea"/>
                <a:cs typeface="+mn-cs"/>
              </a:rPr>
              <a:t> (arising from external factors) – mowing someone’s yard for cash</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4</a:t>
            </a:fld>
            <a:endParaRPr lang="en-US"/>
          </a:p>
        </p:txBody>
      </p:sp>
    </p:spTree>
    <p:extLst>
      <p:ext uri="{BB962C8B-B14F-4D97-AF65-F5344CB8AC3E}">
        <p14:creationId xmlns:p14="http://schemas.microsoft.com/office/powerpoint/2010/main" val="1081953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instinct</a:t>
            </a:r>
            <a:r>
              <a:rPr lang="en-US" sz="1200" b="0" i="0" kern="1200" dirty="0">
                <a:solidFill>
                  <a:schemeClr val="tx1"/>
                </a:solidFill>
                <a:effectLst/>
                <a:latin typeface="+mn-lt"/>
                <a:ea typeface="+mn-ea"/>
                <a:cs typeface="+mn-cs"/>
              </a:rPr>
              <a:t> is a species-specific pattern of behavior that is not learned</a:t>
            </a:r>
          </a:p>
          <a:p>
            <a:r>
              <a:rPr lang="en-US" sz="1200" b="0" i="0" kern="1200" dirty="0">
                <a:solidFill>
                  <a:schemeClr val="tx1"/>
                </a:solidFill>
                <a:effectLst/>
                <a:latin typeface="+mn-lt"/>
                <a:ea typeface="+mn-ea"/>
                <a:cs typeface="+mn-cs"/>
              </a:rPr>
              <a:t>James theorized that behavior was driven by a number of instincts, which aid survival </a:t>
            </a:r>
          </a:p>
          <a:p>
            <a:r>
              <a:rPr lang="en-US" sz="1200" b="0" i="0" kern="1200" dirty="0">
                <a:solidFill>
                  <a:schemeClr val="tx1"/>
                </a:solidFill>
                <a:effectLst/>
                <a:latin typeface="+mn-lt"/>
                <a:ea typeface="+mn-ea"/>
                <a:cs typeface="+mn-cs"/>
              </a:rPr>
              <a:t>-ignores the role of learning</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6</a:t>
            </a:fld>
            <a:endParaRPr lang="en-US"/>
          </a:p>
        </p:txBody>
      </p:sp>
    </p:spTree>
    <p:extLst>
      <p:ext uri="{BB962C8B-B14F-4D97-AF65-F5344CB8AC3E}">
        <p14:creationId xmlns:p14="http://schemas.microsoft.com/office/powerpoint/2010/main" val="3372347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-According to the </a:t>
            </a:r>
            <a:r>
              <a:rPr lang="en-US" sz="1200" b="1" i="0" kern="1200" dirty="0">
                <a:solidFill>
                  <a:schemeClr val="tx1"/>
                </a:solidFill>
                <a:effectLst/>
                <a:latin typeface="+mn-lt"/>
                <a:ea typeface="+mn-ea"/>
                <a:cs typeface="+mn-cs"/>
              </a:rPr>
              <a:t>drive theory</a:t>
            </a:r>
            <a:r>
              <a:rPr lang="en-US" sz="1200" b="0" i="0" kern="1200" dirty="0">
                <a:solidFill>
                  <a:schemeClr val="tx1"/>
                </a:solidFill>
                <a:effectLst/>
                <a:latin typeface="+mn-lt"/>
                <a:ea typeface="+mn-ea"/>
                <a:cs typeface="+mn-cs"/>
              </a:rPr>
              <a:t> of motivation, deviations from homeostasis create physiological needs. These needs result in psychological drive states that direct behavior to meet the need and, ultimately, bring the system back to homeostasis.</a:t>
            </a:r>
          </a:p>
          <a:p>
            <a:r>
              <a:rPr lang="en-US" sz="1200" b="1" i="0" kern="1200" dirty="0">
                <a:solidFill>
                  <a:schemeClr val="tx1"/>
                </a:solidFill>
                <a:effectLst/>
                <a:latin typeface="+mn-lt"/>
                <a:ea typeface="+mn-ea"/>
                <a:cs typeface="+mn-cs"/>
              </a:rPr>
              <a:t>-Homeostasis </a:t>
            </a:r>
            <a:r>
              <a:rPr lang="en-US" sz="1200" b="0" i="0" kern="1200" dirty="0">
                <a:solidFill>
                  <a:schemeClr val="tx1"/>
                </a:solidFill>
                <a:effectLst/>
                <a:latin typeface="+mn-lt"/>
                <a:ea typeface="+mn-ea"/>
                <a:cs typeface="+mn-cs"/>
              </a:rPr>
              <a:t>is the tendency to maintain a balance, or optimal level, within a biological system</a:t>
            </a:r>
          </a:p>
          <a:p>
            <a:r>
              <a:rPr lang="en-US" sz="1200" b="0" i="0" kern="1200" dirty="0">
                <a:solidFill>
                  <a:schemeClr val="tx1"/>
                </a:solidFill>
                <a:effectLst/>
                <a:latin typeface="+mn-lt"/>
                <a:ea typeface="+mn-ea"/>
                <a:cs typeface="+mn-cs"/>
              </a:rPr>
              <a:t>-Interestingly, drive theory also emphasizes the role that habits play in the type of behavioral response in which we engage.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habit</a:t>
            </a:r>
            <a:r>
              <a:rPr lang="en-US" sz="1200" b="0" i="0" kern="1200" dirty="0">
                <a:solidFill>
                  <a:schemeClr val="tx1"/>
                </a:solidFill>
                <a:effectLst/>
                <a:latin typeface="+mn-lt"/>
                <a:ea typeface="+mn-ea"/>
                <a:cs typeface="+mn-cs"/>
              </a:rPr>
              <a:t> is a pattern of behavior in which we regularly engage. Once we have engaged in a behavior that successfully reduces a drive, we are more likely to engage in that behavior whenever faced with that drive in the future</a:t>
            </a:r>
          </a:p>
          <a:p>
            <a:r>
              <a:rPr lang="en-US" sz="1200" b="0" i="0" kern="1200" dirty="0">
                <a:solidFill>
                  <a:schemeClr val="tx1"/>
                </a:solidFill>
                <a:effectLst/>
                <a:latin typeface="+mn-lt"/>
                <a:ea typeface="+mn-ea"/>
                <a:cs typeface="+mn-cs"/>
              </a:rPr>
              <a:t>Ex: yearn for rest during the busiest part of the semester, yearn for something to do when bored</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7</a:t>
            </a:fld>
            <a:endParaRPr lang="en-US"/>
          </a:p>
        </p:txBody>
      </p:sp>
    </p:spTree>
    <p:extLst>
      <p:ext uri="{BB962C8B-B14F-4D97-AF65-F5344CB8AC3E}">
        <p14:creationId xmlns:p14="http://schemas.microsoft.com/office/powerpoint/2010/main" val="2183509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-Variation of the Drive Theory of Motivation is the Arousal Theory of Motivation</a:t>
            </a:r>
          </a:p>
          <a:p>
            <a:r>
              <a:rPr lang="en-US" dirty="0"/>
              <a:t>-people are driven towards behaviors, activities, and situations that will help them maintain optimal levels of arousal</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Yerkes-Dodson law</a:t>
            </a:r>
            <a:r>
              <a:rPr lang="en-US" sz="1200" b="0" i="0" kern="1200" dirty="0">
                <a:solidFill>
                  <a:schemeClr val="tx1"/>
                </a:solidFill>
                <a:effectLst/>
                <a:latin typeface="+mn-lt"/>
                <a:ea typeface="+mn-ea"/>
                <a:cs typeface="+mn-cs"/>
              </a:rPr>
              <a:t>, which holds that a simple task is performed best when arousal levels are relatively high and complex tasks are best performed when arousal levels are lower</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8</a:t>
            </a:fld>
            <a:endParaRPr lang="en-US"/>
          </a:p>
        </p:txBody>
      </p:sp>
    </p:spTree>
    <p:extLst>
      <p:ext uri="{BB962C8B-B14F-4D97-AF65-F5344CB8AC3E}">
        <p14:creationId xmlns:p14="http://schemas.microsoft.com/office/powerpoint/2010/main" val="3929270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-Albert Bandura (1994) theorized that an individual’s sense of self-efficacy plays a pivotal role in motivating behavior</a:t>
            </a:r>
          </a:p>
          <a:p>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Self-efficacy</a:t>
            </a:r>
            <a:r>
              <a:rPr lang="en-US" sz="1200" b="0" i="0" kern="1200" dirty="0">
                <a:solidFill>
                  <a:schemeClr val="tx1"/>
                </a:solidFill>
                <a:effectLst/>
                <a:latin typeface="+mn-lt"/>
                <a:ea typeface="+mn-ea"/>
                <a:cs typeface="+mn-cs"/>
              </a:rPr>
              <a:t> is an individual’s belief in their own capability to complete a task,</a:t>
            </a:r>
          </a:p>
          <a:p>
            <a:r>
              <a:rPr lang="en-US" sz="1200" b="0" i="0" kern="1200" dirty="0">
                <a:solidFill>
                  <a:schemeClr val="tx1"/>
                </a:solidFill>
                <a:effectLst/>
                <a:latin typeface="+mn-lt"/>
                <a:ea typeface="+mn-ea"/>
                <a:cs typeface="+mn-cs"/>
              </a:rPr>
              <a:t>-It is the need for achievement that drives accomplishment and performance. The need for affiliation encourages positive interactions with others, and the need for intimacy causes us to seek deep, meaningful relationships.</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9</a:t>
            </a:fld>
            <a:endParaRPr lang="en-US"/>
          </a:p>
        </p:txBody>
      </p:sp>
    </p:spTree>
    <p:extLst>
      <p:ext uri="{BB962C8B-B14F-4D97-AF65-F5344CB8AC3E}">
        <p14:creationId xmlns:p14="http://schemas.microsoft.com/office/powerpoint/2010/main" val="4268070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our stomachs are empty, they contract. Typically, a person then experiences hunger pangs. Chemical messages travel to the brain, and serve as a signal to initiate feeding behavior. When our blood glucose levels drop, the pancreas and liver generate a number of chemical signals that induce hunger</a:t>
            </a:r>
          </a:p>
          <a:p>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satiation</a:t>
            </a:r>
            <a:r>
              <a:rPr lang="en-US" sz="1200" b="0" i="0" kern="1200" dirty="0">
                <a:solidFill>
                  <a:schemeClr val="tx1"/>
                </a:solidFill>
                <a:effectLst/>
                <a:latin typeface="+mn-lt"/>
                <a:ea typeface="+mn-ea"/>
                <a:cs typeface="+mn-cs"/>
              </a:rPr>
              <a:t>- the feeling of fullness and satisfaction; when we have eaten enough, fat cells release leptin, a satiety hormone; additionally, blood glucose increases, and the pancreas and liver send a message to stop eating</a:t>
            </a:r>
          </a:p>
          <a:p>
            <a:r>
              <a:rPr lang="en-US" sz="1200" b="1" i="0" kern="1200" dirty="0">
                <a:solidFill>
                  <a:schemeClr val="tx1"/>
                </a:solidFill>
                <a:effectLst/>
                <a:latin typeface="+mn-lt"/>
                <a:ea typeface="+mn-ea"/>
                <a:cs typeface="+mn-cs"/>
              </a:rPr>
              <a:t>-metabolic rate</a:t>
            </a:r>
            <a:r>
              <a:rPr lang="en-US" sz="1200" b="0" i="0" kern="1200" dirty="0">
                <a:solidFill>
                  <a:schemeClr val="tx1"/>
                </a:solidFill>
                <a:effectLst/>
                <a:latin typeface="+mn-lt"/>
                <a:ea typeface="+mn-ea"/>
                <a:cs typeface="+mn-cs"/>
              </a:rPr>
              <a:t> is the amount of energy that is expended in a given period of time (there is tremendous individual variability in our metabolic rates)</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set-point theory</a:t>
            </a:r>
            <a:r>
              <a:rPr lang="en-US" sz="1200" b="0" i="0" kern="1200" dirty="0">
                <a:solidFill>
                  <a:schemeClr val="tx1"/>
                </a:solidFill>
                <a:effectLst/>
                <a:latin typeface="+mn-lt"/>
                <a:ea typeface="+mn-ea"/>
                <a:cs typeface="+mn-cs"/>
              </a:rPr>
              <a:t> asserts that each individual has an ideal body weight, or set point, which is resistant to change (Note: not all research aligns with set point theory</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12</a:t>
            </a:fld>
            <a:endParaRPr lang="en-US"/>
          </a:p>
        </p:txBody>
      </p:sp>
    </p:spTree>
    <p:extLst>
      <p:ext uri="{BB962C8B-B14F-4D97-AF65-F5344CB8AC3E}">
        <p14:creationId xmlns:p14="http://schemas.microsoft.com/office/powerpoint/2010/main" val="971303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Overweight</a:t>
            </a:r>
            <a:r>
              <a:rPr lang="en-US" b="0" dirty="0"/>
              <a:t> – BMI between 25 and 29.9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Obesity </a:t>
            </a:r>
            <a:r>
              <a:rPr lang="en-US" b="0" dirty="0"/>
              <a:t>– BMI over 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Severe Obesity </a:t>
            </a:r>
            <a:r>
              <a:rPr lang="en-US" b="0" dirty="0"/>
              <a:t>– BMI over 30</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BMI over-generalizes, making it a poor indicator of health</a:t>
            </a:r>
          </a:p>
        </p:txBody>
      </p:sp>
      <p:sp>
        <p:nvSpPr>
          <p:cNvPr id="4" name="Slide Number Placeholder 3"/>
          <p:cNvSpPr>
            <a:spLocks noGrp="1"/>
          </p:cNvSpPr>
          <p:nvPr>
            <p:ph type="sldNum" sz="quarter" idx="5"/>
          </p:nvPr>
        </p:nvSpPr>
        <p:spPr/>
        <p:txBody>
          <a:bodyPr/>
          <a:lstStyle/>
          <a:p>
            <a:fld id="{1FA7C3A1-86B3-4ECD-B065-964C7D45BD0C}" type="slidenum">
              <a:rPr lang="en-US" smtClean="0"/>
              <a:t>13</a:t>
            </a:fld>
            <a:endParaRPr lang="en-US"/>
          </a:p>
        </p:txBody>
      </p:sp>
    </p:spTree>
    <p:extLst>
      <p:ext uri="{BB962C8B-B14F-4D97-AF65-F5344CB8AC3E}">
        <p14:creationId xmlns:p14="http://schemas.microsoft.com/office/powerpoint/2010/main" val="52653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of the people diagnosed with anorexia are also diagnosed with bulimia</a:t>
            </a:r>
          </a:p>
          <a:p>
            <a:r>
              <a:rPr lang="en-US" dirty="0"/>
              <a:t>-excessive exercise isn’t in the DSM-V yet, but is growing in public awareness</a:t>
            </a:r>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509883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a:t>
            </a:r>
          </a:p>
          <a:p>
            <a:r>
              <a:rPr lang="en-US" b="1" dirty="0"/>
              <a:t>Sexual orientation </a:t>
            </a:r>
            <a:r>
              <a:rPr lang="en-US" dirty="0"/>
              <a:t>– a person’ </a:t>
            </a:r>
            <a:r>
              <a:rPr lang="en-US" sz="1200" b="0" i="0" kern="1200" dirty="0">
                <a:solidFill>
                  <a:schemeClr val="tx1"/>
                </a:solidFill>
                <a:effectLst/>
                <a:latin typeface="+mn-lt"/>
                <a:ea typeface="+mn-ea"/>
                <a:cs typeface="+mn-cs"/>
              </a:rPr>
              <a:t>emotional, romantic, and/or erotic attraction toward other people or no people (It’s about OTHER PEOPLE)</a:t>
            </a:r>
          </a:p>
          <a:p>
            <a:r>
              <a:rPr lang="en-US" b="1" dirty="0"/>
              <a:t>Gender identity </a:t>
            </a:r>
            <a:r>
              <a:rPr lang="en-US" dirty="0"/>
              <a:t>refers to one’s sense of being male, female, neither of these, both of these, or another gender (It’s about one’s self)</a:t>
            </a:r>
          </a:p>
        </p:txBody>
      </p:sp>
      <p:sp>
        <p:nvSpPr>
          <p:cNvPr id="4" name="Slide Number Placeholder 3"/>
          <p:cNvSpPr>
            <a:spLocks noGrp="1"/>
          </p:cNvSpPr>
          <p:nvPr>
            <p:ph type="sldNum" sz="quarter" idx="5"/>
          </p:nvPr>
        </p:nvSpPr>
        <p:spPr/>
        <p:txBody>
          <a:bodyPr/>
          <a:lstStyle/>
          <a:p>
            <a:fld id="{1FA7C3A1-86B3-4ECD-B065-964C7D45BD0C}" type="slidenum">
              <a:rPr lang="en-US" smtClean="0"/>
              <a:t>15</a:t>
            </a:fld>
            <a:endParaRPr lang="en-US"/>
          </a:p>
        </p:txBody>
      </p:sp>
    </p:spTree>
    <p:extLst>
      <p:ext uri="{BB962C8B-B14F-4D97-AF65-F5344CB8AC3E}">
        <p14:creationId xmlns:p14="http://schemas.microsoft.com/office/powerpoint/2010/main" val="1663987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Intersex is a general term used to describe people whose sex traits, reproductive anatomy, hormones, or chromosomes are different from the usual two ways human bodies develop. Some intersex traits are recognized at birth, while others are not recognizable until puberty or later in life</a:t>
            </a:r>
          </a:p>
          <a:p>
            <a:r>
              <a:rPr lang="en-US" sz="1200" b="0" i="0" kern="1200" dirty="0">
                <a:solidFill>
                  <a:schemeClr val="tx1"/>
                </a:solidFill>
                <a:effectLst/>
                <a:latin typeface="+mn-lt"/>
                <a:ea typeface="+mn-ea"/>
                <a:cs typeface="+mn-cs"/>
              </a:rPr>
              <a:t>Intersex and transgender are not interchangeable terms; many transgender people have no intersex traits, and many intersex people do not consider themselves transgender.</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16</a:t>
            </a:fld>
            <a:endParaRPr lang="en-US"/>
          </a:p>
        </p:txBody>
      </p:sp>
    </p:spTree>
    <p:extLst>
      <p:ext uri="{BB962C8B-B14F-4D97-AF65-F5344CB8AC3E}">
        <p14:creationId xmlns:p14="http://schemas.microsoft.com/office/powerpoint/2010/main" val="3965535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-research has consistently demonstrated that the family backgrounds and experiences are very similar among straight people and LGBTQ people </a:t>
            </a:r>
          </a:p>
          <a:p>
            <a:r>
              <a:rPr lang="en-US" sz="1200" b="0" i="0" kern="1200" dirty="0">
                <a:solidFill>
                  <a:schemeClr val="tx1"/>
                </a:solidFill>
                <a:effectLst/>
                <a:latin typeface="+mn-lt"/>
                <a:ea typeface="+mn-ea"/>
                <a:cs typeface="+mn-cs"/>
              </a:rPr>
              <a:t>-some researchers estimating that genes account for at least half of the variability seen in human sexual orientation</a:t>
            </a:r>
          </a:p>
          <a:p>
            <a:r>
              <a:rPr lang="en-US" sz="1200" b="0" i="0" kern="1200" dirty="0">
                <a:solidFill>
                  <a:schemeClr val="tx1"/>
                </a:solidFill>
                <a:effectLst/>
                <a:latin typeface="+mn-lt"/>
                <a:ea typeface="+mn-ea"/>
                <a:cs typeface="+mn-cs"/>
              </a:rPr>
              <a:t>-Other studies report differences in brain structure and function among those with different sexual orientations</a:t>
            </a:r>
          </a:p>
          <a:p>
            <a:r>
              <a:rPr lang="en-US" sz="1200" b="0" i="0" kern="1200" dirty="0">
                <a:solidFill>
                  <a:schemeClr val="tx1"/>
                </a:solidFill>
                <a:effectLst/>
                <a:latin typeface="+mn-lt"/>
                <a:ea typeface="+mn-ea"/>
                <a:cs typeface="+mn-cs"/>
              </a:rPr>
              <a:t>-evolutionary psychologist would argue that it is a response to the size of the population, matching other animal species that can change gender </a:t>
            </a:r>
          </a:p>
          <a:p>
            <a:r>
              <a:rPr lang="en-US" sz="1200" b="0" i="0" kern="1200" dirty="0">
                <a:solidFill>
                  <a:schemeClr val="tx1"/>
                </a:solidFill>
                <a:effectLst/>
                <a:latin typeface="+mn-lt"/>
                <a:ea typeface="+mn-ea"/>
                <a:cs typeface="+mn-cs"/>
              </a:rPr>
              <a:t>-others believe it’s a normal part of animal behavior, as other species participate in same-sex socio-sexual behaviors (ex: beluga whales)</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17</a:t>
            </a:fld>
            <a:endParaRPr lang="en-US"/>
          </a:p>
        </p:txBody>
      </p:sp>
    </p:spTree>
    <p:extLst>
      <p:ext uri="{BB962C8B-B14F-4D97-AF65-F5344CB8AC3E}">
        <p14:creationId xmlns:p14="http://schemas.microsoft.com/office/powerpoint/2010/main" val="2765206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James-Lange theory</a:t>
            </a:r>
            <a:r>
              <a:rPr lang="en-US" sz="1200" b="0" i="0" kern="1200" dirty="0">
                <a:solidFill>
                  <a:schemeClr val="tx1"/>
                </a:solidFill>
                <a:effectLst/>
                <a:latin typeface="+mn-lt"/>
                <a:ea typeface="+mn-ea"/>
                <a:cs typeface="+mn-cs"/>
              </a:rPr>
              <a:t> of emotion asserts that emotions arise from physiological arousal (you would only experience a feeling of fear after this physiological arousal had taken place)</a:t>
            </a:r>
          </a:p>
          <a:p>
            <a:r>
              <a:rPr lang="en-US" sz="1200" b="1" i="0" kern="1200" dirty="0">
                <a:solidFill>
                  <a:schemeClr val="tx1"/>
                </a:solidFill>
                <a:effectLst/>
                <a:latin typeface="+mn-lt"/>
                <a:ea typeface="+mn-ea"/>
                <a:cs typeface="+mn-cs"/>
              </a:rPr>
              <a:t>Cannon-Bard theory</a:t>
            </a:r>
            <a:r>
              <a:rPr lang="en-US" sz="1200" b="0" i="0" kern="1200" dirty="0">
                <a:solidFill>
                  <a:schemeClr val="tx1"/>
                </a:solidFill>
                <a:effectLst/>
                <a:latin typeface="+mn-lt"/>
                <a:ea typeface="+mn-ea"/>
                <a:cs typeface="+mn-cs"/>
              </a:rPr>
              <a:t>-physiological arousal and emotional experience occur simultaneously, yet independently (too many emotions that are not driven specific arousals)</a:t>
            </a:r>
          </a:p>
          <a:p>
            <a:r>
              <a:rPr lang="en-US" sz="1200" b="1" i="0" kern="1200" dirty="0">
                <a:solidFill>
                  <a:schemeClr val="tx1"/>
                </a:solidFill>
                <a:effectLst/>
                <a:latin typeface="+mn-lt"/>
                <a:ea typeface="+mn-ea"/>
                <a:cs typeface="+mn-cs"/>
              </a:rPr>
              <a:t>Schachter-Singer two-factor theory</a:t>
            </a:r>
            <a:r>
              <a:rPr lang="en-US" sz="1200" b="0" i="0" kern="1200" dirty="0">
                <a:solidFill>
                  <a:schemeClr val="tx1"/>
                </a:solidFill>
                <a:effectLst/>
                <a:latin typeface="+mn-lt"/>
                <a:ea typeface="+mn-ea"/>
                <a:cs typeface="+mn-cs"/>
              </a:rPr>
              <a:t> -emotions are composed of two factors: physiological and cognitive; physiological arousal is interpreted </a:t>
            </a:r>
            <a:r>
              <a:rPr lang="en-US" sz="1200" b="1" i="0" kern="1200" dirty="0">
                <a:solidFill>
                  <a:schemeClr val="tx1"/>
                </a:solidFill>
                <a:effectLst/>
                <a:latin typeface="+mn-lt"/>
                <a:ea typeface="+mn-ea"/>
                <a:cs typeface="+mn-cs"/>
              </a:rPr>
              <a:t>in context </a:t>
            </a:r>
            <a:r>
              <a:rPr lang="en-US" sz="1200" b="0" i="0" kern="1200" dirty="0">
                <a:solidFill>
                  <a:schemeClr val="tx1"/>
                </a:solidFill>
                <a:effectLst/>
                <a:latin typeface="+mn-lt"/>
                <a:ea typeface="+mn-ea"/>
                <a:cs typeface="+mn-cs"/>
              </a:rPr>
              <a:t>to produce the emotional experience.</a:t>
            </a:r>
          </a:p>
          <a:p>
            <a:r>
              <a:rPr lang="en-US" sz="1200" b="1" i="0" kern="1200" dirty="0">
                <a:solidFill>
                  <a:schemeClr val="tx1"/>
                </a:solidFill>
                <a:effectLst/>
                <a:latin typeface="+mn-lt"/>
                <a:ea typeface="+mn-ea"/>
                <a:cs typeface="+mn-cs"/>
              </a:rPr>
              <a:t>cognitive-mediational theory</a:t>
            </a:r>
            <a:r>
              <a:rPr lang="en-US" sz="1200" b="0" i="0" kern="1200" dirty="0">
                <a:solidFill>
                  <a:schemeClr val="tx1"/>
                </a:solidFill>
                <a:effectLst/>
                <a:latin typeface="+mn-lt"/>
                <a:ea typeface="+mn-ea"/>
                <a:cs typeface="+mn-cs"/>
              </a:rPr>
              <a:t> that asserts our emotions are determined by our appraisal of the stimulus</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18</a:t>
            </a:fld>
            <a:endParaRPr lang="en-US"/>
          </a:p>
        </p:txBody>
      </p:sp>
    </p:spTree>
    <p:extLst>
      <p:ext uri="{BB962C8B-B14F-4D97-AF65-F5344CB8AC3E}">
        <p14:creationId xmlns:p14="http://schemas.microsoft.com/office/powerpoint/2010/main" val="1830543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E94D-19B6-7FCD-5A3A-CD8A84A49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44120-77DF-7B14-DD78-808C72250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835DB-0614-99B9-AC5B-C82D2A61702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limbic system includes the hypothalamus, thalamus, amygdala, and the hippocampus.</a:t>
            </a:r>
            <a:endParaRPr lang="en-US" b="0" dirty="0"/>
          </a:p>
        </p:txBody>
      </p:sp>
      <p:sp>
        <p:nvSpPr>
          <p:cNvPr id="4" name="Slide Number Placeholder 3">
            <a:extLst>
              <a:ext uri="{FF2B5EF4-FFF2-40B4-BE49-F238E27FC236}">
                <a16:creationId xmlns:a16="http://schemas.microsoft.com/office/drawing/2014/main" id="{9EC2AEAC-EB4A-2419-A4B2-71FC12481939}"/>
              </a:ext>
            </a:extLst>
          </p:cNvPr>
          <p:cNvSpPr>
            <a:spLocks noGrp="1"/>
          </p:cNvSpPr>
          <p:nvPr>
            <p:ph type="sldNum" sz="quarter" idx="5"/>
          </p:nvPr>
        </p:nvSpPr>
        <p:spPr/>
        <p:txBody>
          <a:bodyPr/>
          <a:lstStyle/>
          <a:p>
            <a:fld id="{1FA7C3A1-86B3-4ECD-B065-964C7D45BD0C}" type="slidenum">
              <a:rPr lang="en-US" smtClean="0"/>
              <a:t>19</a:t>
            </a:fld>
            <a:endParaRPr lang="en-US"/>
          </a:p>
        </p:txBody>
      </p:sp>
    </p:spTree>
    <p:extLst>
      <p:ext uri="{BB962C8B-B14F-4D97-AF65-F5344CB8AC3E}">
        <p14:creationId xmlns:p14="http://schemas.microsoft.com/office/powerpoint/2010/main" val="1223288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1080"/>
              </a:spcBef>
              <a:spcAft>
                <a:spcPts val="0"/>
              </a:spcAft>
              <a:buClrTx/>
              <a:buSzPts val="1600"/>
              <a:buFont typeface="Arial"/>
              <a:buNone/>
              <a:tabLst/>
              <a:defRPr/>
            </a:pPr>
            <a:r>
              <a:rPr lang="en-US" sz="1200" b="1" dirty="0"/>
              <a:t>Cultural display rule </a:t>
            </a:r>
            <a:r>
              <a:rPr lang="en-US" sz="1200" dirty="0"/>
              <a:t>– culturally specific standards that govern the types and frequencies of displays of emotions that are acceptable.</a:t>
            </a:r>
          </a:p>
          <a:p>
            <a:pPr marL="285750" lvl="0" indent="-285750" algn="l" rtl="0">
              <a:spcBef>
                <a:spcPts val="1080"/>
              </a:spcBef>
              <a:spcAft>
                <a:spcPts val="0"/>
              </a:spcAft>
              <a:buSzPts val="1600"/>
              <a:buFont typeface="Arial"/>
              <a:buChar char="•"/>
            </a:pPr>
            <a:r>
              <a:rPr lang="en-US" sz="1200" dirty="0"/>
              <a:t>Individuals from the U.S. express negative emotions like fear, anger and disgust both alone and in the presence of others.</a:t>
            </a:r>
            <a:endParaRPr lang="en-US" dirty="0"/>
          </a:p>
          <a:p>
            <a:pPr marL="285750" lvl="0" indent="-285750" algn="l" rtl="0">
              <a:spcBef>
                <a:spcPts val="1080"/>
              </a:spcBef>
              <a:spcAft>
                <a:spcPts val="0"/>
              </a:spcAft>
              <a:buSzPts val="1600"/>
              <a:buFont typeface="Arial"/>
              <a:buChar char="•"/>
            </a:pPr>
            <a:r>
              <a:rPr lang="en-US" sz="1200" dirty="0"/>
              <a:t>Individuals from Japan only express these emotions while alone.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seven universal emotions: happiness, surprise, sadness, fright, disgust, contempt, and anger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Body language</a:t>
            </a:r>
            <a:r>
              <a:rPr lang="en-US" sz="1200" b="0" i="0" kern="1200" dirty="0">
                <a:solidFill>
                  <a:schemeClr val="tx1"/>
                </a:solidFill>
                <a:effectLst/>
                <a:latin typeface="+mn-lt"/>
                <a:ea typeface="+mn-ea"/>
                <a:cs typeface="+mn-cs"/>
              </a:rPr>
              <a:t> is the expression of emotion in terms of body position or movement (60-90% of communication is non-verbal)</a:t>
            </a:r>
            <a:endParaRPr lang="en-US" sz="1200" dirty="0"/>
          </a:p>
          <a:p>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20</a:t>
            </a:fld>
            <a:endParaRPr lang="en-US"/>
          </a:p>
        </p:txBody>
      </p:sp>
    </p:spTree>
    <p:extLst>
      <p:ext uri="{BB962C8B-B14F-4D97-AF65-F5344CB8AC3E}">
        <p14:creationId xmlns:p14="http://schemas.microsoft.com/office/powerpoint/2010/main" val="2183345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22025EEA-A722-4F60-B634-4BDA1FDDBC7E}" type="datetime1">
              <a:rPr lang="en-US" smtClean="0"/>
              <a:t>4/2/2026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0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F0A22534-3E3E-45B5-ABBA-ADD6A21E5EDD}" type="datetime1">
              <a:rPr lang="en-US" smtClean="0"/>
              <a:t>4/2/2026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5126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814B996D-7AAA-4D38-8356-2B02E35486CE}" type="datetime1">
              <a:rPr lang="en-US" smtClean="0"/>
              <a:t>4/2/2026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165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E58FEFEA-0D41-421B-952E-63C8585ACEC9}" type="datetime1">
              <a:rPr lang="en-US" smtClean="0"/>
              <a:t>4/2/2026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4237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22274275-1DC3-448D-9BB3-35A2193BD4BF}" type="datetime1">
              <a:rPr lang="en-US" smtClean="0"/>
              <a:t>4/2/2026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331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0AC90C22-D93B-40CD-ACCC-3EE49E5F5AC6}" type="datetime1">
              <a:rPr lang="en-US" smtClean="0"/>
              <a:t>4/2/2026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878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9FF474C-C56E-4C4D-883A-DDDA4392092C}" type="datetime1">
              <a:rPr lang="en-US" smtClean="0"/>
              <a:t>4/2/2026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5398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B40FA84-0CD3-4731-ACBC-76694EFB7BDE}" type="datetime1">
              <a:rPr lang="en-US" smtClean="0"/>
              <a:t>4/2/2026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0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9A1B13C7-CD60-4088-941A-3884CEF954D1}" type="datetime1">
              <a:rPr lang="en-US" smtClean="0"/>
              <a:t>4/2/2026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377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24EB6623-2C39-4DAA-9E04-D8A02E7997E8}" type="datetime1">
              <a:rPr lang="en-US" smtClean="0"/>
              <a:t>4/2/2026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9422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9196B9FD-666C-4D1C-B242-8EC3A469124B}" type="datetime1">
              <a:rPr lang="en-US" smtClean="0"/>
              <a:t>4/2/2026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5308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5AB1E42C-0624-4C92-8B5B-7AEB04E73311}" type="datetime1">
              <a:rPr lang="en-US" smtClean="0"/>
              <a:t>4/2/2026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93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9AADAB-D644-4598-B356-5E5B9814053A}" type="datetime1">
              <a:rPr lang="en-US" smtClean="0"/>
              <a:t>4/2/2026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55184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Lst>
  <p:hf hdr="0" ftr="0" dt="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openclipart.org/detail/544/gerald-g-balance-scale-by-gerald_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idaho.pressbooks.pub/makingconflictsuckless/chapter/asserting-your-emotion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CCBA-6C2C-4420-F570-EB773FCC4326}"/>
              </a:ext>
            </a:extLst>
          </p:cNvPr>
          <p:cNvSpPr>
            <a:spLocks noGrp="1"/>
          </p:cNvSpPr>
          <p:nvPr>
            <p:ph type="ctrTitle"/>
          </p:nvPr>
        </p:nvSpPr>
        <p:spPr>
          <a:xfrm>
            <a:off x="2856745" y="1216242"/>
            <a:ext cx="6478510" cy="3034120"/>
          </a:xfrm>
        </p:spPr>
        <p:txBody>
          <a:bodyPr>
            <a:normAutofit/>
          </a:bodyPr>
          <a:lstStyle/>
          <a:p>
            <a:pPr algn="ctr"/>
            <a:r>
              <a:rPr lang="en-US" sz="7200" dirty="0">
                <a:latin typeface="Constantia" panose="02030602050306030303" pitchFamily="18" charset="0"/>
              </a:rPr>
              <a:t>Emotion and Motivation</a:t>
            </a:r>
          </a:p>
        </p:txBody>
      </p:sp>
      <p:sp>
        <p:nvSpPr>
          <p:cNvPr id="3" name="Subtitle 2">
            <a:extLst>
              <a:ext uri="{FF2B5EF4-FFF2-40B4-BE49-F238E27FC236}">
                <a16:creationId xmlns:a16="http://schemas.microsoft.com/office/drawing/2014/main" id="{C31E3762-1D12-CAD6-EA41-B498CA68F4B9}"/>
              </a:ext>
            </a:extLst>
          </p:cNvPr>
          <p:cNvSpPr>
            <a:spLocks noGrp="1"/>
          </p:cNvSpPr>
          <p:nvPr>
            <p:ph type="subTitle" idx="1"/>
          </p:nvPr>
        </p:nvSpPr>
        <p:spPr/>
        <p:txBody>
          <a:bodyPr/>
          <a:lstStyle/>
          <a:p>
            <a:r>
              <a:rPr lang="en-US" dirty="0"/>
              <a:t>Chapter 10</a:t>
            </a:r>
          </a:p>
        </p:txBody>
      </p:sp>
      <p:sp>
        <p:nvSpPr>
          <p:cNvPr id="4" name="Slide Number Placeholder 3">
            <a:extLst>
              <a:ext uri="{FF2B5EF4-FFF2-40B4-BE49-F238E27FC236}">
                <a16:creationId xmlns:a16="http://schemas.microsoft.com/office/drawing/2014/main" id="{8BAB0AFE-A354-EE4B-A432-E572D3181550}"/>
              </a:ext>
            </a:extLst>
          </p:cNvPr>
          <p:cNvSpPr>
            <a:spLocks noGrp="1"/>
          </p:cNvSpPr>
          <p:nvPr>
            <p:ph type="sldNum" sz="quarter" idx="12"/>
          </p:nvPr>
        </p:nvSpPr>
        <p:spPr/>
        <p:txBody>
          <a:bodyPr/>
          <a:lstStyle/>
          <a:p>
            <a:fld id="{51845F5A-061D-4825-9AE9-D7794091C6CF}" type="slidenum">
              <a:rPr lang="en-US" smtClean="0"/>
              <a:t>1</a:t>
            </a:fld>
            <a:endParaRPr lang="en-US"/>
          </a:p>
        </p:txBody>
      </p:sp>
    </p:spTree>
    <p:extLst>
      <p:ext uri="{BB962C8B-B14F-4D97-AF65-F5344CB8AC3E}">
        <p14:creationId xmlns:p14="http://schemas.microsoft.com/office/powerpoint/2010/main" val="307768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452C9-97F2-AF6B-A137-270B04C802F7}"/>
              </a:ext>
            </a:extLst>
          </p:cNvPr>
          <p:cNvSpPr>
            <a:spLocks noGrp="1"/>
          </p:cNvSpPr>
          <p:nvPr>
            <p:ph type="title"/>
          </p:nvPr>
        </p:nvSpPr>
        <p:spPr>
          <a:xfrm>
            <a:off x="7342360" y="753066"/>
            <a:ext cx="4288100" cy="3610704"/>
          </a:xfrm>
        </p:spPr>
        <p:txBody>
          <a:bodyPr>
            <a:normAutofit/>
          </a:bodyPr>
          <a:lstStyle/>
          <a:p>
            <a:r>
              <a:rPr lang="en-US" sz="8800" dirty="0">
                <a:latin typeface="Constantia" panose="02030602050306030303" pitchFamily="18" charset="0"/>
              </a:rPr>
              <a:t>Agenda</a:t>
            </a:r>
          </a:p>
        </p:txBody>
      </p:sp>
      <p:sp>
        <p:nvSpPr>
          <p:cNvPr id="4" name="Slide Number Placeholder 3">
            <a:extLst>
              <a:ext uri="{FF2B5EF4-FFF2-40B4-BE49-F238E27FC236}">
                <a16:creationId xmlns:a16="http://schemas.microsoft.com/office/drawing/2014/main" id="{96796DA0-B161-6B42-A870-EEFA90597320}"/>
              </a:ext>
            </a:extLst>
          </p:cNvPr>
          <p:cNvSpPr>
            <a:spLocks noGrp="1"/>
          </p:cNvSpPr>
          <p:nvPr>
            <p:ph type="sldNum" sz="quarter" idx="12"/>
          </p:nvPr>
        </p:nvSpPr>
        <p:spPr/>
        <p:txBody>
          <a:bodyPr/>
          <a:lstStyle/>
          <a:p>
            <a:fld id="{51845F5A-061D-4825-9AE9-D7794091C6CF}" type="slidenum">
              <a:rPr lang="en-US" smtClean="0"/>
              <a:t>2</a:t>
            </a:fld>
            <a:endParaRPr lang="en-US"/>
          </a:p>
        </p:txBody>
      </p:sp>
      <p:sp>
        <p:nvSpPr>
          <p:cNvPr id="7" name="TextBox 6">
            <a:extLst>
              <a:ext uri="{FF2B5EF4-FFF2-40B4-BE49-F238E27FC236}">
                <a16:creationId xmlns:a16="http://schemas.microsoft.com/office/drawing/2014/main" id="{AB467369-AD1A-715A-8F30-68981B26BB4C}"/>
              </a:ext>
            </a:extLst>
          </p:cNvPr>
          <p:cNvSpPr txBox="1"/>
          <p:nvPr/>
        </p:nvSpPr>
        <p:spPr>
          <a:xfrm>
            <a:off x="686994" y="1874728"/>
            <a:ext cx="5604095"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Intrinsic and Extrinsic Rewards</a:t>
            </a:r>
          </a:p>
          <a:p>
            <a:pPr marL="285750" indent="-285750">
              <a:buFont typeface="Arial" panose="020B0604020202020204" pitchFamily="34" charset="0"/>
              <a:buChar char="•"/>
            </a:pPr>
            <a:r>
              <a:rPr lang="en-US" sz="2800" dirty="0"/>
              <a:t>Theories of Motivation</a:t>
            </a:r>
          </a:p>
          <a:p>
            <a:pPr marL="285750" indent="-285750">
              <a:buFont typeface="Arial" panose="020B0604020202020204" pitchFamily="34" charset="0"/>
              <a:buChar char="•"/>
            </a:pPr>
            <a:r>
              <a:rPr lang="en-US" sz="2800" dirty="0"/>
              <a:t>Hunger and Eating</a:t>
            </a:r>
          </a:p>
          <a:p>
            <a:pPr marL="285750" indent="-285750">
              <a:buFont typeface="Arial" panose="020B0604020202020204" pitchFamily="34" charset="0"/>
              <a:buChar char="•"/>
            </a:pPr>
            <a:r>
              <a:rPr lang="en-US" sz="2800" dirty="0"/>
              <a:t>Sexuality and Gender Identity</a:t>
            </a:r>
          </a:p>
          <a:p>
            <a:pPr marL="285750" indent="-285750">
              <a:buFont typeface="Arial" panose="020B0604020202020204" pitchFamily="34" charset="0"/>
              <a:buChar char="•"/>
            </a:pPr>
            <a:r>
              <a:rPr lang="en-US" sz="2800" dirty="0"/>
              <a:t>Emotion</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83184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332DB-F0C9-49B6-B7B7-A159B42B9C1B}"/>
              </a:ext>
            </a:extLst>
          </p:cNvPr>
          <p:cNvSpPr>
            <a:spLocks noGrp="1"/>
          </p:cNvSpPr>
          <p:nvPr>
            <p:ph type="title"/>
          </p:nvPr>
        </p:nvSpPr>
        <p:spPr>
          <a:xfrm>
            <a:off x="692831" y="1691137"/>
            <a:ext cx="8170512" cy="3475725"/>
          </a:xfrm>
        </p:spPr>
        <p:txBody>
          <a:bodyPr vert="horz" lIns="91440" tIns="45720" rIns="91440" bIns="45720" rtlCol="0" anchor="b">
            <a:normAutofit/>
          </a:bodyPr>
          <a:lstStyle/>
          <a:p>
            <a:r>
              <a:rPr lang="en-US" sz="4800" dirty="0">
                <a:latin typeface="Constantia" panose="02030602050306030303" pitchFamily="18" charset="0"/>
              </a:rPr>
              <a:t>What is the difference between intrinsic and extrinsic? </a:t>
            </a:r>
          </a:p>
        </p:txBody>
      </p:sp>
    </p:spTree>
    <p:extLst>
      <p:ext uri="{BB962C8B-B14F-4D97-AF65-F5344CB8AC3E}">
        <p14:creationId xmlns:p14="http://schemas.microsoft.com/office/powerpoint/2010/main" val="2456102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 illustration shows a person’s upper torso. Inside the person's head are the words “intrinsic motivation (from within)” and three bullet points: “autonomy,” “mastery,” “purpose.” Outside the person's outline are the words “extrinsic motivation (from outside)” and three bullet points: “compensation,” “punishment,” and “reward.”">
            <a:extLst>
              <a:ext uri="{FF2B5EF4-FFF2-40B4-BE49-F238E27FC236}">
                <a16:creationId xmlns:a16="http://schemas.microsoft.com/office/drawing/2014/main" id="{1CB0BE08-660B-4836-9D38-E449EDF6F2B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98585" y="2096753"/>
            <a:ext cx="6346041" cy="33880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ED33A8-F77E-B8A6-509D-26BEF4FD4807}"/>
              </a:ext>
            </a:extLst>
          </p:cNvPr>
          <p:cNvSpPr txBox="1"/>
          <p:nvPr/>
        </p:nvSpPr>
        <p:spPr>
          <a:xfrm>
            <a:off x="447374" y="3060071"/>
            <a:ext cx="4282289" cy="1938992"/>
          </a:xfrm>
          <a:prstGeom prst="rect">
            <a:avLst/>
          </a:prstGeom>
          <a:noFill/>
        </p:spPr>
        <p:txBody>
          <a:bodyPr wrap="square" rtlCol="0">
            <a:spAutoFit/>
          </a:bodyPr>
          <a:lstStyle/>
          <a:p>
            <a:r>
              <a:rPr lang="en-US" sz="2400" dirty="0"/>
              <a:t>What is an example of an extrinsic reward?</a:t>
            </a:r>
          </a:p>
          <a:p>
            <a:endParaRPr lang="en-US" sz="2400" dirty="0"/>
          </a:p>
          <a:p>
            <a:r>
              <a:rPr lang="en-US" sz="2400" dirty="0"/>
              <a:t>What is an example of an intrinsic reward?</a:t>
            </a:r>
          </a:p>
        </p:txBody>
      </p:sp>
      <p:sp>
        <p:nvSpPr>
          <p:cNvPr id="3" name="Title 1">
            <a:extLst>
              <a:ext uri="{FF2B5EF4-FFF2-40B4-BE49-F238E27FC236}">
                <a16:creationId xmlns:a16="http://schemas.microsoft.com/office/drawing/2014/main" id="{3B972D64-2E0F-8FC2-E754-32F843F6800B}"/>
              </a:ext>
            </a:extLst>
          </p:cNvPr>
          <p:cNvSpPr>
            <a:spLocks noGrp="1"/>
          </p:cNvSpPr>
          <p:nvPr>
            <p:ph type="title"/>
          </p:nvPr>
        </p:nvSpPr>
        <p:spPr>
          <a:xfrm>
            <a:off x="838200" y="365125"/>
            <a:ext cx="10515600" cy="1325563"/>
          </a:xfrm>
        </p:spPr>
        <p:txBody>
          <a:bodyPr/>
          <a:lstStyle/>
          <a:p>
            <a:r>
              <a:rPr lang="en-US" dirty="0">
                <a:latin typeface="Constantia" panose="02030602050306030303" pitchFamily="18" charset="0"/>
              </a:rPr>
              <a:t>Intrinsic and Extrinsic Rewards</a:t>
            </a:r>
          </a:p>
        </p:txBody>
      </p:sp>
    </p:spTree>
    <p:extLst>
      <p:ext uri="{BB962C8B-B14F-4D97-AF65-F5344CB8AC3E}">
        <p14:creationId xmlns:p14="http://schemas.microsoft.com/office/powerpoint/2010/main" val="2464473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26DF-217D-4082-AAA4-5A69E3CF94DB}"/>
              </a:ext>
            </a:extLst>
          </p:cNvPr>
          <p:cNvSpPr>
            <a:spLocks noGrp="1"/>
          </p:cNvSpPr>
          <p:nvPr>
            <p:ph type="title"/>
          </p:nvPr>
        </p:nvSpPr>
        <p:spPr>
          <a:xfrm>
            <a:off x="2391222" y="1934712"/>
            <a:ext cx="7409555" cy="2988575"/>
          </a:xfrm>
        </p:spPr>
        <p:txBody>
          <a:bodyPr vert="horz" lIns="91440" tIns="45720" rIns="91440" bIns="45720" rtlCol="0" anchor="b">
            <a:noAutofit/>
          </a:bodyPr>
          <a:lstStyle/>
          <a:p>
            <a:pPr algn="ctr"/>
            <a:r>
              <a:rPr lang="en-US" sz="8800" dirty="0">
                <a:latin typeface="Constantia" panose="02030602050306030303" pitchFamily="18" charset="0"/>
              </a:rPr>
              <a:t>Theories of Motivation</a:t>
            </a:r>
          </a:p>
        </p:txBody>
      </p:sp>
    </p:spTree>
    <p:extLst>
      <p:ext uri="{BB962C8B-B14F-4D97-AF65-F5344CB8AC3E}">
        <p14:creationId xmlns:p14="http://schemas.microsoft.com/office/powerpoint/2010/main" val="66030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F557-7FA3-4370-A330-7C3B4C60EF31}"/>
              </a:ext>
            </a:extLst>
          </p:cNvPr>
          <p:cNvSpPr>
            <a:spLocks noGrp="1"/>
          </p:cNvSpPr>
          <p:nvPr>
            <p:ph type="title"/>
          </p:nvPr>
        </p:nvSpPr>
        <p:spPr>
          <a:xfrm>
            <a:off x="1023805" y="1446542"/>
            <a:ext cx="4165235" cy="2429706"/>
          </a:xfrm>
        </p:spPr>
        <p:txBody>
          <a:bodyPr vert="horz" lIns="91440" tIns="45720" rIns="91440" bIns="45720" rtlCol="0" anchor="b">
            <a:normAutofit/>
          </a:bodyPr>
          <a:lstStyle/>
          <a:p>
            <a:pPr algn="ctr"/>
            <a:r>
              <a:rPr lang="en-US" sz="5400" dirty="0">
                <a:latin typeface="Constantia" panose="02030602050306030303" pitchFamily="18" charset="0"/>
              </a:rPr>
              <a:t>The Instinct Theory of Motivation</a:t>
            </a:r>
          </a:p>
        </p:txBody>
      </p:sp>
      <p:sp>
        <p:nvSpPr>
          <p:cNvPr id="3" name="Content Placeholder 2">
            <a:extLst>
              <a:ext uri="{FF2B5EF4-FFF2-40B4-BE49-F238E27FC236}">
                <a16:creationId xmlns:a16="http://schemas.microsoft.com/office/drawing/2014/main" id="{B340E6C1-5F55-4A18-9366-1308B4AF8FE9}"/>
              </a:ext>
            </a:extLst>
          </p:cNvPr>
          <p:cNvSpPr>
            <a:spLocks noGrp="1"/>
          </p:cNvSpPr>
          <p:nvPr>
            <p:ph idx="1"/>
          </p:nvPr>
        </p:nvSpPr>
        <p:spPr>
          <a:xfrm>
            <a:off x="1594514" y="4196605"/>
            <a:ext cx="2906973" cy="948601"/>
          </a:xfrm>
        </p:spPr>
        <p:txBody>
          <a:bodyPr vert="horz" lIns="91440" tIns="45720" rIns="91440" bIns="45720" rtlCol="0" anchor="t">
            <a:normAutofit/>
          </a:bodyPr>
          <a:lstStyle/>
          <a:p>
            <a:pPr marL="0" indent="0" algn="ctr">
              <a:buNone/>
            </a:pPr>
            <a:r>
              <a:rPr lang="en-US" cap="all" spc="300" dirty="0"/>
              <a:t>William James</a:t>
            </a:r>
          </a:p>
        </p:txBody>
      </p:sp>
      <p:pic>
        <p:nvPicPr>
          <p:cNvPr id="4" name="Picture 3">
            <a:extLst>
              <a:ext uri="{FF2B5EF4-FFF2-40B4-BE49-F238E27FC236}">
                <a16:creationId xmlns:a16="http://schemas.microsoft.com/office/drawing/2014/main" id="{9C500682-90F1-4115-9886-AF534D38C8BC}"/>
              </a:ext>
              <a:ext uri="{C183D7F6-B498-43B3-948B-1728B52AA6E4}">
                <adec:decorative xmlns:adec="http://schemas.microsoft.com/office/drawing/2017/decorative" val="1"/>
              </a:ext>
            </a:extLst>
          </p:cNvPr>
          <p:cNvPicPr>
            <a:picLocks noChangeAspect="1"/>
          </p:cNvPicPr>
          <p:nvPr/>
        </p:nvPicPr>
        <p:blipFill rotWithShape="1">
          <a:blip r:embed="rId3"/>
          <a:srcRect r="58028" b="11782"/>
          <a:stretch/>
        </p:blipFill>
        <p:spPr>
          <a:xfrm>
            <a:off x="6553376" y="545134"/>
            <a:ext cx="4614819" cy="5771239"/>
          </a:xfrm>
          <a:prstGeom prst="rect">
            <a:avLst/>
          </a:prstGeom>
        </p:spPr>
      </p:pic>
    </p:spTree>
    <p:extLst>
      <p:ext uri="{BB962C8B-B14F-4D97-AF65-F5344CB8AC3E}">
        <p14:creationId xmlns:p14="http://schemas.microsoft.com/office/powerpoint/2010/main" val="309370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F557-7FA3-4370-A330-7C3B4C60EF31}"/>
              </a:ext>
            </a:extLst>
          </p:cNvPr>
          <p:cNvSpPr>
            <a:spLocks noGrp="1"/>
          </p:cNvSpPr>
          <p:nvPr>
            <p:ph type="title"/>
          </p:nvPr>
        </p:nvSpPr>
        <p:spPr>
          <a:xfrm>
            <a:off x="567875" y="1654080"/>
            <a:ext cx="5251010" cy="2890759"/>
          </a:xfrm>
        </p:spPr>
        <p:txBody>
          <a:bodyPr vert="horz" lIns="91440" tIns="45720" rIns="91440" bIns="45720" rtlCol="0" anchor="b">
            <a:normAutofit/>
          </a:bodyPr>
          <a:lstStyle/>
          <a:p>
            <a:pPr algn="ctr"/>
            <a:r>
              <a:rPr lang="en-US" sz="5400" dirty="0">
                <a:latin typeface="Constantia" panose="02030602050306030303" pitchFamily="18" charset="0"/>
              </a:rPr>
              <a:t>The Drive Theory of Motivation</a:t>
            </a:r>
          </a:p>
        </p:txBody>
      </p:sp>
      <p:pic>
        <p:nvPicPr>
          <p:cNvPr id="4" name="Picture 3">
            <a:extLst>
              <a:ext uri="{FF2B5EF4-FFF2-40B4-BE49-F238E27FC236}">
                <a16:creationId xmlns:a16="http://schemas.microsoft.com/office/drawing/2014/main" id="{D1C6E1D6-E43D-0613-26F6-716E426861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88663" y="1802965"/>
            <a:ext cx="5035462" cy="3252069"/>
          </a:xfrm>
          <a:prstGeom prst="rect">
            <a:avLst/>
          </a:prstGeom>
        </p:spPr>
      </p:pic>
    </p:spTree>
    <p:extLst>
      <p:ext uri="{BB962C8B-B14F-4D97-AF65-F5344CB8AC3E}">
        <p14:creationId xmlns:p14="http://schemas.microsoft.com/office/powerpoint/2010/main" val="2116570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8F75-D929-4594-920E-73770B31CAD2}"/>
              </a:ext>
            </a:extLst>
          </p:cNvPr>
          <p:cNvSpPr>
            <a:spLocks noGrp="1"/>
          </p:cNvSpPr>
          <p:nvPr>
            <p:ph type="title"/>
          </p:nvPr>
        </p:nvSpPr>
        <p:spPr>
          <a:xfrm>
            <a:off x="952501" y="960030"/>
            <a:ext cx="5040893" cy="2869586"/>
          </a:xfrm>
        </p:spPr>
        <p:txBody>
          <a:bodyPr vert="horz" lIns="91440" tIns="45720" rIns="91440" bIns="45720" rtlCol="0" anchor="ctr">
            <a:normAutofit/>
          </a:bodyPr>
          <a:lstStyle/>
          <a:p>
            <a:r>
              <a:rPr lang="en-US" sz="5400" kern="1200" dirty="0">
                <a:solidFill>
                  <a:schemeClr val="tx2"/>
                </a:solidFill>
                <a:latin typeface="Constantia" panose="02030602050306030303" pitchFamily="18" charset="0"/>
              </a:rPr>
              <a:t>The Arousal Theory of Motivation</a:t>
            </a:r>
          </a:p>
        </p:txBody>
      </p:sp>
      <p:pic>
        <p:nvPicPr>
          <p:cNvPr id="4" name="Content Placeholder 3" descr="Line graph comparing performance quality against arousal level for difficult and easy tasks, illustrating an inverted U-shaped curve for both. Blue line represents difficult tasks peaking at a slightly lower arousal level than the red line for easy tasks, with labels indicating boredom or apathy at low arousal and high anxiety at high arousal.&#10;&#10;AI-generated content may be incorrect.">
            <a:extLst>
              <a:ext uri="{FF2B5EF4-FFF2-40B4-BE49-F238E27FC236}">
                <a16:creationId xmlns:a16="http://schemas.microsoft.com/office/drawing/2014/main" id="{AB5F243C-3D87-4D3D-AB73-E1B8105FAA4F}"/>
              </a:ext>
            </a:extLst>
          </p:cNvPr>
          <p:cNvPicPr>
            <a:picLocks noGrp="1" noChangeAspect="1"/>
          </p:cNvPicPr>
          <p:nvPr>
            <p:ph idx="1"/>
          </p:nvPr>
        </p:nvPicPr>
        <p:blipFill>
          <a:blip r:embed="rId3"/>
          <a:stretch>
            <a:fillRect/>
          </a:stretch>
        </p:blipFill>
        <p:spPr>
          <a:xfrm>
            <a:off x="5151371" y="2162316"/>
            <a:ext cx="6465849" cy="3378405"/>
          </a:xfrm>
          <a:prstGeom prst="rect">
            <a:avLst/>
          </a:prstGeom>
        </p:spPr>
      </p:pic>
      <p:sp>
        <p:nvSpPr>
          <p:cNvPr id="3" name="TextBox 2">
            <a:extLst>
              <a:ext uri="{FF2B5EF4-FFF2-40B4-BE49-F238E27FC236}">
                <a16:creationId xmlns:a16="http://schemas.microsoft.com/office/drawing/2014/main" id="{079F1AD4-790D-40D8-CB50-1C39B44F8AE9}"/>
              </a:ext>
            </a:extLst>
          </p:cNvPr>
          <p:cNvSpPr txBox="1"/>
          <p:nvPr/>
        </p:nvSpPr>
        <p:spPr>
          <a:xfrm>
            <a:off x="717110" y="5241956"/>
            <a:ext cx="3673820" cy="523220"/>
          </a:xfrm>
          <a:prstGeom prst="rect">
            <a:avLst/>
          </a:prstGeom>
          <a:noFill/>
        </p:spPr>
        <p:txBody>
          <a:bodyPr wrap="square" rtlCol="0">
            <a:spAutoFit/>
          </a:bodyPr>
          <a:lstStyle/>
          <a:p>
            <a:r>
              <a:rPr lang="en-US" sz="2800" dirty="0"/>
              <a:t>Yerkes-Dodson Law</a:t>
            </a:r>
          </a:p>
        </p:txBody>
      </p:sp>
    </p:spTree>
    <p:extLst>
      <p:ext uri="{BB962C8B-B14F-4D97-AF65-F5344CB8AC3E}">
        <p14:creationId xmlns:p14="http://schemas.microsoft.com/office/powerpoint/2010/main" val="235167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986A-8743-4BA0-8B5D-93256313D528}"/>
              </a:ext>
            </a:extLst>
          </p:cNvPr>
          <p:cNvSpPr>
            <a:spLocks noGrp="1"/>
          </p:cNvSpPr>
          <p:nvPr>
            <p:ph type="title"/>
          </p:nvPr>
        </p:nvSpPr>
        <p:spPr>
          <a:xfrm>
            <a:off x="959994" y="943705"/>
            <a:ext cx="10287000" cy="1279329"/>
          </a:xfrm>
        </p:spPr>
        <p:txBody>
          <a:bodyPr>
            <a:normAutofit/>
          </a:bodyPr>
          <a:lstStyle/>
          <a:p>
            <a:pPr algn="ctr"/>
            <a:r>
              <a:rPr lang="en-US" sz="5400" dirty="0">
                <a:latin typeface="Constantia" panose="02030602050306030303" pitchFamily="18" charset="0"/>
              </a:rPr>
              <a:t>Self-Efficacy and Social Motives</a:t>
            </a:r>
          </a:p>
        </p:txBody>
      </p:sp>
      <p:graphicFrame>
        <p:nvGraphicFramePr>
          <p:cNvPr id="5" name="Content Placeholder 2">
            <a:extLst>
              <a:ext uri="{FF2B5EF4-FFF2-40B4-BE49-F238E27FC236}">
                <a16:creationId xmlns:a16="http://schemas.microsoft.com/office/drawing/2014/main" id="{E87E593A-D7D8-4335-9B21-8B41345F7ADC}"/>
              </a:ext>
            </a:extLst>
          </p:cNvPr>
          <p:cNvGraphicFramePr>
            <a:graphicFrameLocks noGrp="1"/>
          </p:cNvGraphicFramePr>
          <p:nvPr>
            <p:ph idx="1"/>
            <p:extLst>
              <p:ext uri="{D42A27DB-BD31-4B8C-83A1-F6EECF244321}">
                <p14:modId xmlns:p14="http://schemas.microsoft.com/office/powerpoint/2010/main" val="1258467569"/>
              </p:ext>
            </p:extLst>
          </p:nvPr>
        </p:nvGraphicFramePr>
        <p:xfrm>
          <a:off x="1386590" y="2864825"/>
          <a:ext cx="9458794" cy="32672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1924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F9DD1-C953-4036-886F-A3E4094239FF}"/>
              </a:ext>
            </a:extLst>
          </p:cNvPr>
          <p:cNvSpPr>
            <a:spLocks noGrp="1"/>
          </p:cNvSpPr>
          <p:nvPr>
            <p:ph type="title"/>
          </p:nvPr>
        </p:nvSpPr>
        <p:spPr>
          <a:xfrm>
            <a:off x="1213165" y="2296771"/>
            <a:ext cx="3409446" cy="2890865"/>
          </a:xfrm>
        </p:spPr>
        <p:txBody>
          <a:bodyPr vert="horz" lIns="91440" tIns="45720" rIns="91440" bIns="45720" rtlCol="0" anchor="b">
            <a:normAutofit/>
          </a:bodyPr>
          <a:lstStyle/>
          <a:p>
            <a:pPr algn="ctr"/>
            <a:r>
              <a:rPr lang="en-US" sz="5400" dirty="0">
                <a:latin typeface="Constantia" panose="02030602050306030303" pitchFamily="18" charset="0"/>
              </a:rPr>
              <a:t>Maslow’s Hierarchy of Needs</a:t>
            </a:r>
          </a:p>
        </p:txBody>
      </p:sp>
      <p:pic>
        <p:nvPicPr>
          <p:cNvPr id="4" name="Content Placeholder 3" descr="Diagram of Maslow’s Hierarchy of Needs presented as a five-level pyramid with labeled sections representing different human needs. Levels from bottom to top include Physiological (food, water, shelter, warmth) in red, Security (safety, employment, assets) in orange, Social (family, friendship, intimacy, belonging) in yellow, Esteem (self-worth, accomplishment, confidence) in green, and Self-actualization (inner fulfillment) in blue.">
            <a:extLst>
              <a:ext uri="{FF2B5EF4-FFF2-40B4-BE49-F238E27FC236}">
                <a16:creationId xmlns:a16="http://schemas.microsoft.com/office/drawing/2014/main" id="{540A29FC-767B-4AAA-B1E2-87AE8EBF640C}"/>
              </a:ext>
            </a:extLst>
          </p:cNvPr>
          <p:cNvPicPr>
            <a:picLocks noGrp="1" noChangeAspect="1"/>
          </p:cNvPicPr>
          <p:nvPr>
            <p:ph idx="1"/>
          </p:nvPr>
        </p:nvPicPr>
        <p:blipFill>
          <a:blip r:embed="rId2"/>
          <a:stretch>
            <a:fillRect/>
          </a:stretch>
        </p:blipFill>
        <p:spPr>
          <a:xfrm>
            <a:off x="6335869" y="545134"/>
            <a:ext cx="5049833" cy="5771239"/>
          </a:xfrm>
          <a:prstGeom prst="rect">
            <a:avLst/>
          </a:prstGeom>
        </p:spPr>
      </p:pic>
    </p:spTree>
    <p:extLst>
      <p:ext uri="{BB962C8B-B14F-4D97-AF65-F5344CB8AC3E}">
        <p14:creationId xmlns:p14="http://schemas.microsoft.com/office/powerpoint/2010/main" val="180829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C005-4C1A-4493-91F9-056487469D8C}"/>
              </a:ext>
            </a:extLst>
          </p:cNvPr>
          <p:cNvSpPr>
            <a:spLocks noGrp="1"/>
          </p:cNvSpPr>
          <p:nvPr>
            <p:ph type="title"/>
          </p:nvPr>
        </p:nvSpPr>
        <p:spPr>
          <a:xfrm>
            <a:off x="950687" y="326984"/>
            <a:ext cx="5145313" cy="1072751"/>
          </a:xfrm>
        </p:spPr>
        <p:txBody>
          <a:bodyPr anchor="ctr">
            <a:normAutofit/>
          </a:bodyPr>
          <a:lstStyle/>
          <a:p>
            <a:r>
              <a:rPr lang="en-US" dirty="0">
                <a:latin typeface="Constantia" panose="02030602050306030303" pitchFamily="18" charset="0"/>
              </a:rPr>
              <a:t>Class Activity</a:t>
            </a:r>
          </a:p>
        </p:txBody>
      </p:sp>
      <p:sp>
        <p:nvSpPr>
          <p:cNvPr id="3" name="Content Placeholder 2">
            <a:extLst>
              <a:ext uri="{FF2B5EF4-FFF2-40B4-BE49-F238E27FC236}">
                <a16:creationId xmlns:a16="http://schemas.microsoft.com/office/drawing/2014/main" id="{427E95E0-C591-4E5B-BF7F-1D7A8CEDCE48}"/>
              </a:ext>
            </a:extLst>
          </p:cNvPr>
          <p:cNvSpPr>
            <a:spLocks noGrp="1"/>
          </p:cNvSpPr>
          <p:nvPr>
            <p:ph idx="1"/>
          </p:nvPr>
        </p:nvSpPr>
        <p:spPr>
          <a:xfrm>
            <a:off x="952500" y="1195755"/>
            <a:ext cx="5954737" cy="3149908"/>
          </a:xfrm>
        </p:spPr>
        <p:txBody>
          <a:bodyPr anchor="b">
            <a:normAutofit/>
          </a:bodyPr>
          <a:lstStyle/>
          <a:p>
            <a:pPr>
              <a:lnSpc>
                <a:spcPct val="100000"/>
              </a:lnSpc>
            </a:pPr>
            <a:r>
              <a:rPr lang="en-US" sz="2400" dirty="0"/>
              <a:t>Break into groups of 2</a:t>
            </a:r>
          </a:p>
          <a:p>
            <a:pPr>
              <a:lnSpc>
                <a:spcPct val="100000"/>
              </a:lnSpc>
            </a:pPr>
            <a:r>
              <a:rPr lang="en-US" sz="2400" dirty="0"/>
              <a:t>As a group, decide what level of Maslow’s hierarchy each character has reached/ is working on meeting</a:t>
            </a:r>
          </a:p>
        </p:txBody>
      </p:sp>
      <p:pic>
        <p:nvPicPr>
          <p:cNvPr id="4" name="Picture 3" descr="Diagram of Maslow’s Hierarchy of Needs presented as a five-level pyramid with labeled sections representing different human needs. Levels from bottom to top include Physiological (food, water, shelter, warmth) in red, Security (safety, employment, assets) in orange, Social (family, friendship, intimacy, belonging) in yellow, Esteem (self-worth, accomplishment, confidence) in green, and Self-actualization (inner fulfillment) in blue.">
            <a:extLst>
              <a:ext uri="{FF2B5EF4-FFF2-40B4-BE49-F238E27FC236}">
                <a16:creationId xmlns:a16="http://schemas.microsoft.com/office/drawing/2014/main" id="{58B21A03-CE21-4427-8340-3FB2CC02E4A3}"/>
              </a:ext>
            </a:extLst>
          </p:cNvPr>
          <p:cNvPicPr>
            <a:picLocks noChangeAspect="1"/>
          </p:cNvPicPr>
          <p:nvPr/>
        </p:nvPicPr>
        <p:blipFill>
          <a:blip r:embed="rId2"/>
          <a:stretch>
            <a:fillRect/>
          </a:stretch>
        </p:blipFill>
        <p:spPr>
          <a:xfrm>
            <a:off x="7369590" y="1958752"/>
            <a:ext cx="3548819" cy="4055793"/>
          </a:xfrm>
          <a:prstGeom prst="rect">
            <a:avLst/>
          </a:prstGeom>
        </p:spPr>
      </p:pic>
    </p:spTree>
    <p:extLst>
      <p:ext uri="{BB962C8B-B14F-4D97-AF65-F5344CB8AC3E}">
        <p14:creationId xmlns:p14="http://schemas.microsoft.com/office/powerpoint/2010/main" val="220212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F764C-1B5D-426E-8617-B81010F1E0E1}"/>
              </a:ext>
            </a:extLst>
          </p:cNvPr>
          <p:cNvSpPr>
            <a:spLocks noGrp="1"/>
          </p:cNvSpPr>
          <p:nvPr>
            <p:ph type="title"/>
          </p:nvPr>
        </p:nvSpPr>
        <p:spPr>
          <a:xfrm>
            <a:off x="1041601" y="706170"/>
            <a:ext cx="5727068" cy="1761258"/>
          </a:xfrm>
        </p:spPr>
        <p:txBody>
          <a:bodyPr anchor="ctr">
            <a:normAutofit/>
          </a:bodyPr>
          <a:lstStyle/>
          <a:p>
            <a:r>
              <a:rPr lang="en-US" sz="5400" dirty="0">
                <a:latin typeface="Constantia" panose="02030602050306030303" pitchFamily="18" charset="0"/>
              </a:rPr>
              <a:t>Hunger and Eating</a:t>
            </a:r>
          </a:p>
        </p:txBody>
      </p:sp>
      <p:sp>
        <p:nvSpPr>
          <p:cNvPr id="3" name="Content Placeholder 2">
            <a:extLst>
              <a:ext uri="{FF2B5EF4-FFF2-40B4-BE49-F238E27FC236}">
                <a16:creationId xmlns:a16="http://schemas.microsoft.com/office/drawing/2014/main" id="{8FBE6066-41B8-4B6E-B76A-4EE2B2E1DE4A}"/>
              </a:ext>
            </a:extLst>
          </p:cNvPr>
          <p:cNvSpPr>
            <a:spLocks noGrp="1"/>
          </p:cNvSpPr>
          <p:nvPr>
            <p:ph idx="1"/>
          </p:nvPr>
        </p:nvSpPr>
        <p:spPr>
          <a:xfrm>
            <a:off x="952501" y="2229940"/>
            <a:ext cx="4470831" cy="3921890"/>
          </a:xfrm>
        </p:spPr>
        <p:txBody>
          <a:bodyPr anchor="t">
            <a:normAutofit/>
          </a:bodyPr>
          <a:lstStyle/>
          <a:p>
            <a:r>
              <a:rPr lang="en-US" sz="2400" dirty="0"/>
              <a:t>How do you know when to eat? Or when to </a:t>
            </a:r>
            <a:r>
              <a:rPr lang="en-US" sz="2400" i="1" dirty="0"/>
              <a:t>stop</a:t>
            </a:r>
            <a:r>
              <a:rPr lang="en-US" sz="2400" dirty="0"/>
              <a:t> eating?</a:t>
            </a:r>
          </a:p>
          <a:p>
            <a:r>
              <a:rPr lang="en-US" sz="2400" dirty="0"/>
              <a:t>Blood glucose</a:t>
            </a:r>
          </a:p>
          <a:p>
            <a:r>
              <a:rPr lang="en-US" sz="2400" dirty="0"/>
              <a:t>Satiation</a:t>
            </a:r>
          </a:p>
          <a:p>
            <a:r>
              <a:rPr lang="en-US" sz="2400" dirty="0"/>
              <a:t>Leptin</a:t>
            </a:r>
          </a:p>
          <a:p>
            <a:r>
              <a:rPr lang="en-US" sz="2400" dirty="0"/>
              <a:t>Metabolic rate</a:t>
            </a:r>
          </a:p>
          <a:p>
            <a:r>
              <a:rPr lang="en-US" sz="2400" dirty="0"/>
              <a:t>Set-point theory</a:t>
            </a:r>
          </a:p>
          <a:p>
            <a:endParaRPr lang="en-US" sz="2400" dirty="0"/>
          </a:p>
        </p:txBody>
      </p:sp>
      <p:pic>
        <p:nvPicPr>
          <p:cNvPr id="4" name="Picture 3" descr="Diagram illustrating hunger regulation process in human body, showing flow from hunger to food consumption to satiety. Brain and stomach are highlighted with arrows linking labeled boxes, emphasizing neurological and digestive roles in signaling hunger and fullness.&#10;&#10;AI-generated content may be incorrect.">
            <a:extLst>
              <a:ext uri="{FF2B5EF4-FFF2-40B4-BE49-F238E27FC236}">
                <a16:creationId xmlns:a16="http://schemas.microsoft.com/office/drawing/2014/main" id="{4DC1D3DA-6633-47AF-985F-18C85DD5E992}"/>
              </a:ext>
            </a:extLst>
          </p:cNvPr>
          <p:cNvPicPr>
            <a:picLocks noChangeAspect="1"/>
          </p:cNvPicPr>
          <p:nvPr/>
        </p:nvPicPr>
        <p:blipFill>
          <a:blip r:embed="rId3"/>
          <a:stretch>
            <a:fillRect/>
          </a:stretch>
        </p:blipFill>
        <p:spPr>
          <a:xfrm>
            <a:off x="6768669" y="1386548"/>
            <a:ext cx="4848551" cy="4084903"/>
          </a:xfrm>
          <a:prstGeom prst="rect">
            <a:avLst/>
          </a:prstGeom>
        </p:spPr>
      </p:pic>
    </p:spTree>
    <p:extLst>
      <p:ext uri="{BB962C8B-B14F-4D97-AF65-F5344CB8AC3E}">
        <p14:creationId xmlns:p14="http://schemas.microsoft.com/office/powerpoint/2010/main" val="241240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C987-5B12-4066-BD9C-3E0EE0B4D0EE}"/>
              </a:ext>
            </a:extLst>
          </p:cNvPr>
          <p:cNvSpPr>
            <a:spLocks noGrp="1"/>
          </p:cNvSpPr>
          <p:nvPr>
            <p:ph type="title"/>
          </p:nvPr>
        </p:nvSpPr>
        <p:spPr>
          <a:xfrm>
            <a:off x="843858" y="504099"/>
            <a:ext cx="4371080" cy="1532931"/>
          </a:xfrm>
        </p:spPr>
        <p:txBody>
          <a:bodyPr>
            <a:normAutofit/>
          </a:bodyPr>
          <a:lstStyle/>
          <a:p>
            <a:pPr algn="ctr"/>
            <a:r>
              <a:rPr lang="en-US" sz="5400" dirty="0">
                <a:latin typeface="Constantia" panose="02030602050306030303" pitchFamily="18" charset="0"/>
              </a:rPr>
              <a:t>Obesity</a:t>
            </a:r>
          </a:p>
        </p:txBody>
      </p:sp>
      <p:sp>
        <p:nvSpPr>
          <p:cNvPr id="3" name="Content Placeholder 2">
            <a:extLst>
              <a:ext uri="{FF2B5EF4-FFF2-40B4-BE49-F238E27FC236}">
                <a16:creationId xmlns:a16="http://schemas.microsoft.com/office/drawing/2014/main" id="{ADBA7611-3E67-39C9-E03F-C3A7F8A276BA}"/>
              </a:ext>
            </a:extLst>
          </p:cNvPr>
          <p:cNvSpPr txBox="1">
            <a:spLocks/>
          </p:cNvSpPr>
          <p:nvPr/>
        </p:nvSpPr>
        <p:spPr>
          <a:xfrm>
            <a:off x="952501" y="2229940"/>
            <a:ext cx="4470831" cy="3921890"/>
          </a:xfrm>
          <a:prstGeom prst="rect">
            <a:avLst/>
          </a:prstGeom>
        </p:spPr>
        <p:txBody>
          <a:bodyPr vert="horz" lIns="91440" tIns="45720" rIns="91440" bIns="45720" rtlCol="0" anchor="t">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Overweight vs obesity vs severe obesity</a:t>
            </a:r>
          </a:p>
          <a:p>
            <a:r>
              <a:rPr lang="en-US" dirty="0"/>
              <a:t>Is BMI a good tool for measuring physical health?</a:t>
            </a:r>
          </a:p>
          <a:p>
            <a:endParaRPr lang="en-US" dirty="0"/>
          </a:p>
        </p:txBody>
      </p:sp>
      <p:pic>
        <p:nvPicPr>
          <p:cNvPr id="1026" name="Picture 2" descr="A BMI chart for adults displays weight categories—underweight, healthy weight, overweight, and obese—based on height in feet/inches and centimeters along the vertical axis and weight in pounds and kilograms along the horizontal axis. Color-coded zones range from yellow for healthy weight to red for obese, with diagonal boundary lines marking BMI thresholds of 18.5, 25, and 30.&#10;">
            <a:extLst>
              <a:ext uri="{FF2B5EF4-FFF2-40B4-BE49-F238E27FC236}">
                <a16:creationId xmlns:a16="http://schemas.microsoft.com/office/drawing/2014/main" id="{F68E8670-DC77-907C-DF43-31F914486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941" y="1332899"/>
            <a:ext cx="5569201" cy="419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62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F1DCD2-844B-1F4B-BB70-7B737F1CA705}"/>
              </a:ext>
            </a:extLst>
          </p:cNvPr>
          <p:cNvSpPr>
            <a:spLocks noGrp="1"/>
          </p:cNvSpPr>
          <p:nvPr>
            <p:ph type="title"/>
          </p:nvPr>
        </p:nvSpPr>
        <p:spPr/>
        <p:txBody>
          <a:bodyPr/>
          <a:lstStyle/>
          <a:p>
            <a:r>
              <a:rPr lang="en-US" dirty="0"/>
              <a:t>Eating &amp; Image Disorders</a:t>
            </a:r>
          </a:p>
        </p:txBody>
      </p:sp>
      <p:sp>
        <p:nvSpPr>
          <p:cNvPr id="6" name="Content Placeholder 5">
            <a:extLst>
              <a:ext uri="{FF2B5EF4-FFF2-40B4-BE49-F238E27FC236}">
                <a16:creationId xmlns:a16="http://schemas.microsoft.com/office/drawing/2014/main" id="{3F5B6FBD-5E7E-EF3D-DF6C-0326B6499031}"/>
              </a:ext>
            </a:extLst>
          </p:cNvPr>
          <p:cNvSpPr>
            <a:spLocks noGrp="1"/>
          </p:cNvSpPr>
          <p:nvPr>
            <p:ph idx="1"/>
          </p:nvPr>
        </p:nvSpPr>
        <p:spPr/>
        <p:txBody>
          <a:bodyPr>
            <a:normAutofit fontScale="77500" lnSpcReduction="20000"/>
          </a:bodyPr>
          <a:lstStyle/>
          <a:p>
            <a:r>
              <a:rPr lang="en-US" b="1" u="sng" dirty="0"/>
              <a:t>Anorexia nervosa </a:t>
            </a:r>
            <a:r>
              <a:rPr lang="en-US" dirty="0"/>
              <a:t>– an obsessive disorder where an individual will severely restrict their food intake </a:t>
            </a:r>
          </a:p>
          <a:p>
            <a:r>
              <a:rPr lang="en-US" b="1" u="sng" dirty="0"/>
              <a:t>Bulimia</a:t>
            </a:r>
            <a:r>
              <a:rPr lang="en-US" dirty="0"/>
              <a:t> – a disorder characterized by cycles of binge eating and purging </a:t>
            </a:r>
          </a:p>
          <a:p>
            <a:pPr lvl="1"/>
            <a:r>
              <a:rPr lang="en-US" dirty="0"/>
              <a:t>Purging can include vomiting, laxative abuse, extreme dieting/ fasting, and substance abuse</a:t>
            </a:r>
          </a:p>
          <a:p>
            <a:r>
              <a:rPr lang="en-US" b="1" u="sng" dirty="0"/>
              <a:t>Binge-eating</a:t>
            </a:r>
            <a:r>
              <a:rPr lang="en-US" dirty="0"/>
              <a:t> – a disorder characterized by excessive eating, often to the point of feeling sick</a:t>
            </a:r>
          </a:p>
          <a:p>
            <a:r>
              <a:rPr lang="en-US" b="1" u="sng" dirty="0"/>
              <a:t>Body dysmorphic disorder </a:t>
            </a:r>
            <a:r>
              <a:rPr lang="en-US" dirty="0"/>
              <a:t>– a preoccupation with a perceived defect in one’s physical appearance</a:t>
            </a:r>
          </a:p>
          <a:p>
            <a:r>
              <a:rPr lang="en-US" b="1" u="sng" dirty="0"/>
              <a:t>Excessive exercise </a:t>
            </a:r>
            <a:r>
              <a:rPr lang="en-US" dirty="0"/>
              <a:t>– a health-compromising behavior where an individual feels the compulsory need to exercise, to the point of damaging one’s self</a:t>
            </a:r>
          </a:p>
        </p:txBody>
      </p:sp>
      <p:sp>
        <p:nvSpPr>
          <p:cNvPr id="4" name="Slide Number Placeholder 3">
            <a:extLst>
              <a:ext uri="{FF2B5EF4-FFF2-40B4-BE49-F238E27FC236}">
                <a16:creationId xmlns:a16="http://schemas.microsoft.com/office/drawing/2014/main" id="{1ED8CF10-8367-3C40-43F5-967F2520CA17}"/>
              </a:ext>
            </a:extLst>
          </p:cNvPr>
          <p:cNvSpPr>
            <a:spLocks noGrp="1"/>
          </p:cNvSpPr>
          <p:nvPr>
            <p:ph type="sldNum" sz="quarter" idx="12"/>
          </p:nvPr>
        </p:nvSpPr>
        <p:spPr/>
        <p:txBody>
          <a:bodyPr/>
          <a:lstStyle/>
          <a:p>
            <a:fld id="{3A4F6043-7A67-491B-98BC-F933DED7226D}" type="slidenum">
              <a:rPr lang="en-US" smtClean="0"/>
              <a:pPr/>
              <a:t>14</a:t>
            </a:fld>
            <a:endParaRPr lang="en-US" dirty="0"/>
          </a:p>
        </p:txBody>
      </p:sp>
    </p:spTree>
    <p:extLst>
      <p:ext uri="{BB962C8B-B14F-4D97-AF65-F5344CB8AC3E}">
        <p14:creationId xmlns:p14="http://schemas.microsoft.com/office/powerpoint/2010/main" val="2302048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1FA6-B7B8-4538-843F-39D2B6B6F590}"/>
              </a:ext>
            </a:extLst>
          </p:cNvPr>
          <p:cNvSpPr>
            <a:spLocks noGrp="1"/>
          </p:cNvSpPr>
          <p:nvPr>
            <p:ph type="title"/>
          </p:nvPr>
        </p:nvSpPr>
        <p:spPr>
          <a:xfrm>
            <a:off x="4110273" y="2744641"/>
            <a:ext cx="7129228" cy="2596904"/>
          </a:xfrm>
        </p:spPr>
        <p:txBody>
          <a:bodyPr vert="horz" lIns="91440" tIns="45720" rIns="91440" bIns="45720" rtlCol="0" anchor="b">
            <a:normAutofit/>
          </a:bodyPr>
          <a:lstStyle/>
          <a:p>
            <a:pPr algn="r">
              <a:lnSpc>
                <a:spcPct val="90000"/>
              </a:lnSpc>
            </a:pPr>
            <a:r>
              <a:rPr lang="en-US" sz="4400" dirty="0">
                <a:latin typeface="Constantia" panose="02030602050306030303" pitchFamily="18" charset="0"/>
              </a:rPr>
              <a:t>True or False: Sexual orientation and gender identity are the same thing.</a:t>
            </a:r>
          </a:p>
        </p:txBody>
      </p:sp>
    </p:spTree>
    <p:extLst>
      <p:ext uri="{BB962C8B-B14F-4D97-AF65-F5344CB8AC3E}">
        <p14:creationId xmlns:p14="http://schemas.microsoft.com/office/powerpoint/2010/main" val="184407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illustrating concepts of gender identity, gender expression, sex assigned at birth, and attraction types using a stick figure with symbolic icons. Gender identity has arrows for 3 options (female/ woman/ girl; male/ man/ boy; other gender(s)). Gender expression has arrows pointing to 3 options (feminine, masculine, and other). Sex assigned at birth has 3 options (female, male, and other/intersex). Physically attracted to has 3 options (Women, Men, Other Gender(s)). The final set, Emotionally attracted to, has 3 options (Women, Men, and Other Gender(s))">
            <a:extLst>
              <a:ext uri="{FF2B5EF4-FFF2-40B4-BE49-F238E27FC236}">
                <a16:creationId xmlns:a16="http://schemas.microsoft.com/office/drawing/2014/main" id="{8DDE188D-35EA-4CF6-9A07-03E7960BF34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49135" y="829993"/>
            <a:ext cx="7764892" cy="5528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078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81CF3-6C8F-49E0-A271-839EF4D1E799}"/>
              </a:ext>
            </a:extLst>
          </p:cNvPr>
          <p:cNvSpPr>
            <a:spLocks noGrp="1"/>
          </p:cNvSpPr>
          <p:nvPr>
            <p:ph type="title"/>
          </p:nvPr>
        </p:nvSpPr>
        <p:spPr>
          <a:xfrm>
            <a:off x="165633" y="1286301"/>
            <a:ext cx="2810347" cy="2142699"/>
          </a:xfrm>
        </p:spPr>
        <p:txBody>
          <a:bodyPr vert="horz" lIns="91440" tIns="45720" rIns="91440" bIns="45720" rtlCol="0" anchor="b">
            <a:normAutofit/>
          </a:bodyPr>
          <a:lstStyle/>
          <a:p>
            <a:pPr algn="ctr"/>
            <a:r>
              <a:rPr lang="en-US" dirty="0">
                <a:latin typeface="Constantia" panose="02030602050306030303" pitchFamily="18" charset="0"/>
              </a:rPr>
              <a:t>Sexual Orientation</a:t>
            </a:r>
          </a:p>
        </p:txBody>
      </p:sp>
      <p:sp>
        <p:nvSpPr>
          <p:cNvPr id="3" name="Content Placeholder 2">
            <a:extLst>
              <a:ext uri="{FF2B5EF4-FFF2-40B4-BE49-F238E27FC236}">
                <a16:creationId xmlns:a16="http://schemas.microsoft.com/office/drawing/2014/main" id="{793DBDB5-E42C-1461-B470-D090A2937C4D}"/>
              </a:ext>
            </a:extLst>
          </p:cNvPr>
          <p:cNvSpPr>
            <a:spLocks noGrp="1"/>
          </p:cNvSpPr>
          <p:nvPr>
            <p:ph idx="1"/>
          </p:nvPr>
        </p:nvSpPr>
        <p:spPr>
          <a:xfrm>
            <a:off x="2975980" y="805757"/>
            <a:ext cx="8377820" cy="5721791"/>
          </a:xfrm>
        </p:spPr>
        <p:txBody>
          <a:bodyPr>
            <a:normAutofit lnSpcReduction="10000"/>
          </a:bodyPr>
          <a:lstStyle/>
          <a:p>
            <a:r>
              <a:rPr lang="en-US" sz="1800" b="1" dirty="0"/>
              <a:t>Lesbian</a:t>
            </a:r>
            <a:r>
              <a:rPr lang="en-US" sz="1800" dirty="0"/>
              <a:t> – a woman who is attracted to other women</a:t>
            </a:r>
          </a:p>
          <a:p>
            <a:r>
              <a:rPr lang="en-US" sz="1800" b="1" dirty="0"/>
              <a:t>Gay</a:t>
            </a:r>
            <a:r>
              <a:rPr lang="en-US" sz="1800" dirty="0"/>
              <a:t>  – a man who is attracted to other men</a:t>
            </a:r>
          </a:p>
          <a:p>
            <a:r>
              <a:rPr lang="en-US" sz="1800" b="1" dirty="0"/>
              <a:t>Bisexual</a:t>
            </a:r>
            <a:r>
              <a:rPr lang="en-US" sz="1800" dirty="0"/>
              <a:t>  – a person who is attracted to men and women</a:t>
            </a:r>
          </a:p>
          <a:p>
            <a:r>
              <a:rPr lang="en-US" sz="1800" b="1" dirty="0"/>
              <a:t>Pansexual</a:t>
            </a:r>
            <a:r>
              <a:rPr lang="en-US" sz="1800" dirty="0"/>
              <a:t> – a person who is attracted to people regardless of physical gender</a:t>
            </a:r>
          </a:p>
          <a:p>
            <a:r>
              <a:rPr lang="en-US" sz="1800" b="1" dirty="0"/>
              <a:t>Asexual</a:t>
            </a:r>
            <a:r>
              <a:rPr lang="en-US" sz="1800" dirty="0"/>
              <a:t>  – a person who is not sexually attracted to other people</a:t>
            </a:r>
          </a:p>
          <a:p>
            <a:r>
              <a:rPr lang="en-US" sz="1800" b="1" dirty="0"/>
              <a:t>Aromantic</a:t>
            </a:r>
            <a:r>
              <a:rPr lang="en-US" sz="1800" dirty="0"/>
              <a:t>– a person who is not romantically attracted to other people</a:t>
            </a:r>
          </a:p>
          <a:p>
            <a:r>
              <a:rPr lang="en-US" sz="1800" b="1" dirty="0"/>
              <a:t>Heterosexual</a:t>
            </a:r>
            <a:r>
              <a:rPr lang="en-US" sz="1800" dirty="0"/>
              <a:t> – a person who is attracted to people of the opposite gender</a:t>
            </a:r>
          </a:p>
          <a:p>
            <a:r>
              <a:rPr lang="en-US" sz="1800" b="1" dirty="0"/>
              <a:t>Queer </a:t>
            </a:r>
            <a:r>
              <a:rPr lang="en-US" sz="1800" dirty="0"/>
              <a:t> – an umbrella term for a  person who identifies as LGTBQ</a:t>
            </a:r>
          </a:p>
          <a:p>
            <a:r>
              <a:rPr lang="en-US" sz="1800" b="1" dirty="0"/>
              <a:t>Transgender  </a:t>
            </a:r>
            <a:r>
              <a:rPr lang="en-US" sz="1800" dirty="0"/>
              <a:t>– a person who identifies as a different gender than the sex they were assigned at birth</a:t>
            </a:r>
          </a:p>
          <a:p>
            <a:pPr lvl="1"/>
            <a:r>
              <a:rPr lang="en-US" sz="1600" b="1" dirty="0"/>
              <a:t>Trans man</a:t>
            </a:r>
            <a:r>
              <a:rPr lang="en-US" sz="1600" dirty="0"/>
              <a:t> – a person who was assigned female at birth, but identifies as a man</a:t>
            </a:r>
          </a:p>
          <a:p>
            <a:pPr lvl="1"/>
            <a:r>
              <a:rPr lang="en-US" sz="1600" b="1" dirty="0"/>
              <a:t>Trans woman</a:t>
            </a:r>
            <a:r>
              <a:rPr lang="en-US" sz="1600" dirty="0"/>
              <a:t> – a person who was assigned male at birth, but identifies as a female</a:t>
            </a:r>
          </a:p>
          <a:p>
            <a:r>
              <a:rPr lang="en-US" sz="1800" b="1" dirty="0"/>
              <a:t>Intersex</a:t>
            </a:r>
            <a:r>
              <a:rPr lang="en-US" sz="1800" dirty="0"/>
              <a:t>  – a person whose reproductive organs, hormones, or chromosomes contain aspects of both sexes</a:t>
            </a:r>
          </a:p>
        </p:txBody>
      </p:sp>
      <p:pic>
        <p:nvPicPr>
          <p:cNvPr id="4" name="Picture 3">
            <a:extLst>
              <a:ext uri="{FF2B5EF4-FFF2-40B4-BE49-F238E27FC236}">
                <a16:creationId xmlns:a16="http://schemas.microsoft.com/office/drawing/2014/main" id="{FAB54FE5-0DCA-AD02-8362-ECC1A11F78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95177" y="3768883"/>
            <a:ext cx="2351260" cy="2351260"/>
          </a:xfrm>
          <a:prstGeom prst="rect">
            <a:avLst/>
          </a:prstGeom>
        </p:spPr>
      </p:pic>
    </p:spTree>
    <p:extLst>
      <p:ext uri="{BB962C8B-B14F-4D97-AF65-F5344CB8AC3E}">
        <p14:creationId xmlns:p14="http://schemas.microsoft.com/office/powerpoint/2010/main" val="2669781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F6D1-1916-494B-804E-D9AB9D370E14}"/>
              </a:ext>
            </a:extLst>
          </p:cNvPr>
          <p:cNvSpPr>
            <a:spLocks noGrp="1"/>
          </p:cNvSpPr>
          <p:nvPr>
            <p:ph type="title"/>
          </p:nvPr>
        </p:nvSpPr>
        <p:spPr>
          <a:xfrm>
            <a:off x="7578560" y="5222098"/>
            <a:ext cx="4716604" cy="1064277"/>
          </a:xfrm>
        </p:spPr>
        <p:txBody>
          <a:bodyPr>
            <a:normAutofit fontScale="90000"/>
          </a:bodyPr>
          <a:lstStyle/>
          <a:p>
            <a:r>
              <a:rPr lang="en-US" dirty="0"/>
              <a:t>Emotion Theories</a:t>
            </a:r>
          </a:p>
        </p:txBody>
      </p:sp>
      <p:pic>
        <p:nvPicPr>
          <p:cNvPr id="4098" name="Picture 2" descr=" A diagram shows a photograph of a snake on the left and a photograph of a frightened person on the right, with an arrow  labeled “time.” Beneath the photos are flow diagrams of four theories of emotion. In the “James-Lange theory,” a box labeled “arousal (snake)” leads to a box labeled “heart pounding, sweating,” which leads to a box labeled “fear (emotion).” In the “Cannon-Bard theory,” a box labeled “arousal (snake)” splits into two boxes labeled “heart pounding, sweating,” and “fear (emotion).” In the “Schachter-Singer Two-Factor theory,” a box labeled “arousal (snake)” leads to two boxes labeled “heart pounding, sweating” and cognitive label (“I’m scared)” which then lead to a single box labeled “fear (emotion).” In the “Lazarus’ Cognitive-mediational theory,” a box labeled “arousal (snake)” leads to a box labeled “appraisal,” which leads to a box labeled “fear/heart pounding, sweating.”">
            <a:extLst>
              <a:ext uri="{FF2B5EF4-FFF2-40B4-BE49-F238E27FC236}">
                <a16:creationId xmlns:a16="http://schemas.microsoft.com/office/drawing/2014/main" id="{1C4007BA-FFE3-445D-88C7-77D53A2BFFD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9401" y="202683"/>
            <a:ext cx="6103601" cy="6573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973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0716-EB5B-9395-C56C-D2BB547EA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84C55-9972-4FC3-C0A3-143FDAAADF8C}"/>
              </a:ext>
            </a:extLst>
          </p:cNvPr>
          <p:cNvSpPr>
            <a:spLocks noGrp="1"/>
          </p:cNvSpPr>
          <p:nvPr>
            <p:ph type="title"/>
          </p:nvPr>
        </p:nvSpPr>
        <p:spPr>
          <a:xfrm>
            <a:off x="843857" y="504099"/>
            <a:ext cx="7032657" cy="1532931"/>
          </a:xfrm>
        </p:spPr>
        <p:txBody>
          <a:bodyPr>
            <a:normAutofit fontScale="90000"/>
          </a:bodyPr>
          <a:lstStyle/>
          <a:p>
            <a:pPr algn="ctr"/>
            <a:r>
              <a:rPr lang="en-US" sz="5400" dirty="0">
                <a:latin typeface="Constantia" panose="02030602050306030303" pitchFamily="18" charset="0"/>
              </a:rPr>
              <a:t>The Biology of Emotions</a:t>
            </a:r>
          </a:p>
        </p:txBody>
      </p:sp>
      <p:sp>
        <p:nvSpPr>
          <p:cNvPr id="3" name="Content Placeholder 2">
            <a:extLst>
              <a:ext uri="{FF2B5EF4-FFF2-40B4-BE49-F238E27FC236}">
                <a16:creationId xmlns:a16="http://schemas.microsoft.com/office/drawing/2014/main" id="{E075C124-25EF-589B-5BD5-8EB1C20343EE}"/>
              </a:ext>
            </a:extLst>
          </p:cNvPr>
          <p:cNvSpPr txBox="1">
            <a:spLocks/>
          </p:cNvSpPr>
          <p:nvPr/>
        </p:nvSpPr>
        <p:spPr>
          <a:xfrm>
            <a:off x="843857" y="1831587"/>
            <a:ext cx="5882868" cy="4388143"/>
          </a:xfrm>
          <a:prstGeom prst="rect">
            <a:avLst/>
          </a:prstGeom>
        </p:spPr>
        <p:txBody>
          <a:bodyPr vert="horz" lIns="91440" tIns="45720" rIns="91440" bIns="45720" rtlCol="0" anchor="t">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Hypothalamus </a:t>
            </a:r>
            <a:r>
              <a:rPr lang="en-US" sz="2000" dirty="0"/>
              <a:t>– involved in activation of the sympathetic nervous system (part of an emotional reaction).</a:t>
            </a:r>
          </a:p>
          <a:p>
            <a:r>
              <a:rPr lang="en-US" sz="2000" b="1" dirty="0"/>
              <a:t>Thalamus </a:t>
            </a:r>
            <a:r>
              <a:rPr lang="en-US" sz="2000" dirty="0"/>
              <a:t>– sensory relay center, neurons project to both the amygdala and higher cortical regions for further processing.</a:t>
            </a:r>
          </a:p>
          <a:p>
            <a:r>
              <a:rPr lang="en-US" sz="2000" b="1" dirty="0"/>
              <a:t>Amygdala</a:t>
            </a:r>
            <a:r>
              <a:rPr lang="en-US" sz="2000" dirty="0"/>
              <a:t> – plays a role in processing emotional information and sending it on to cortical structures. </a:t>
            </a:r>
          </a:p>
          <a:p>
            <a:r>
              <a:rPr lang="en-US" sz="2000" b="1" dirty="0"/>
              <a:t>Hippocampus</a:t>
            </a:r>
            <a:r>
              <a:rPr lang="en-US" sz="2000" dirty="0"/>
              <a:t> – integrates emotional experience with cognition.</a:t>
            </a:r>
          </a:p>
          <a:p>
            <a:endParaRPr lang="en-US" sz="2000" dirty="0"/>
          </a:p>
          <a:p>
            <a:endParaRPr lang="en-US" sz="2000" dirty="0"/>
          </a:p>
        </p:txBody>
      </p:sp>
      <p:pic>
        <p:nvPicPr>
          <p:cNvPr id="5" name="Picture 4" descr="Diagram of a sagittal brain section highlighting limbic system components, including cingulate gyrus, fornix, thalamus, hypothalamus, amygdala, and hippocampus. Color-coded regions emphasize structural locations and relationships within brain anatomy for educational reference.&#10;&#10;AI-generated content may be incorrect.">
            <a:extLst>
              <a:ext uri="{FF2B5EF4-FFF2-40B4-BE49-F238E27FC236}">
                <a16:creationId xmlns:a16="http://schemas.microsoft.com/office/drawing/2014/main" id="{1749A15B-8208-A3DE-A9B2-489C25DB7353}"/>
              </a:ext>
            </a:extLst>
          </p:cNvPr>
          <p:cNvPicPr>
            <a:picLocks noChangeAspect="1"/>
          </p:cNvPicPr>
          <p:nvPr/>
        </p:nvPicPr>
        <p:blipFill>
          <a:blip r:embed="rId3"/>
          <a:srcRect l="9321" t="14990" r="4625" b="7914"/>
          <a:stretch>
            <a:fillRect/>
          </a:stretch>
        </p:blipFill>
        <p:spPr>
          <a:xfrm>
            <a:off x="6726725" y="2307001"/>
            <a:ext cx="5196689" cy="3304516"/>
          </a:xfrm>
          <a:prstGeom prst="rect">
            <a:avLst/>
          </a:prstGeom>
        </p:spPr>
      </p:pic>
    </p:spTree>
    <p:extLst>
      <p:ext uri="{BB962C8B-B14F-4D97-AF65-F5344CB8AC3E}">
        <p14:creationId xmlns:p14="http://schemas.microsoft.com/office/powerpoint/2010/main" val="52343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B007-C06C-DEAD-1E03-9924B5C3755C}"/>
              </a:ext>
            </a:extLst>
          </p:cNvPr>
          <p:cNvSpPr>
            <a:spLocks noGrp="1"/>
          </p:cNvSpPr>
          <p:nvPr>
            <p:ph type="title"/>
          </p:nvPr>
        </p:nvSpPr>
        <p:spPr/>
        <p:txBody>
          <a:bodyPr/>
          <a:lstStyle/>
          <a:p>
            <a:r>
              <a:rPr lang="en-US" dirty="0">
                <a:latin typeface="Constantia" panose="02030602050306030303" pitchFamily="18" charset="0"/>
              </a:rPr>
              <a:t>Demonstrating Emotions</a:t>
            </a:r>
          </a:p>
        </p:txBody>
      </p:sp>
      <p:sp>
        <p:nvSpPr>
          <p:cNvPr id="3" name="Content Placeholder 2">
            <a:extLst>
              <a:ext uri="{FF2B5EF4-FFF2-40B4-BE49-F238E27FC236}">
                <a16:creationId xmlns:a16="http://schemas.microsoft.com/office/drawing/2014/main" id="{322993F1-26A6-9287-391C-C710844A8812}"/>
              </a:ext>
            </a:extLst>
          </p:cNvPr>
          <p:cNvSpPr>
            <a:spLocks noGrp="1"/>
          </p:cNvSpPr>
          <p:nvPr>
            <p:ph idx="1"/>
          </p:nvPr>
        </p:nvSpPr>
        <p:spPr>
          <a:xfrm>
            <a:off x="838200" y="2011680"/>
            <a:ext cx="5463012" cy="4160520"/>
          </a:xfrm>
        </p:spPr>
        <p:txBody>
          <a:bodyPr>
            <a:normAutofit/>
          </a:bodyPr>
          <a:lstStyle/>
          <a:p>
            <a:r>
              <a:rPr lang="en-US" sz="2400" dirty="0"/>
              <a:t>Cultural display rule</a:t>
            </a:r>
          </a:p>
          <a:p>
            <a:r>
              <a:rPr lang="en-US" sz="2400" dirty="0"/>
              <a:t>The seven universal emotions</a:t>
            </a:r>
          </a:p>
          <a:p>
            <a:r>
              <a:rPr lang="en-US" sz="2400" dirty="0"/>
              <a:t>Body Language</a:t>
            </a:r>
          </a:p>
          <a:p>
            <a:r>
              <a:rPr lang="en-US" sz="2400" dirty="0"/>
              <a:t>Facial feedback hypothesis</a:t>
            </a:r>
          </a:p>
          <a:p>
            <a:endParaRPr lang="en-US" sz="2400" dirty="0"/>
          </a:p>
        </p:txBody>
      </p:sp>
      <p:sp>
        <p:nvSpPr>
          <p:cNvPr id="4" name="Slide Number Placeholder 3">
            <a:extLst>
              <a:ext uri="{FF2B5EF4-FFF2-40B4-BE49-F238E27FC236}">
                <a16:creationId xmlns:a16="http://schemas.microsoft.com/office/drawing/2014/main" id="{0275A7C7-45CC-85DD-64A0-E4B32BD1383F}"/>
              </a:ext>
            </a:extLst>
          </p:cNvPr>
          <p:cNvSpPr>
            <a:spLocks noGrp="1"/>
          </p:cNvSpPr>
          <p:nvPr>
            <p:ph type="sldNum" sz="quarter" idx="12"/>
          </p:nvPr>
        </p:nvSpPr>
        <p:spPr/>
        <p:txBody>
          <a:bodyPr/>
          <a:lstStyle/>
          <a:p>
            <a:fld id="{51845F5A-061D-4825-9AE9-D7794091C6CF}" type="slidenum">
              <a:rPr lang="en-US" smtClean="0"/>
              <a:t>20</a:t>
            </a:fld>
            <a:endParaRPr lang="en-US"/>
          </a:p>
        </p:txBody>
      </p:sp>
      <p:cxnSp>
        <p:nvCxnSpPr>
          <p:cNvPr id="6" name="Straight Connector 5">
            <a:extLst>
              <a:ext uri="{FF2B5EF4-FFF2-40B4-BE49-F238E27FC236}">
                <a16:creationId xmlns:a16="http://schemas.microsoft.com/office/drawing/2014/main" id="{6D46AA16-FC21-5ACF-D478-10998E02EB7A}"/>
              </a:ext>
            </a:extLst>
          </p:cNvPr>
          <p:cNvCxnSpPr/>
          <p:nvPr/>
        </p:nvCxnSpPr>
        <p:spPr>
          <a:xfrm>
            <a:off x="724277" y="3730028"/>
            <a:ext cx="4934139"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142F49A-EF31-9CA4-6929-9F565DB34E70}"/>
              </a:ext>
            </a:extLst>
          </p:cNvPr>
          <p:cNvSpPr txBox="1"/>
          <p:nvPr/>
        </p:nvSpPr>
        <p:spPr>
          <a:xfrm>
            <a:off x="4350944" y="3907274"/>
            <a:ext cx="2375781" cy="369332"/>
          </a:xfrm>
          <a:prstGeom prst="rect">
            <a:avLst/>
          </a:prstGeom>
          <a:noFill/>
        </p:spPr>
        <p:txBody>
          <a:bodyPr wrap="square" rtlCol="0">
            <a:spAutoFit/>
          </a:bodyPr>
          <a:lstStyle/>
          <a:p>
            <a:r>
              <a:rPr lang="en-US" b="1" dirty="0">
                <a:solidFill>
                  <a:srgbClr val="F07C98"/>
                </a:solidFill>
              </a:rPr>
              <a:t>NOT REPLICATABLE!</a:t>
            </a:r>
          </a:p>
        </p:txBody>
      </p:sp>
      <p:pic>
        <p:nvPicPr>
          <p:cNvPr id="9" name="Picture 8">
            <a:extLst>
              <a:ext uri="{FF2B5EF4-FFF2-40B4-BE49-F238E27FC236}">
                <a16:creationId xmlns:a16="http://schemas.microsoft.com/office/drawing/2014/main" id="{A5FAA4A1-2D09-6866-A33E-9AFF530865C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841834" y="4046898"/>
            <a:ext cx="4549160" cy="2556533"/>
          </a:xfrm>
          <a:prstGeom prst="rect">
            <a:avLst/>
          </a:prstGeom>
        </p:spPr>
      </p:pic>
    </p:spTree>
    <p:extLst>
      <p:ext uri="{BB962C8B-B14F-4D97-AF65-F5344CB8AC3E}">
        <p14:creationId xmlns:p14="http://schemas.microsoft.com/office/powerpoint/2010/main" val="67631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EF60D8-5909-700B-C971-490F5961B276}"/>
              </a:ext>
            </a:extLst>
          </p:cNvPr>
          <p:cNvSpPr>
            <a:spLocks noGrp="1"/>
          </p:cNvSpPr>
          <p:nvPr>
            <p:ph type="title"/>
          </p:nvPr>
        </p:nvSpPr>
        <p:spPr/>
        <p:txBody>
          <a:bodyPr/>
          <a:lstStyle/>
          <a:p>
            <a:r>
              <a:rPr lang="en-US" dirty="0">
                <a:latin typeface="Constantia" panose="02030602050306030303" pitchFamily="18" charset="0"/>
              </a:rPr>
              <a:t>Next time on PSY 203…</a:t>
            </a:r>
          </a:p>
        </p:txBody>
      </p:sp>
      <p:sp>
        <p:nvSpPr>
          <p:cNvPr id="6" name="Text Placeholder 5">
            <a:extLst>
              <a:ext uri="{FF2B5EF4-FFF2-40B4-BE49-F238E27FC236}">
                <a16:creationId xmlns:a16="http://schemas.microsoft.com/office/drawing/2014/main" id="{702B8E05-273B-DC86-27E7-90258A740309}"/>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CCE1FC58-900D-705F-5675-DBB0D6E46BA9}"/>
              </a:ext>
            </a:extLst>
          </p:cNvPr>
          <p:cNvSpPr>
            <a:spLocks noGrp="1"/>
          </p:cNvSpPr>
          <p:nvPr>
            <p:ph sz="half" idx="2"/>
          </p:nvPr>
        </p:nvSpPr>
        <p:spPr/>
        <p:txBody>
          <a:bodyPr/>
          <a:lstStyle/>
          <a:p>
            <a:r>
              <a:rPr lang="en-US" dirty="0"/>
              <a:t>Complete Exam 3 Reflection</a:t>
            </a:r>
          </a:p>
          <a:p>
            <a:r>
              <a:rPr lang="en-US" dirty="0"/>
              <a:t>Read Chapter 14 &amp; take the quiz</a:t>
            </a:r>
          </a:p>
        </p:txBody>
      </p:sp>
      <p:sp>
        <p:nvSpPr>
          <p:cNvPr id="8" name="Text Placeholder 7">
            <a:extLst>
              <a:ext uri="{FF2B5EF4-FFF2-40B4-BE49-F238E27FC236}">
                <a16:creationId xmlns:a16="http://schemas.microsoft.com/office/drawing/2014/main" id="{816777B8-FBCE-35BB-3108-AFFFE83D5F94}"/>
              </a:ext>
            </a:extLst>
          </p:cNvPr>
          <p:cNvSpPr>
            <a:spLocks noGrp="1"/>
          </p:cNvSpPr>
          <p:nvPr>
            <p:ph type="body" sz="quarter" idx="3"/>
          </p:nvPr>
        </p:nvSpPr>
        <p:spPr/>
        <p:txBody>
          <a:bodyPr/>
          <a:lstStyle/>
          <a:p>
            <a:r>
              <a:rPr lang="en-US" dirty="0"/>
              <a:t>NEXT CLASS:</a:t>
            </a:r>
          </a:p>
        </p:txBody>
      </p:sp>
      <p:sp>
        <p:nvSpPr>
          <p:cNvPr id="9" name="Content Placeholder 8">
            <a:extLst>
              <a:ext uri="{FF2B5EF4-FFF2-40B4-BE49-F238E27FC236}">
                <a16:creationId xmlns:a16="http://schemas.microsoft.com/office/drawing/2014/main" id="{204E9B5D-D43B-16D8-C996-08F047122481}"/>
              </a:ext>
            </a:extLst>
          </p:cNvPr>
          <p:cNvSpPr>
            <a:spLocks noGrp="1"/>
          </p:cNvSpPr>
          <p:nvPr>
            <p:ph sz="quarter" idx="4"/>
          </p:nvPr>
        </p:nvSpPr>
        <p:spPr/>
        <p:txBody>
          <a:bodyPr/>
          <a:lstStyle/>
          <a:p>
            <a:r>
              <a:rPr lang="en-US" dirty="0"/>
              <a:t>Chapter 14 – Stress, Lifestyle, and Health</a:t>
            </a:r>
          </a:p>
        </p:txBody>
      </p:sp>
      <p:sp>
        <p:nvSpPr>
          <p:cNvPr id="4" name="Slide Number Placeholder 3">
            <a:extLst>
              <a:ext uri="{FF2B5EF4-FFF2-40B4-BE49-F238E27FC236}">
                <a16:creationId xmlns:a16="http://schemas.microsoft.com/office/drawing/2014/main" id="{B2D64CDD-7DEC-B99B-8D9C-8BD6C327FA70}"/>
              </a:ext>
            </a:extLst>
          </p:cNvPr>
          <p:cNvSpPr>
            <a:spLocks noGrp="1"/>
          </p:cNvSpPr>
          <p:nvPr>
            <p:ph type="sldNum" sz="quarter" idx="12"/>
          </p:nvPr>
        </p:nvSpPr>
        <p:spPr/>
        <p:txBody>
          <a:bodyPr/>
          <a:lstStyle/>
          <a:p>
            <a:fld id="{51845F5A-061D-4825-9AE9-D7794091C6CF}" type="slidenum">
              <a:rPr lang="en-US" smtClean="0"/>
              <a:t>21</a:t>
            </a:fld>
            <a:endParaRPr lang="en-US"/>
          </a:p>
        </p:txBody>
      </p:sp>
    </p:spTree>
    <p:extLst>
      <p:ext uri="{BB962C8B-B14F-4D97-AF65-F5344CB8AC3E}">
        <p14:creationId xmlns:p14="http://schemas.microsoft.com/office/powerpoint/2010/main" val="4268346957"/>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Brush</Template>
  <TotalTime>159</TotalTime>
  <Words>1597</Words>
  <Application>Microsoft Office PowerPoint</Application>
  <PresentationFormat>Widescreen</PresentationFormat>
  <Paragraphs>139</Paragraphs>
  <Slides>21</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Constantia</vt:lpstr>
      <vt:lpstr>Elephant</vt:lpstr>
      <vt:lpstr>BrushVTI</vt:lpstr>
      <vt:lpstr>Emotion and Motivation</vt:lpstr>
      <vt:lpstr>Agenda</vt:lpstr>
      <vt:lpstr>What is the difference between intrinsic and extrinsic? </vt:lpstr>
      <vt:lpstr>Intrinsic and Extrinsic Rewards</vt:lpstr>
      <vt:lpstr>Theories of Motivation</vt:lpstr>
      <vt:lpstr>The Instinct Theory of Motivation</vt:lpstr>
      <vt:lpstr>The Drive Theory of Motivation</vt:lpstr>
      <vt:lpstr>The Arousal Theory of Motivation</vt:lpstr>
      <vt:lpstr>Self-Efficacy and Social Motives</vt:lpstr>
      <vt:lpstr>Maslow’s Hierarchy of Needs</vt:lpstr>
      <vt:lpstr>Class Activity</vt:lpstr>
      <vt:lpstr>Hunger and Eating</vt:lpstr>
      <vt:lpstr>Obesity</vt:lpstr>
      <vt:lpstr>Eating &amp; Image Disorders</vt:lpstr>
      <vt:lpstr>True or False: Sexual orientation and gender identity are the same thing.</vt:lpstr>
      <vt:lpstr>PowerPoint Presentation</vt:lpstr>
      <vt:lpstr>Sexual Orientation</vt:lpstr>
      <vt:lpstr>Emotion Theories</vt:lpstr>
      <vt:lpstr>The Biology of Emotions</vt:lpstr>
      <vt:lpstr>Demonstrating Emotions</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8</cp:revision>
  <dcterms:created xsi:type="dcterms:W3CDTF">2025-11-11T11:11:12Z</dcterms:created>
  <dcterms:modified xsi:type="dcterms:W3CDTF">2026-04-02T15:14:45Z</dcterms:modified>
</cp:coreProperties>
</file>