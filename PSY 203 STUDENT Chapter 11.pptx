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1"/>
  </p:notesMasterIdLst>
  <p:handoutMasterIdLst>
    <p:handoutMasterId r:id="rId32"/>
  </p:handoutMasterIdLst>
  <p:sldIdLst>
    <p:sldId id="338" r:id="rId5"/>
    <p:sldId id="339" r:id="rId6"/>
    <p:sldId id="257" r:id="rId7"/>
    <p:sldId id="258" r:id="rId8"/>
    <p:sldId id="259" r:id="rId9"/>
    <p:sldId id="260" r:id="rId10"/>
    <p:sldId id="261" r:id="rId11"/>
    <p:sldId id="262" r:id="rId12"/>
    <p:sldId id="264" r:id="rId13"/>
    <p:sldId id="266" r:id="rId14"/>
    <p:sldId id="265" r:id="rId15"/>
    <p:sldId id="269" r:id="rId16"/>
    <p:sldId id="270" r:id="rId17"/>
    <p:sldId id="271" r:id="rId18"/>
    <p:sldId id="268" r:id="rId19"/>
    <p:sldId id="272" r:id="rId20"/>
    <p:sldId id="273" r:id="rId21"/>
    <p:sldId id="274" r:id="rId22"/>
    <p:sldId id="267" r:id="rId23"/>
    <p:sldId id="275" r:id="rId24"/>
    <p:sldId id="276" r:id="rId25"/>
    <p:sldId id="277" r:id="rId26"/>
    <p:sldId id="278" r:id="rId27"/>
    <p:sldId id="280" r:id="rId28"/>
    <p:sldId id="279" r:id="rId29"/>
    <p:sldId id="34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85135"/>
    <a:srgbClr val="BDA07D"/>
    <a:srgbClr val="F5F9F9"/>
    <a:srgbClr val="627272"/>
    <a:srgbClr val="93A5A8"/>
    <a:srgbClr val="3E709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7292A2E-F333-43FB-9621-5CBBE7FDCDCB}">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4" autoAdjust="0"/>
    <p:restoredTop sz="85903" autoAdjust="0"/>
  </p:normalViewPr>
  <p:slideViewPr>
    <p:cSldViewPr snapToGrid="0">
      <p:cViewPr varScale="1">
        <p:scale>
          <a:sx n="93" d="100"/>
          <a:sy n="93" d="100"/>
        </p:scale>
        <p:origin x="2682" y="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21B0A3-B442-46A6-AA1E-FBECF1862A56}"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CAF27FC6-AEC2-4F85-834C-9446B67E2682}">
      <dgm:prSet/>
      <dgm:spPr/>
      <dgm:t>
        <a:bodyPr/>
        <a:lstStyle/>
        <a:p>
          <a:r>
            <a:rPr lang="en-US" baseline="0" dirty="0"/>
            <a:t>Behaviorist Perspective</a:t>
          </a:r>
          <a:endParaRPr lang="en-US" dirty="0"/>
        </a:p>
      </dgm:t>
    </dgm:pt>
    <dgm:pt modelId="{325468C8-60DE-4CF8-A870-03ED306550C6}" type="parTrans" cxnId="{9EB2BB94-695E-4D9C-B3EF-659635B2D079}">
      <dgm:prSet/>
      <dgm:spPr/>
      <dgm:t>
        <a:bodyPr/>
        <a:lstStyle/>
        <a:p>
          <a:endParaRPr lang="en-US"/>
        </a:p>
      </dgm:t>
    </dgm:pt>
    <dgm:pt modelId="{2CAE7237-D73F-4671-8FAB-B0B9245A0E55}" type="sibTrans" cxnId="{9EB2BB94-695E-4D9C-B3EF-659635B2D079}">
      <dgm:prSet/>
      <dgm:spPr/>
      <dgm:t>
        <a:bodyPr/>
        <a:lstStyle/>
        <a:p>
          <a:endParaRPr lang="en-US"/>
        </a:p>
      </dgm:t>
    </dgm:pt>
    <dgm:pt modelId="{8FA3602C-2A6F-418D-9D38-3277E4E9959E}">
      <dgm:prSet/>
      <dgm:spPr/>
      <dgm:t>
        <a:bodyPr/>
        <a:lstStyle/>
        <a:p>
          <a:r>
            <a:rPr lang="en-US" baseline="0"/>
            <a:t>Social Cognitive Perspective</a:t>
          </a:r>
          <a:endParaRPr lang="en-US"/>
        </a:p>
      </dgm:t>
    </dgm:pt>
    <dgm:pt modelId="{43459B2F-8DFA-49C0-90B0-1ECB55F9785C}" type="parTrans" cxnId="{17DBBA52-E127-4E36-826C-4BECB2D18572}">
      <dgm:prSet/>
      <dgm:spPr/>
      <dgm:t>
        <a:bodyPr/>
        <a:lstStyle/>
        <a:p>
          <a:endParaRPr lang="en-US"/>
        </a:p>
      </dgm:t>
    </dgm:pt>
    <dgm:pt modelId="{6BA0C35E-0EF6-4723-9F48-B0AB253C5629}" type="sibTrans" cxnId="{17DBBA52-E127-4E36-826C-4BECB2D18572}">
      <dgm:prSet/>
      <dgm:spPr/>
      <dgm:t>
        <a:bodyPr/>
        <a:lstStyle/>
        <a:p>
          <a:endParaRPr lang="en-US"/>
        </a:p>
      </dgm:t>
    </dgm:pt>
    <dgm:pt modelId="{7B04A2D2-E839-460A-B615-F4FB58FBB9F9}" type="pres">
      <dgm:prSet presAssocID="{F121B0A3-B442-46A6-AA1E-FBECF1862A56}" presName="hierChild1" presStyleCnt="0">
        <dgm:presLayoutVars>
          <dgm:chPref val="1"/>
          <dgm:dir/>
          <dgm:animOne val="branch"/>
          <dgm:animLvl val="lvl"/>
          <dgm:resizeHandles/>
        </dgm:presLayoutVars>
      </dgm:prSet>
      <dgm:spPr/>
    </dgm:pt>
    <dgm:pt modelId="{A569BE53-8779-49EC-B8C4-2C1E80146C28}" type="pres">
      <dgm:prSet presAssocID="{CAF27FC6-AEC2-4F85-834C-9446B67E2682}" presName="hierRoot1" presStyleCnt="0"/>
      <dgm:spPr/>
    </dgm:pt>
    <dgm:pt modelId="{2B890117-2FA4-4985-A5A7-C9FFB4F5C194}" type="pres">
      <dgm:prSet presAssocID="{CAF27FC6-AEC2-4F85-834C-9446B67E2682}" presName="composite" presStyleCnt="0"/>
      <dgm:spPr/>
    </dgm:pt>
    <dgm:pt modelId="{AB5F3A45-9F90-408B-B3FF-817E87938CE3}" type="pres">
      <dgm:prSet presAssocID="{CAF27FC6-AEC2-4F85-834C-9446B67E2682}" presName="background" presStyleLbl="node0" presStyleIdx="0" presStyleCnt="2"/>
      <dgm:spPr/>
    </dgm:pt>
    <dgm:pt modelId="{6A5357C9-D2D8-430D-91C6-CDE0AF1CF8CC}" type="pres">
      <dgm:prSet presAssocID="{CAF27FC6-AEC2-4F85-834C-9446B67E2682}" presName="text" presStyleLbl="fgAcc0" presStyleIdx="0" presStyleCnt="2">
        <dgm:presLayoutVars>
          <dgm:chPref val="3"/>
        </dgm:presLayoutVars>
      </dgm:prSet>
      <dgm:spPr/>
    </dgm:pt>
    <dgm:pt modelId="{09DA945C-E8A6-43C7-805B-8333D181439C}" type="pres">
      <dgm:prSet presAssocID="{CAF27FC6-AEC2-4F85-834C-9446B67E2682}" presName="hierChild2" presStyleCnt="0"/>
      <dgm:spPr/>
    </dgm:pt>
    <dgm:pt modelId="{4BC22894-B391-4BE7-BFC8-9B32C034166A}" type="pres">
      <dgm:prSet presAssocID="{8FA3602C-2A6F-418D-9D38-3277E4E9959E}" presName="hierRoot1" presStyleCnt="0"/>
      <dgm:spPr/>
    </dgm:pt>
    <dgm:pt modelId="{14246DED-94ED-4AF8-B9A3-8732317637DB}" type="pres">
      <dgm:prSet presAssocID="{8FA3602C-2A6F-418D-9D38-3277E4E9959E}" presName="composite" presStyleCnt="0"/>
      <dgm:spPr/>
    </dgm:pt>
    <dgm:pt modelId="{1D4C50C1-FA10-432A-AEC6-DE8C1B140E88}" type="pres">
      <dgm:prSet presAssocID="{8FA3602C-2A6F-418D-9D38-3277E4E9959E}" presName="background" presStyleLbl="node0" presStyleIdx="1" presStyleCnt="2"/>
      <dgm:spPr/>
    </dgm:pt>
    <dgm:pt modelId="{BA275BF7-C0D1-481F-83E7-59CC696CCE57}" type="pres">
      <dgm:prSet presAssocID="{8FA3602C-2A6F-418D-9D38-3277E4E9959E}" presName="text" presStyleLbl="fgAcc0" presStyleIdx="1" presStyleCnt="2">
        <dgm:presLayoutVars>
          <dgm:chPref val="3"/>
        </dgm:presLayoutVars>
      </dgm:prSet>
      <dgm:spPr/>
    </dgm:pt>
    <dgm:pt modelId="{EB9F82F8-5F98-498D-B189-02878A5A9F94}" type="pres">
      <dgm:prSet presAssocID="{8FA3602C-2A6F-418D-9D38-3277E4E9959E}" presName="hierChild2" presStyleCnt="0"/>
      <dgm:spPr/>
    </dgm:pt>
  </dgm:ptLst>
  <dgm:cxnLst>
    <dgm:cxn modelId="{17DBBA52-E127-4E36-826C-4BECB2D18572}" srcId="{F121B0A3-B442-46A6-AA1E-FBECF1862A56}" destId="{8FA3602C-2A6F-418D-9D38-3277E4E9959E}" srcOrd="1" destOrd="0" parTransId="{43459B2F-8DFA-49C0-90B0-1ECB55F9785C}" sibTransId="{6BA0C35E-0EF6-4723-9F48-B0AB253C5629}"/>
    <dgm:cxn modelId="{F651478B-80F5-433D-B333-C9F6A4004F1B}" type="presOf" srcId="{CAF27FC6-AEC2-4F85-834C-9446B67E2682}" destId="{6A5357C9-D2D8-430D-91C6-CDE0AF1CF8CC}" srcOrd="0" destOrd="0" presId="urn:microsoft.com/office/officeart/2005/8/layout/hierarchy1"/>
    <dgm:cxn modelId="{9EB2BB94-695E-4D9C-B3EF-659635B2D079}" srcId="{F121B0A3-B442-46A6-AA1E-FBECF1862A56}" destId="{CAF27FC6-AEC2-4F85-834C-9446B67E2682}" srcOrd="0" destOrd="0" parTransId="{325468C8-60DE-4CF8-A870-03ED306550C6}" sibTransId="{2CAE7237-D73F-4671-8FAB-B0B9245A0E55}"/>
    <dgm:cxn modelId="{2639EADE-11AA-47E9-BA0A-C499FE940DFC}" type="presOf" srcId="{8FA3602C-2A6F-418D-9D38-3277E4E9959E}" destId="{BA275BF7-C0D1-481F-83E7-59CC696CCE57}" srcOrd="0" destOrd="0" presId="urn:microsoft.com/office/officeart/2005/8/layout/hierarchy1"/>
    <dgm:cxn modelId="{E4269AF1-887D-48F7-BFF7-DD79F0769546}" type="presOf" srcId="{F121B0A3-B442-46A6-AA1E-FBECF1862A56}" destId="{7B04A2D2-E839-460A-B615-F4FB58FBB9F9}" srcOrd="0" destOrd="0" presId="urn:microsoft.com/office/officeart/2005/8/layout/hierarchy1"/>
    <dgm:cxn modelId="{62FC9D53-5CB3-47FB-8AA2-71897E006AB6}" type="presParOf" srcId="{7B04A2D2-E839-460A-B615-F4FB58FBB9F9}" destId="{A569BE53-8779-49EC-B8C4-2C1E80146C28}" srcOrd="0" destOrd="0" presId="urn:microsoft.com/office/officeart/2005/8/layout/hierarchy1"/>
    <dgm:cxn modelId="{39715C88-CC83-41EE-85E2-79412DE432E1}" type="presParOf" srcId="{A569BE53-8779-49EC-B8C4-2C1E80146C28}" destId="{2B890117-2FA4-4985-A5A7-C9FFB4F5C194}" srcOrd="0" destOrd="0" presId="urn:microsoft.com/office/officeart/2005/8/layout/hierarchy1"/>
    <dgm:cxn modelId="{76F201CB-FD5D-4B7E-970D-082EBDBA2685}" type="presParOf" srcId="{2B890117-2FA4-4985-A5A7-C9FFB4F5C194}" destId="{AB5F3A45-9F90-408B-B3FF-817E87938CE3}" srcOrd="0" destOrd="0" presId="urn:microsoft.com/office/officeart/2005/8/layout/hierarchy1"/>
    <dgm:cxn modelId="{3C1F5CD1-4123-4B8A-8DD8-0EB66FF4813B}" type="presParOf" srcId="{2B890117-2FA4-4985-A5A7-C9FFB4F5C194}" destId="{6A5357C9-D2D8-430D-91C6-CDE0AF1CF8CC}" srcOrd="1" destOrd="0" presId="urn:microsoft.com/office/officeart/2005/8/layout/hierarchy1"/>
    <dgm:cxn modelId="{1BB87A0F-ADCC-48E4-A197-6C0D63A4AE60}" type="presParOf" srcId="{A569BE53-8779-49EC-B8C4-2C1E80146C28}" destId="{09DA945C-E8A6-43C7-805B-8333D181439C}" srcOrd="1" destOrd="0" presId="urn:microsoft.com/office/officeart/2005/8/layout/hierarchy1"/>
    <dgm:cxn modelId="{8C3FCC38-E1E6-4634-988B-62A765D4BD4D}" type="presParOf" srcId="{7B04A2D2-E839-460A-B615-F4FB58FBB9F9}" destId="{4BC22894-B391-4BE7-BFC8-9B32C034166A}" srcOrd="1" destOrd="0" presId="urn:microsoft.com/office/officeart/2005/8/layout/hierarchy1"/>
    <dgm:cxn modelId="{C203B1B0-1403-4D10-B64B-D68CBDF9D85A}" type="presParOf" srcId="{4BC22894-B391-4BE7-BFC8-9B32C034166A}" destId="{14246DED-94ED-4AF8-B9A3-8732317637DB}" srcOrd="0" destOrd="0" presId="urn:microsoft.com/office/officeart/2005/8/layout/hierarchy1"/>
    <dgm:cxn modelId="{29AF6112-047C-4296-B456-296CD358853C}" type="presParOf" srcId="{14246DED-94ED-4AF8-B9A3-8732317637DB}" destId="{1D4C50C1-FA10-432A-AEC6-DE8C1B140E88}" srcOrd="0" destOrd="0" presId="urn:microsoft.com/office/officeart/2005/8/layout/hierarchy1"/>
    <dgm:cxn modelId="{BFD8E50C-4415-499A-B136-6955DAD045A9}" type="presParOf" srcId="{14246DED-94ED-4AF8-B9A3-8732317637DB}" destId="{BA275BF7-C0D1-481F-83E7-59CC696CCE57}" srcOrd="1" destOrd="0" presId="urn:microsoft.com/office/officeart/2005/8/layout/hierarchy1"/>
    <dgm:cxn modelId="{060801B1-A26C-49D8-9AD5-36FCEED76D7F}" type="presParOf" srcId="{4BC22894-B391-4BE7-BFC8-9B32C034166A}" destId="{EB9F82F8-5F98-498D-B189-02878A5A9F94}"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A63CA98-7B37-4ADE-A9B0-A174AD908899}"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19C56D1-0B84-433E-955B-7621F407A022}">
      <dgm:prSet/>
      <dgm:spPr/>
      <dgm:t>
        <a:bodyPr/>
        <a:lstStyle/>
        <a:p>
          <a:r>
            <a:rPr lang="en-US" baseline="0"/>
            <a:t>Abraham Maslow</a:t>
          </a:r>
          <a:endParaRPr lang="en-US"/>
        </a:p>
      </dgm:t>
    </dgm:pt>
    <dgm:pt modelId="{0FDB248C-7415-41D3-9538-318636B0AA9A}" type="parTrans" cxnId="{5DB2F224-2E26-4064-85D6-9967D54E95B7}">
      <dgm:prSet/>
      <dgm:spPr/>
      <dgm:t>
        <a:bodyPr/>
        <a:lstStyle/>
        <a:p>
          <a:endParaRPr lang="en-US"/>
        </a:p>
      </dgm:t>
    </dgm:pt>
    <dgm:pt modelId="{22A4A62B-DE70-447C-9390-9BBE8D723644}" type="sibTrans" cxnId="{5DB2F224-2E26-4064-85D6-9967D54E95B7}">
      <dgm:prSet/>
      <dgm:spPr/>
      <dgm:t>
        <a:bodyPr/>
        <a:lstStyle/>
        <a:p>
          <a:endParaRPr lang="en-US"/>
        </a:p>
      </dgm:t>
    </dgm:pt>
    <dgm:pt modelId="{B0E7FB56-322A-4845-991D-036C09C8BC37}">
      <dgm:prSet/>
      <dgm:spPr/>
      <dgm:t>
        <a:bodyPr/>
        <a:lstStyle/>
        <a:p>
          <a:r>
            <a:rPr lang="en-US" baseline="0"/>
            <a:t>Hierarchy of Needs</a:t>
          </a:r>
          <a:endParaRPr lang="en-US"/>
        </a:p>
      </dgm:t>
    </dgm:pt>
    <dgm:pt modelId="{E169F1E7-9F10-4BA3-8520-D5BE2834D0EE}" type="parTrans" cxnId="{242A694B-EA4F-4360-ACF6-E0A4FBFC4B62}">
      <dgm:prSet/>
      <dgm:spPr/>
      <dgm:t>
        <a:bodyPr/>
        <a:lstStyle/>
        <a:p>
          <a:endParaRPr lang="en-US"/>
        </a:p>
      </dgm:t>
    </dgm:pt>
    <dgm:pt modelId="{FCF32EE3-B236-4098-8906-5263FEC54D5B}" type="sibTrans" cxnId="{242A694B-EA4F-4360-ACF6-E0A4FBFC4B62}">
      <dgm:prSet/>
      <dgm:spPr/>
      <dgm:t>
        <a:bodyPr/>
        <a:lstStyle/>
        <a:p>
          <a:endParaRPr lang="en-US"/>
        </a:p>
      </dgm:t>
    </dgm:pt>
    <dgm:pt modelId="{02C637D6-BA8F-473C-B0C3-5378A84D691A}">
      <dgm:prSet/>
      <dgm:spPr/>
      <dgm:t>
        <a:bodyPr/>
        <a:lstStyle/>
        <a:p>
          <a:r>
            <a:rPr lang="en-US" baseline="0"/>
            <a:t>Carl Rogers</a:t>
          </a:r>
          <a:endParaRPr lang="en-US"/>
        </a:p>
      </dgm:t>
    </dgm:pt>
    <dgm:pt modelId="{43E1BB01-8B7A-4728-A52C-90D94B38CD5A}" type="parTrans" cxnId="{23370A76-C633-4BEF-9B5E-C3C0364999D4}">
      <dgm:prSet/>
      <dgm:spPr/>
      <dgm:t>
        <a:bodyPr/>
        <a:lstStyle/>
        <a:p>
          <a:endParaRPr lang="en-US"/>
        </a:p>
      </dgm:t>
    </dgm:pt>
    <dgm:pt modelId="{B4CE1465-E4BF-4F91-A034-2344FD32F602}" type="sibTrans" cxnId="{23370A76-C633-4BEF-9B5E-C3C0364999D4}">
      <dgm:prSet/>
      <dgm:spPr/>
      <dgm:t>
        <a:bodyPr/>
        <a:lstStyle/>
        <a:p>
          <a:endParaRPr lang="en-US"/>
        </a:p>
      </dgm:t>
    </dgm:pt>
    <dgm:pt modelId="{91E9876A-C6E5-426B-813A-D85E5EC64B9E}">
      <dgm:prSet/>
      <dgm:spPr/>
      <dgm:t>
        <a:bodyPr/>
        <a:lstStyle/>
        <a:p>
          <a:r>
            <a:rPr lang="en-US" baseline="0" dirty="0"/>
            <a:t>Ideal Self vs Real Self</a:t>
          </a:r>
          <a:endParaRPr lang="en-US" dirty="0"/>
        </a:p>
      </dgm:t>
    </dgm:pt>
    <dgm:pt modelId="{33BBA8E3-FD62-4AA0-A90B-2CF032062C04}" type="parTrans" cxnId="{28FE5201-0321-4F3D-BDB5-741E9381BF5B}">
      <dgm:prSet/>
      <dgm:spPr/>
      <dgm:t>
        <a:bodyPr/>
        <a:lstStyle/>
        <a:p>
          <a:endParaRPr lang="en-US"/>
        </a:p>
      </dgm:t>
    </dgm:pt>
    <dgm:pt modelId="{CDB45499-B0A5-41D1-AB47-16A60E807E50}" type="sibTrans" cxnId="{28FE5201-0321-4F3D-BDB5-741E9381BF5B}">
      <dgm:prSet/>
      <dgm:spPr/>
      <dgm:t>
        <a:bodyPr/>
        <a:lstStyle/>
        <a:p>
          <a:endParaRPr lang="en-US"/>
        </a:p>
      </dgm:t>
    </dgm:pt>
    <dgm:pt modelId="{8871F907-FB98-4594-9415-9DDD51946FBA}" type="pres">
      <dgm:prSet presAssocID="{DA63CA98-7B37-4ADE-A9B0-A174AD908899}" presName="Name0" presStyleCnt="0">
        <dgm:presLayoutVars>
          <dgm:dir/>
          <dgm:animLvl val="lvl"/>
          <dgm:resizeHandles val="exact"/>
        </dgm:presLayoutVars>
      </dgm:prSet>
      <dgm:spPr/>
    </dgm:pt>
    <dgm:pt modelId="{B7C379B4-5A43-4FCC-9B6B-33E81CCE38D4}" type="pres">
      <dgm:prSet presAssocID="{B19C56D1-0B84-433E-955B-7621F407A022}" presName="linNode" presStyleCnt="0"/>
      <dgm:spPr/>
    </dgm:pt>
    <dgm:pt modelId="{C48978B3-0902-4162-9A3D-FCA8AB372280}" type="pres">
      <dgm:prSet presAssocID="{B19C56D1-0B84-433E-955B-7621F407A022}" presName="parentText" presStyleLbl="node1" presStyleIdx="0" presStyleCnt="2">
        <dgm:presLayoutVars>
          <dgm:chMax val="1"/>
          <dgm:bulletEnabled val="1"/>
        </dgm:presLayoutVars>
      </dgm:prSet>
      <dgm:spPr/>
    </dgm:pt>
    <dgm:pt modelId="{E255B53E-FAF2-467A-8E8C-232D19D58917}" type="pres">
      <dgm:prSet presAssocID="{B19C56D1-0B84-433E-955B-7621F407A022}" presName="descendantText" presStyleLbl="alignAccFollowNode1" presStyleIdx="0" presStyleCnt="2">
        <dgm:presLayoutVars>
          <dgm:bulletEnabled val="1"/>
        </dgm:presLayoutVars>
      </dgm:prSet>
      <dgm:spPr/>
    </dgm:pt>
    <dgm:pt modelId="{1A2DCFD2-4CF0-42C1-954C-CA8E9AB14255}" type="pres">
      <dgm:prSet presAssocID="{22A4A62B-DE70-447C-9390-9BBE8D723644}" presName="sp" presStyleCnt="0"/>
      <dgm:spPr/>
    </dgm:pt>
    <dgm:pt modelId="{01409694-C755-47E1-A6A9-0BFC3E08FDE9}" type="pres">
      <dgm:prSet presAssocID="{02C637D6-BA8F-473C-B0C3-5378A84D691A}" presName="linNode" presStyleCnt="0"/>
      <dgm:spPr/>
    </dgm:pt>
    <dgm:pt modelId="{47A950CE-A052-451D-8E42-4F1305F24D52}" type="pres">
      <dgm:prSet presAssocID="{02C637D6-BA8F-473C-B0C3-5378A84D691A}" presName="parentText" presStyleLbl="node1" presStyleIdx="1" presStyleCnt="2">
        <dgm:presLayoutVars>
          <dgm:chMax val="1"/>
          <dgm:bulletEnabled val="1"/>
        </dgm:presLayoutVars>
      </dgm:prSet>
      <dgm:spPr/>
    </dgm:pt>
    <dgm:pt modelId="{5A54CD48-CFF5-442A-8B07-299792594624}" type="pres">
      <dgm:prSet presAssocID="{02C637D6-BA8F-473C-B0C3-5378A84D691A}" presName="descendantText" presStyleLbl="alignAccFollowNode1" presStyleIdx="1" presStyleCnt="2">
        <dgm:presLayoutVars>
          <dgm:bulletEnabled val="1"/>
        </dgm:presLayoutVars>
      </dgm:prSet>
      <dgm:spPr/>
    </dgm:pt>
  </dgm:ptLst>
  <dgm:cxnLst>
    <dgm:cxn modelId="{28FE5201-0321-4F3D-BDB5-741E9381BF5B}" srcId="{02C637D6-BA8F-473C-B0C3-5378A84D691A}" destId="{91E9876A-C6E5-426B-813A-D85E5EC64B9E}" srcOrd="0" destOrd="0" parTransId="{33BBA8E3-FD62-4AA0-A90B-2CF032062C04}" sibTransId="{CDB45499-B0A5-41D1-AB47-16A60E807E50}"/>
    <dgm:cxn modelId="{5DB2F224-2E26-4064-85D6-9967D54E95B7}" srcId="{DA63CA98-7B37-4ADE-A9B0-A174AD908899}" destId="{B19C56D1-0B84-433E-955B-7621F407A022}" srcOrd="0" destOrd="0" parTransId="{0FDB248C-7415-41D3-9538-318636B0AA9A}" sibTransId="{22A4A62B-DE70-447C-9390-9BBE8D723644}"/>
    <dgm:cxn modelId="{A7779E2D-765B-453B-A2E6-15933AF8E373}" type="presOf" srcId="{02C637D6-BA8F-473C-B0C3-5378A84D691A}" destId="{47A950CE-A052-451D-8E42-4F1305F24D52}" srcOrd="0" destOrd="0" presId="urn:microsoft.com/office/officeart/2005/8/layout/vList5"/>
    <dgm:cxn modelId="{242A694B-EA4F-4360-ACF6-E0A4FBFC4B62}" srcId="{B19C56D1-0B84-433E-955B-7621F407A022}" destId="{B0E7FB56-322A-4845-991D-036C09C8BC37}" srcOrd="0" destOrd="0" parTransId="{E169F1E7-9F10-4BA3-8520-D5BE2834D0EE}" sibTransId="{FCF32EE3-B236-4098-8906-5263FEC54D5B}"/>
    <dgm:cxn modelId="{23370A76-C633-4BEF-9B5E-C3C0364999D4}" srcId="{DA63CA98-7B37-4ADE-A9B0-A174AD908899}" destId="{02C637D6-BA8F-473C-B0C3-5378A84D691A}" srcOrd="1" destOrd="0" parTransId="{43E1BB01-8B7A-4728-A52C-90D94B38CD5A}" sibTransId="{B4CE1465-E4BF-4F91-A034-2344FD32F602}"/>
    <dgm:cxn modelId="{46282AC1-DC19-4707-9F8D-A1B2316E3E2D}" type="presOf" srcId="{B19C56D1-0B84-433E-955B-7621F407A022}" destId="{C48978B3-0902-4162-9A3D-FCA8AB372280}" srcOrd="0" destOrd="0" presId="urn:microsoft.com/office/officeart/2005/8/layout/vList5"/>
    <dgm:cxn modelId="{58CC24C9-AA53-4E31-A82B-A16308F0A000}" type="presOf" srcId="{B0E7FB56-322A-4845-991D-036C09C8BC37}" destId="{E255B53E-FAF2-467A-8E8C-232D19D58917}" srcOrd="0" destOrd="0" presId="urn:microsoft.com/office/officeart/2005/8/layout/vList5"/>
    <dgm:cxn modelId="{A7B65BE0-AD94-47D7-A4A1-33D7F28A8D4C}" type="presOf" srcId="{91E9876A-C6E5-426B-813A-D85E5EC64B9E}" destId="{5A54CD48-CFF5-442A-8B07-299792594624}" srcOrd="0" destOrd="0" presId="urn:microsoft.com/office/officeart/2005/8/layout/vList5"/>
    <dgm:cxn modelId="{9590AEE5-7348-4EA6-8C9D-1F696656DB48}" type="presOf" srcId="{DA63CA98-7B37-4ADE-A9B0-A174AD908899}" destId="{8871F907-FB98-4594-9415-9DDD51946FBA}" srcOrd="0" destOrd="0" presId="urn:microsoft.com/office/officeart/2005/8/layout/vList5"/>
    <dgm:cxn modelId="{08537CA6-F401-4126-A496-7E0988CE0884}" type="presParOf" srcId="{8871F907-FB98-4594-9415-9DDD51946FBA}" destId="{B7C379B4-5A43-4FCC-9B6B-33E81CCE38D4}" srcOrd="0" destOrd="0" presId="urn:microsoft.com/office/officeart/2005/8/layout/vList5"/>
    <dgm:cxn modelId="{56AF55D8-7DD4-4499-B60B-056DFA2F9FE2}" type="presParOf" srcId="{B7C379B4-5A43-4FCC-9B6B-33E81CCE38D4}" destId="{C48978B3-0902-4162-9A3D-FCA8AB372280}" srcOrd="0" destOrd="0" presId="urn:microsoft.com/office/officeart/2005/8/layout/vList5"/>
    <dgm:cxn modelId="{8D1DCE39-734C-4285-A39E-6E2F2D79F853}" type="presParOf" srcId="{B7C379B4-5A43-4FCC-9B6B-33E81CCE38D4}" destId="{E255B53E-FAF2-467A-8E8C-232D19D58917}" srcOrd="1" destOrd="0" presId="urn:microsoft.com/office/officeart/2005/8/layout/vList5"/>
    <dgm:cxn modelId="{E23630C7-93F3-4984-9B24-D349BC6265FA}" type="presParOf" srcId="{8871F907-FB98-4594-9415-9DDD51946FBA}" destId="{1A2DCFD2-4CF0-42C1-954C-CA8E9AB14255}" srcOrd="1" destOrd="0" presId="urn:microsoft.com/office/officeart/2005/8/layout/vList5"/>
    <dgm:cxn modelId="{808F3A37-02CF-4BC9-A29B-12B96102AE16}" type="presParOf" srcId="{8871F907-FB98-4594-9415-9DDD51946FBA}" destId="{01409694-C755-47E1-A6A9-0BFC3E08FDE9}" srcOrd="2" destOrd="0" presId="urn:microsoft.com/office/officeart/2005/8/layout/vList5"/>
    <dgm:cxn modelId="{9834D676-D4B9-4D98-BC2E-28F8BC7A7750}" type="presParOf" srcId="{01409694-C755-47E1-A6A9-0BFC3E08FDE9}" destId="{47A950CE-A052-451D-8E42-4F1305F24D52}" srcOrd="0" destOrd="0" presId="urn:microsoft.com/office/officeart/2005/8/layout/vList5"/>
    <dgm:cxn modelId="{35DF6AA8-6FBE-402C-A555-B6BE2FD4FFFF}" type="presParOf" srcId="{01409694-C755-47E1-A6A9-0BFC3E08FDE9}" destId="{5A54CD48-CFF5-442A-8B07-299792594624}"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0F69985-61FB-470F-A18F-3224C83CB63B}"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5821D5CB-705B-4C92-A51F-23813B4294D7}">
      <dgm:prSet/>
      <dgm:spPr/>
      <dgm:t>
        <a:bodyPr/>
        <a:lstStyle/>
        <a:p>
          <a:r>
            <a:rPr lang="en-US" dirty="0"/>
            <a:t>Self-report vs projective testing</a:t>
          </a:r>
        </a:p>
      </dgm:t>
    </dgm:pt>
    <dgm:pt modelId="{33497A9A-BF29-4173-8D37-5ACFEB8E5279}" type="parTrans" cxnId="{BA9601B2-57AD-40B8-B90B-E14AAA84D248}">
      <dgm:prSet/>
      <dgm:spPr/>
      <dgm:t>
        <a:bodyPr/>
        <a:lstStyle/>
        <a:p>
          <a:endParaRPr lang="en-US"/>
        </a:p>
      </dgm:t>
    </dgm:pt>
    <dgm:pt modelId="{19EA71C1-2EAC-42AA-B830-B0FE7D217787}" type="sibTrans" cxnId="{BA9601B2-57AD-40B8-B90B-E14AAA84D248}">
      <dgm:prSet/>
      <dgm:spPr/>
      <dgm:t>
        <a:bodyPr/>
        <a:lstStyle/>
        <a:p>
          <a:endParaRPr lang="en-US"/>
        </a:p>
      </dgm:t>
    </dgm:pt>
    <dgm:pt modelId="{C97D385B-897E-4D2E-AA45-AEE47EC30EB3}">
      <dgm:prSet/>
      <dgm:spPr/>
      <dgm:t>
        <a:bodyPr/>
        <a:lstStyle/>
        <a:p>
          <a:r>
            <a:rPr lang="en-US" dirty="0"/>
            <a:t>The Rorschach Inkblot Test</a:t>
          </a:r>
        </a:p>
      </dgm:t>
    </dgm:pt>
    <dgm:pt modelId="{16CEDFA8-942F-4F4C-A76D-F58DB7BF774C}" type="parTrans" cxnId="{F0FB3BFE-A260-4716-91DD-C5F0CEFD32E8}">
      <dgm:prSet/>
      <dgm:spPr/>
      <dgm:t>
        <a:bodyPr/>
        <a:lstStyle/>
        <a:p>
          <a:endParaRPr lang="en-US"/>
        </a:p>
      </dgm:t>
    </dgm:pt>
    <dgm:pt modelId="{7DC20332-4022-49F0-8C9B-1947AB130D93}" type="sibTrans" cxnId="{F0FB3BFE-A260-4716-91DD-C5F0CEFD32E8}">
      <dgm:prSet/>
      <dgm:spPr/>
      <dgm:t>
        <a:bodyPr/>
        <a:lstStyle/>
        <a:p>
          <a:endParaRPr lang="en-US"/>
        </a:p>
      </dgm:t>
    </dgm:pt>
    <dgm:pt modelId="{B1AD1E0F-5087-4A7A-A481-83AC5FBAFF7B}">
      <dgm:prSet/>
      <dgm:spPr/>
      <dgm:t>
        <a:bodyPr/>
        <a:lstStyle/>
        <a:p>
          <a:r>
            <a:rPr lang="en-US"/>
            <a:t>The Thematic Appreciation Test (TAT)</a:t>
          </a:r>
        </a:p>
      </dgm:t>
    </dgm:pt>
    <dgm:pt modelId="{6C296B7D-658B-4D3C-8CCE-26801EB93334}" type="parTrans" cxnId="{25623039-A686-4A68-B9D3-B59CE9D3F3AF}">
      <dgm:prSet/>
      <dgm:spPr/>
      <dgm:t>
        <a:bodyPr/>
        <a:lstStyle/>
        <a:p>
          <a:endParaRPr lang="en-US"/>
        </a:p>
      </dgm:t>
    </dgm:pt>
    <dgm:pt modelId="{FB437758-7CF8-4F1C-AC62-1CFAF1196FBC}" type="sibTrans" cxnId="{25623039-A686-4A68-B9D3-B59CE9D3F3AF}">
      <dgm:prSet/>
      <dgm:spPr/>
      <dgm:t>
        <a:bodyPr/>
        <a:lstStyle/>
        <a:p>
          <a:endParaRPr lang="en-US"/>
        </a:p>
      </dgm:t>
    </dgm:pt>
    <dgm:pt modelId="{A56A47A7-BFA6-45F5-97ED-445D19A1A666}">
      <dgm:prSet/>
      <dgm:spPr/>
      <dgm:t>
        <a:bodyPr/>
        <a:lstStyle/>
        <a:p>
          <a:r>
            <a:rPr lang="en-US" dirty="0"/>
            <a:t>The Rotter Incomplete Sentence Blank (RISB)</a:t>
          </a:r>
        </a:p>
      </dgm:t>
    </dgm:pt>
    <dgm:pt modelId="{C13C67DF-CD21-4955-89EB-BF544F2CDC1A}" type="parTrans" cxnId="{EB14B12C-4721-4DEA-B37D-A24955B7F5EE}">
      <dgm:prSet/>
      <dgm:spPr/>
      <dgm:t>
        <a:bodyPr/>
        <a:lstStyle/>
        <a:p>
          <a:endParaRPr lang="en-US"/>
        </a:p>
      </dgm:t>
    </dgm:pt>
    <dgm:pt modelId="{44824968-7D01-492C-9277-38413316C8BD}" type="sibTrans" cxnId="{EB14B12C-4721-4DEA-B37D-A24955B7F5EE}">
      <dgm:prSet/>
      <dgm:spPr/>
      <dgm:t>
        <a:bodyPr/>
        <a:lstStyle/>
        <a:p>
          <a:endParaRPr lang="en-US"/>
        </a:p>
      </dgm:t>
    </dgm:pt>
    <dgm:pt modelId="{C6EFD5BB-74CC-4C5A-A0F7-45D307C072F8}">
      <dgm:prSet/>
      <dgm:spPr/>
      <dgm:t>
        <a:bodyPr/>
        <a:lstStyle/>
        <a:p>
          <a:r>
            <a:rPr lang="en-US"/>
            <a:t>The Minnesota Multiphasic Personality Inventory (MMPI)</a:t>
          </a:r>
        </a:p>
      </dgm:t>
    </dgm:pt>
    <dgm:pt modelId="{8AA0DC4E-5D3D-4AF7-A4BB-A008F90CD2C1}" type="parTrans" cxnId="{D7E016BB-5C13-4BBA-915C-94BDCC361EEB}">
      <dgm:prSet/>
      <dgm:spPr/>
      <dgm:t>
        <a:bodyPr/>
        <a:lstStyle/>
        <a:p>
          <a:endParaRPr lang="en-US"/>
        </a:p>
      </dgm:t>
    </dgm:pt>
    <dgm:pt modelId="{303CD535-4259-4776-970A-C02F038FFAA4}" type="sibTrans" cxnId="{D7E016BB-5C13-4BBA-915C-94BDCC361EEB}">
      <dgm:prSet/>
      <dgm:spPr/>
      <dgm:t>
        <a:bodyPr/>
        <a:lstStyle/>
        <a:p>
          <a:endParaRPr lang="en-US"/>
        </a:p>
      </dgm:t>
    </dgm:pt>
    <dgm:pt modelId="{3ACF638E-5667-46F9-99ED-CC068DDFD389}" type="pres">
      <dgm:prSet presAssocID="{00F69985-61FB-470F-A18F-3224C83CB63B}" presName="vert0" presStyleCnt="0">
        <dgm:presLayoutVars>
          <dgm:dir/>
          <dgm:animOne val="branch"/>
          <dgm:animLvl val="lvl"/>
        </dgm:presLayoutVars>
      </dgm:prSet>
      <dgm:spPr/>
    </dgm:pt>
    <dgm:pt modelId="{DBCFF926-AAED-434C-9C67-06A4A65ABFFE}" type="pres">
      <dgm:prSet presAssocID="{5821D5CB-705B-4C92-A51F-23813B4294D7}" presName="thickLine" presStyleLbl="alignNode1" presStyleIdx="0" presStyleCnt="5"/>
      <dgm:spPr/>
    </dgm:pt>
    <dgm:pt modelId="{6541C6B3-49F2-42A1-97E5-E836454235FA}" type="pres">
      <dgm:prSet presAssocID="{5821D5CB-705B-4C92-A51F-23813B4294D7}" presName="horz1" presStyleCnt="0"/>
      <dgm:spPr/>
    </dgm:pt>
    <dgm:pt modelId="{1E2CBFE1-3A31-4B58-B920-44A345ABCA2B}" type="pres">
      <dgm:prSet presAssocID="{5821D5CB-705B-4C92-A51F-23813B4294D7}" presName="tx1" presStyleLbl="revTx" presStyleIdx="0" presStyleCnt="5"/>
      <dgm:spPr/>
    </dgm:pt>
    <dgm:pt modelId="{879684FE-ACA4-4038-912B-DA132AA020E0}" type="pres">
      <dgm:prSet presAssocID="{5821D5CB-705B-4C92-A51F-23813B4294D7}" presName="vert1" presStyleCnt="0"/>
      <dgm:spPr/>
    </dgm:pt>
    <dgm:pt modelId="{EC74375D-79AA-4D90-8EB2-58971CB02166}" type="pres">
      <dgm:prSet presAssocID="{C6EFD5BB-74CC-4C5A-A0F7-45D307C072F8}" presName="thickLine" presStyleLbl="alignNode1" presStyleIdx="1" presStyleCnt="5"/>
      <dgm:spPr/>
    </dgm:pt>
    <dgm:pt modelId="{F6F9D311-7F22-492A-BE68-DDDD06A2E932}" type="pres">
      <dgm:prSet presAssocID="{C6EFD5BB-74CC-4C5A-A0F7-45D307C072F8}" presName="horz1" presStyleCnt="0"/>
      <dgm:spPr/>
    </dgm:pt>
    <dgm:pt modelId="{B2354CDE-6D0A-42AB-93C1-E96897F52228}" type="pres">
      <dgm:prSet presAssocID="{C6EFD5BB-74CC-4C5A-A0F7-45D307C072F8}" presName="tx1" presStyleLbl="revTx" presStyleIdx="1" presStyleCnt="5"/>
      <dgm:spPr/>
    </dgm:pt>
    <dgm:pt modelId="{DA34012F-9D6E-4F00-B02F-206FB40A6A34}" type="pres">
      <dgm:prSet presAssocID="{C6EFD5BB-74CC-4C5A-A0F7-45D307C072F8}" presName="vert1" presStyleCnt="0"/>
      <dgm:spPr/>
    </dgm:pt>
    <dgm:pt modelId="{4E50F212-18C4-4E93-B355-B39CE85B7716}" type="pres">
      <dgm:prSet presAssocID="{C97D385B-897E-4D2E-AA45-AEE47EC30EB3}" presName="thickLine" presStyleLbl="alignNode1" presStyleIdx="2" presStyleCnt="5"/>
      <dgm:spPr/>
    </dgm:pt>
    <dgm:pt modelId="{B75E77A7-843C-4989-AA3C-4995FF0E6773}" type="pres">
      <dgm:prSet presAssocID="{C97D385B-897E-4D2E-AA45-AEE47EC30EB3}" presName="horz1" presStyleCnt="0"/>
      <dgm:spPr/>
    </dgm:pt>
    <dgm:pt modelId="{D8C01199-6E13-4B6A-A023-CA7FE8EDEB0D}" type="pres">
      <dgm:prSet presAssocID="{C97D385B-897E-4D2E-AA45-AEE47EC30EB3}" presName="tx1" presStyleLbl="revTx" presStyleIdx="2" presStyleCnt="5"/>
      <dgm:spPr/>
    </dgm:pt>
    <dgm:pt modelId="{04FA2D33-3FB9-4CE8-80D2-3FA987D64C17}" type="pres">
      <dgm:prSet presAssocID="{C97D385B-897E-4D2E-AA45-AEE47EC30EB3}" presName="vert1" presStyleCnt="0"/>
      <dgm:spPr/>
    </dgm:pt>
    <dgm:pt modelId="{2D599DB9-E700-49BE-A9BC-A2A0A6286026}" type="pres">
      <dgm:prSet presAssocID="{B1AD1E0F-5087-4A7A-A481-83AC5FBAFF7B}" presName="thickLine" presStyleLbl="alignNode1" presStyleIdx="3" presStyleCnt="5"/>
      <dgm:spPr/>
    </dgm:pt>
    <dgm:pt modelId="{328FC6E6-3FFC-417A-A0CD-4513D3E8D203}" type="pres">
      <dgm:prSet presAssocID="{B1AD1E0F-5087-4A7A-A481-83AC5FBAFF7B}" presName="horz1" presStyleCnt="0"/>
      <dgm:spPr/>
    </dgm:pt>
    <dgm:pt modelId="{7552922C-FBB5-4364-8583-86701E9AD7DD}" type="pres">
      <dgm:prSet presAssocID="{B1AD1E0F-5087-4A7A-A481-83AC5FBAFF7B}" presName="tx1" presStyleLbl="revTx" presStyleIdx="3" presStyleCnt="5"/>
      <dgm:spPr/>
    </dgm:pt>
    <dgm:pt modelId="{E59A221B-8787-4E38-969F-31C3FC005117}" type="pres">
      <dgm:prSet presAssocID="{B1AD1E0F-5087-4A7A-A481-83AC5FBAFF7B}" presName="vert1" presStyleCnt="0"/>
      <dgm:spPr/>
    </dgm:pt>
    <dgm:pt modelId="{2B614F4E-C5C6-4CAA-AA67-B7F285DC644D}" type="pres">
      <dgm:prSet presAssocID="{A56A47A7-BFA6-45F5-97ED-445D19A1A666}" presName="thickLine" presStyleLbl="alignNode1" presStyleIdx="4" presStyleCnt="5"/>
      <dgm:spPr/>
    </dgm:pt>
    <dgm:pt modelId="{56D6FB22-6648-4F6C-BDBA-115847F315D9}" type="pres">
      <dgm:prSet presAssocID="{A56A47A7-BFA6-45F5-97ED-445D19A1A666}" presName="horz1" presStyleCnt="0"/>
      <dgm:spPr/>
    </dgm:pt>
    <dgm:pt modelId="{A5C47647-2549-4BAE-ACB8-35876A939755}" type="pres">
      <dgm:prSet presAssocID="{A56A47A7-BFA6-45F5-97ED-445D19A1A666}" presName="tx1" presStyleLbl="revTx" presStyleIdx="4" presStyleCnt="5"/>
      <dgm:spPr/>
    </dgm:pt>
    <dgm:pt modelId="{3DF1CB3F-F527-453B-B62B-4F78F939E16F}" type="pres">
      <dgm:prSet presAssocID="{A56A47A7-BFA6-45F5-97ED-445D19A1A666}" presName="vert1" presStyleCnt="0"/>
      <dgm:spPr/>
    </dgm:pt>
  </dgm:ptLst>
  <dgm:cxnLst>
    <dgm:cxn modelId="{EB14B12C-4721-4DEA-B37D-A24955B7F5EE}" srcId="{00F69985-61FB-470F-A18F-3224C83CB63B}" destId="{A56A47A7-BFA6-45F5-97ED-445D19A1A666}" srcOrd="4" destOrd="0" parTransId="{C13C67DF-CD21-4955-89EB-BF544F2CDC1A}" sibTransId="{44824968-7D01-492C-9277-38413316C8BD}"/>
    <dgm:cxn modelId="{5918FC2F-2BD1-4546-AC5F-52C9EE49AFB1}" type="presOf" srcId="{00F69985-61FB-470F-A18F-3224C83CB63B}" destId="{3ACF638E-5667-46F9-99ED-CC068DDFD389}" srcOrd="0" destOrd="0" presId="urn:microsoft.com/office/officeart/2008/layout/LinedList"/>
    <dgm:cxn modelId="{25623039-A686-4A68-B9D3-B59CE9D3F3AF}" srcId="{00F69985-61FB-470F-A18F-3224C83CB63B}" destId="{B1AD1E0F-5087-4A7A-A481-83AC5FBAFF7B}" srcOrd="3" destOrd="0" parTransId="{6C296B7D-658B-4D3C-8CCE-26801EB93334}" sibTransId="{FB437758-7CF8-4F1C-AC62-1CFAF1196FBC}"/>
    <dgm:cxn modelId="{E241DD77-8745-4F5F-954E-652E2826CCB2}" type="presOf" srcId="{A56A47A7-BFA6-45F5-97ED-445D19A1A666}" destId="{A5C47647-2549-4BAE-ACB8-35876A939755}" srcOrd="0" destOrd="0" presId="urn:microsoft.com/office/officeart/2008/layout/LinedList"/>
    <dgm:cxn modelId="{844A5D8C-C3AB-4A97-8287-27697F0A87A9}" type="presOf" srcId="{5821D5CB-705B-4C92-A51F-23813B4294D7}" destId="{1E2CBFE1-3A31-4B58-B920-44A345ABCA2B}" srcOrd="0" destOrd="0" presId="urn:microsoft.com/office/officeart/2008/layout/LinedList"/>
    <dgm:cxn modelId="{D9B8328F-F2C3-4553-898E-CFED9994710E}" type="presOf" srcId="{C6EFD5BB-74CC-4C5A-A0F7-45D307C072F8}" destId="{B2354CDE-6D0A-42AB-93C1-E96897F52228}" srcOrd="0" destOrd="0" presId="urn:microsoft.com/office/officeart/2008/layout/LinedList"/>
    <dgm:cxn modelId="{649E68AB-AC84-48CB-8E02-9BB18169A4F2}" type="presOf" srcId="{C97D385B-897E-4D2E-AA45-AEE47EC30EB3}" destId="{D8C01199-6E13-4B6A-A023-CA7FE8EDEB0D}" srcOrd="0" destOrd="0" presId="urn:microsoft.com/office/officeart/2008/layout/LinedList"/>
    <dgm:cxn modelId="{BA9601B2-57AD-40B8-B90B-E14AAA84D248}" srcId="{00F69985-61FB-470F-A18F-3224C83CB63B}" destId="{5821D5CB-705B-4C92-A51F-23813B4294D7}" srcOrd="0" destOrd="0" parTransId="{33497A9A-BF29-4173-8D37-5ACFEB8E5279}" sibTransId="{19EA71C1-2EAC-42AA-B830-B0FE7D217787}"/>
    <dgm:cxn modelId="{D7E016BB-5C13-4BBA-915C-94BDCC361EEB}" srcId="{00F69985-61FB-470F-A18F-3224C83CB63B}" destId="{C6EFD5BB-74CC-4C5A-A0F7-45D307C072F8}" srcOrd="1" destOrd="0" parTransId="{8AA0DC4E-5D3D-4AF7-A4BB-A008F90CD2C1}" sibTransId="{303CD535-4259-4776-970A-C02F038FFAA4}"/>
    <dgm:cxn modelId="{7D592BEF-9EC0-4594-850E-1CF5C057F3D3}" type="presOf" srcId="{B1AD1E0F-5087-4A7A-A481-83AC5FBAFF7B}" destId="{7552922C-FBB5-4364-8583-86701E9AD7DD}" srcOrd="0" destOrd="0" presId="urn:microsoft.com/office/officeart/2008/layout/LinedList"/>
    <dgm:cxn modelId="{F0FB3BFE-A260-4716-91DD-C5F0CEFD32E8}" srcId="{00F69985-61FB-470F-A18F-3224C83CB63B}" destId="{C97D385B-897E-4D2E-AA45-AEE47EC30EB3}" srcOrd="2" destOrd="0" parTransId="{16CEDFA8-942F-4F4C-A76D-F58DB7BF774C}" sibTransId="{7DC20332-4022-49F0-8C9B-1947AB130D93}"/>
    <dgm:cxn modelId="{43FB02F6-996B-46A3-895E-37DA8932F2DF}" type="presParOf" srcId="{3ACF638E-5667-46F9-99ED-CC068DDFD389}" destId="{DBCFF926-AAED-434C-9C67-06A4A65ABFFE}" srcOrd="0" destOrd="0" presId="urn:microsoft.com/office/officeart/2008/layout/LinedList"/>
    <dgm:cxn modelId="{C25FA9A6-FB0C-4B38-9AF3-4B9C464C3D6A}" type="presParOf" srcId="{3ACF638E-5667-46F9-99ED-CC068DDFD389}" destId="{6541C6B3-49F2-42A1-97E5-E836454235FA}" srcOrd="1" destOrd="0" presId="urn:microsoft.com/office/officeart/2008/layout/LinedList"/>
    <dgm:cxn modelId="{685DBA84-4301-48B0-A8A1-4FE7066CB17A}" type="presParOf" srcId="{6541C6B3-49F2-42A1-97E5-E836454235FA}" destId="{1E2CBFE1-3A31-4B58-B920-44A345ABCA2B}" srcOrd="0" destOrd="0" presId="urn:microsoft.com/office/officeart/2008/layout/LinedList"/>
    <dgm:cxn modelId="{62956AA5-C6C7-4969-8A3E-4C39D35D8C81}" type="presParOf" srcId="{6541C6B3-49F2-42A1-97E5-E836454235FA}" destId="{879684FE-ACA4-4038-912B-DA132AA020E0}" srcOrd="1" destOrd="0" presId="urn:microsoft.com/office/officeart/2008/layout/LinedList"/>
    <dgm:cxn modelId="{6EA4A755-DE84-469D-BB32-1A53F88196ED}" type="presParOf" srcId="{3ACF638E-5667-46F9-99ED-CC068DDFD389}" destId="{EC74375D-79AA-4D90-8EB2-58971CB02166}" srcOrd="2" destOrd="0" presId="urn:microsoft.com/office/officeart/2008/layout/LinedList"/>
    <dgm:cxn modelId="{3CFD52DC-71A6-441F-9FCA-9D074D0B1EE8}" type="presParOf" srcId="{3ACF638E-5667-46F9-99ED-CC068DDFD389}" destId="{F6F9D311-7F22-492A-BE68-DDDD06A2E932}" srcOrd="3" destOrd="0" presId="urn:microsoft.com/office/officeart/2008/layout/LinedList"/>
    <dgm:cxn modelId="{F74F2704-B7C5-4892-92F9-1D8EC39A0233}" type="presParOf" srcId="{F6F9D311-7F22-492A-BE68-DDDD06A2E932}" destId="{B2354CDE-6D0A-42AB-93C1-E96897F52228}" srcOrd="0" destOrd="0" presId="urn:microsoft.com/office/officeart/2008/layout/LinedList"/>
    <dgm:cxn modelId="{249E7507-B758-4FD4-969B-85F93FF38EB1}" type="presParOf" srcId="{F6F9D311-7F22-492A-BE68-DDDD06A2E932}" destId="{DA34012F-9D6E-4F00-B02F-206FB40A6A34}" srcOrd="1" destOrd="0" presId="urn:microsoft.com/office/officeart/2008/layout/LinedList"/>
    <dgm:cxn modelId="{D268C4C8-7F46-43D3-B2C1-D5BEC94EAC44}" type="presParOf" srcId="{3ACF638E-5667-46F9-99ED-CC068DDFD389}" destId="{4E50F212-18C4-4E93-B355-B39CE85B7716}" srcOrd="4" destOrd="0" presId="urn:microsoft.com/office/officeart/2008/layout/LinedList"/>
    <dgm:cxn modelId="{8C288DDE-1A69-4FC8-A10C-FE7120189C0B}" type="presParOf" srcId="{3ACF638E-5667-46F9-99ED-CC068DDFD389}" destId="{B75E77A7-843C-4989-AA3C-4995FF0E6773}" srcOrd="5" destOrd="0" presId="urn:microsoft.com/office/officeart/2008/layout/LinedList"/>
    <dgm:cxn modelId="{F0257B36-C54F-408C-9D50-5CC63BD155C2}" type="presParOf" srcId="{B75E77A7-843C-4989-AA3C-4995FF0E6773}" destId="{D8C01199-6E13-4B6A-A023-CA7FE8EDEB0D}" srcOrd="0" destOrd="0" presId="urn:microsoft.com/office/officeart/2008/layout/LinedList"/>
    <dgm:cxn modelId="{98216228-42F5-4E1B-A8A4-A4FF29CF0507}" type="presParOf" srcId="{B75E77A7-843C-4989-AA3C-4995FF0E6773}" destId="{04FA2D33-3FB9-4CE8-80D2-3FA987D64C17}" srcOrd="1" destOrd="0" presId="urn:microsoft.com/office/officeart/2008/layout/LinedList"/>
    <dgm:cxn modelId="{1154E266-B907-4F91-AC0F-06572DE2FD9A}" type="presParOf" srcId="{3ACF638E-5667-46F9-99ED-CC068DDFD389}" destId="{2D599DB9-E700-49BE-A9BC-A2A0A6286026}" srcOrd="6" destOrd="0" presId="urn:microsoft.com/office/officeart/2008/layout/LinedList"/>
    <dgm:cxn modelId="{D6AF0440-7ED3-4427-A263-E78360D7A055}" type="presParOf" srcId="{3ACF638E-5667-46F9-99ED-CC068DDFD389}" destId="{328FC6E6-3FFC-417A-A0CD-4513D3E8D203}" srcOrd="7" destOrd="0" presId="urn:microsoft.com/office/officeart/2008/layout/LinedList"/>
    <dgm:cxn modelId="{A4826FD4-14B5-4FBF-B4DE-BF61BB35CFCE}" type="presParOf" srcId="{328FC6E6-3FFC-417A-A0CD-4513D3E8D203}" destId="{7552922C-FBB5-4364-8583-86701E9AD7DD}" srcOrd="0" destOrd="0" presId="urn:microsoft.com/office/officeart/2008/layout/LinedList"/>
    <dgm:cxn modelId="{6A8B08A3-4605-412C-BFD2-609969133B84}" type="presParOf" srcId="{328FC6E6-3FFC-417A-A0CD-4513D3E8D203}" destId="{E59A221B-8787-4E38-969F-31C3FC005117}" srcOrd="1" destOrd="0" presId="urn:microsoft.com/office/officeart/2008/layout/LinedList"/>
    <dgm:cxn modelId="{DDE03B33-B651-4CE1-9E65-3774FB7DEBF4}" type="presParOf" srcId="{3ACF638E-5667-46F9-99ED-CC068DDFD389}" destId="{2B614F4E-C5C6-4CAA-AA67-B7F285DC644D}" srcOrd="8" destOrd="0" presId="urn:microsoft.com/office/officeart/2008/layout/LinedList"/>
    <dgm:cxn modelId="{346A569F-FDFC-46E6-8563-A3914E5BAFB2}" type="presParOf" srcId="{3ACF638E-5667-46F9-99ED-CC068DDFD389}" destId="{56D6FB22-6648-4F6C-BDBA-115847F315D9}" srcOrd="9" destOrd="0" presId="urn:microsoft.com/office/officeart/2008/layout/LinedList"/>
    <dgm:cxn modelId="{4DBF9B2B-E1DF-4C5B-A872-311F43317E39}" type="presParOf" srcId="{56D6FB22-6648-4F6C-BDBA-115847F315D9}" destId="{A5C47647-2549-4BAE-ACB8-35876A939755}" srcOrd="0" destOrd="0" presId="urn:microsoft.com/office/officeart/2008/layout/LinedList"/>
    <dgm:cxn modelId="{1F254F30-1C62-468D-96ED-B2540AC9B4E9}" type="presParOf" srcId="{56D6FB22-6648-4F6C-BDBA-115847F315D9}" destId="{3DF1CB3F-F527-453B-B62B-4F78F939E16F}"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5F3A45-9F90-408B-B3FF-817E87938CE3}">
      <dsp:nvSpPr>
        <dsp:cNvPr id="0" name=""/>
        <dsp:cNvSpPr/>
      </dsp:nvSpPr>
      <dsp:spPr>
        <a:xfrm>
          <a:off x="1228" y="234244"/>
          <a:ext cx="4312517" cy="273844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5357C9-D2D8-430D-91C6-CDE0AF1CF8CC}">
      <dsp:nvSpPr>
        <dsp:cNvPr id="0" name=""/>
        <dsp:cNvSpPr/>
      </dsp:nvSpPr>
      <dsp:spPr>
        <a:xfrm>
          <a:off x="480397" y="689454"/>
          <a:ext cx="4312517" cy="273844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ctr" anchorCtr="0">
          <a:noAutofit/>
        </a:bodyPr>
        <a:lstStyle/>
        <a:p>
          <a:pPr marL="0" lvl="0" indent="0" algn="ctr" defTabSz="2133600">
            <a:lnSpc>
              <a:spcPct val="90000"/>
            </a:lnSpc>
            <a:spcBef>
              <a:spcPct val="0"/>
            </a:spcBef>
            <a:spcAft>
              <a:spcPct val="35000"/>
            </a:spcAft>
            <a:buNone/>
          </a:pPr>
          <a:r>
            <a:rPr lang="en-US" sz="4800" kern="1200" baseline="0" dirty="0"/>
            <a:t>Behaviorist Perspective</a:t>
          </a:r>
          <a:endParaRPr lang="en-US" sz="4800" kern="1200" dirty="0"/>
        </a:p>
      </dsp:txBody>
      <dsp:txXfrm>
        <a:off x="560603" y="769660"/>
        <a:ext cx="4152105" cy="2578036"/>
      </dsp:txXfrm>
    </dsp:sp>
    <dsp:sp modelId="{1D4C50C1-FA10-432A-AEC6-DE8C1B140E88}">
      <dsp:nvSpPr>
        <dsp:cNvPr id="0" name=""/>
        <dsp:cNvSpPr/>
      </dsp:nvSpPr>
      <dsp:spPr>
        <a:xfrm>
          <a:off x="5272083" y="234244"/>
          <a:ext cx="4312517" cy="273844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275BF7-C0D1-481F-83E7-59CC696CCE57}">
      <dsp:nvSpPr>
        <dsp:cNvPr id="0" name=""/>
        <dsp:cNvSpPr/>
      </dsp:nvSpPr>
      <dsp:spPr>
        <a:xfrm>
          <a:off x="5751251" y="689454"/>
          <a:ext cx="4312517" cy="273844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ctr" anchorCtr="0">
          <a:noAutofit/>
        </a:bodyPr>
        <a:lstStyle/>
        <a:p>
          <a:pPr marL="0" lvl="0" indent="0" algn="ctr" defTabSz="2133600">
            <a:lnSpc>
              <a:spcPct val="90000"/>
            </a:lnSpc>
            <a:spcBef>
              <a:spcPct val="0"/>
            </a:spcBef>
            <a:spcAft>
              <a:spcPct val="35000"/>
            </a:spcAft>
            <a:buNone/>
          </a:pPr>
          <a:r>
            <a:rPr lang="en-US" sz="4800" kern="1200" baseline="0"/>
            <a:t>Social Cognitive Perspective</a:t>
          </a:r>
          <a:endParaRPr lang="en-US" sz="4800" kern="1200"/>
        </a:p>
      </dsp:txBody>
      <dsp:txXfrm>
        <a:off x="5831457" y="769660"/>
        <a:ext cx="4152105" cy="25780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55B53E-FAF2-467A-8E8C-232D19D58917}">
      <dsp:nvSpPr>
        <dsp:cNvPr id="0" name=""/>
        <dsp:cNvSpPr/>
      </dsp:nvSpPr>
      <dsp:spPr>
        <a:xfrm rot="5400000">
          <a:off x="5807084" y="-2059181"/>
          <a:ext cx="1728251" cy="627878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0" tIns="95250" rIns="190500" bIns="95250" numCol="1" spcCol="1270" anchor="ctr" anchorCtr="0">
          <a:noAutofit/>
        </a:bodyPr>
        <a:lstStyle/>
        <a:p>
          <a:pPr marL="285750" lvl="1" indent="-285750" algn="l" defTabSz="2222500">
            <a:lnSpc>
              <a:spcPct val="90000"/>
            </a:lnSpc>
            <a:spcBef>
              <a:spcPct val="0"/>
            </a:spcBef>
            <a:spcAft>
              <a:spcPct val="15000"/>
            </a:spcAft>
            <a:buChar char="•"/>
          </a:pPr>
          <a:r>
            <a:rPr lang="en-US" sz="5000" kern="1200" baseline="0"/>
            <a:t>Hierarchy of Needs</a:t>
          </a:r>
          <a:endParaRPr lang="en-US" sz="5000" kern="1200"/>
        </a:p>
      </dsp:txBody>
      <dsp:txXfrm rot="-5400000">
        <a:off x="3531817" y="300452"/>
        <a:ext cx="6194420" cy="1559519"/>
      </dsp:txXfrm>
    </dsp:sp>
    <dsp:sp modelId="{C48978B3-0902-4162-9A3D-FCA8AB372280}">
      <dsp:nvSpPr>
        <dsp:cNvPr id="0" name=""/>
        <dsp:cNvSpPr/>
      </dsp:nvSpPr>
      <dsp:spPr>
        <a:xfrm>
          <a:off x="0" y="54"/>
          <a:ext cx="3531817" cy="216031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106680" rIns="213360" bIns="106680" numCol="1" spcCol="1270" anchor="ctr" anchorCtr="0">
          <a:noAutofit/>
        </a:bodyPr>
        <a:lstStyle/>
        <a:p>
          <a:pPr marL="0" lvl="0" indent="0" algn="ctr" defTabSz="2489200">
            <a:lnSpc>
              <a:spcPct val="90000"/>
            </a:lnSpc>
            <a:spcBef>
              <a:spcPct val="0"/>
            </a:spcBef>
            <a:spcAft>
              <a:spcPct val="35000"/>
            </a:spcAft>
            <a:buNone/>
          </a:pPr>
          <a:r>
            <a:rPr lang="en-US" sz="5600" kern="1200" baseline="0"/>
            <a:t>Abraham Maslow</a:t>
          </a:r>
          <a:endParaRPr lang="en-US" sz="5600" kern="1200"/>
        </a:p>
      </dsp:txBody>
      <dsp:txXfrm>
        <a:off x="105458" y="105512"/>
        <a:ext cx="3320901" cy="1949398"/>
      </dsp:txXfrm>
    </dsp:sp>
    <dsp:sp modelId="{5A54CD48-CFF5-442A-8B07-299792594624}">
      <dsp:nvSpPr>
        <dsp:cNvPr id="0" name=""/>
        <dsp:cNvSpPr/>
      </dsp:nvSpPr>
      <dsp:spPr>
        <a:xfrm rot="5400000">
          <a:off x="5807084" y="209148"/>
          <a:ext cx="1728251" cy="627878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0" tIns="95250" rIns="190500" bIns="95250" numCol="1" spcCol="1270" anchor="ctr" anchorCtr="0">
          <a:noAutofit/>
        </a:bodyPr>
        <a:lstStyle/>
        <a:p>
          <a:pPr marL="285750" lvl="1" indent="-285750" algn="l" defTabSz="2222500">
            <a:lnSpc>
              <a:spcPct val="90000"/>
            </a:lnSpc>
            <a:spcBef>
              <a:spcPct val="0"/>
            </a:spcBef>
            <a:spcAft>
              <a:spcPct val="15000"/>
            </a:spcAft>
            <a:buChar char="•"/>
          </a:pPr>
          <a:r>
            <a:rPr lang="en-US" sz="5000" kern="1200" baseline="0" dirty="0"/>
            <a:t>Ideal Self vs Real Self</a:t>
          </a:r>
          <a:endParaRPr lang="en-US" sz="5000" kern="1200" dirty="0"/>
        </a:p>
      </dsp:txBody>
      <dsp:txXfrm rot="-5400000">
        <a:off x="3531817" y="2568781"/>
        <a:ext cx="6194420" cy="1559519"/>
      </dsp:txXfrm>
    </dsp:sp>
    <dsp:sp modelId="{47A950CE-A052-451D-8E42-4F1305F24D52}">
      <dsp:nvSpPr>
        <dsp:cNvPr id="0" name=""/>
        <dsp:cNvSpPr/>
      </dsp:nvSpPr>
      <dsp:spPr>
        <a:xfrm>
          <a:off x="0" y="2268384"/>
          <a:ext cx="3531817" cy="216031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106680" rIns="213360" bIns="106680" numCol="1" spcCol="1270" anchor="ctr" anchorCtr="0">
          <a:noAutofit/>
        </a:bodyPr>
        <a:lstStyle/>
        <a:p>
          <a:pPr marL="0" lvl="0" indent="0" algn="ctr" defTabSz="2489200">
            <a:lnSpc>
              <a:spcPct val="90000"/>
            </a:lnSpc>
            <a:spcBef>
              <a:spcPct val="0"/>
            </a:spcBef>
            <a:spcAft>
              <a:spcPct val="35000"/>
            </a:spcAft>
            <a:buNone/>
          </a:pPr>
          <a:r>
            <a:rPr lang="en-US" sz="5600" kern="1200" baseline="0"/>
            <a:t>Carl Rogers</a:t>
          </a:r>
          <a:endParaRPr lang="en-US" sz="5600" kern="1200"/>
        </a:p>
      </dsp:txBody>
      <dsp:txXfrm>
        <a:off x="105458" y="2373842"/>
        <a:ext cx="3320901" cy="19493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CFF926-AAED-434C-9C67-06A4A65ABFFE}">
      <dsp:nvSpPr>
        <dsp:cNvPr id="0" name=""/>
        <dsp:cNvSpPr/>
      </dsp:nvSpPr>
      <dsp:spPr>
        <a:xfrm>
          <a:off x="0" y="689"/>
          <a:ext cx="491603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2CBFE1-3A31-4B58-B920-44A345ABCA2B}">
      <dsp:nvSpPr>
        <dsp:cNvPr id="0" name=""/>
        <dsp:cNvSpPr/>
      </dsp:nvSpPr>
      <dsp:spPr>
        <a:xfrm>
          <a:off x="0" y="689"/>
          <a:ext cx="4916033" cy="1128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dirty="0"/>
            <a:t>Self-report vs projective testing</a:t>
          </a:r>
        </a:p>
      </dsp:txBody>
      <dsp:txXfrm>
        <a:off x="0" y="689"/>
        <a:ext cx="4916033" cy="1128679"/>
      </dsp:txXfrm>
    </dsp:sp>
    <dsp:sp modelId="{EC74375D-79AA-4D90-8EB2-58971CB02166}">
      <dsp:nvSpPr>
        <dsp:cNvPr id="0" name=""/>
        <dsp:cNvSpPr/>
      </dsp:nvSpPr>
      <dsp:spPr>
        <a:xfrm>
          <a:off x="0" y="1129368"/>
          <a:ext cx="4916033"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354CDE-6D0A-42AB-93C1-E96897F52228}">
      <dsp:nvSpPr>
        <dsp:cNvPr id="0" name=""/>
        <dsp:cNvSpPr/>
      </dsp:nvSpPr>
      <dsp:spPr>
        <a:xfrm>
          <a:off x="0" y="1129368"/>
          <a:ext cx="4916033" cy="1128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The Minnesota Multiphasic Personality Inventory (MMPI)</a:t>
          </a:r>
        </a:p>
      </dsp:txBody>
      <dsp:txXfrm>
        <a:off x="0" y="1129368"/>
        <a:ext cx="4916033" cy="1128679"/>
      </dsp:txXfrm>
    </dsp:sp>
    <dsp:sp modelId="{4E50F212-18C4-4E93-B355-B39CE85B7716}">
      <dsp:nvSpPr>
        <dsp:cNvPr id="0" name=""/>
        <dsp:cNvSpPr/>
      </dsp:nvSpPr>
      <dsp:spPr>
        <a:xfrm>
          <a:off x="0" y="2258047"/>
          <a:ext cx="4916033"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C01199-6E13-4B6A-A023-CA7FE8EDEB0D}">
      <dsp:nvSpPr>
        <dsp:cNvPr id="0" name=""/>
        <dsp:cNvSpPr/>
      </dsp:nvSpPr>
      <dsp:spPr>
        <a:xfrm>
          <a:off x="0" y="2258047"/>
          <a:ext cx="4916033" cy="1128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dirty="0"/>
            <a:t>The Rorschach Inkblot Test</a:t>
          </a:r>
        </a:p>
      </dsp:txBody>
      <dsp:txXfrm>
        <a:off x="0" y="2258047"/>
        <a:ext cx="4916033" cy="1128679"/>
      </dsp:txXfrm>
    </dsp:sp>
    <dsp:sp modelId="{2D599DB9-E700-49BE-A9BC-A2A0A6286026}">
      <dsp:nvSpPr>
        <dsp:cNvPr id="0" name=""/>
        <dsp:cNvSpPr/>
      </dsp:nvSpPr>
      <dsp:spPr>
        <a:xfrm>
          <a:off x="0" y="3386726"/>
          <a:ext cx="4916033"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52922C-FBB5-4364-8583-86701E9AD7DD}">
      <dsp:nvSpPr>
        <dsp:cNvPr id="0" name=""/>
        <dsp:cNvSpPr/>
      </dsp:nvSpPr>
      <dsp:spPr>
        <a:xfrm>
          <a:off x="0" y="3386726"/>
          <a:ext cx="4916033" cy="1128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The Thematic Appreciation Test (TAT)</a:t>
          </a:r>
        </a:p>
      </dsp:txBody>
      <dsp:txXfrm>
        <a:off x="0" y="3386726"/>
        <a:ext cx="4916033" cy="1128679"/>
      </dsp:txXfrm>
    </dsp:sp>
    <dsp:sp modelId="{2B614F4E-C5C6-4CAA-AA67-B7F285DC644D}">
      <dsp:nvSpPr>
        <dsp:cNvPr id="0" name=""/>
        <dsp:cNvSpPr/>
      </dsp:nvSpPr>
      <dsp:spPr>
        <a:xfrm>
          <a:off x="0" y="4515405"/>
          <a:ext cx="4916033"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C47647-2549-4BAE-ACB8-35876A939755}">
      <dsp:nvSpPr>
        <dsp:cNvPr id="0" name=""/>
        <dsp:cNvSpPr/>
      </dsp:nvSpPr>
      <dsp:spPr>
        <a:xfrm>
          <a:off x="0" y="4515405"/>
          <a:ext cx="4916033" cy="1128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dirty="0"/>
            <a:t>The Rotter Incomplete Sentence Blank (RISB)</a:t>
          </a:r>
        </a:p>
      </dsp:txBody>
      <dsp:txXfrm>
        <a:off x="0" y="4515405"/>
        <a:ext cx="4916033" cy="112867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EAF03AE-1CC2-475F-B909-50970E9699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B63C45E-73BA-4C86-A24F-A5006B4E7BA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37A4CE-17BB-4BB2-AC7B-97495293E2AC}" type="datetimeFigureOut">
              <a:rPr lang="en-US" smtClean="0"/>
              <a:t>3/12/2026</a:t>
            </a:fld>
            <a:endParaRPr lang="en-US" dirty="0"/>
          </a:p>
        </p:txBody>
      </p:sp>
      <p:sp>
        <p:nvSpPr>
          <p:cNvPr id="4" name="Footer Placeholder 3">
            <a:extLst>
              <a:ext uri="{FF2B5EF4-FFF2-40B4-BE49-F238E27FC236}">
                <a16:creationId xmlns:a16="http://schemas.microsoft.com/office/drawing/2014/main" id="{D71DB874-DF6A-4AFA-8055-4AD7EE4CE3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677078F-04CB-4625-B536-5BCAA2EC6C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0EF92D-82DD-4142-BCE8-036B91487D2E}" type="slidenum">
              <a:rPr lang="en-US" smtClean="0"/>
              <a:t>‹#›</a:t>
            </a:fld>
            <a:endParaRPr lang="en-US" dirty="0"/>
          </a:p>
        </p:txBody>
      </p:sp>
    </p:spTree>
    <p:extLst>
      <p:ext uri="{BB962C8B-B14F-4D97-AF65-F5344CB8AC3E}">
        <p14:creationId xmlns:p14="http://schemas.microsoft.com/office/powerpoint/2010/main" val="7570708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86C8F5-2FDA-4718-81AA-24F4816BBD56}" type="datetimeFigureOut">
              <a:rPr lang="en-US" smtClean="0"/>
              <a:t>3/12/2026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8EC616-C518-4358-9496-6C33B2F5FA56}" type="slidenum">
              <a:rPr lang="en-US" smtClean="0"/>
              <a:t>‹#›</a:t>
            </a:fld>
            <a:endParaRPr lang="en-US" dirty="0"/>
          </a:p>
        </p:txBody>
      </p:sp>
    </p:spTree>
    <p:extLst>
      <p:ext uri="{BB962C8B-B14F-4D97-AF65-F5344CB8AC3E}">
        <p14:creationId xmlns:p14="http://schemas.microsoft.com/office/powerpoint/2010/main" val="1732322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641979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3412854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430196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80950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422855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895483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7490388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0452268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5535033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1311016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257715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1564446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8186206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5700891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5521244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522460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551322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7580505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608174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6640527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541582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6855657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706903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5536265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4392147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7894345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1A476F7-D5C8-1CEC-9F4A-86A24C0BF39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455" t="5126"/>
          <a:stretch/>
        </p:blipFill>
        <p:spPr>
          <a:xfrm>
            <a:off x="0" y="0"/>
            <a:ext cx="5423337" cy="5356522"/>
          </a:xfrm>
          <a:prstGeom prst="rect">
            <a:avLst/>
          </a:prstGeom>
        </p:spPr>
      </p:pic>
      <p:pic>
        <p:nvPicPr>
          <p:cNvPr id="3" name="Graphic 2">
            <a:extLst>
              <a:ext uri="{FF2B5EF4-FFF2-40B4-BE49-F238E27FC236}">
                <a16:creationId xmlns:a16="http://schemas.microsoft.com/office/drawing/2014/main" id="{D0CBB0B7-F53E-97B4-C0F5-2D1842F1D23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214735" y="726953"/>
            <a:ext cx="3069021" cy="2381688"/>
          </a:xfrm>
          <a:prstGeom prst="rect">
            <a:avLst/>
          </a:prstGeom>
        </p:spPr>
      </p:pic>
      <p:sp>
        <p:nvSpPr>
          <p:cNvPr id="4" name="Rectangle 3">
            <a:extLst>
              <a:ext uri="{FF2B5EF4-FFF2-40B4-BE49-F238E27FC236}">
                <a16:creationId xmlns:a16="http://schemas.microsoft.com/office/drawing/2014/main" id="{EABE1252-9BC4-8186-499A-2A7107C2945E}"/>
              </a:ext>
              <a:ext uri="{C183D7F6-B498-43B3-948B-1728B52AA6E4}">
                <adec:decorative xmlns:adec="http://schemas.microsoft.com/office/drawing/2017/decorative" val="1"/>
              </a:ext>
            </a:extLst>
          </p:cNvPr>
          <p:cNvSpPr/>
          <p:nvPr userDrawn="1"/>
        </p:nvSpPr>
        <p:spPr>
          <a:xfrm>
            <a:off x="7315203" y="0"/>
            <a:ext cx="204524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67512"/>
            <a:ext cx="5916168" cy="4873752"/>
          </a:xfrm>
          <a:prstGeom prst="rect">
            <a:avLst/>
          </a:prstGeom>
        </p:spPr>
        <p:txBody>
          <a:bodyPr anchor="b"/>
          <a:lstStyle>
            <a:lvl1pPr>
              <a:lnSpc>
                <a:spcPct val="100000"/>
              </a:lnSpc>
              <a:defRPr sz="5000" cap="all" spc="20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5568696"/>
            <a:ext cx="5276088" cy="859536"/>
          </a:xfrm>
          <a:prstGeom prst="rect">
            <a:avLst/>
          </a:prstGeom>
        </p:spPr>
        <p:txBody>
          <a:bodyPr anchor="t"/>
          <a:lstStyle>
            <a:lvl1pPr marL="0" indent="0">
              <a:buNone/>
              <a:defRPr sz="2000" b="0" i="0" spc="20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7754112" y="947737"/>
            <a:ext cx="4048124" cy="4962525"/>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2779708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FED2A3BD-B73E-1BD7-6B8B-22C9FB12483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r="27085" b="-104"/>
          <a:stretch/>
        </p:blipFill>
        <p:spPr>
          <a:xfrm rot="10800000">
            <a:off x="0" y="671161"/>
            <a:ext cx="3089740" cy="4876799"/>
          </a:xfrm>
          <a:prstGeom prst="rect">
            <a:avLst/>
          </a:prstGeom>
        </p:spPr>
      </p:pic>
      <p:sp>
        <p:nvSpPr>
          <p:cNvPr id="8" name="Rectangle 7">
            <a:extLst>
              <a:ext uri="{FF2B5EF4-FFF2-40B4-BE49-F238E27FC236}">
                <a16:creationId xmlns:a16="http://schemas.microsoft.com/office/drawing/2014/main" id="{0B3FCFB4-857F-ED0B-D469-F2A392F06BE2}"/>
              </a:ext>
              <a:ext uri="{C183D7F6-B498-43B3-948B-1728B52AA6E4}">
                <adec:decorative xmlns:adec="http://schemas.microsoft.com/office/drawing/2017/decorative" val="1"/>
              </a:ext>
            </a:extLst>
          </p:cNvPr>
          <p:cNvSpPr/>
          <p:nvPr userDrawn="1"/>
        </p:nvSpPr>
        <p:spPr>
          <a:xfrm>
            <a:off x="10142482" y="0"/>
            <a:ext cx="204951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0E0604BC-34A9-95A0-8560-88E7547176F4}"/>
              </a:ext>
              <a:ext uri="{C183D7F6-B498-43B3-948B-1728B52AA6E4}">
                <adec:decorative xmlns:adec="http://schemas.microsoft.com/office/drawing/2017/decorative" val="1"/>
              </a:ext>
            </a:extLst>
          </p:cNvPr>
          <p:cNvSpPr/>
          <p:nvPr userDrawn="1"/>
        </p:nvSpPr>
        <p:spPr>
          <a:xfrm flipH="1">
            <a:off x="9911255" y="0"/>
            <a:ext cx="45719" cy="6858000"/>
          </a:xfrm>
          <a:prstGeom prst="rect">
            <a:avLst/>
          </a:prstGeom>
          <a:solidFill>
            <a:schemeClr val="accent6">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a:extLst>
              <a:ext uri="{FF2B5EF4-FFF2-40B4-BE49-F238E27FC236}">
                <a16:creationId xmlns:a16="http://schemas.microsoft.com/office/drawing/2014/main" id="{FF2F08ED-0715-2E8A-476E-A005A7D75B5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9013145" y="4934929"/>
            <a:ext cx="1841938" cy="968936"/>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68096" y="667512"/>
            <a:ext cx="3291840" cy="5513832"/>
          </a:xfrm>
          <a:solidFill>
            <a:schemeClr val="bg1">
              <a:lumMod val="95000"/>
            </a:schemeClr>
          </a:solidFill>
        </p:spPr>
        <p:txBody>
          <a:body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239512" y="667512"/>
            <a:ext cx="4105656" cy="5568696"/>
          </a:xfrm>
          <a:solidFill>
            <a:schemeClr val="bg1">
              <a:lumMod val="95000"/>
            </a:schemeClr>
          </a:solidFill>
        </p:spPr>
        <p:txBody>
          <a:bodyPr anchor="ctr" anchorCtr="0"/>
          <a:lstStyle>
            <a:lvl1pPr>
              <a:lnSpc>
                <a:spcPct val="15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61931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image lef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248277F-DB00-5149-6533-E8AEF0BAD4D5}"/>
              </a:ext>
              <a:ext uri="{C183D7F6-B498-43B3-948B-1728B52AA6E4}">
                <adec:decorative xmlns:adec="http://schemas.microsoft.com/office/drawing/2017/decorative" val="1"/>
              </a:ext>
            </a:extLst>
          </p:cNvPr>
          <p:cNvSpPr/>
          <p:nvPr userDrawn="1"/>
        </p:nvSpPr>
        <p:spPr>
          <a:xfrm>
            <a:off x="3573518" y="0"/>
            <a:ext cx="133432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8067A69A-84EE-0E71-D053-F462EBCC8E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63520" y="655677"/>
            <a:ext cx="2438400" cy="2070100"/>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6099048" y="658368"/>
            <a:ext cx="5486400" cy="3621024"/>
          </a:xfrm>
          <a:prstGeom prst="rect">
            <a:avLst/>
          </a:prstGeom>
          <a:solidFill>
            <a:schemeClr val="bg1">
              <a:lumMod val="95000"/>
            </a:schemeClr>
          </a:solidFill>
        </p:spPr>
        <p:txBody>
          <a:bodyPr anchor="b"/>
          <a:lstStyle>
            <a:lvl1pPr>
              <a:lnSpc>
                <a:spcPct val="90000"/>
              </a:lnSpc>
              <a:defRPr sz="4800" cap="all" spc="0" baseline="0"/>
            </a:lvl1pPr>
          </a:lstStyle>
          <a:p>
            <a:r>
              <a:rPr lang="en-US" dirty="0"/>
              <a:t>Click to add title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630936" y="576072"/>
            <a:ext cx="4023360" cy="5495544"/>
          </a:xfrm>
          <a:prstGeom prst="rect">
            <a:avLst/>
          </a:prstGeom>
        </p:spPr>
        <p:txBody>
          <a:bodyPr/>
          <a:lstStyle>
            <a:lvl1pPr marL="0" indent="0" algn="ctr">
              <a:buNone/>
              <a:defRPr spc="400" baseline="0"/>
            </a:lvl1pPr>
          </a:lstStyle>
          <a:p>
            <a:r>
              <a:rPr lang="en-US" dirty="0"/>
              <a:t>Click to add photo</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6099048" y="4553712"/>
            <a:ext cx="5486400" cy="1005840"/>
          </a:xfrm>
          <a:prstGeom prst="rect">
            <a:avLst/>
          </a:prstGeom>
          <a:solidFill>
            <a:schemeClr val="bg1">
              <a:lumMod val="95000"/>
            </a:schemeClr>
          </a:solidFill>
        </p:spPr>
        <p:txBody>
          <a:bodyPr anchor="t">
            <a:normAutofit/>
          </a:bodyPr>
          <a:lstStyle>
            <a:lvl1pPr marL="0" indent="0">
              <a:buNone/>
              <a:defRPr sz="2400" b="0" i="0" spc="0" baseline="0">
                <a:solidFill>
                  <a:schemeClr val="accent4"/>
                </a:solidFill>
              </a:defRPr>
            </a:lvl1pPr>
          </a:lstStyle>
          <a:p>
            <a:pPr lvl="0"/>
            <a:r>
              <a:rPr lang="en-US" dirty="0"/>
              <a:t>Click to add name</a:t>
            </a:r>
          </a:p>
        </p:txBody>
      </p:sp>
    </p:spTree>
    <p:extLst>
      <p:ext uri="{BB962C8B-B14F-4D97-AF65-F5344CB8AC3E}">
        <p14:creationId xmlns:p14="http://schemas.microsoft.com/office/powerpoint/2010/main" val="3451331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17B23C3-2F98-4465-21EA-A49296DA1F6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r="27085" b="-104"/>
          <a:stretch/>
        </p:blipFill>
        <p:spPr>
          <a:xfrm rot="5400000">
            <a:off x="7746274" y="2898378"/>
            <a:ext cx="3089740" cy="4876799"/>
          </a:xfrm>
          <a:prstGeom prst="rect">
            <a:avLst/>
          </a:prstGeom>
        </p:spPr>
      </p:pic>
      <p:sp>
        <p:nvSpPr>
          <p:cNvPr id="8" name="Rectangle 7">
            <a:extLst>
              <a:ext uri="{FF2B5EF4-FFF2-40B4-BE49-F238E27FC236}">
                <a16:creationId xmlns:a16="http://schemas.microsoft.com/office/drawing/2014/main" id="{3397A4D6-9D7A-63FE-63C9-A585FFE05579}"/>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77240" y="365760"/>
            <a:ext cx="10149840"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777240" y="2093976"/>
            <a:ext cx="4370832" cy="3776472"/>
          </a:xfrm>
          <a:solidFill>
            <a:schemeClr val="bg1">
              <a:lumMod val="95000"/>
            </a:schemeClr>
          </a:solidFill>
        </p:spPr>
        <p:txBody>
          <a:bodyPr rIns="45720"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33A182AF-83EB-0BA6-3ADD-B49BDD9E37ED}"/>
              </a:ext>
            </a:extLst>
          </p:cNvPr>
          <p:cNvSpPr>
            <a:spLocks noGrp="1"/>
          </p:cNvSpPr>
          <p:nvPr>
            <p:ph idx="13"/>
          </p:nvPr>
        </p:nvSpPr>
        <p:spPr>
          <a:xfrm>
            <a:off x="6099048" y="2112264"/>
            <a:ext cx="4370832" cy="3776472"/>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0637861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content, and image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E7C8AFE-E640-9C6A-F20C-CDE1D4EF5745}"/>
              </a:ext>
              <a:ext uri="{C183D7F6-B498-43B3-948B-1728B52AA6E4}">
                <adec:decorative xmlns:adec="http://schemas.microsoft.com/office/drawing/2017/decorative" val="1"/>
              </a:ext>
            </a:extLst>
          </p:cNvPr>
          <p:cNvSpPr/>
          <p:nvPr userDrawn="1"/>
        </p:nvSpPr>
        <p:spPr>
          <a:xfrm>
            <a:off x="9627476" y="0"/>
            <a:ext cx="133432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a:extLst>
              <a:ext uri="{FF2B5EF4-FFF2-40B4-BE49-F238E27FC236}">
                <a16:creationId xmlns:a16="http://schemas.microsoft.com/office/drawing/2014/main" id="{31CF2607-B5C7-9992-C51D-DD5E7FC5FB3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279827" y="3157140"/>
            <a:ext cx="2438400" cy="2070100"/>
          </a:xfrm>
          <a:prstGeom prst="rect">
            <a:avLst/>
          </a:prstGeom>
        </p:spPr>
      </p:pic>
      <p:pic>
        <p:nvPicPr>
          <p:cNvPr id="4" name="Graphic 3">
            <a:extLst>
              <a:ext uri="{FF2B5EF4-FFF2-40B4-BE49-F238E27FC236}">
                <a16:creationId xmlns:a16="http://schemas.microsoft.com/office/drawing/2014/main" id="{6D2F83CD-8345-462A-4412-5A54CB1FDDE3}"/>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8916"/>
          <a:stretch/>
        </p:blipFill>
        <p:spPr>
          <a:xfrm>
            <a:off x="0" y="3950466"/>
            <a:ext cx="3005804" cy="2224362"/>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85800"/>
            <a:ext cx="5486400" cy="3383280"/>
          </a:xfrm>
          <a:prstGeom prst="rect">
            <a:avLst/>
          </a:prstGeom>
          <a:solidFill>
            <a:schemeClr val="bg1">
              <a:lumMod val="95000"/>
            </a:schemeClr>
          </a:solidFill>
        </p:spPr>
        <p:txBody>
          <a:bodyPr anchor="b"/>
          <a:lstStyle>
            <a:lvl1pPr>
              <a:lnSpc>
                <a:spcPct val="90000"/>
              </a:lnSpc>
              <a:defRPr sz="4800" cap="all" spc="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4343400"/>
            <a:ext cx="5486400" cy="1005840"/>
          </a:xfrm>
          <a:prstGeom prst="rect">
            <a:avLst/>
          </a:prstGeom>
          <a:solidFill>
            <a:schemeClr val="tx1">
              <a:alpha val="5000"/>
            </a:schemeClr>
          </a:solidFill>
        </p:spPr>
        <p:txBody>
          <a:bodyPr anchor="t">
            <a:normAutofit/>
          </a:bodyPr>
          <a:lstStyle>
            <a:lvl1pPr marL="0" indent="0">
              <a:buNone/>
              <a:defRPr sz="2400" b="0" i="0" spc="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6684264" y="576072"/>
            <a:ext cx="4023360" cy="5495544"/>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1306737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97A4D6-9D7A-63FE-63C9-A585FFE05579}"/>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777240" y="2093976"/>
            <a:ext cx="3419856" cy="3776472"/>
          </a:xfrm>
          <a:solidFill>
            <a:schemeClr val="tx1">
              <a:alpha val="5000"/>
            </a:schemeClr>
          </a:solidFill>
        </p:spPr>
        <p:txBody>
          <a:bodyPr rIns="45720" anchor="t" anchorCtr="0">
            <a:normAutofit/>
          </a:bodyPr>
          <a:lstStyle>
            <a:lvl1pPr>
              <a:spcAft>
                <a:spcPts val="1800"/>
              </a:spcAft>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33A182AF-83EB-0BA6-3ADD-B49BDD9E37ED}"/>
              </a:ext>
            </a:extLst>
          </p:cNvPr>
          <p:cNvSpPr>
            <a:spLocks noGrp="1"/>
          </p:cNvSpPr>
          <p:nvPr>
            <p:ph idx="13"/>
          </p:nvPr>
        </p:nvSpPr>
        <p:spPr>
          <a:xfrm>
            <a:off x="4864608" y="2093976"/>
            <a:ext cx="6382512" cy="3749040"/>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pic>
        <p:nvPicPr>
          <p:cNvPr id="10" name="Graphic 9">
            <a:extLst>
              <a:ext uri="{FF2B5EF4-FFF2-40B4-BE49-F238E27FC236}">
                <a16:creationId xmlns:a16="http://schemas.microsoft.com/office/drawing/2014/main" id="{CB897DD0-4462-B31B-50A9-D399FD0F589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3529"/>
          <a:stretch/>
        </p:blipFill>
        <p:spPr>
          <a:xfrm>
            <a:off x="3815" y="4389845"/>
            <a:ext cx="5024198" cy="2463772"/>
          </a:xfrm>
          <a:prstGeom prst="rect">
            <a:avLst/>
          </a:prstGeom>
        </p:spPr>
      </p:pic>
    </p:spTree>
    <p:extLst>
      <p:ext uri="{BB962C8B-B14F-4D97-AF65-F5344CB8AC3E}">
        <p14:creationId xmlns:p14="http://schemas.microsoft.com/office/powerpoint/2010/main" val="3645425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5EA319-BD06-493B-D1CD-EC2AF739443B}"/>
              </a:ext>
              <a:ext uri="{C183D7F6-B498-43B3-948B-1728B52AA6E4}">
                <adec:decorative xmlns:adec="http://schemas.microsoft.com/office/drawing/2017/decorative" val="1"/>
              </a:ext>
            </a:extLst>
          </p:cNvPr>
          <p:cNvSpPr/>
          <p:nvPr userDrawn="1"/>
        </p:nvSpPr>
        <p:spPr>
          <a:xfrm>
            <a:off x="7547991" y="0"/>
            <a:ext cx="1703832"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8560446E-E817-5E2A-D76A-43A4168EF19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7246669" y="4842646"/>
            <a:ext cx="1611949" cy="1853259"/>
          </a:xfrm>
          <a:prstGeom prst="rect">
            <a:avLst/>
          </a:prstGeom>
        </p:spPr>
      </p:pic>
      <p:sp>
        <p:nvSpPr>
          <p:cNvPr id="10" name="Title 1">
            <a:extLst>
              <a:ext uri="{FF2B5EF4-FFF2-40B4-BE49-F238E27FC236}">
                <a16:creationId xmlns:a16="http://schemas.microsoft.com/office/drawing/2014/main" id="{17DC846D-C40C-085A-6A57-EBD733E9C244}"/>
              </a:ext>
            </a:extLst>
          </p:cNvPr>
          <p:cNvSpPr>
            <a:spLocks noGrp="1"/>
          </p:cNvSpPr>
          <p:nvPr>
            <p:ph type="title"/>
          </p:nvPr>
        </p:nvSpPr>
        <p:spPr>
          <a:xfrm>
            <a:off x="777240" y="365760"/>
            <a:ext cx="6291072" cy="2670048"/>
          </a:xfrm>
          <a:solidFill>
            <a:schemeClr val="bg1">
              <a:lumMod val="95000"/>
            </a:schemeClr>
          </a:solidFill>
        </p:spPr>
        <p:txBody>
          <a:bodyPr/>
          <a:lstStyle>
            <a:lvl1pPr>
              <a:defRPr baseline="0"/>
            </a:lvl1pPr>
          </a:lstStyle>
          <a:p>
            <a:r>
              <a:rPr lang="en-US"/>
              <a:t>Click to edit Master title style</a:t>
            </a:r>
            <a:endParaRPr lang="en-US" dirty="0"/>
          </a:p>
        </p:txBody>
      </p:sp>
      <p:sp>
        <p:nvSpPr>
          <p:cNvPr id="11" name="Content Placeholder 2">
            <a:extLst>
              <a:ext uri="{FF2B5EF4-FFF2-40B4-BE49-F238E27FC236}">
                <a16:creationId xmlns:a16="http://schemas.microsoft.com/office/drawing/2014/main" id="{0F5F674E-A7FF-FC97-AC6B-9E98247F633F}"/>
              </a:ext>
            </a:extLst>
          </p:cNvPr>
          <p:cNvSpPr>
            <a:spLocks noGrp="1"/>
          </p:cNvSpPr>
          <p:nvPr>
            <p:ph idx="1"/>
          </p:nvPr>
        </p:nvSpPr>
        <p:spPr>
          <a:xfrm>
            <a:off x="777240" y="3346704"/>
            <a:ext cx="6016752" cy="2670048"/>
          </a:xfrm>
          <a:solidFill>
            <a:schemeClr val="bg1">
              <a:lumMod val="95000"/>
            </a:schemeClr>
          </a:solidFill>
        </p:spPr>
        <p:txBody>
          <a:bodyPr rIns="45720"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10">
            <a:extLst>
              <a:ext uri="{FF2B5EF4-FFF2-40B4-BE49-F238E27FC236}">
                <a16:creationId xmlns:a16="http://schemas.microsoft.com/office/drawing/2014/main" id="{F3752326-0FB4-41C5-2D91-5CBFDC2DAD85}"/>
              </a:ext>
            </a:extLst>
          </p:cNvPr>
          <p:cNvSpPr>
            <a:spLocks noGrp="1"/>
          </p:cNvSpPr>
          <p:nvPr>
            <p:ph type="pic" sz="quarter" idx="13" hasCustomPrompt="1"/>
          </p:nvPr>
        </p:nvSpPr>
        <p:spPr>
          <a:xfrm>
            <a:off x="7818120" y="950976"/>
            <a:ext cx="4050792" cy="4965192"/>
          </a:xfrm>
          <a:prstGeom prst="rect">
            <a:avLst/>
          </a:prstGeom>
        </p:spPr>
        <p:txBody>
          <a:bodyPr/>
          <a:lstStyle>
            <a:lvl1pPr marL="0" indent="0" algn="ctr">
              <a:buNone/>
              <a:defRPr spc="400" baseline="0"/>
            </a:lvl1pPr>
          </a:lstStyle>
          <a:p>
            <a:r>
              <a:rPr lang="en-US" dirty="0"/>
              <a:t>Click to add photo</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4271592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14BC85D4-4139-2AAA-166E-6FBA095A8B1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455" t="5126"/>
          <a:stretch/>
        </p:blipFill>
        <p:spPr>
          <a:xfrm>
            <a:off x="0" y="1729776"/>
            <a:ext cx="5423337" cy="5356522"/>
          </a:xfrm>
          <a:prstGeom prst="rect">
            <a:avLst/>
          </a:prstGeom>
        </p:spPr>
      </p:pic>
      <p:sp>
        <p:nvSpPr>
          <p:cNvPr id="13" name="Rectangle 12">
            <a:extLst>
              <a:ext uri="{FF2B5EF4-FFF2-40B4-BE49-F238E27FC236}">
                <a16:creationId xmlns:a16="http://schemas.microsoft.com/office/drawing/2014/main" id="{A931BC73-A262-809F-6027-25B33F16B5F3}"/>
              </a:ext>
              <a:ext uri="{C183D7F6-B498-43B3-948B-1728B52AA6E4}">
                <adec:decorative xmlns:adec="http://schemas.microsoft.com/office/drawing/2017/decorative" val="1"/>
              </a:ext>
            </a:extLst>
          </p:cNvPr>
          <p:cNvSpPr/>
          <p:nvPr userDrawn="1"/>
        </p:nvSpPr>
        <p:spPr>
          <a:xfrm>
            <a:off x="10941270" y="0"/>
            <a:ext cx="1250729"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FAEA2C9-0142-1847-0FE5-307C101C610D}"/>
              </a:ext>
              <a:ext uri="{C183D7F6-B498-43B3-948B-1728B52AA6E4}">
                <adec:decorative xmlns:adec="http://schemas.microsoft.com/office/drawing/2017/decorative" val="1"/>
              </a:ext>
            </a:extLst>
          </p:cNvPr>
          <p:cNvSpPr/>
          <p:nvPr userDrawn="1"/>
        </p:nvSpPr>
        <p:spPr>
          <a:xfrm flipH="1">
            <a:off x="10683241" y="0"/>
            <a:ext cx="45719" cy="6858000"/>
          </a:xfrm>
          <a:prstGeom prst="rect">
            <a:avLst/>
          </a:prstGeom>
          <a:solidFill>
            <a:schemeClr val="accent6">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
            <a:extLst>
              <a:ext uri="{FF2B5EF4-FFF2-40B4-BE49-F238E27FC236}">
                <a16:creationId xmlns:a16="http://schemas.microsoft.com/office/drawing/2014/main" id="{6007DF4F-A4F8-98C7-5975-55CBED0DB375}"/>
              </a:ext>
            </a:extLst>
          </p:cNvPr>
          <p:cNvSpPr>
            <a:spLocks noGrp="1"/>
          </p:cNvSpPr>
          <p:nvPr>
            <p:ph type="title"/>
          </p:nvPr>
        </p:nvSpPr>
        <p:spPr>
          <a:xfrm>
            <a:off x="777240" y="667512"/>
            <a:ext cx="3621024" cy="5513832"/>
          </a:xfrm>
          <a:solidFill>
            <a:schemeClr val="bg1">
              <a:lumMod val="95000"/>
            </a:schemeClr>
          </a:solidFill>
        </p:spPr>
        <p:txBody>
          <a:bodyPr/>
          <a:lstStyle/>
          <a:p>
            <a:r>
              <a:rPr lang="en-US"/>
              <a:t>Click to edit Master title style</a:t>
            </a:r>
          </a:p>
        </p:txBody>
      </p:sp>
      <p:sp>
        <p:nvSpPr>
          <p:cNvPr id="16" name="Content Placeholder 2">
            <a:extLst>
              <a:ext uri="{FF2B5EF4-FFF2-40B4-BE49-F238E27FC236}">
                <a16:creationId xmlns:a16="http://schemas.microsoft.com/office/drawing/2014/main" id="{659D4968-2C08-763C-19C6-59134968556A}"/>
              </a:ext>
            </a:extLst>
          </p:cNvPr>
          <p:cNvSpPr>
            <a:spLocks noGrp="1"/>
          </p:cNvSpPr>
          <p:nvPr>
            <p:ph idx="1"/>
          </p:nvPr>
        </p:nvSpPr>
        <p:spPr>
          <a:xfrm>
            <a:off x="4846320" y="1161288"/>
            <a:ext cx="5276088" cy="4535424"/>
          </a:xfrm>
          <a:solidFill>
            <a:schemeClr val="bg1">
              <a:lumMod val="95000"/>
            </a:schemeClr>
          </a:solidFill>
        </p:spPr>
        <p:txBody>
          <a:bodyPr anchor="t" anchorCtr="0">
            <a:normAutofit/>
          </a:bodyPr>
          <a:lstStyle>
            <a:lvl1pPr marL="457200" indent="-457200">
              <a:lnSpc>
                <a:spcPct val="80000"/>
              </a:lnSpc>
              <a:spcAft>
                <a:spcPts val="1800"/>
              </a:spcAft>
              <a:buFont typeface="+mj-lt"/>
              <a:buAutoNum type="arabicPeriod"/>
              <a:defRPr sz="2000"/>
            </a:lvl1pPr>
            <a:lvl2pPr marL="914400" indent="-457200">
              <a:buFont typeface="+mj-lt"/>
              <a:buAutoNum type="alphaLcPeriod"/>
              <a:defRPr sz="1800"/>
            </a:lvl2pPr>
            <a:lvl3pPr marL="1371600" indent="-457200">
              <a:buFont typeface="+mj-lt"/>
              <a:buAutoNum type="arabicParenR"/>
              <a:defRPr sz="1600"/>
            </a:lvl3pPr>
            <a:lvl4pPr marL="1714500" indent="-342900">
              <a:buFont typeface="+mj-lt"/>
              <a:buAutoNum type="alphaLcParenR"/>
              <a:defRPr sz="1400"/>
            </a:lvl4pPr>
            <a:lvl5pPr marL="2228850" indent="-400050">
              <a:buFont typeface="+mj-lt"/>
              <a:buAutoNum type="romanL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141534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F0B854-EF27-FB51-FED5-D9C462D789D0}"/>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7AAF96D3-D3E2-FEAC-EE69-279502A579CE}"/>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FFA9ADD0-45A7-DB71-D010-70B5B174CC7B}"/>
              </a:ext>
            </a:extLst>
          </p:cNvPr>
          <p:cNvSpPr>
            <a:spLocks noGrp="1"/>
          </p:cNvSpPr>
          <p:nvPr>
            <p:ph idx="1"/>
          </p:nvPr>
        </p:nvSpPr>
        <p:spPr>
          <a:xfrm>
            <a:off x="777240" y="2093976"/>
            <a:ext cx="2880360" cy="3776472"/>
          </a:xfrm>
          <a:solidFill>
            <a:schemeClr val="tx1">
              <a:alpha val="5000"/>
            </a:schemeClr>
          </a:solidFill>
        </p:spPr>
        <p:txBody>
          <a:bodyPr rIns="45720" anchor="t" anchorCtr="0">
            <a:normAutofit/>
          </a:bodyPr>
          <a:lstStyle>
            <a:lvl1pPr>
              <a:spcAft>
                <a:spcPts val="1800"/>
              </a:spcAft>
              <a:defRPr sz="20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a:extLst>
              <a:ext uri="{FF2B5EF4-FFF2-40B4-BE49-F238E27FC236}">
                <a16:creationId xmlns:a16="http://schemas.microsoft.com/office/drawing/2014/main" id="{D4ECD368-DD7D-CC8B-3678-D0BFE829181C}"/>
              </a:ext>
            </a:extLst>
          </p:cNvPr>
          <p:cNvSpPr>
            <a:spLocks noGrp="1"/>
          </p:cNvSpPr>
          <p:nvPr>
            <p:ph idx="13"/>
          </p:nvPr>
        </p:nvSpPr>
        <p:spPr>
          <a:xfrm>
            <a:off x="4261104" y="2093976"/>
            <a:ext cx="6967728" cy="4014216"/>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35964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83F9824-10E6-81A0-0A31-9658CC0091BE}"/>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C3002FB0-0A62-2FA3-FB8D-3275F1072D07}"/>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4B5BF220-87F8-C1D3-102B-15C9BF2EE478}"/>
              </a:ext>
            </a:extLst>
          </p:cNvPr>
          <p:cNvSpPr>
            <a:spLocks noGrp="1"/>
          </p:cNvSpPr>
          <p:nvPr>
            <p:ph idx="13"/>
          </p:nvPr>
        </p:nvSpPr>
        <p:spPr>
          <a:xfrm>
            <a:off x="804672" y="2093976"/>
            <a:ext cx="10469880" cy="4014216"/>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91047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E4764D-8226-78DF-9303-299C95FA31F7}"/>
              </a:ext>
              <a:ext uri="{C183D7F6-B498-43B3-948B-1728B52AA6E4}">
                <adec:decorative xmlns:adec="http://schemas.microsoft.com/office/drawing/2017/decorative" val="1"/>
              </a:ext>
            </a:extLst>
          </p:cNvPr>
          <p:cNvSpPr/>
          <p:nvPr userDrawn="1"/>
        </p:nvSpPr>
        <p:spPr>
          <a:xfrm>
            <a:off x="3598984" y="0"/>
            <a:ext cx="133643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a:extLst>
              <a:ext uri="{FF2B5EF4-FFF2-40B4-BE49-F238E27FC236}">
                <a16:creationId xmlns:a16="http://schemas.microsoft.com/office/drawing/2014/main" id="{77C27D79-5B49-F06F-29C2-BF642952740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353477" y="5154421"/>
            <a:ext cx="3279227" cy="1229710"/>
          </a:xfrm>
          <a:prstGeom prst="rect">
            <a:avLst/>
          </a:prstGeom>
        </p:spPr>
      </p:pic>
      <p:pic>
        <p:nvPicPr>
          <p:cNvPr id="11" name="Graphic 10">
            <a:extLst>
              <a:ext uri="{FF2B5EF4-FFF2-40B4-BE49-F238E27FC236}">
                <a16:creationId xmlns:a16="http://schemas.microsoft.com/office/drawing/2014/main" id="{1545B34A-525D-FD4C-2384-D583B495C03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5455" t="5126"/>
          <a:stretch/>
        </p:blipFill>
        <p:spPr>
          <a:xfrm flipH="1">
            <a:off x="6768663" y="1729776"/>
            <a:ext cx="5423337" cy="5356522"/>
          </a:xfrm>
          <a:prstGeom prst="rect">
            <a:avLst/>
          </a:prstGeom>
        </p:spPr>
      </p:pic>
      <p:sp>
        <p:nvSpPr>
          <p:cNvPr id="7" name="Title 6">
            <a:extLst>
              <a:ext uri="{FF2B5EF4-FFF2-40B4-BE49-F238E27FC236}">
                <a16:creationId xmlns:a16="http://schemas.microsoft.com/office/drawing/2014/main" id="{1B59FA15-E93F-D07D-D82B-86E08C540E92}"/>
              </a:ext>
            </a:extLst>
          </p:cNvPr>
          <p:cNvSpPr>
            <a:spLocks noGrp="1"/>
          </p:cNvSpPr>
          <p:nvPr>
            <p:ph type="title" hasCustomPrompt="1"/>
          </p:nvPr>
        </p:nvSpPr>
        <p:spPr>
          <a:xfrm>
            <a:off x="5632704" y="795528"/>
            <a:ext cx="6099048" cy="5120640"/>
          </a:xfrm>
          <a:prstGeom prst="rect">
            <a:avLst/>
          </a:prstGeom>
          <a:solidFill>
            <a:schemeClr val="tx1">
              <a:alpha val="5000"/>
            </a:schemeClr>
          </a:solidFill>
        </p:spPr>
        <p:txBody>
          <a:bodyPr anchor="ctr"/>
          <a:lstStyle>
            <a:lvl1pPr>
              <a:lnSpc>
                <a:spcPct val="90000"/>
              </a:lnSpc>
              <a:defRPr sz="4800" cap="all" spc="0" baseline="0"/>
            </a:lvl1pPr>
          </a:lstStyle>
          <a:p>
            <a:r>
              <a:rPr lang="en-US" dirty="0"/>
              <a:t>Click to add title</a:t>
            </a:r>
          </a:p>
        </p:txBody>
      </p:sp>
      <p:sp>
        <p:nvSpPr>
          <p:cNvPr id="8" name="Picture Placeholder 10">
            <a:extLst>
              <a:ext uri="{FF2B5EF4-FFF2-40B4-BE49-F238E27FC236}">
                <a16:creationId xmlns:a16="http://schemas.microsoft.com/office/drawing/2014/main" id="{4F1B2B40-3852-2BC5-AA67-3AC0C94B5350}"/>
              </a:ext>
            </a:extLst>
          </p:cNvPr>
          <p:cNvSpPr>
            <a:spLocks noGrp="1"/>
          </p:cNvSpPr>
          <p:nvPr>
            <p:ph type="pic" sz="quarter" idx="13" hasCustomPrompt="1"/>
          </p:nvPr>
        </p:nvSpPr>
        <p:spPr>
          <a:xfrm>
            <a:off x="576072" y="950976"/>
            <a:ext cx="4050792" cy="4965192"/>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4185421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4">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6177962F-BF83-8BF0-521C-AC2FE18512C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r="27085" b="-104"/>
          <a:stretch/>
        </p:blipFill>
        <p:spPr>
          <a:xfrm rot="5400000">
            <a:off x="7746274" y="2898378"/>
            <a:ext cx="3089740" cy="4876799"/>
          </a:xfrm>
          <a:prstGeom prst="rect">
            <a:avLst/>
          </a:prstGeom>
        </p:spPr>
      </p:pic>
      <p:sp>
        <p:nvSpPr>
          <p:cNvPr id="7" name="Rectangle 6">
            <a:extLst>
              <a:ext uri="{FF2B5EF4-FFF2-40B4-BE49-F238E27FC236}">
                <a16:creationId xmlns:a16="http://schemas.microsoft.com/office/drawing/2014/main" id="{5D003ACC-3116-807F-81D2-E8057D4C2C0F}"/>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B43485B2-AA3A-87CC-3B1B-A193C6EB5985}"/>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16EF9689-52F4-4A6F-BEAC-E0B840C117B5}"/>
              </a:ext>
            </a:extLst>
          </p:cNvPr>
          <p:cNvSpPr>
            <a:spLocks noGrp="1"/>
          </p:cNvSpPr>
          <p:nvPr>
            <p:ph idx="1"/>
          </p:nvPr>
        </p:nvSpPr>
        <p:spPr>
          <a:xfrm>
            <a:off x="777240" y="2093976"/>
            <a:ext cx="5833872" cy="3776472"/>
          </a:xfrm>
          <a:solidFill>
            <a:schemeClr val="bg1">
              <a:lumMod val="95000"/>
            </a:schemeClr>
          </a:solidFill>
        </p:spPr>
        <p:txBody>
          <a:bodyPr rIns="91440" anchor="t" anchorCtr="0">
            <a:normAutofit/>
          </a:bodyPr>
          <a:lstStyle>
            <a:lvl1pPr marL="457200" indent="-457200">
              <a:spcAft>
                <a:spcPts val="1800"/>
              </a:spcAft>
              <a:buFont typeface="+mj-lt"/>
              <a:buAutoNum type="arabicPeriod"/>
              <a:defRPr sz="2000"/>
            </a:lvl1pPr>
            <a:lvl2pPr marL="914400" indent="-457200">
              <a:buFont typeface="+mj-lt"/>
              <a:buAutoNum type="alphaLcPeriod"/>
              <a:defRPr sz="1800"/>
            </a:lvl2pPr>
            <a:lvl3pPr marL="1371600" indent="-457200">
              <a:buFont typeface="+mj-lt"/>
              <a:buAutoNum type="arabicParenR"/>
              <a:defRPr sz="1600"/>
            </a:lvl3pPr>
            <a:lvl4pPr marL="1828800" indent="-457200">
              <a:buFont typeface="+mj-lt"/>
              <a:buAutoNum type="alphaLcParenR"/>
              <a:defRPr sz="1400"/>
            </a:lvl4pPr>
            <a:lvl5pPr marL="2286000" indent="-457200">
              <a:buFont typeface="+mj-lt"/>
              <a:buAutoNum type="romanL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a:extLst>
              <a:ext uri="{FF2B5EF4-FFF2-40B4-BE49-F238E27FC236}">
                <a16:creationId xmlns:a16="http://schemas.microsoft.com/office/drawing/2014/main" id="{DB532826-83B5-DC67-7DDB-45FD78E830A1}"/>
              </a:ext>
            </a:extLst>
          </p:cNvPr>
          <p:cNvSpPr>
            <a:spLocks noGrp="1"/>
          </p:cNvSpPr>
          <p:nvPr>
            <p:ph idx="13"/>
          </p:nvPr>
        </p:nvSpPr>
        <p:spPr>
          <a:xfrm>
            <a:off x="7306056" y="2093976"/>
            <a:ext cx="3172968" cy="3776472"/>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421904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647051E-220B-9586-3E85-05AF9DC9B680}"/>
              </a:ext>
              <a:ext uri="{C183D7F6-B498-43B3-948B-1728B52AA6E4}">
                <adec:decorative xmlns:adec="http://schemas.microsoft.com/office/drawing/2017/decorative" val="1"/>
              </a:ext>
            </a:extLst>
          </p:cNvPr>
          <p:cNvSpPr/>
          <p:nvPr userDrawn="1"/>
        </p:nvSpPr>
        <p:spPr>
          <a:xfrm>
            <a:off x="7315203" y="0"/>
            <a:ext cx="204524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68FA6629-B230-F528-AAE3-D182D963F05E}"/>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r="27085" b="-104"/>
          <a:stretch/>
        </p:blipFill>
        <p:spPr>
          <a:xfrm rot="10800000">
            <a:off x="0" y="671161"/>
            <a:ext cx="3089740" cy="4876799"/>
          </a:xfrm>
          <a:prstGeom prst="rect">
            <a:avLst/>
          </a:prstGeom>
        </p:spPr>
      </p:pic>
      <p:pic>
        <p:nvPicPr>
          <p:cNvPr id="8" name="Graphic 7">
            <a:extLst>
              <a:ext uri="{FF2B5EF4-FFF2-40B4-BE49-F238E27FC236}">
                <a16:creationId xmlns:a16="http://schemas.microsoft.com/office/drawing/2014/main" id="{7FA0390C-256A-CE3C-1348-C39DBAE01D8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237644" y="655677"/>
            <a:ext cx="2438400" cy="2070100"/>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67512"/>
            <a:ext cx="5916168" cy="3666744"/>
          </a:xfrm>
          <a:prstGeom prst="rect">
            <a:avLst/>
          </a:prstGeom>
        </p:spPr>
        <p:txBody>
          <a:bodyPr anchor="b">
            <a:normAutofit/>
          </a:bodyPr>
          <a:lstStyle>
            <a:lvl1pPr>
              <a:lnSpc>
                <a:spcPct val="100000"/>
              </a:lnSpc>
              <a:defRPr sz="4800" cap="all" spc="20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4636008"/>
            <a:ext cx="5276088" cy="1554480"/>
          </a:xfrm>
          <a:prstGeom prst="rect">
            <a:avLst/>
          </a:prstGeom>
        </p:spPr>
        <p:txBody>
          <a:bodyPr anchor="t"/>
          <a:lstStyle>
            <a:lvl1pPr marL="0" indent="0">
              <a:spcAft>
                <a:spcPts val="600"/>
              </a:spcAft>
              <a:buNone/>
              <a:defRPr sz="2000" b="0" i="0" spc="20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7754112" y="947737"/>
            <a:ext cx="4023360" cy="4962525"/>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553565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3FB4E19-B10C-43FA-AB4B-5D0396BD64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cap="all" spc="150" baseline="0">
                <a:solidFill>
                  <a:schemeClr val="accent4">
                    <a:lumMod val="75000"/>
                  </a:schemeClr>
                </a:solidFill>
              </a:defRPr>
            </a:lvl1pPr>
          </a:lstStyle>
          <a:p>
            <a:r>
              <a:rPr lang="en-US" dirty="0"/>
              <a:t>20XX</a:t>
            </a:r>
          </a:p>
        </p:txBody>
      </p:sp>
      <p:sp>
        <p:nvSpPr>
          <p:cNvPr id="5" name="Footer Placeholder 4">
            <a:extLst>
              <a:ext uri="{FF2B5EF4-FFF2-40B4-BE49-F238E27FC236}">
                <a16:creationId xmlns:a16="http://schemas.microsoft.com/office/drawing/2014/main" id="{3E5C552B-0CAD-4920-B258-233A9F86DF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cap="all" spc="150" baseline="0">
                <a:solidFill>
                  <a:schemeClr val="accent4">
                    <a:lumMod val="75000"/>
                  </a:schemeClr>
                </a:solidFill>
              </a:defRPr>
            </a:lvl1pPr>
          </a:lstStyle>
          <a:p>
            <a:endParaRPr lang="en-US" dirty="0"/>
          </a:p>
        </p:txBody>
      </p:sp>
      <p:sp>
        <p:nvSpPr>
          <p:cNvPr id="6" name="Slide Number Placeholder 5">
            <a:extLst>
              <a:ext uri="{FF2B5EF4-FFF2-40B4-BE49-F238E27FC236}">
                <a16:creationId xmlns:a16="http://schemas.microsoft.com/office/drawing/2014/main" id="{CE983FFB-15A3-4B11-A130-4565577A3F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cap="all" spc="150" baseline="0">
                <a:solidFill>
                  <a:schemeClr val="accent4">
                    <a:lumMod val="75000"/>
                  </a:schemeClr>
                </a:solidFill>
              </a:defRPr>
            </a:lvl1pPr>
          </a:lstStyle>
          <a:p>
            <a:fld id="{F91729D4-A164-47A3-830D-E792BCE699E4}" type="slidenum">
              <a:rPr lang="en-US" smtClean="0"/>
              <a:pPr/>
              <a:t>‹#›</a:t>
            </a:fld>
            <a:endParaRPr lang="en-US" dirty="0"/>
          </a:p>
        </p:txBody>
      </p:sp>
      <p:sp>
        <p:nvSpPr>
          <p:cNvPr id="2" name="Title Placeholder 1">
            <a:extLst>
              <a:ext uri="{FF2B5EF4-FFF2-40B4-BE49-F238E27FC236}">
                <a16:creationId xmlns:a16="http://schemas.microsoft.com/office/drawing/2014/main" id="{7575F976-A881-DB46-9D98-9D55727C19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9C7589-D4CD-50AB-9AA4-198FD4932D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71090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6" r:id="rId3"/>
    <p:sldLayoutId id="2147483675" r:id="rId4"/>
    <p:sldLayoutId id="2147483683" r:id="rId5"/>
    <p:sldLayoutId id="2147483684" r:id="rId6"/>
    <p:sldLayoutId id="2147483677" r:id="rId7"/>
    <p:sldLayoutId id="2147483678" r:id="rId8"/>
    <p:sldLayoutId id="2147483679" r:id="rId9"/>
    <p:sldLayoutId id="2147483680" r:id="rId10"/>
    <p:sldLayoutId id="2147483681" r:id="rId11"/>
    <p:sldLayoutId id="2147483682" r:id="rId12"/>
    <p:sldLayoutId id="2147483685" r:id="rId13"/>
  </p:sldLayoutIdLst>
  <p:hf hdr="0" ftr="0" dt="0"/>
  <p:txStyles>
    <p:titleStyle>
      <a:lvl1pPr algn="l" defTabSz="914400" rtl="0" eaLnBrk="1" latinLnBrk="0" hangingPunct="1">
        <a:lnSpc>
          <a:spcPct val="90000"/>
        </a:lnSpc>
        <a:spcBef>
          <a:spcPct val="0"/>
        </a:spcBef>
        <a:buNone/>
        <a:defRPr sz="4400" kern="1200">
          <a:solidFill>
            <a:schemeClr val="accent4">
              <a:lumMod val="7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4">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4">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4">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gntv.com/news/photos-new-baby-dolphins-introduced-at-brookfield-zoo/amp/"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56DCC-AE35-A8D4-597B-DAE7A10E143F}"/>
              </a:ext>
            </a:extLst>
          </p:cNvPr>
          <p:cNvSpPr>
            <a:spLocks noGrp="1"/>
          </p:cNvSpPr>
          <p:nvPr>
            <p:ph type="title"/>
          </p:nvPr>
        </p:nvSpPr>
        <p:spPr/>
        <p:txBody>
          <a:bodyPr/>
          <a:lstStyle/>
          <a:p>
            <a:r>
              <a:rPr lang="en-US" dirty="0"/>
              <a:t>Personality</a:t>
            </a:r>
          </a:p>
        </p:txBody>
      </p:sp>
      <p:sp>
        <p:nvSpPr>
          <p:cNvPr id="3" name="Text Placeholder 2">
            <a:extLst>
              <a:ext uri="{FF2B5EF4-FFF2-40B4-BE49-F238E27FC236}">
                <a16:creationId xmlns:a16="http://schemas.microsoft.com/office/drawing/2014/main" id="{5B00A2D9-55BE-07C5-5751-AD4B69190181}"/>
              </a:ext>
            </a:extLst>
          </p:cNvPr>
          <p:cNvSpPr>
            <a:spLocks noGrp="1"/>
          </p:cNvSpPr>
          <p:nvPr>
            <p:ph type="body" sz="quarter" idx="10"/>
          </p:nvPr>
        </p:nvSpPr>
        <p:spPr/>
        <p:txBody>
          <a:bodyPr/>
          <a:lstStyle/>
          <a:p>
            <a:r>
              <a:rPr lang="en-US" dirty="0"/>
              <a:t>Chapter 11</a:t>
            </a:r>
          </a:p>
        </p:txBody>
      </p:sp>
      <p:pic>
        <p:nvPicPr>
          <p:cNvPr id="9" name="Picture Placeholder 8">
            <a:extLst>
              <a:ext uri="{FF2B5EF4-FFF2-40B4-BE49-F238E27FC236}">
                <a16:creationId xmlns:a16="http://schemas.microsoft.com/office/drawing/2014/main" id="{6C15DF62-A4F7-4DE3-5498-1312935F280D}"/>
              </a:ext>
            </a:extLst>
          </p:cNvPr>
          <p:cNvPicPr>
            <a:picLocks noGrp="1" noChangeAspect="1"/>
          </p:cNvPicPr>
          <p:nvPr>
            <p:ph type="pic" sz="quarter" idx="11"/>
          </p:nvPr>
        </p:nvPicPr>
        <p:blipFill>
          <a:blip r:embed="rId3">
            <a:extLst>
              <a:ext uri="{837473B0-CC2E-450A-ABE3-18F120FF3D39}">
                <a1611:picAttrSrcUrl xmlns:a1611="http://schemas.microsoft.com/office/drawing/2016/11/main" r:id="rId4"/>
              </a:ext>
            </a:extLst>
          </a:blip>
          <a:srcRect l="20866" r="20866"/>
          <a:stretch>
            <a:fillRect/>
          </a:stretch>
        </p:blipFill>
        <p:spPr/>
      </p:pic>
    </p:spTree>
    <p:extLst>
      <p:ext uri="{BB962C8B-B14F-4D97-AF65-F5344CB8AC3E}">
        <p14:creationId xmlns:p14="http://schemas.microsoft.com/office/powerpoint/2010/main" val="4019898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65774-2A59-88B9-83D9-F90ECF42E58C}"/>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77B6CDEA-EE7B-E5F5-2C9D-B16594F845DE}"/>
              </a:ext>
            </a:extLst>
          </p:cNvPr>
          <p:cNvSpPr>
            <a:spLocks noGrp="1"/>
          </p:cNvSpPr>
          <p:nvPr>
            <p:ph idx="1"/>
          </p:nvPr>
        </p:nvSpPr>
        <p:spPr>
          <a:xfrm>
            <a:off x="4608576" y="667512"/>
            <a:ext cx="4736592" cy="5568696"/>
          </a:xfrm>
        </p:spPr>
        <p:txBody>
          <a:bodyPr/>
          <a:lstStyle/>
          <a:p>
            <a:r>
              <a:rPr lang="en-US" dirty="0"/>
              <a:t>What is Personality?</a:t>
            </a:r>
          </a:p>
          <a:p>
            <a:r>
              <a:rPr lang="en-US" dirty="0"/>
              <a:t>Perspectives &amp; Approaches</a:t>
            </a:r>
          </a:p>
          <a:p>
            <a:r>
              <a:rPr lang="en-US" dirty="0"/>
              <a:t>Personality Assessment</a:t>
            </a:r>
          </a:p>
          <a:p>
            <a:endParaRPr lang="en-US" dirty="0"/>
          </a:p>
        </p:txBody>
      </p:sp>
      <p:sp>
        <p:nvSpPr>
          <p:cNvPr id="4" name="Slide Number Placeholder 3">
            <a:extLst>
              <a:ext uri="{FF2B5EF4-FFF2-40B4-BE49-F238E27FC236}">
                <a16:creationId xmlns:a16="http://schemas.microsoft.com/office/drawing/2014/main" id="{0937694A-0676-0018-F0BE-E8EEEDA51521}"/>
              </a:ext>
            </a:extLst>
          </p:cNvPr>
          <p:cNvSpPr>
            <a:spLocks noGrp="1"/>
          </p:cNvSpPr>
          <p:nvPr>
            <p:ph type="sldNum" sz="quarter" idx="12"/>
          </p:nvPr>
        </p:nvSpPr>
        <p:spPr/>
        <p:txBody>
          <a:bodyPr/>
          <a:lstStyle/>
          <a:p>
            <a:fld id="{CBD12358-51D2-46B3-9BDE-DF29528B9454}" type="slidenum">
              <a:rPr lang="en-US" smtClean="0"/>
              <a:t>2</a:t>
            </a:fld>
            <a:endParaRPr lang="en-US" dirty="0"/>
          </a:p>
        </p:txBody>
      </p:sp>
    </p:spTree>
    <p:extLst>
      <p:ext uri="{BB962C8B-B14F-4D97-AF65-F5344CB8AC3E}">
        <p14:creationId xmlns:p14="http://schemas.microsoft.com/office/powerpoint/2010/main" val="154215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3B84B1-7FBB-4ACC-80C5-D6AF12444C37}"/>
              </a:ext>
            </a:extLst>
          </p:cNvPr>
          <p:cNvSpPr>
            <a:spLocks noGrp="1"/>
          </p:cNvSpPr>
          <p:nvPr>
            <p:ph idx="1"/>
          </p:nvPr>
        </p:nvSpPr>
        <p:spPr>
          <a:xfrm>
            <a:off x="1050879" y="2163685"/>
            <a:ext cx="3875963" cy="4107020"/>
          </a:xfrm>
        </p:spPr>
        <p:txBody>
          <a:bodyPr>
            <a:normAutofit/>
          </a:bodyPr>
          <a:lstStyle/>
          <a:p>
            <a:pPr marL="0" indent="0">
              <a:buNone/>
            </a:pPr>
            <a:r>
              <a:rPr lang="en-US" sz="4400" dirty="0"/>
              <a:t>What </a:t>
            </a:r>
            <a:r>
              <a:rPr lang="en-US" sz="4400"/>
              <a:t>IS personality?</a:t>
            </a:r>
            <a:endParaRPr lang="en-US" sz="4400" dirty="0"/>
          </a:p>
        </p:txBody>
      </p:sp>
      <p:pic>
        <p:nvPicPr>
          <p:cNvPr id="5" name="Picture 4" descr="Photograph of a wooden mannequin figure against a bright yellow background with a white speech bubble containing a black question mark above its head. The setup symbolizes confusion, curiosity, or inquiry using simple, minimalistic elements and contrasting colors.&#10;&#10;AI-generated content may be incorrect.">
            <a:extLst>
              <a:ext uri="{FF2B5EF4-FFF2-40B4-BE49-F238E27FC236}">
                <a16:creationId xmlns:a16="http://schemas.microsoft.com/office/drawing/2014/main" id="{857DAEE3-D338-4662-A113-C4515CCB4802}"/>
              </a:ext>
              <a:ext uri="{C183D7F6-B498-43B3-948B-1728B52AA6E4}">
                <adec:decorative xmlns:adec="http://schemas.microsoft.com/office/drawing/2017/decorative" val="1"/>
              </a:ext>
            </a:extLst>
          </p:cNvPr>
          <p:cNvPicPr>
            <a:picLocks noChangeAspect="1"/>
          </p:cNvPicPr>
          <p:nvPr/>
        </p:nvPicPr>
        <p:blipFill rotWithShape="1">
          <a:blip r:embed="rId3"/>
          <a:srcRect r="32557"/>
          <a:stretch/>
        </p:blipFill>
        <p:spPr>
          <a:xfrm>
            <a:off x="5251840" y="10"/>
            <a:ext cx="6940161" cy="6868876"/>
          </a:xfrm>
          <a:custGeom>
            <a:avLst/>
            <a:gdLst/>
            <a:ahLst/>
            <a:cxnLst/>
            <a:rect l="l" t="t" r="r" b="b"/>
            <a:pathLst>
              <a:path w="6940161" h="6857999">
                <a:moveTo>
                  <a:pt x="857190" y="0"/>
                </a:moveTo>
                <a:lnTo>
                  <a:pt x="6940161" y="0"/>
                </a:lnTo>
                <a:lnTo>
                  <a:pt x="6940161" y="6857999"/>
                </a:lnTo>
                <a:lnTo>
                  <a:pt x="496459" y="6857999"/>
                </a:lnTo>
                <a:lnTo>
                  <a:pt x="486507" y="6839466"/>
                </a:lnTo>
                <a:cubicBezTo>
                  <a:pt x="477389" y="6820641"/>
                  <a:pt x="471173" y="6801859"/>
                  <a:pt x="480078" y="6795812"/>
                </a:cubicBezTo>
                <a:cubicBezTo>
                  <a:pt x="475408" y="6761382"/>
                  <a:pt x="493736" y="6723009"/>
                  <a:pt x="482330" y="6676796"/>
                </a:cubicBezTo>
                <a:cubicBezTo>
                  <a:pt x="479519" y="6617030"/>
                  <a:pt x="476161" y="6634511"/>
                  <a:pt x="469648" y="6539722"/>
                </a:cubicBezTo>
                <a:cubicBezTo>
                  <a:pt x="459969" y="6498384"/>
                  <a:pt x="496382" y="6456575"/>
                  <a:pt x="477855" y="6433501"/>
                </a:cubicBezTo>
                <a:cubicBezTo>
                  <a:pt x="464018" y="6378655"/>
                  <a:pt x="442310" y="6325849"/>
                  <a:pt x="414008" y="6271586"/>
                </a:cubicBezTo>
                <a:cubicBezTo>
                  <a:pt x="378091" y="6226697"/>
                  <a:pt x="377466" y="6140798"/>
                  <a:pt x="299660" y="6080454"/>
                </a:cubicBezTo>
                <a:cubicBezTo>
                  <a:pt x="268606" y="6014324"/>
                  <a:pt x="244498" y="5964143"/>
                  <a:pt x="221239" y="5913249"/>
                </a:cubicBezTo>
                <a:cubicBezTo>
                  <a:pt x="210139" y="5897439"/>
                  <a:pt x="175369" y="5809427"/>
                  <a:pt x="160103" y="5775094"/>
                </a:cubicBezTo>
                <a:cubicBezTo>
                  <a:pt x="87298" y="5686529"/>
                  <a:pt x="103897" y="5672717"/>
                  <a:pt x="87873" y="5573809"/>
                </a:cubicBezTo>
                <a:cubicBezTo>
                  <a:pt x="76224" y="5541231"/>
                  <a:pt x="76748" y="5525076"/>
                  <a:pt x="57933" y="5490695"/>
                </a:cubicBezTo>
                <a:lnTo>
                  <a:pt x="30889" y="5398377"/>
                </a:lnTo>
                <a:lnTo>
                  <a:pt x="34140" y="5390971"/>
                </a:lnTo>
                <a:lnTo>
                  <a:pt x="35928" y="5390229"/>
                </a:lnTo>
                <a:lnTo>
                  <a:pt x="16968" y="5309266"/>
                </a:lnTo>
                <a:cubicBezTo>
                  <a:pt x="13970" y="5303642"/>
                  <a:pt x="-917" y="5289094"/>
                  <a:pt x="2490" y="5276920"/>
                </a:cubicBezTo>
                <a:lnTo>
                  <a:pt x="24907" y="5208159"/>
                </a:lnTo>
                <a:lnTo>
                  <a:pt x="31839" y="5162682"/>
                </a:lnTo>
                <a:cubicBezTo>
                  <a:pt x="28501" y="5155528"/>
                  <a:pt x="24609" y="5048935"/>
                  <a:pt x="18796" y="5043371"/>
                </a:cubicBezTo>
                <a:cubicBezTo>
                  <a:pt x="54584" y="4976689"/>
                  <a:pt x="5001" y="4985095"/>
                  <a:pt x="14358" y="4908985"/>
                </a:cubicBezTo>
                <a:cubicBezTo>
                  <a:pt x="17201" y="4816358"/>
                  <a:pt x="5675" y="4749418"/>
                  <a:pt x="4769" y="4643799"/>
                </a:cubicBezTo>
                <a:cubicBezTo>
                  <a:pt x="4111" y="4581455"/>
                  <a:pt x="-7137" y="4509050"/>
                  <a:pt x="7402" y="4395547"/>
                </a:cubicBezTo>
                <a:cubicBezTo>
                  <a:pt x="11591" y="4330720"/>
                  <a:pt x="28535" y="4313913"/>
                  <a:pt x="23462" y="4274064"/>
                </a:cubicBezTo>
                <a:cubicBezTo>
                  <a:pt x="22995" y="4245538"/>
                  <a:pt x="22530" y="4217012"/>
                  <a:pt x="22063" y="4188486"/>
                </a:cubicBezTo>
                <a:lnTo>
                  <a:pt x="24672" y="4170100"/>
                </a:lnTo>
                <a:lnTo>
                  <a:pt x="34973" y="4166123"/>
                </a:lnTo>
                <a:lnTo>
                  <a:pt x="26424" y="4120096"/>
                </a:lnTo>
                <a:cubicBezTo>
                  <a:pt x="28986" y="4109871"/>
                  <a:pt x="49338" y="4079429"/>
                  <a:pt x="47886" y="4066698"/>
                </a:cubicBezTo>
                <a:cubicBezTo>
                  <a:pt x="26522" y="4022850"/>
                  <a:pt x="34453" y="4030338"/>
                  <a:pt x="47327" y="3969172"/>
                </a:cubicBezTo>
                <a:cubicBezTo>
                  <a:pt x="40297" y="3948973"/>
                  <a:pt x="40044" y="3857354"/>
                  <a:pt x="53093" y="3844350"/>
                </a:cubicBezTo>
                <a:cubicBezTo>
                  <a:pt x="55739" y="3830819"/>
                  <a:pt x="50778" y="3815585"/>
                  <a:pt x="64866" y="3808459"/>
                </a:cubicBezTo>
                <a:cubicBezTo>
                  <a:pt x="81775" y="3797121"/>
                  <a:pt x="54599" y="3752382"/>
                  <a:pt x="74864" y="3757643"/>
                </a:cubicBezTo>
                <a:cubicBezTo>
                  <a:pt x="56224" y="3725828"/>
                  <a:pt x="74270" y="3660981"/>
                  <a:pt x="82640" y="3632606"/>
                </a:cubicBezTo>
                <a:cubicBezTo>
                  <a:pt x="85981" y="3582255"/>
                  <a:pt x="88778" y="3571708"/>
                  <a:pt x="89222" y="3534990"/>
                </a:cubicBezTo>
                <a:cubicBezTo>
                  <a:pt x="92019" y="3533125"/>
                  <a:pt x="80706" y="3481126"/>
                  <a:pt x="79835" y="3454133"/>
                </a:cubicBezTo>
                <a:cubicBezTo>
                  <a:pt x="78963" y="3427139"/>
                  <a:pt x="96173" y="3390611"/>
                  <a:pt x="83991" y="3373027"/>
                </a:cubicBezTo>
                <a:cubicBezTo>
                  <a:pt x="80767" y="3298527"/>
                  <a:pt x="69808" y="3290617"/>
                  <a:pt x="62958" y="3222737"/>
                </a:cubicBezTo>
                <a:cubicBezTo>
                  <a:pt x="59618" y="3146284"/>
                  <a:pt x="39695" y="3184007"/>
                  <a:pt x="49209" y="3118188"/>
                </a:cubicBezTo>
                <a:cubicBezTo>
                  <a:pt x="65221" y="3109217"/>
                  <a:pt x="85573" y="3024732"/>
                  <a:pt x="78480" y="3003808"/>
                </a:cubicBezTo>
                <a:cubicBezTo>
                  <a:pt x="78037" y="2966753"/>
                  <a:pt x="77812" y="2989870"/>
                  <a:pt x="77566" y="2944921"/>
                </a:cubicBezTo>
                <a:lnTo>
                  <a:pt x="94406" y="2877744"/>
                </a:lnTo>
                <a:cubicBezTo>
                  <a:pt x="87936" y="2880724"/>
                  <a:pt x="108480" y="2822146"/>
                  <a:pt x="108051" y="2807161"/>
                </a:cubicBezTo>
                <a:cubicBezTo>
                  <a:pt x="110507" y="2775643"/>
                  <a:pt x="80880" y="2769288"/>
                  <a:pt x="107377" y="2752347"/>
                </a:cubicBezTo>
                <a:lnTo>
                  <a:pt x="114975" y="2748299"/>
                </a:lnTo>
                <a:cubicBezTo>
                  <a:pt x="115205" y="2745962"/>
                  <a:pt x="115434" y="2743625"/>
                  <a:pt x="115663" y="2741288"/>
                </a:cubicBezTo>
                <a:cubicBezTo>
                  <a:pt x="115098" y="2737657"/>
                  <a:pt x="112995" y="2735847"/>
                  <a:pt x="107929" y="2737160"/>
                </a:cubicBezTo>
                <a:cubicBezTo>
                  <a:pt x="126569" y="2705347"/>
                  <a:pt x="119693" y="2699356"/>
                  <a:pt x="122707" y="2659631"/>
                </a:cubicBezTo>
                <a:cubicBezTo>
                  <a:pt x="135394" y="2612127"/>
                  <a:pt x="120483" y="2628594"/>
                  <a:pt x="145471" y="2573336"/>
                </a:cubicBezTo>
                <a:cubicBezTo>
                  <a:pt x="156086" y="2559732"/>
                  <a:pt x="170382" y="2541339"/>
                  <a:pt x="170626" y="2528057"/>
                </a:cubicBezTo>
                <a:lnTo>
                  <a:pt x="202713" y="2489594"/>
                </a:lnTo>
                <a:cubicBezTo>
                  <a:pt x="203853" y="2487774"/>
                  <a:pt x="204248" y="2473350"/>
                  <a:pt x="203650" y="2468303"/>
                </a:cubicBezTo>
                <a:lnTo>
                  <a:pt x="223316" y="2460480"/>
                </a:lnTo>
                <a:lnTo>
                  <a:pt x="215120" y="2423535"/>
                </a:lnTo>
                <a:lnTo>
                  <a:pt x="223455" y="2404394"/>
                </a:lnTo>
                <a:cubicBezTo>
                  <a:pt x="243490" y="2392610"/>
                  <a:pt x="229596" y="2347474"/>
                  <a:pt x="238853" y="2324643"/>
                </a:cubicBezTo>
                <a:cubicBezTo>
                  <a:pt x="239504" y="2297698"/>
                  <a:pt x="266477" y="2284202"/>
                  <a:pt x="272463" y="2255535"/>
                </a:cubicBezTo>
                <a:cubicBezTo>
                  <a:pt x="290597" y="2249648"/>
                  <a:pt x="306594" y="2207828"/>
                  <a:pt x="294092" y="2184679"/>
                </a:cubicBezTo>
                <a:lnTo>
                  <a:pt x="323221" y="2093132"/>
                </a:lnTo>
                <a:cubicBezTo>
                  <a:pt x="348282" y="2084587"/>
                  <a:pt x="366071" y="1985868"/>
                  <a:pt x="377324" y="1950235"/>
                </a:cubicBezTo>
                <a:cubicBezTo>
                  <a:pt x="397581" y="1920183"/>
                  <a:pt x="445208" y="1898905"/>
                  <a:pt x="457649" y="1861568"/>
                </a:cubicBezTo>
                <a:cubicBezTo>
                  <a:pt x="464664" y="1810687"/>
                  <a:pt x="447457" y="1869507"/>
                  <a:pt x="451972" y="1809499"/>
                </a:cubicBezTo>
                <a:cubicBezTo>
                  <a:pt x="450982" y="1754297"/>
                  <a:pt x="465413" y="1767680"/>
                  <a:pt x="474550" y="1693716"/>
                </a:cubicBezTo>
                <a:cubicBezTo>
                  <a:pt x="473258" y="1654244"/>
                  <a:pt x="481626" y="1627007"/>
                  <a:pt x="481301" y="1605195"/>
                </a:cubicBezTo>
                <a:cubicBezTo>
                  <a:pt x="490491" y="1568952"/>
                  <a:pt x="493569" y="1564518"/>
                  <a:pt x="497837" y="1516217"/>
                </a:cubicBezTo>
                <a:cubicBezTo>
                  <a:pt x="503639" y="1488452"/>
                  <a:pt x="534082" y="1457870"/>
                  <a:pt x="513281" y="1429841"/>
                </a:cubicBezTo>
                <a:cubicBezTo>
                  <a:pt x="527326" y="1412325"/>
                  <a:pt x="570430" y="1413592"/>
                  <a:pt x="550104" y="1380081"/>
                </a:cubicBezTo>
                <a:cubicBezTo>
                  <a:pt x="575583" y="1394128"/>
                  <a:pt x="551452" y="1335176"/>
                  <a:pt x="574526" y="1334891"/>
                </a:cubicBezTo>
                <a:cubicBezTo>
                  <a:pt x="593486" y="1336427"/>
                  <a:pt x="633157" y="1194568"/>
                  <a:pt x="638123" y="1185551"/>
                </a:cubicBezTo>
                <a:cubicBezTo>
                  <a:pt x="647468" y="1149210"/>
                  <a:pt x="657504" y="1148087"/>
                  <a:pt x="664747" y="1111168"/>
                </a:cubicBezTo>
                <a:cubicBezTo>
                  <a:pt x="679107" y="1057226"/>
                  <a:pt x="652121" y="1022543"/>
                  <a:pt x="664913" y="993353"/>
                </a:cubicBezTo>
                <a:cubicBezTo>
                  <a:pt x="684189" y="960214"/>
                  <a:pt x="707497" y="867450"/>
                  <a:pt x="721256" y="813953"/>
                </a:cubicBezTo>
                <a:cubicBezTo>
                  <a:pt x="734607" y="746430"/>
                  <a:pt x="738988" y="666470"/>
                  <a:pt x="745023" y="588218"/>
                </a:cubicBezTo>
                <a:cubicBezTo>
                  <a:pt x="735393" y="475380"/>
                  <a:pt x="719076" y="536119"/>
                  <a:pt x="725253" y="376479"/>
                </a:cubicBezTo>
                <a:lnTo>
                  <a:pt x="735457" y="280992"/>
                </a:lnTo>
                <a:cubicBezTo>
                  <a:pt x="735270" y="276227"/>
                  <a:pt x="742007" y="223140"/>
                  <a:pt x="741820" y="218374"/>
                </a:cubicBezTo>
                <a:lnTo>
                  <a:pt x="735299" y="188178"/>
                </a:lnTo>
                <a:lnTo>
                  <a:pt x="764938" y="152404"/>
                </a:lnTo>
                <a:cubicBezTo>
                  <a:pt x="776066" y="136342"/>
                  <a:pt x="783668" y="122048"/>
                  <a:pt x="802071" y="91810"/>
                </a:cubicBezTo>
                <a:lnTo>
                  <a:pt x="849585" y="3016"/>
                </a:lnTo>
                <a:close/>
              </a:path>
            </a:pathLst>
          </a:custGeom>
        </p:spPr>
      </p:pic>
    </p:spTree>
    <p:extLst>
      <p:ext uri="{BB962C8B-B14F-4D97-AF65-F5344CB8AC3E}">
        <p14:creationId xmlns:p14="http://schemas.microsoft.com/office/powerpoint/2010/main" val="244484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FCEFA-8BE8-4BC7-A603-51B965F9F962}"/>
              </a:ext>
            </a:extLst>
          </p:cNvPr>
          <p:cNvSpPr>
            <a:spLocks noGrp="1"/>
          </p:cNvSpPr>
          <p:nvPr>
            <p:ph type="title"/>
          </p:nvPr>
        </p:nvSpPr>
        <p:spPr>
          <a:xfrm>
            <a:off x="1184744" y="620203"/>
            <a:ext cx="9859618" cy="894698"/>
          </a:xfrm>
        </p:spPr>
        <p:txBody>
          <a:bodyPr vert="horz" lIns="91440" tIns="45720" rIns="91440" bIns="45720" rtlCol="0" anchor="b">
            <a:normAutofit/>
          </a:bodyPr>
          <a:lstStyle/>
          <a:p>
            <a:pPr algn="ctr"/>
            <a:r>
              <a:rPr lang="en-US" sz="2600"/>
              <a:t>Historical Perspectives- The Humors</a:t>
            </a:r>
          </a:p>
        </p:txBody>
      </p:sp>
      <p:pic>
        <p:nvPicPr>
          <p:cNvPr id="1028" name="Picture 4" descr="Table illustrating Four Temperaments based on Four Humours Theory by Hippocrates and Galen. It categorizes humours (Blood, Yellow bile, Black bile, Phlegm) by temperament, element, qualities, and characteristic personality traits, using red, yellow, gray, and blue color-coded rows for each humour.">
            <a:extLst>
              <a:ext uri="{FF2B5EF4-FFF2-40B4-BE49-F238E27FC236}">
                <a16:creationId xmlns:a16="http://schemas.microsoft.com/office/drawing/2014/main" id="{A4564673-038D-7F04-0F65-62F12600C86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75715" y="1705270"/>
            <a:ext cx="7842739" cy="4109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8404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7F2C7-F3B9-420F-9ACF-84B979367CC6}"/>
              </a:ext>
            </a:extLst>
          </p:cNvPr>
          <p:cNvSpPr>
            <a:spLocks noGrp="1"/>
          </p:cNvSpPr>
          <p:nvPr>
            <p:ph type="title"/>
          </p:nvPr>
        </p:nvSpPr>
        <p:spPr>
          <a:xfrm>
            <a:off x="1050879" y="841039"/>
            <a:ext cx="3535409" cy="5175921"/>
          </a:xfrm>
        </p:spPr>
        <p:txBody>
          <a:bodyPr/>
          <a:lstStyle/>
          <a:p>
            <a:r>
              <a:rPr lang="en-US" dirty="0"/>
              <a:t>Historical Perspectives- Phrenology</a:t>
            </a:r>
            <a:br>
              <a:rPr lang="en-US" dirty="0"/>
            </a:br>
            <a:br>
              <a:rPr lang="en-US" dirty="0"/>
            </a:br>
            <a:r>
              <a:rPr lang="en-US" sz="2800" dirty="0"/>
              <a:t>Franz Gall</a:t>
            </a:r>
            <a:endParaRPr lang="en-US" dirty="0"/>
          </a:p>
        </p:txBody>
      </p:sp>
      <p:pic>
        <p:nvPicPr>
          <p:cNvPr id="2050" name="Picture 2" descr="Diagram of a phrenology head showing labeled brain regions associated with various personality traits and mental faculties, such as benevolence, spirituality, hope, cautiousness, secretiveness, and combativeness. The sections are outlined and named with a vintage style, highlighting the pseudoscientific attempt to map character traits to specific skull areas.&#10;&#10;AI-generated content may be incorrect.">
            <a:extLst>
              <a:ext uri="{FF2B5EF4-FFF2-40B4-BE49-F238E27FC236}">
                <a16:creationId xmlns:a16="http://schemas.microsoft.com/office/drawing/2014/main" id="{38E2DC19-FB2D-4F7F-AE01-5379F0B6A3F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007240" y="841039"/>
            <a:ext cx="5196947" cy="51759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3970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D53E2-10D3-411A-BA45-F00937559E89}"/>
              </a:ext>
            </a:extLst>
          </p:cNvPr>
          <p:cNvSpPr>
            <a:spLocks noGrp="1"/>
          </p:cNvSpPr>
          <p:nvPr>
            <p:ph type="title"/>
          </p:nvPr>
        </p:nvSpPr>
        <p:spPr>
          <a:xfrm>
            <a:off x="461727" y="992094"/>
            <a:ext cx="2716040" cy="3036698"/>
          </a:xfrm>
        </p:spPr>
        <p:txBody>
          <a:bodyPr vert="horz" lIns="91440" tIns="45720" rIns="91440" bIns="45720" rtlCol="0" anchor="b">
            <a:normAutofit/>
          </a:bodyPr>
          <a:lstStyle/>
          <a:p>
            <a:pPr algn="ctr"/>
            <a:r>
              <a:rPr lang="en-US" sz="2800" dirty="0"/>
              <a:t>Historical Perspectives- The Humors 2.0</a:t>
            </a:r>
            <a:br>
              <a:rPr lang="en-US" sz="2800" dirty="0"/>
            </a:br>
            <a:br>
              <a:rPr lang="en-US" sz="2800" dirty="0"/>
            </a:br>
            <a:r>
              <a:rPr lang="en-US" sz="2400" dirty="0"/>
              <a:t>Wilhelm Wundt</a:t>
            </a:r>
          </a:p>
        </p:txBody>
      </p:sp>
      <p:pic>
        <p:nvPicPr>
          <p:cNvPr id="4" name="Picture 4" descr="A circle is divided vertically and horizontally into four sections by lines with arrows at the ends. Clockwise from the top, the arrows are labeled “Strong Emotions,” “Changeable Temperaments,” “Weak Emotions,” and “Unchangeable Temperaments.” The arcs around the perimeter of the circle, clockwise beginning with the top right segment are labeled “Choleric,” “Sanguine,” “Phlegmatic,” and “Melancholic.” The sections inside each arc contain descriptive words. Inside the Choleric arc are the words “excitable, egocentric, exhibitionist, impulsive, histrionic, and active.” Inside the Sanguine arc are the words “playful, easygoing, sociable, carefree, hopeful, and contented.” Inside the Phlegmatic arc are the words “reasonable, principled, controlled, persistent, steadfast, and calm.” Inside the Melancholic arc are the words “anxious, worried, unhappy, suspicious, serious, and thoughtful.”">
            <a:extLst>
              <a:ext uri="{FF2B5EF4-FFF2-40B4-BE49-F238E27FC236}">
                <a16:creationId xmlns:a16="http://schemas.microsoft.com/office/drawing/2014/main" id="{F68D21F5-D2A1-49C5-A357-5883BEEBC7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68226" y="730693"/>
            <a:ext cx="6884685" cy="53966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2001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9E84B-A74B-4648-A572-9116D0EE145A}"/>
              </a:ext>
            </a:extLst>
          </p:cNvPr>
          <p:cNvSpPr>
            <a:spLocks noGrp="1"/>
          </p:cNvSpPr>
          <p:nvPr>
            <p:ph type="title"/>
          </p:nvPr>
        </p:nvSpPr>
        <p:spPr>
          <a:xfrm>
            <a:off x="773408" y="992094"/>
            <a:ext cx="3760499" cy="2795160"/>
          </a:xfrm>
        </p:spPr>
        <p:txBody>
          <a:bodyPr vert="horz" lIns="91440" tIns="45720" rIns="91440" bIns="45720" rtlCol="0" anchor="b">
            <a:normAutofit/>
          </a:bodyPr>
          <a:lstStyle/>
          <a:p>
            <a:pPr algn="ctr"/>
            <a:r>
              <a:rPr lang="en-US" sz="2400"/>
              <a:t>Freud’s Levels of Consciousness</a:t>
            </a:r>
          </a:p>
        </p:txBody>
      </p:sp>
      <p:pic>
        <p:nvPicPr>
          <p:cNvPr id="4098" name="Picture 2" descr="The mind’s conscious and unconscious states are illustrated as an iceberg floating in water. Beneath the water’s surface in the “unconscious” area are the id, ego, and superego. The area above the water’s surface is labeled “conscious.” Most of the iceberg’s mass is contained underwater.">
            <a:extLst>
              <a:ext uri="{FF2B5EF4-FFF2-40B4-BE49-F238E27FC236}">
                <a16:creationId xmlns:a16="http://schemas.microsoft.com/office/drawing/2014/main" id="{407D6742-77E4-45B5-A86B-6A6E8345BDB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6199401" y="615950"/>
            <a:ext cx="4692379" cy="5670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2247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9C97A-8A62-4C79-ADF6-55D563D28F75}"/>
              </a:ext>
            </a:extLst>
          </p:cNvPr>
          <p:cNvSpPr>
            <a:spLocks noGrp="1"/>
          </p:cNvSpPr>
          <p:nvPr>
            <p:ph type="title"/>
          </p:nvPr>
        </p:nvSpPr>
        <p:spPr>
          <a:xfrm>
            <a:off x="1050879" y="609600"/>
            <a:ext cx="4173942" cy="5644775"/>
          </a:xfrm>
        </p:spPr>
        <p:txBody>
          <a:bodyPr>
            <a:normAutofit/>
          </a:bodyPr>
          <a:lstStyle/>
          <a:p>
            <a:r>
              <a:rPr lang="en-US" dirty="0"/>
              <a:t>Freud’s </a:t>
            </a:r>
            <a:br>
              <a:rPr lang="en-US" dirty="0"/>
            </a:br>
            <a:r>
              <a:rPr lang="en-US" dirty="0"/>
              <a:t>Defense Mechanisms</a:t>
            </a:r>
          </a:p>
        </p:txBody>
      </p:sp>
      <p:pic>
        <p:nvPicPr>
          <p:cNvPr id="5" name="Google Shape;137;p17" descr="A chart defines eight defense mechanisms and gives an example of each. “Denial” is defined as “Refusing to accept real events because they are unpleasant.” The example given is “Kaila refuses to admit she has an alcohol problem although she is unable to go a single day without drinking excessively.” “Displacement” is defined as “Transferring inappropriate urges or behaviors onto a more acceptable or less threatening target.” The example given is “During lunch at a restaurant, Mark is angry at his older brother, but does not express it and instead is verbally abusive to the server.” “Projection” is defined as “Attributing unacceptable desires to others.” The example given is “Chris often cheats on her boyfriend because she suspects he is already cheating on her.” “Rationalization” is defined as “Justifying behaviors by substituting acceptable reasons for less-acceptable real reasons.” The example given is “Kim failed his history course because he did not study or attend class, but he told his roommates that he failed because the professor didn’t like him.” “Reaction Formation” is defined as “Reducing anxiety by adopting beliefs contrary to your own beliefs.” The example given is “Nadia is angry with her coworker Beth for always arriving late to work after a night of partying, but she is nice and agreeable to Beth and affirms the partying as cool.” “Regression” is defined as “Returning to coping strategies for less mature stages of development.” The example given is “After failing to pass his doctoral examinations, Giorgio spends days in bed cuddling his favorite childhood toy.” “Repression” is defined as “Supressing painful memories and thoughts.” The example given is “LaShea cannot remember her grandfather’s fatal heart attack, although she was present.” “Sublimation” is defined as “Redirecting unacceptable desires through socially acceptable channels.” The example given is “Jerome’s desire for revenge on the drunk driver who killed his son is channeled into a community support group for people who’ve lost loved ones to drunk driving.”">
            <a:extLst>
              <a:ext uri="{FF2B5EF4-FFF2-40B4-BE49-F238E27FC236}">
                <a16:creationId xmlns:a16="http://schemas.microsoft.com/office/drawing/2014/main" id="{42C1B4D4-452C-4BBE-F5C5-2210B0265FC2}"/>
              </a:ext>
            </a:extLst>
          </p:cNvPr>
          <p:cNvPicPr preferRelativeResize="0">
            <a:picLocks noGrp="1"/>
          </p:cNvPicPr>
          <p:nvPr>
            <p:ph idx="1"/>
          </p:nvPr>
        </p:nvPicPr>
        <p:blipFill rotWithShape="1">
          <a:blip r:embed="rId3">
            <a:alphaModFix/>
          </a:blip>
          <a:srcRect t="-5329" b="-5329"/>
          <a:stretch/>
        </p:blipFill>
        <p:spPr>
          <a:xfrm>
            <a:off x="4731756" y="88356"/>
            <a:ext cx="5616355" cy="6873760"/>
          </a:xfrm>
          <a:prstGeom prst="rect">
            <a:avLst/>
          </a:prstGeom>
          <a:noFill/>
          <a:ln>
            <a:noFill/>
          </a:ln>
        </p:spPr>
      </p:pic>
    </p:spTree>
    <p:extLst>
      <p:ext uri="{BB962C8B-B14F-4D97-AF65-F5344CB8AC3E}">
        <p14:creationId xmlns:p14="http://schemas.microsoft.com/office/powerpoint/2010/main" val="1232923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BDF7B-003D-4259-8DCD-30C35742EE62}"/>
              </a:ext>
            </a:extLst>
          </p:cNvPr>
          <p:cNvSpPr>
            <a:spLocks noGrp="1"/>
          </p:cNvSpPr>
          <p:nvPr>
            <p:ph type="title"/>
          </p:nvPr>
        </p:nvSpPr>
        <p:spPr>
          <a:xfrm>
            <a:off x="828675" y="5791201"/>
            <a:ext cx="10534650" cy="609600"/>
          </a:xfrm>
        </p:spPr>
        <p:txBody>
          <a:bodyPr vert="horz" lIns="91440" tIns="45720" rIns="91440" bIns="45720" rtlCol="0" anchor="ctr">
            <a:normAutofit/>
          </a:bodyPr>
          <a:lstStyle/>
          <a:p>
            <a:pPr algn="ctr">
              <a:lnSpc>
                <a:spcPct val="100000"/>
              </a:lnSpc>
            </a:pPr>
            <a:r>
              <a:rPr lang="en-US" sz="2000" dirty="0"/>
              <a:t>Freud’s Stages of Psychosexual Development</a:t>
            </a:r>
          </a:p>
        </p:txBody>
      </p:sp>
      <p:graphicFrame>
        <p:nvGraphicFramePr>
          <p:cNvPr id="4" name="Content Placeholder 3">
            <a:extLst>
              <a:ext uri="{FF2B5EF4-FFF2-40B4-BE49-F238E27FC236}">
                <a16:creationId xmlns:a16="http://schemas.microsoft.com/office/drawing/2014/main" id="{072C4388-E501-4207-A08B-12675C4D80BA}"/>
              </a:ext>
            </a:extLst>
          </p:cNvPr>
          <p:cNvGraphicFramePr>
            <a:graphicFrameLocks noGrp="1"/>
          </p:cNvGraphicFramePr>
          <p:nvPr>
            <p:ph idx="1"/>
            <p:extLst>
              <p:ext uri="{D42A27DB-BD31-4B8C-83A1-F6EECF244321}">
                <p14:modId xmlns:p14="http://schemas.microsoft.com/office/powerpoint/2010/main" val="1668336974"/>
              </p:ext>
            </p:extLst>
          </p:nvPr>
        </p:nvGraphicFramePr>
        <p:xfrm>
          <a:off x="208613" y="835631"/>
          <a:ext cx="9637752" cy="4060687"/>
        </p:xfrm>
        <a:graphic>
          <a:graphicData uri="http://schemas.openxmlformats.org/drawingml/2006/table">
            <a:tbl>
              <a:tblPr firstRow="1" bandRow="1">
                <a:noFill/>
              </a:tblPr>
              <a:tblGrid>
                <a:gridCol w="1238780">
                  <a:extLst>
                    <a:ext uri="{9D8B030D-6E8A-4147-A177-3AD203B41FA5}">
                      <a16:colId xmlns:a16="http://schemas.microsoft.com/office/drawing/2014/main" val="1865852238"/>
                    </a:ext>
                  </a:extLst>
                </a:gridCol>
                <a:gridCol w="1921901">
                  <a:extLst>
                    <a:ext uri="{9D8B030D-6E8A-4147-A177-3AD203B41FA5}">
                      <a16:colId xmlns:a16="http://schemas.microsoft.com/office/drawing/2014/main" val="4008407858"/>
                    </a:ext>
                  </a:extLst>
                </a:gridCol>
                <a:gridCol w="1863180">
                  <a:extLst>
                    <a:ext uri="{9D8B030D-6E8A-4147-A177-3AD203B41FA5}">
                      <a16:colId xmlns:a16="http://schemas.microsoft.com/office/drawing/2014/main" val="2792863921"/>
                    </a:ext>
                  </a:extLst>
                </a:gridCol>
                <a:gridCol w="2312818">
                  <a:extLst>
                    <a:ext uri="{9D8B030D-6E8A-4147-A177-3AD203B41FA5}">
                      <a16:colId xmlns:a16="http://schemas.microsoft.com/office/drawing/2014/main" val="3412469607"/>
                    </a:ext>
                  </a:extLst>
                </a:gridCol>
                <a:gridCol w="2301073">
                  <a:extLst>
                    <a:ext uri="{9D8B030D-6E8A-4147-A177-3AD203B41FA5}">
                      <a16:colId xmlns:a16="http://schemas.microsoft.com/office/drawing/2014/main" val="2172858002"/>
                    </a:ext>
                  </a:extLst>
                </a:gridCol>
              </a:tblGrid>
              <a:tr h="948346">
                <a:tc>
                  <a:txBody>
                    <a:bodyPr/>
                    <a:lstStyle/>
                    <a:p>
                      <a:pPr algn="l" fontAlgn="b"/>
                      <a:r>
                        <a:rPr lang="en-US" sz="2000" b="1">
                          <a:solidFill>
                            <a:schemeClr val="tx1">
                              <a:lumMod val="75000"/>
                              <a:lumOff val="25000"/>
                            </a:schemeClr>
                          </a:solidFill>
                          <a:effectLst/>
                        </a:rPr>
                        <a:t>Stage</a:t>
                      </a:r>
                    </a:p>
                  </a:txBody>
                  <a:tcPr marL="251621" marR="150973" marT="150973" marB="150973" anchor="b">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lgn="l" fontAlgn="b"/>
                      <a:r>
                        <a:rPr lang="en-US" sz="2000" b="1">
                          <a:solidFill>
                            <a:schemeClr val="tx1">
                              <a:lumMod val="75000"/>
                              <a:lumOff val="25000"/>
                            </a:schemeClr>
                          </a:solidFill>
                          <a:effectLst/>
                        </a:rPr>
                        <a:t>Age (years)</a:t>
                      </a:r>
                    </a:p>
                  </a:txBody>
                  <a:tcPr marL="251621" marR="150973" marT="150973" marB="150973" anchor="b">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lgn="l" fontAlgn="b"/>
                      <a:r>
                        <a:rPr lang="en-US" sz="2000" b="1">
                          <a:solidFill>
                            <a:schemeClr val="tx1">
                              <a:lumMod val="75000"/>
                              <a:lumOff val="25000"/>
                            </a:schemeClr>
                          </a:solidFill>
                          <a:effectLst/>
                        </a:rPr>
                        <a:t>Erogenous Zone</a:t>
                      </a:r>
                    </a:p>
                  </a:txBody>
                  <a:tcPr marL="251621" marR="150973" marT="150973" marB="150973" anchor="b">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lgn="l" fontAlgn="b"/>
                      <a:r>
                        <a:rPr lang="en-US" sz="2000" b="1">
                          <a:solidFill>
                            <a:schemeClr val="tx1">
                              <a:lumMod val="75000"/>
                              <a:lumOff val="25000"/>
                            </a:schemeClr>
                          </a:solidFill>
                          <a:effectLst/>
                        </a:rPr>
                        <a:t>Major Conflict</a:t>
                      </a:r>
                    </a:p>
                  </a:txBody>
                  <a:tcPr marL="251621" marR="150973" marT="150973" marB="150973" anchor="b">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lgn="l" fontAlgn="b"/>
                      <a:r>
                        <a:rPr lang="en-US" sz="2000" b="1" dirty="0">
                          <a:solidFill>
                            <a:schemeClr val="tx1">
                              <a:lumMod val="75000"/>
                              <a:lumOff val="25000"/>
                            </a:schemeClr>
                          </a:solidFill>
                          <a:effectLst/>
                        </a:rPr>
                        <a:t>Adult Fixation Example</a:t>
                      </a:r>
                    </a:p>
                  </a:txBody>
                  <a:tcPr marL="251621" marR="150973" marT="150973" marB="150973" anchor="b">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extLst>
                  <a:ext uri="{0D108BD9-81ED-4DB2-BD59-A6C34878D82A}">
                    <a16:rowId xmlns:a16="http://schemas.microsoft.com/office/drawing/2014/main" val="2923160297"/>
                  </a:ext>
                </a:extLst>
              </a:tr>
              <a:tr h="757761">
                <a:tc>
                  <a:txBody>
                    <a:bodyPr/>
                    <a:lstStyle/>
                    <a:p>
                      <a:pPr fontAlgn="ctr"/>
                      <a:r>
                        <a:rPr lang="en-US" sz="1500">
                          <a:solidFill>
                            <a:schemeClr val="tx1">
                              <a:lumMod val="75000"/>
                              <a:lumOff val="25000"/>
                            </a:schemeClr>
                          </a:solidFill>
                          <a:effectLst/>
                        </a:rPr>
                        <a:t>Oral</a:t>
                      </a:r>
                    </a:p>
                  </a:txBody>
                  <a:tcPr marL="251621" marR="130843" marT="130843" marB="130843"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fontAlgn="ctr"/>
                      <a:r>
                        <a:rPr lang="en-US" sz="1500">
                          <a:solidFill>
                            <a:schemeClr val="tx1">
                              <a:lumMod val="75000"/>
                              <a:lumOff val="25000"/>
                            </a:schemeClr>
                          </a:solidFill>
                          <a:effectLst/>
                        </a:rPr>
                        <a:t>0–1</a:t>
                      </a:r>
                    </a:p>
                  </a:txBody>
                  <a:tcPr marL="251621" marR="130843" marT="130843" marB="130843"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fontAlgn="ctr"/>
                      <a:r>
                        <a:rPr lang="en-US" sz="1500">
                          <a:solidFill>
                            <a:schemeClr val="tx1">
                              <a:lumMod val="75000"/>
                              <a:lumOff val="25000"/>
                            </a:schemeClr>
                          </a:solidFill>
                          <a:effectLst/>
                        </a:rPr>
                        <a:t>Mouth</a:t>
                      </a:r>
                    </a:p>
                  </a:txBody>
                  <a:tcPr marL="251621" marR="130843" marT="130843" marB="130843"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fontAlgn="ctr"/>
                      <a:r>
                        <a:rPr lang="en-US" sz="1500">
                          <a:solidFill>
                            <a:schemeClr val="tx1">
                              <a:lumMod val="75000"/>
                              <a:lumOff val="25000"/>
                            </a:schemeClr>
                          </a:solidFill>
                          <a:effectLst/>
                        </a:rPr>
                        <a:t>Weaning off breast or bottle</a:t>
                      </a:r>
                    </a:p>
                  </a:txBody>
                  <a:tcPr marL="251621" marR="130843" marT="130843" marB="130843"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fontAlgn="ctr"/>
                      <a:r>
                        <a:rPr lang="en-US" sz="1500">
                          <a:solidFill>
                            <a:schemeClr val="tx1">
                              <a:lumMod val="75000"/>
                              <a:lumOff val="25000"/>
                            </a:schemeClr>
                          </a:solidFill>
                          <a:effectLst/>
                        </a:rPr>
                        <a:t>Smoking, overeating</a:t>
                      </a:r>
                    </a:p>
                  </a:txBody>
                  <a:tcPr marL="251621" marR="130843" marT="130843" marB="130843"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2199959800"/>
                  </a:ext>
                </a:extLst>
              </a:tr>
              <a:tr h="532273">
                <a:tc>
                  <a:txBody>
                    <a:bodyPr/>
                    <a:lstStyle/>
                    <a:p>
                      <a:pPr fontAlgn="ctr"/>
                      <a:r>
                        <a:rPr lang="en-US" sz="1500">
                          <a:solidFill>
                            <a:schemeClr val="tx1">
                              <a:lumMod val="75000"/>
                              <a:lumOff val="25000"/>
                            </a:schemeClr>
                          </a:solidFill>
                          <a:effectLst/>
                        </a:rPr>
                        <a:t>Anal</a:t>
                      </a:r>
                    </a:p>
                  </a:txBody>
                  <a:tcPr marL="251621" marR="130843" marT="130843" marB="13084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fontAlgn="ctr"/>
                      <a:r>
                        <a:rPr lang="en-US" sz="1500">
                          <a:solidFill>
                            <a:schemeClr val="tx1">
                              <a:lumMod val="75000"/>
                              <a:lumOff val="25000"/>
                            </a:schemeClr>
                          </a:solidFill>
                          <a:effectLst/>
                        </a:rPr>
                        <a:t>1–3</a:t>
                      </a:r>
                    </a:p>
                  </a:txBody>
                  <a:tcPr marL="251621" marR="130843" marT="130843" marB="13084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fontAlgn="ctr"/>
                      <a:r>
                        <a:rPr lang="en-US" sz="1500">
                          <a:solidFill>
                            <a:schemeClr val="tx1">
                              <a:lumMod val="75000"/>
                              <a:lumOff val="25000"/>
                            </a:schemeClr>
                          </a:solidFill>
                          <a:effectLst/>
                        </a:rPr>
                        <a:t>Anus</a:t>
                      </a:r>
                    </a:p>
                  </a:txBody>
                  <a:tcPr marL="251621" marR="130843" marT="130843" marB="13084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fontAlgn="ctr"/>
                      <a:r>
                        <a:rPr lang="en-US" sz="1500" dirty="0">
                          <a:solidFill>
                            <a:schemeClr val="tx1">
                              <a:lumMod val="75000"/>
                              <a:lumOff val="25000"/>
                            </a:schemeClr>
                          </a:solidFill>
                          <a:effectLst/>
                        </a:rPr>
                        <a:t>Toilet training</a:t>
                      </a:r>
                    </a:p>
                  </a:txBody>
                  <a:tcPr marL="251621" marR="130843" marT="130843" marB="13084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fontAlgn="ctr"/>
                      <a:r>
                        <a:rPr lang="en-US" sz="1500">
                          <a:solidFill>
                            <a:schemeClr val="tx1">
                              <a:lumMod val="75000"/>
                              <a:lumOff val="25000"/>
                            </a:schemeClr>
                          </a:solidFill>
                          <a:effectLst/>
                        </a:rPr>
                        <a:t>Neatness, messiness</a:t>
                      </a:r>
                    </a:p>
                  </a:txBody>
                  <a:tcPr marL="251621" marR="130843" marT="130843" marB="13084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239808031"/>
                  </a:ext>
                </a:extLst>
              </a:tr>
              <a:tr h="757761">
                <a:tc>
                  <a:txBody>
                    <a:bodyPr/>
                    <a:lstStyle/>
                    <a:p>
                      <a:pPr fontAlgn="ctr"/>
                      <a:r>
                        <a:rPr lang="en-US" sz="1500">
                          <a:solidFill>
                            <a:schemeClr val="tx1">
                              <a:lumMod val="75000"/>
                              <a:lumOff val="25000"/>
                            </a:schemeClr>
                          </a:solidFill>
                          <a:effectLst/>
                        </a:rPr>
                        <a:t>Phallic</a:t>
                      </a:r>
                    </a:p>
                  </a:txBody>
                  <a:tcPr marL="251621" marR="130843" marT="130843" marB="13084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fontAlgn="ctr"/>
                      <a:r>
                        <a:rPr lang="en-US" sz="1500">
                          <a:solidFill>
                            <a:schemeClr val="tx1">
                              <a:lumMod val="75000"/>
                              <a:lumOff val="25000"/>
                            </a:schemeClr>
                          </a:solidFill>
                          <a:effectLst/>
                        </a:rPr>
                        <a:t>3–6</a:t>
                      </a:r>
                    </a:p>
                  </a:txBody>
                  <a:tcPr marL="251621" marR="130843" marT="130843" marB="13084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fontAlgn="ctr"/>
                      <a:r>
                        <a:rPr lang="en-US" sz="1500">
                          <a:solidFill>
                            <a:schemeClr val="tx1">
                              <a:lumMod val="75000"/>
                              <a:lumOff val="25000"/>
                            </a:schemeClr>
                          </a:solidFill>
                          <a:effectLst/>
                        </a:rPr>
                        <a:t>Genitals</a:t>
                      </a:r>
                    </a:p>
                  </a:txBody>
                  <a:tcPr marL="251621" marR="130843" marT="130843" marB="13084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fontAlgn="ctr"/>
                      <a:r>
                        <a:rPr lang="en-US" sz="1500">
                          <a:solidFill>
                            <a:schemeClr val="tx1">
                              <a:lumMod val="75000"/>
                              <a:lumOff val="25000"/>
                            </a:schemeClr>
                          </a:solidFill>
                          <a:effectLst/>
                        </a:rPr>
                        <a:t>Oedipus/Electra complex</a:t>
                      </a:r>
                    </a:p>
                  </a:txBody>
                  <a:tcPr marL="251621" marR="130843" marT="130843" marB="13084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fontAlgn="ctr"/>
                      <a:r>
                        <a:rPr lang="en-US" sz="1500">
                          <a:solidFill>
                            <a:schemeClr val="tx1">
                              <a:lumMod val="75000"/>
                              <a:lumOff val="25000"/>
                            </a:schemeClr>
                          </a:solidFill>
                          <a:effectLst/>
                        </a:rPr>
                        <a:t>Vanity, overambition</a:t>
                      </a:r>
                    </a:p>
                  </a:txBody>
                  <a:tcPr marL="251621" marR="130843" marT="130843" marB="13084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4178122014"/>
                  </a:ext>
                </a:extLst>
              </a:tr>
              <a:tr h="532273">
                <a:tc>
                  <a:txBody>
                    <a:bodyPr/>
                    <a:lstStyle/>
                    <a:p>
                      <a:pPr fontAlgn="ctr"/>
                      <a:r>
                        <a:rPr lang="en-US" sz="1500">
                          <a:solidFill>
                            <a:schemeClr val="tx1">
                              <a:lumMod val="75000"/>
                              <a:lumOff val="25000"/>
                            </a:schemeClr>
                          </a:solidFill>
                          <a:effectLst/>
                        </a:rPr>
                        <a:t>Latency</a:t>
                      </a:r>
                    </a:p>
                  </a:txBody>
                  <a:tcPr marL="251621" marR="130843" marT="130843" marB="13084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fontAlgn="ctr"/>
                      <a:r>
                        <a:rPr lang="en-US" sz="1500">
                          <a:solidFill>
                            <a:schemeClr val="tx1">
                              <a:lumMod val="75000"/>
                              <a:lumOff val="25000"/>
                            </a:schemeClr>
                          </a:solidFill>
                          <a:effectLst/>
                        </a:rPr>
                        <a:t>6–12</a:t>
                      </a:r>
                    </a:p>
                  </a:txBody>
                  <a:tcPr marL="251621" marR="130843" marT="130843" marB="13084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fontAlgn="ctr"/>
                      <a:r>
                        <a:rPr lang="en-US" sz="1500">
                          <a:solidFill>
                            <a:schemeClr val="tx1">
                              <a:lumMod val="75000"/>
                              <a:lumOff val="25000"/>
                            </a:schemeClr>
                          </a:solidFill>
                          <a:effectLst/>
                        </a:rPr>
                        <a:t>None</a:t>
                      </a:r>
                    </a:p>
                  </a:txBody>
                  <a:tcPr marL="251621" marR="130843" marT="130843" marB="13084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fontAlgn="ctr"/>
                      <a:r>
                        <a:rPr lang="en-US" sz="1500">
                          <a:solidFill>
                            <a:schemeClr val="tx1">
                              <a:lumMod val="75000"/>
                              <a:lumOff val="25000"/>
                            </a:schemeClr>
                          </a:solidFill>
                          <a:effectLst/>
                        </a:rPr>
                        <a:t>None</a:t>
                      </a:r>
                    </a:p>
                  </a:txBody>
                  <a:tcPr marL="251621" marR="130843" marT="130843" marB="13084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fontAlgn="ctr"/>
                      <a:r>
                        <a:rPr lang="en-US" sz="1500">
                          <a:solidFill>
                            <a:schemeClr val="tx1">
                              <a:lumMod val="75000"/>
                              <a:lumOff val="25000"/>
                            </a:schemeClr>
                          </a:solidFill>
                          <a:effectLst/>
                        </a:rPr>
                        <a:t>None</a:t>
                      </a:r>
                    </a:p>
                  </a:txBody>
                  <a:tcPr marL="251621" marR="130843" marT="130843" marB="130843"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2003875468"/>
                  </a:ext>
                </a:extLst>
              </a:tr>
              <a:tr h="532273">
                <a:tc>
                  <a:txBody>
                    <a:bodyPr/>
                    <a:lstStyle/>
                    <a:p>
                      <a:pPr fontAlgn="ctr"/>
                      <a:r>
                        <a:rPr lang="en-US" sz="1500">
                          <a:solidFill>
                            <a:schemeClr val="tx1">
                              <a:lumMod val="75000"/>
                              <a:lumOff val="25000"/>
                            </a:schemeClr>
                          </a:solidFill>
                          <a:effectLst/>
                        </a:rPr>
                        <a:t>Genital</a:t>
                      </a:r>
                    </a:p>
                  </a:txBody>
                  <a:tcPr marL="251621" marR="130843" marT="130843" marB="130843" anchor="ctr">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pPr fontAlgn="ctr"/>
                      <a:r>
                        <a:rPr lang="en-US" sz="1500">
                          <a:solidFill>
                            <a:schemeClr val="tx1">
                              <a:lumMod val="75000"/>
                              <a:lumOff val="25000"/>
                            </a:schemeClr>
                          </a:solidFill>
                          <a:effectLst/>
                        </a:rPr>
                        <a:t>12+</a:t>
                      </a:r>
                    </a:p>
                  </a:txBody>
                  <a:tcPr marL="251621" marR="130843" marT="130843" marB="130843" anchor="ctr">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pPr fontAlgn="ctr"/>
                      <a:r>
                        <a:rPr lang="en-US" sz="1500">
                          <a:solidFill>
                            <a:schemeClr val="tx1">
                              <a:lumMod val="75000"/>
                              <a:lumOff val="25000"/>
                            </a:schemeClr>
                          </a:solidFill>
                          <a:effectLst/>
                        </a:rPr>
                        <a:t>Genitals</a:t>
                      </a:r>
                    </a:p>
                  </a:txBody>
                  <a:tcPr marL="251621" marR="130843" marT="130843" marB="130843" anchor="ctr">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pPr fontAlgn="ctr"/>
                      <a:r>
                        <a:rPr lang="en-US" sz="1500">
                          <a:solidFill>
                            <a:schemeClr val="tx1">
                              <a:lumMod val="75000"/>
                              <a:lumOff val="25000"/>
                            </a:schemeClr>
                          </a:solidFill>
                          <a:effectLst/>
                        </a:rPr>
                        <a:t>None</a:t>
                      </a:r>
                    </a:p>
                  </a:txBody>
                  <a:tcPr marL="251621" marR="130843" marT="130843" marB="130843" anchor="ctr">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pPr fontAlgn="ctr"/>
                      <a:r>
                        <a:rPr lang="en-US" sz="1500" dirty="0">
                          <a:solidFill>
                            <a:schemeClr val="tx1">
                              <a:lumMod val="75000"/>
                              <a:lumOff val="25000"/>
                            </a:schemeClr>
                          </a:solidFill>
                          <a:effectLst/>
                        </a:rPr>
                        <a:t>None</a:t>
                      </a:r>
                    </a:p>
                  </a:txBody>
                  <a:tcPr marL="251621" marR="130843" marT="130843" marB="130843" anchor="ctr">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extLst>
                  <a:ext uri="{0D108BD9-81ED-4DB2-BD59-A6C34878D82A}">
                    <a16:rowId xmlns:a16="http://schemas.microsoft.com/office/drawing/2014/main" val="805048129"/>
                  </a:ext>
                </a:extLst>
              </a:tr>
            </a:tbl>
          </a:graphicData>
        </a:graphic>
      </p:graphicFrame>
    </p:spTree>
    <p:extLst>
      <p:ext uri="{BB962C8B-B14F-4D97-AF65-F5344CB8AC3E}">
        <p14:creationId xmlns:p14="http://schemas.microsoft.com/office/powerpoint/2010/main" val="1135283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196C6-1EBA-4D35-B6FD-4DC40C3AEB01}"/>
              </a:ext>
            </a:extLst>
          </p:cNvPr>
          <p:cNvSpPr>
            <a:spLocks noGrp="1"/>
          </p:cNvSpPr>
          <p:nvPr>
            <p:ph type="title"/>
          </p:nvPr>
        </p:nvSpPr>
        <p:spPr>
          <a:xfrm>
            <a:off x="2074460" y="1790700"/>
            <a:ext cx="8106770" cy="2010201"/>
          </a:xfrm>
        </p:spPr>
        <p:txBody>
          <a:bodyPr vert="horz" lIns="91440" tIns="45720" rIns="91440" bIns="45720" rtlCol="0" anchor="b">
            <a:normAutofit/>
          </a:bodyPr>
          <a:lstStyle/>
          <a:p>
            <a:pPr algn="ctr"/>
            <a:r>
              <a:rPr lang="en-US" dirty="0"/>
              <a:t>Neo-Freudians</a:t>
            </a:r>
            <a:endParaRPr lang="en-US"/>
          </a:p>
        </p:txBody>
      </p:sp>
    </p:spTree>
    <p:extLst>
      <p:ext uri="{BB962C8B-B14F-4D97-AF65-F5344CB8AC3E}">
        <p14:creationId xmlns:p14="http://schemas.microsoft.com/office/powerpoint/2010/main" val="900546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EBC0C-6A90-46BD-949A-92A7C705ED3A}"/>
              </a:ext>
            </a:extLst>
          </p:cNvPr>
          <p:cNvSpPr>
            <a:spLocks noGrp="1"/>
          </p:cNvSpPr>
          <p:nvPr>
            <p:ph type="title"/>
          </p:nvPr>
        </p:nvSpPr>
        <p:spPr>
          <a:xfrm>
            <a:off x="7166334" y="609601"/>
            <a:ext cx="4435115" cy="1537754"/>
          </a:xfrm>
        </p:spPr>
        <p:txBody>
          <a:bodyPr>
            <a:noAutofit/>
          </a:bodyPr>
          <a:lstStyle/>
          <a:p>
            <a:pPr algn="ctr">
              <a:lnSpc>
                <a:spcPct val="100000"/>
              </a:lnSpc>
            </a:pPr>
            <a:r>
              <a:rPr lang="en-US" sz="3200" dirty="0"/>
              <a:t>Alfred Adler: Individual Psychology</a:t>
            </a:r>
          </a:p>
        </p:txBody>
      </p:sp>
      <p:pic>
        <p:nvPicPr>
          <p:cNvPr id="6146" name="Picture 2">
            <a:extLst>
              <a:ext uri="{FF2B5EF4-FFF2-40B4-BE49-F238E27FC236}">
                <a16:creationId xmlns:a16="http://schemas.microsoft.com/office/drawing/2014/main" id="{F052DD2C-0AA7-4C65-BE99-0220E6CC2934}"/>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 b="12899"/>
          <a:stretch/>
        </p:blipFill>
        <p:spPr bwMode="auto">
          <a:xfrm>
            <a:off x="4" y="1"/>
            <a:ext cx="7037119" cy="6857999"/>
          </a:xfrm>
          <a:custGeom>
            <a:avLst/>
            <a:gdLst/>
            <a:ahLst/>
            <a:cxnLst/>
            <a:rect l="l" t="t" r="r" b="b"/>
            <a:pathLst>
              <a:path w="7037119" h="6857999">
                <a:moveTo>
                  <a:pt x="0" y="0"/>
                </a:moveTo>
                <a:lnTo>
                  <a:pt x="6964192" y="0"/>
                </a:lnTo>
                <a:lnTo>
                  <a:pt x="6958160" y="70714"/>
                </a:lnTo>
                <a:cubicBezTo>
                  <a:pt x="6951001" y="105084"/>
                  <a:pt x="6926062" y="125041"/>
                  <a:pt x="6922034" y="154825"/>
                </a:cubicBezTo>
                <a:cubicBezTo>
                  <a:pt x="6888738" y="184083"/>
                  <a:pt x="6875225" y="272154"/>
                  <a:pt x="6864029" y="301580"/>
                </a:cubicBezTo>
                <a:cubicBezTo>
                  <a:pt x="6850541" y="382476"/>
                  <a:pt x="6857766" y="543626"/>
                  <a:pt x="6842156" y="642469"/>
                </a:cubicBezTo>
                <a:cubicBezTo>
                  <a:pt x="6828250" y="715553"/>
                  <a:pt x="6832569" y="729947"/>
                  <a:pt x="6802087" y="818449"/>
                </a:cubicBezTo>
                <a:cubicBezTo>
                  <a:pt x="6828151" y="830541"/>
                  <a:pt x="6801214" y="859084"/>
                  <a:pt x="6798684" y="875396"/>
                </a:cubicBezTo>
                <a:cubicBezTo>
                  <a:pt x="6792414" y="895056"/>
                  <a:pt x="6762852" y="912465"/>
                  <a:pt x="6756983" y="952375"/>
                </a:cubicBezTo>
                <a:lnTo>
                  <a:pt x="6758478" y="972424"/>
                </a:lnTo>
                <a:lnTo>
                  <a:pt x="6752651" y="996407"/>
                </a:lnTo>
                <a:cubicBezTo>
                  <a:pt x="6744201" y="1040546"/>
                  <a:pt x="6736270" y="1086165"/>
                  <a:pt x="6716997" y="1091248"/>
                </a:cubicBezTo>
                <a:cubicBezTo>
                  <a:pt x="6678332" y="1122349"/>
                  <a:pt x="6707411" y="1240829"/>
                  <a:pt x="6657090" y="1307489"/>
                </a:cubicBezTo>
                <a:cubicBezTo>
                  <a:pt x="6621135" y="1444387"/>
                  <a:pt x="6524184" y="1590429"/>
                  <a:pt x="6508075" y="1709568"/>
                </a:cubicBezTo>
                <a:cubicBezTo>
                  <a:pt x="6474780" y="1738828"/>
                  <a:pt x="6473953" y="1782449"/>
                  <a:pt x="6462759" y="1811874"/>
                </a:cubicBezTo>
                <a:cubicBezTo>
                  <a:pt x="6449270" y="1892769"/>
                  <a:pt x="6399402" y="2130120"/>
                  <a:pt x="6383790" y="2228963"/>
                </a:cubicBezTo>
                <a:cubicBezTo>
                  <a:pt x="6369883" y="2302046"/>
                  <a:pt x="6399578" y="2316440"/>
                  <a:pt x="6369096" y="2404942"/>
                </a:cubicBezTo>
                <a:cubicBezTo>
                  <a:pt x="6395161" y="2417035"/>
                  <a:pt x="6368224" y="2445577"/>
                  <a:pt x="6365696" y="2461889"/>
                </a:cubicBezTo>
                <a:cubicBezTo>
                  <a:pt x="6359423" y="2481550"/>
                  <a:pt x="6329861" y="2498958"/>
                  <a:pt x="6323990" y="2538869"/>
                </a:cubicBezTo>
                <a:cubicBezTo>
                  <a:pt x="6317721" y="2603362"/>
                  <a:pt x="6317811" y="2723423"/>
                  <a:pt x="6299971" y="2852842"/>
                </a:cubicBezTo>
                <a:cubicBezTo>
                  <a:pt x="6296888" y="2889820"/>
                  <a:pt x="6314227" y="2924069"/>
                  <a:pt x="6305256" y="2965146"/>
                </a:cubicBezTo>
                <a:lnTo>
                  <a:pt x="6297430" y="3010980"/>
                </a:lnTo>
                <a:lnTo>
                  <a:pt x="6301903" y="3017531"/>
                </a:lnTo>
                <a:lnTo>
                  <a:pt x="6312288" y="3141762"/>
                </a:lnTo>
                <a:cubicBezTo>
                  <a:pt x="6310891" y="3148458"/>
                  <a:pt x="6311653" y="3156601"/>
                  <a:pt x="6317307" y="3167974"/>
                </a:cubicBezTo>
                <a:lnTo>
                  <a:pt x="6319343" y="3170223"/>
                </a:lnTo>
                <a:lnTo>
                  <a:pt x="6388791" y="3425292"/>
                </a:lnTo>
                <a:cubicBezTo>
                  <a:pt x="6411564" y="3519098"/>
                  <a:pt x="6451294" y="3670230"/>
                  <a:pt x="6473625" y="3778499"/>
                </a:cubicBezTo>
                <a:cubicBezTo>
                  <a:pt x="6461715" y="3876413"/>
                  <a:pt x="6479795" y="3911499"/>
                  <a:pt x="6488572" y="4010514"/>
                </a:cubicBezTo>
                <a:cubicBezTo>
                  <a:pt x="6537658" y="4041328"/>
                  <a:pt x="6522549" y="4094791"/>
                  <a:pt x="6542727" y="4142824"/>
                </a:cubicBezTo>
                <a:cubicBezTo>
                  <a:pt x="6562367" y="4174785"/>
                  <a:pt x="6560025" y="4194356"/>
                  <a:pt x="6574700" y="4253089"/>
                </a:cubicBezTo>
                <a:lnTo>
                  <a:pt x="6630782" y="4495230"/>
                </a:lnTo>
                <a:cubicBezTo>
                  <a:pt x="6629041" y="4518096"/>
                  <a:pt x="6642831" y="4583613"/>
                  <a:pt x="6657121" y="4592798"/>
                </a:cubicBezTo>
                <a:cubicBezTo>
                  <a:pt x="6662404" y="4605798"/>
                  <a:pt x="6661388" y="4622935"/>
                  <a:pt x="6675304" y="4625784"/>
                </a:cubicBezTo>
                <a:cubicBezTo>
                  <a:pt x="6692614" y="4632048"/>
                  <a:pt x="6678575" y="4686348"/>
                  <a:pt x="6695194" y="4674587"/>
                </a:cubicBezTo>
                <a:cubicBezTo>
                  <a:pt x="6692850" y="4684186"/>
                  <a:pt x="6692968" y="4695174"/>
                  <a:pt x="6694674" y="4706669"/>
                </a:cubicBezTo>
                <a:lnTo>
                  <a:pt x="6696125" y="4712312"/>
                </a:lnTo>
                <a:lnTo>
                  <a:pt x="6683308" y="4752491"/>
                </a:lnTo>
                <a:cubicBezTo>
                  <a:pt x="6668335" y="4814629"/>
                  <a:pt x="6667993" y="4870176"/>
                  <a:pt x="6662625" y="4924134"/>
                </a:cubicBezTo>
                <a:cubicBezTo>
                  <a:pt x="6658601" y="5004697"/>
                  <a:pt x="6700287" y="4943260"/>
                  <a:pt x="6666282" y="5049729"/>
                </a:cubicBezTo>
                <a:cubicBezTo>
                  <a:pt x="6680923" y="5057425"/>
                  <a:pt x="6681720" y="5069899"/>
                  <a:pt x="6674923" y="5092608"/>
                </a:cubicBezTo>
                <a:cubicBezTo>
                  <a:pt x="6674055" y="5131530"/>
                  <a:pt x="6710642" y="5120894"/>
                  <a:pt x="6688949" y="5164561"/>
                </a:cubicBezTo>
                <a:lnTo>
                  <a:pt x="6713476" y="5227429"/>
                </a:lnTo>
                <a:cubicBezTo>
                  <a:pt x="6707551" y="5224995"/>
                  <a:pt x="6700321" y="5279972"/>
                  <a:pt x="6699741" y="5295738"/>
                </a:cubicBezTo>
                <a:cubicBezTo>
                  <a:pt x="6701613" y="5328539"/>
                  <a:pt x="6674230" y="5338382"/>
                  <a:pt x="6698438" y="5353315"/>
                </a:cubicBezTo>
                <a:lnTo>
                  <a:pt x="6705394" y="5356747"/>
                </a:lnTo>
                <a:cubicBezTo>
                  <a:pt x="6705576" y="5359175"/>
                  <a:pt x="6705758" y="5361603"/>
                  <a:pt x="6705941" y="5364029"/>
                </a:cubicBezTo>
                <a:cubicBezTo>
                  <a:pt x="6705372" y="5367899"/>
                  <a:pt x="6703413" y="5370023"/>
                  <a:pt x="6698760" y="5369188"/>
                </a:cubicBezTo>
                <a:cubicBezTo>
                  <a:pt x="6715543" y="5400565"/>
                  <a:pt x="6682626" y="5434448"/>
                  <a:pt x="6674560" y="5465115"/>
                </a:cubicBezTo>
                <a:cubicBezTo>
                  <a:pt x="6691190" y="5489165"/>
                  <a:pt x="6702277" y="5478984"/>
                  <a:pt x="6698322" y="5543278"/>
                </a:cubicBezTo>
                <a:lnTo>
                  <a:pt x="6673987" y="5606762"/>
                </a:lnTo>
                <a:lnTo>
                  <a:pt x="6665359" y="5656986"/>
                </a:lnTo>
                <a:lnTo>
                  <a:pt x="6718420" y="5747675"/>
                </a:lnTo>
                <a:cubicBezTo>
                  <a:pt x="6736039" y="5788270"/>
                  <a:pt x="6794550" y="5740224"/>
                  <a:pt x="6786357" y="5797270"/>
                </a:cubicBezTo>
                <a:cubicBezTo>
                  <a:pt x="6803000" y="5835160"/>
                  <a:pt x="6831082" y="5856958"/>
                  <a:pt x="6834299" y="5897781"/>
                </a:cubicBezTo>
                <a:cubicBezTo>
                  <a:pt x="6850938" y="5902014"/>
                  <a:pt x="6860579" y="5910872"/>
                  <a:pt x="6848771" y="5936497"/>
                </a:cubicBezTo>
                <a:lnTo>
                  <a:pt x="6883460" y="6064046"/>
                </a:lnTo>
                <a:cubicBezTo>
                  <a:pt x="6906450" y="6070324"/>
                  <a:pt x="6870051" y="6102610"/>
                  <a:pt x="6896072" y="6107188"/>
                </a:cubicBezTo>
                <a:cubicBezTo>
                  <a:pt x="6912283" y="6129421"/>
                  <a:pt x="6963567" y="6167207"/>
                  <a:pt x="6980725" y="6197444"/>
                </a:cubicBezTo>
                <a:cubicBezTo>
                  <a:pt x="6947762" y="6297975"/>
                  <a:pt x="6995609" y="6226141"/>
                  <a:pt x="6999028" y="6288610"/>
                </a:cubicBezTo>
                <a:cubicBezTo>
                  <a:pt x="6997432" y="6346629"/>
                  <a:pt x="7058551" y="6337651"/>
                  <a:pt x="7021306" y="6426700"/>
                </a:cubicBezTo>
                <a:cubicBezTo>
                  <a:pt x="7020466" y="6447474"/>
                  <a:pt x="7026793" y="6469543"/>
                  <a:pt x="7033259" y="6489284"/>
                </a:cubicBezTo>
                <a:lnTo>
                  <a:pt x="7037119" y="6501140"/>
                </a:lnTo>
                <a:lnTo>
                  <a:pt x="7037119" y="6557754"/>
                </a:lnTo>
                <a:lnTo>
                  <a:pt x="7031649" y="6569925"/>
                </a:lnTo>
                <a:cubicBezTo>
                  <a:pt x="7023197" y="6591634"/>
                  <a:pt x="7028560" y="6588450"/>
                  <a:pt x="7011548" y="6615002"/>
                </a:cubicBezTo>
                <a:cubicBezTo>
                  <a:pt x="7016567" y="6637881"/>
                  <a:pt x="7011534" y="6732922"/>
                  <a:pt x="7021837" y="6743644"/>
                </a:cubicBezTo>
                <a:cubicBezTo>
                  <a:pt x="7023032" y="6757943"/>
                  <a:pt x="7005198" y="6842091"/>
                  <a:pt x="7006394" y="6856390"/>
                </a:cubicBezTo>
                <a:lnTo>
                  <a:pt x="7037119" y="6856494"/>
                </a:lnTo>
                <a:lnTo>
                  <a:pt x="7037119" y="6857999"/>
                </a:lnTo>
                <a:lnTo>
                  <a:pt x="0" y="6857999"/>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FC227B14-F13B-4701-829B-FDC7802A93E1}"/>
              </a:ext>
            </a:extLst>
          </p:cNvPr>
          <p:cNvSpPr>
            <a:spLocks noGrp="1"/>
          </p:cNvSpPr>
          <p:nvPr>
            <p:ph idx="1"/>
          </p:nvPr>
        </p:nvSpPr>
        <p:spPr>
          <a:xfrm>
            <a:off x="7166334" y="2449167"/>
            <a:ext cx="3885061" cy="4107021"/>
          </a:xfrm>
        </p:spPr>
        <p:txBody>
          <a:bodyPr>
            <a:normAutofit/>
          </a:bodyPr>
          <a:lstStyle/>
          <a:p>
            <a:r>
              <a:rPr lang="en-US" sz="2400" dirty="0"/>
              <a:t>Inferiority complex</a:t>
            </a:r>
          </a:p>
          <a:p>
            <a:r>
              <a:rPr lang="en-US" sz="2400" dirty="0"/>
              <a:t>Social connection</a:t>
            </a:r>
          </a:p>
          <a:p>
            <a:r>
              <a:rPr lang="en-US" sz="2400" dirty="0"/>
              <a:t>The three fundamental social tasks</a:t>
            </a:r>
          </a:p>
          <a:p>
            <a:r>
              <a:rPr lang="en-US" sz="2400" dirty="0"/>
              <a:t>Birth order</a:t>
            </a:r>
          </a:p>
        </p:txBody>
      </p:sp>
    </p:spTree>
    <p:extLst>
      <p:ext uri="{BB962C8B-B14F-4D97-AF65-F5344CB8AC3E}">
        <p14:creationId xmlns:p14="http://schemas.microsoft.com/office/powerpoint/2010/main" val="2710152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91487-5A0A-4C79-B6E8-1081899CCC6F}"/>
              </a:ext>
            </a:extLst>
          </p:cNvPr>
          <p:cNvSpPr>
            <a:spLocks noGrp="1"/>
          </p:cNvSpPr>
          <p:nvPr>
            <p:ph type="title"/>
          </p:nvPr>
        </p:nvSpPr>
        <p:spPr>
          <a:xfrm>
            <a:off x="1050879" y="609601"/>
            <a:ext cx="9810604" cy="1216024"/>
          </a:xfrm>
        </p:spPr>
        <p:txBody>
          <a:bodyPr vert="horz" lIns="91440" tIns="45720" rIns="91440" bIns="45720" rtlCol="0">
            <a:normAutofit/>
          </a:bodyPr>
          <a:lstStyle/>
          <a:p>
            <a:r>
              <a:rPr lang="en-US" dirty="0"/>
              <a:t>Erik Erikson: Psychosocial Stages</a:t>
            </a:r>
          </a:p>
        </p:txBody>
      </p:sp>
      <p:graphicFrame>
        <p:nvGraphicFramePr>
          <p:cNvPr id="4" name="Content Placeholder 3">
            <a:extLst>
              <a:ext uri="{FF2B5EF4-FFF2-40B4-BE49-F238E27FC236}">
                <a16:creationId xmlns:a16="http://schemas.microsoft.com/office/drawing/2014/main" id="{17644CBB-F77C-4559-A6F0-21935496E49E}"/>
              </a:ext>
            </a:extLst>
          </p:cNvPr>
          <p:cNvGraphicFramePr>
            <a:graphicFrameLocks noGrp="1"/>
          </p:cNvGraphicFramePr>
          <p:nvPr>
            <p:ph idx="1"/>
          </p:nvPr>
        </p:nvGraphicFramePr>
        <p:xfrm>
          <a:off x="1050925" y="1989063"/>
          <a:ext cx="9810752" cy="4102254"/>
        </p:xfrm>
        <a:graphic>
          <a:graphicData uri="http://schemas.openxmlformats.org/drawingml/2006/table">
            <a:tbl>
              <a:tblPr firstRow="1" bandRow="1">
                <a:noFill/>
              </a:tblPr>
              <a:tblGrid>
                <a:gridCol w="710686">
                  <a:extLst>
                    <a:ext uri="{9D8B030D-6E8A-4147-A177-3AD203B41FA5}">
                      <a16:colId xmlns:a16="http://schemas.microsoft.com/office/drawing/2014/main" val="114333015"/>
                    </a:ext>
                  </a:extLst>
                </a:gridCol>
                <a:gridCol w="1192902">
                  <a:extLst>
                    <a:ext uri="{9D8B030D-6E8A-4147-A177-3AD203B41FA5}">
                      <a16:colId xmlns:a16="http://schemas.microsoft.com/office/drawing/2014/main" val="1410692012"/>
                    </a:ext>
                  </a:extLst>
                </a:gridCol>
                <a:gridCol w="2547551">
                  <a:extLst>
                    <a:ext uri="{9D8B030D-6E8A-4147-A177-3AD203B41FA5}">
                      <a16:colId xmlns:a16="http://schemas.microsoft.com/office/drawing/2014/main" val="248542405"/>
                    </a:ext>
                  </a:extLst>
                </a:gridCol>
                <a:gridCol w="5359613">
                  <a:extLst>
                    <a:ext uri="{9D8B030D-6E8A-4147-A177-3AD203B41FA5}">
                      <a16:colId xmlns:a16="http://schemas.microsoft.com/office/drawing/2014/main" val="3621103106"/>
                    </a:ext>
                  </a:extLst>
                </a:gridCol>
              </a:tblGrid>
              <a:tr h="380451">
                <a:tc>
                  <a:txBody>
                    <a:bodyPr/>
                    <a:lstStyle/>
                    <a:p>
                      <a:pPr algn="l" fontAlgn="b"/>
                      <a:r>
                        <a:rPr lang="en-US" sz="1100" b="1" cap="all" spc="60">
                          <a:solidFill>
                            <a:schemeClr val="tx1"/>
                          </a:solidFill>
                          <a:effectLst/>
                        </a:rPr>
                        <a:t>Stage</a:t>
                      </a:r>
                    </a:p>
                  </a:txBody>
                  <a:tcPr marL="35080" marR="35080" marT="86908" marB="86908" anchor="b">
                    <a:lnL w="12700" cmpd="sng">
                      <a:noFill/>
                    </a:lnL>
                    <a:lnR w="12700" cmpd="sng">
                      <a:noFill/>
                    </a:lnR>
                    <a:lnT w="12700" cmpd="sng">
                      <a:noFill/>
                    </a:lnT>
                    <a:lnB w="38100" cmpd="sng">
                      <a:noFill/>
                    </a:lnB>
                    <a:noFill/>
                  </a:tcPr>
                </a:tc>
                <a:tc>
                  <a:txBody>
                    <a:bodyPr/>
                    <a:lstStyle/>
                    <a:p>
                      <a:pPr algn="l" fontAlgn="b"/>
                      <a:r>
                        <a:rPr lang="en-US" sz="1100" b="1" cap="all" spc="60">
                          <a:solidFill>
                            <a:schemeClr val="tx1"/>
                          </a:solidFill>
                          <a:effectLst/>
                        </a:rPr>
                        <a:t>Age (years)</a:t>
                      </a:r>
                    </a:p>
                  </a:txBody>
                  <a:tcPr marL="35080" marR="35080" marT="86908" marB="86908" anchor="b">
                    <a:lnL w="12700" cmpd="sng">
                      <a:noFill/>
                    </a:lnL>
                    <a:lnR w="12700" cmpd="sng">
                      <a:noFill/>
                    </a:lnR>
                    <a:lnT w="12700" cmpd="sng">
                      <a:noFill/>
                    </a:lnT>
                    <a:lnB w="38100" cmpd="sng">
                      <a:noFill/>
                    </a:lnB>
                    <a:noFill/>
                  </a:tcPr>
                </a:tc>
                <a:tc>
                  <a:txBody>
                    <a:bodyPr/>
                    <a:lstStyle/>
                    <a:p>
                      <a:pPr algn="l" fontAlgn="b"/>
                      <a:r>
                        <a:rPr lang="en-US" sz="1100" b="1" cap="all" spc="60">
                          <a:solidFill>
                            <a:schemeClr val="tx1"/>
                          </a:solidFill>
                          <a:effectLst/>
                        </a:rPr>
                        <a:t>Developmental Task</a:t>
                      </a:r>
                    </a:p>
                  </a:txBody>
                  <a:tcPr marL="35080" marR="35080" marT="86908" marB="86908" anchor="b">
                    <a:lnL w="12700" cmpd="sng">
                      <a:noFill/>
                    </a:lnL>
                    <a:lnR w="12700" cmpd="sng">
                      <a:noFill/>
                    </a:lnR>
                    <a:lnT w="12700" cmpd="sng">
                      <a:noFill/>
                    </a:lnT>
                    <a:lnB w="38100" cmpd="sng">
                      <a:noFill/>
                    </a:lnB>
                    <a:noFill/>
                  </a:tcPr>
                </a:tc>
                <a:tc>
                  <a:txBody>
                    <a:bodyPr/>
                    <a:lstStyle/>
                    <a:p>
                      <a:pPr algn="l" fontAlgn="b"/>
                      <a:r>
                        <a:rPr lang="en-US" sz="1100" b="1" cap="all" spc="60">
                          <a:solidFill>
                            <a:schemeClr val="tx1"/>
                          </a:solidFill>
                          <a:effectLst/>
                        </a:rPr>
                        <a:t>Description</a:t>
                      </a:r>
                    </a:p>
                  </a:txBody>
                  <a:tcPr marL="35080" marR="35080" marT="86908" marB="86908" anchor="b">
                    <a:lnL w="12700" cmpd="sng">
                      <a:noFill/>
                    </a:lnL>
                    <a:lnR w="12700" cmpd="sng">
                      <a:noFill/>
                    </a:lnR>
                    <a:lnT w="12700" cmpd="sng">
                      <a:noFill/>
                    </a:lnT>
                    <a:lnB w="38100" cmpd="sng">
                      <a:noFill/>
                    </a:lnB>
                    <a:noFill/>
                  </a:tcPr>
                </a:tc>
                <a:extLst>
                  <a:ext uri="{0D108BD9-81ED-4DB2-BD59-A6C34878D82A}">
                    <a16:rowId xmlns:a16="http://schemas.microsoft.com/office/drawing/2014/main" val="4257022488"/>
                  </a:ext>
                </a:extLst>
              </a:tr>
              <a:tr h="611036">
                <a:tc>
                  <a:txBody>
                    <a:bodyPr/>
                    <a:lstStyle/>
                    <a:p>
                      <a:pPr fontAlgn="ctr"/>
                      <a:r>
                        <a:rPr lang="en-US" sz="1500" cap="none" spc="0">
                          <a:solidFill>
                            <a:schemeClr val="tx1"/>
                          </a:solidFill>
                          <a:effectLst/>
                        </a:rPr>
                        <a:t>1</a:t>
                      </a:r>
                    </a:p>
                  </a:txBody>
                  <a:tcPr marL="35080" marR="35080" marT="17540" marB="86908" anchor="ctr">
                    <a:lnL w="12700" cap="flat" cmpd="sng" algn="ctr">
                      <a:noFill/>
                      <a:prstDash val="solid"/>
                    </a:lnL>
                    <a:lnR w="12700" cmpd="sng">
                      <a:noFill/>
                      <a:prstDash val="solid"/>
                    </a:lnR>
                    <a:lnT w="38100" cmpd="sng">
                      <a:noFill/>
                    </a:lnT>
                    <a:lnB w="12700" cmpd="sng">
                      <a:noFill/>
                      <a:prstDash val="solid"/>
                    </a:lnB>
                    <a:noFill/>
                  </a:tcPr>
                </a:tc>
                <a:tc>
                  <a:txBody>
                    <a:bodyPr/>
                    <a:lstStyle/>
                    <a:p>
                      <a:pPr fontAlgn="ctr"/>
                      <a:r>
                        <a:rPr lang="en-US" sz="1500" cap="none" spc="0">
                          <a:solidFill>
                            <a:schemeClr val="tx1"/>
                          </a:solidFill>
                          <a:effectLst/>
                        </a:rPr>
                        <a:t>0–1</a:t>
                      </a:r>
                    </a:p>
                  </a:txBody>
                  <a:tcPr marL="35080" marR="35080" marT="17540" marB="86908" anchor="ctr">
                    <a:lnL w="12700" cmpd="sng">
                      <a:noFill/>
                      <a:prstDash val="solid"/>
                    </a:lnL>
                    <a:lnR w="12700" cmpd="sng">
                      <a:noFill/>
                      <a:prstDash val="solid"/>
                    </a:lnR>
                    <a:lnT w="38100" cmpd="sng">
                      <a:noFill/>
                    </a:lnT>
                    <a:lnB w="12700" cmpd="sng">
                      <a:noFill/>
                      <a:prstDash val="solid"/>
                    </a:lnB>
                    <a:noFill/>
                  </a:tcPr>
                </a:tc>
                <a:tc>
                  <a:txBody>
                    <a:bodyPr/>
                    <a:lstStyle/>
                    <a:p>
                      <a:pPr fontAlgn="ctr"/>
                      <a:r>
                        <a:rPr lang="en-US" sz="1500" cap="none" spc="0">
                          <a:solidFill>
                            <a:schemeClr val="tx1"/>
                          </a:solidFill>
                          <a:effectLst/>
                        </a:rPr>
                        <a:t>Trust vs. mistrust</a:t>
                      </a:r>
                    </a:p>
                  </a:txBody>
                  <a:tcPr marL="35080" marR="35080" marT="17540" marB="86908" anchor="ctr">
                    <a:lnL w="12700" cmpd="sng">
                      <a:noFill/>
                      <a:prstDash val="solid"/>
                    </a:lnL>
                    <a:lnR w="12700" cmpd="sng">
                      <a:noFill/>
                      <a:prstDash val="solid"/>
                    </a:lnR>
                    <a:lnT w="38100" cmpd="sng">
                      <a:noFill/>
                    </a:lnT>
                    <a:lnB w="12700" cmpd="sng">
                      <a:noFill/>
                      <a:prstDash val="solid"/>
                    </a:lnB>
                    <a:noFill/>
                  </a:tcPr>
                </a:tc>
                <a:tc>
                  <a:txBody>
                    <a:bodyPr/>
                    <a:lstStyle/>
                    <a:p>
                      <a:pPr fontAlgn="ctr"/>
                      <a:r>
                        <a:rPr lang="en-US" sz="1500" cap="none" spc="0">
                          <a:solidFill>
                            <a:schemeClr val="tx1"/>
                          </a:solidFill>
                          <a:effectLst/>
                        </a:rPr>
                        <a:t>Trust (or mistrust) that basic needs, such as nourishment and affection, will be met</a:t>
                      </a:r>
                    </a:p>
                  </a:txBody>
                  <a:tcPr marL="35080" marR="35080" marT="17540" marB="86908" anchor="ctr">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2559356809"/>
                  </a:ext>
                </a:extLst>
              </a:tr>
              <a:tr h="377739">
                <a:tc>
                  <a:txBody>
                    <a:bodyPr/>
                    <a:lstStyle/>
                    <a:p>
                      <a:pPr fontAlgn="ctr"/>
                      <a:r>
                        <a:rPr lang="en-US" sz="1500" cap="none" spc="0">
                          <a:solidFill>
                            <a:schemeClr val="tx1"/>
                          </a:solidFill>
                          <a:effectLst/>
                        </a:rPr>
                        <a:t>2</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500" cap="none" spc="0">
                          <a:solidFill>
                            <a:schemeClr val="tx1"/>
                          </a:solidFill>
                          <a:effectLst/>
                        </a:rPr>
                        <a:t>1–3</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500" cap="none" spc="0">
                          <a:solidFill>
                            <a:schemeClr val="tx1"/>
                          </a:solidFill>
                          <a:effectLst/>
                        </a:rPr>
                        <a:t>Autonomy vs. shame/doubt</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500" cap="none" spc="0">
                          <a:solidFill>
                            <a:schemeClr val="tx1"/>
                          </a:solidFill>
                          <a:effectLst/>
                        </a:rPr>
                        <a:t>Sense of independence in many tasks develops</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857610222"/>
                  </a:ext>
                </a:extLst>
              </a:tr>
              <a:tr h="611036">
                <a:tc>
                  <a:txBody>
                    <a:bodyPr/>
                    <a:lstStyle/>
                    <a:p>
                      <a:pPr fontAlgn="ctr"/>
                      <a:r>
                        <a:rPr lang="en-US" sz="1500" cap="none" spc="0">
                          <a:solidFill>
                            <a:schemeClr val="tx1"/>
                          </a:solidFill>
                          <a:effectLst/>
                        </a:rPr>
                        <a:t>3</a:t>
                      </a:r>
                    </a:p>
                  </a:txBody>
                  <a:tcPr marL="35080" marR="35080" marT="17540" marB="86908" anchor="ctr">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fontAlgn="ctr"/>
                      <a:r>
                        <a:rPr lang="en-US" sz="1500" cap="none" spc="0">
                          <a:solidFill>
                            <a:schemeClr val="tx1"/>
                          </a:solidFill>
                          <a:effectLst/>
                        </a:rPr>
                        <a:t>3–6</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noFill/>
                  </a:tcPr>
                </a:tc>
                <a:tc>
                  <a:txBody>
                    <a:bodyPr/>
                    <a:lstStyle/>
                    <a:p>
                      <a:pPr fontAlgn="ctr"/>
                      <a:r>
                        <a:rPr lang="en-US" sz="1500" cap="none" spc="0">
                          <a:solidFill>
                            <a:schemeClr val="tx1"/>
                          </a:solidFill>
                          <a:effectLst/>
                        </a:rPr>
                        <a:t>Initiative vs. guilt</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noFill/>
                  </a:tcPr>
                </a:tc>
                <a:tc>
                  <a:txBody>
                    <a:bodyPr/>
                    <a:lstStyle/>
                    <a:p>
                      <a:pPr fontAlgn="ctr"/>
                      <a:r>
                        <a:rPr lang="en-US" sz="1500" cap="none" spc="0">
                          <a:solidFill>
                            <a:schemeClr val="tx1"/>
                          </a:solidFill>
                          <a:effectLst/>
                        </a:rPr>
                        <a:t>Take initiative on some activities, may develop guilt when success not met or boundaries overstepped</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394211347"/>
                  </a:ext>
                </a:extLst>
              </a:tr>
              <a:tr h="611036">
                <a:tc>
                  <a:txBody>
                    <a:bodyPr/>
                    <a:lstStyle/>
                    <a:p>
                      <a:pPr fontAlgn="ctr"/>
                      <a:r>
                        <a:rPr lang="en-US" sz="1500" cap="none" spc="0">
                          <a:solidFill>
                            <a:schemeClr val="tx1"/>
                          </a:solidFill>
                          <a:effectLst/>
                        </a:rPr>
                        <a:t>4</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500" cap="none" spc="0">
                          <a:solidFill>
                            <a:schemeClr val="tx1"/>
                          </a:solidFill>
                          <a:effectLst/>
                        </a:rPr>
                        <a:t>7–11</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500" cap="none" spc="0">
                          <a:solidFill>
                            <a:schemeClr val="tx1"/>
                          </a:solidFill>
                          <a:effectLst/>
                        </a:rPr>
                        <a:t>Industry vs. inferiority</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500" cap="none" spc="0">
                          <a:solidFill>
                            <a:schemeClr val="tx1"/>
                          </a:solidFill>
                          <a:effectLst/>
                        </a:rPr>
                        <a:t>Develop self-confidence in abilities when competent or sense of inferiority when not</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230271584"/>
                  </a:ext>
                </a:extLst>
              </a:tr>
              <a:tr h="377739">
                <a:tc>
                  <a:txBody>
                    <a:bodyPr/>
                    <a:lstStyle/>
                    <a:p>
                      <a:pPr fontAlgn="ctr"/>
                      <a:r>
                        <a:rPr lang="en-US" sz="1500" cap="none" spc="0">
                          <a:solidFill>
                            <a:schemeClr val="tx1"/>
                          </a:solidFill>
                          <a:effectLst/>
                        </a:rPr>
                        <a:t>5</a:t>
                      </a:r>
                    </a:p>
                  </a:txBody>
                  <a:tcPr marL="35080" marR="35080" marT="17540" marB="86908" anchor="ctr">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fontAlgn="ctr"/>
                      <a:r>
                        <a:rPr lang="en-US" sz="1500" cap="none" spc="0">
                          <a:solidFill>
                            <a:schemeClr val="tx1"/>
                          </a:solidFill>
                          <a:effectLst/>
                        </a:rPr>
                        <a:t>12–18</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noFill/>
                  </a:tcPr>
                </a:tc>
                <a:tc>
                  <a:txBody>
                    <a:bodyPr/>
                    <a:lstStyle/>
                    <a:p>
                      <a:pPr fontAlgn="ctr"/>
                      <a:r>
                        <a:rPr lang="en-US" sz="1500" cap="none" spc="0">
                          <a:solidFill>
                            <a:schemeClr val="tx1"/>
                          </a:solidFill>
                          <a:effectLst/>
                        </a:rPr>
                        <a:t>Identity vs. confusion</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noFill/>
                  </a:tcPr>
                </a:tc>
                <a:tc>
                  <a:txBody>
                    <a:bodyPr/>
                    <a:lstStyle/>
                    <a:p>
                      <a:pPr fontAlgn="ctr"/>
                      <a:r>
                        <a:rPr lang="en-US" sz="1500" cap="none" spc="0">
                          <a:solidFill>
                            <a:schemeClr val="tx1"/>
                          </a:solidFill>
                          <a:effectLst/>
                        </a:rPr>
                        <a:t>Experiment with and develop identity and roles</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119378941"/>
                  </a:ext>
                </a:extLst>
              </a:tr>
              <a:tr h="377739">
                <a:tc>
                  <a:txBody>
                    <a:bodyPr/>
                    <a:lstStyle/>
                    <a:p>
                      <a:pPr fontAlgn="ctr"/>
                      <a:r>
                        <a:rPr lang="en-US" sz="1500" cap="none" spc="0">
                          <a:solidFill>
                            <a:schemeClr val="tx1"/>
                          </a:solidFill>
                          <a:effectLst/>
                        </a:rPr>
                        <a:t>6</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500" cap="none" spc="0">
                          <a:solidFill>
                            <a:schemeClr val="tx1"/>
                          </a:solidFill>
                          <a:effectLst/>
                        </a:rPr>
                        <a:t>19–29</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500" cap="none" spc="0">
                          <a:solidFill>
                            <a:schemeClr val="tx1"/>
                          </a:solidFill>
                          <a:effectLst/>
                        </a:rPr>
                        <a:t>Intimacy vs. isolation</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500" cap="none" spc="0">
                          <a:solidFill>
                            <a:schemeClr val="tx1"/>
                          </a:solidFill>
                          <a:effectLst/>
                        </a:rPr>
                        <a:t>Establish intimacy and relationships with others</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134140378"/>
                  </a:ext>
                </a:extLst>
              </a:tr>
              <a:tr h="377739">
                <a:tc>
                  <a:txBody>
                    <a:bodyPr/>
                    <a:lstStyle/>
                    <a:p>
                      <a:pPr fontAlgn="ctr"/>
                      <a:r>
                        <a:rPr lang="en-US" sz="1500" cap="none" spc="0">
                          <a:solidFill>
                            <a:schemeClr val="tx1"/>
                          </a:solidFill>
                          <a:effectLst/>
                        </a:rPr>
                        <a:t>7</a:t>
                      </a:r>
                    </a:p>
                  </a:txBody>
                  <a:tcPr marL="35080" marR="35080" marT="17540" marB="86908" anchor="ctr">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fontAlgn="ctr"/>
                      <a:r>
                        <a:rPr lang="en-US" sz="1500" cap="none" spc="0">
                          <a:solidFill>
                            <a:schemeClr val="tx1"/>
                          </a:solidFill>
                          <a:effectLst/>
                        </a:rPr>
                        <a:t>30–64</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noFill/>
                  </a:tcPr>
                </a:tc>
                <a:tc>
                  <a:txBody>
                    <a:bodyPr/>
                    <a:lstStyle/>
                    <a:p>
                      <a:pPr fontAlgn="ctr"/>
                      <a:r>
                        <a:rPr lang="en-US" sz="1500" cap="none" spc="0">
                          <a:solidFill>
                            <a:schemeClr val="tx1"/>
                          </a:solidFill>
                          <a:effectLst/>
                        </a:rPr>
                        <a:t>Generativity vs. stagnation</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noFill/>
                  </a:tcPr>
                </a:tc>
                <a:tc>
                  <a:txBody>
                    <a:bodyPr/>
                    <a:lstStyle/>
                    <a:p>
                      <a:pPr fontAlgn="ctr"/>
                      <a:r>
                        <a:rPr lang="en-US" sz="1500" cap="none" spc="0">
                          <a:solidFill>
                            <a:schemeClr val="tx1"/>
                          </a:solidFill>
                          <a:effectLst/>
                        </a:rPr>
                        <a:t>Contribute to society and be part of a family</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0440048"/>
                  </a:ext>
                </a:extLst>
              </a:tr>
              <a:tr h="377739">
                <a:tc>
                  <a:txBody>
                    <a:bodyPr/>
                    <a:lstStyle/>
                    <a:p>
                      <a:pPr fontAlgn="ctr"/>
                      <a:r>
                        <a:rPr lang="en-US" sz="1500" cap="none" spc="0">
                          <a:solidFill>
                            <a:schemeClr val="tx1"/>
                          </a:solidFill>
                          <a:effectLst/>
                        </a:rPr>
                        <a:t>8</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500" cap="none" spc="0">
                          <a:solidFill>
                            <a:schemeClr val="tx1"/>
                          </a:solidFill>
                          <a:effectLst/>
                        </a:rPr>
                        <a:t>65–</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500" cap="none" spc="0">
                          <a:solidFill>
                            <a:schemeClr val="tx1"/>
                          </a:solidFill>
                          <a:effectLst/>
                        </a:rPr>
                        <a:t>Integrity vs. despair</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500" cap="none" spc="0">
                          <a:solidFill>
                            <a:schemeClr val="tx1"/>
                          </a:solidFill>
                          <a:effectLst/>
                        </a:rPr>
                        <a:t>Assess and make sense of life and meaning of contributions</a:t>
                      </a:r>
                    </a:p>
                  </a:txBody>
                  <a:tcPr marL="35080" marR="35080" marT="17540" marB="8690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4232477886"/>
                  </a:ext>
                </a:extLst>
              </a:tr>
            </a:tbl>
          </a:graphicData>
        </a:graphic>
      </p:graphicFrame>
    </p:spTree>
    <p:extLst>
      <p:ext uri="{BB962C8B-B14F-4D97-AF65-F5344CB8AC3E}">
        <p14:creationId xmlns:p14="http://schemas.microsoft.com/office/powerpoint/2010/main" val="298269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54F82-1D38-4043-92B3-8926826F42D6}"/>
              </a:ext>
            </a:extLst>
          </p:cNvPr>
          <p:cNvSpPr>
            <a:spLocks noGrp="1"/>
          </p:cNvSpPr>
          <p:nvPr>
            <p:ph type="title"/>
          </p:nvPr>
        </p:nvSpPr>
        <p:spPr>
          <a:xfrm>
            <a:off x="5177859" y="609601"/>
            <a:ext cx="5683623" cy="1216024"/>
          </a:xfrm>
        </p:spPr>
        <p:txBody>
          <a:bodyPr>
            <a:normAutofit/>
          </a:bodyPr>
          <a:lstStyle/>
          <a:p>
            <a:pPr>
              <a:lnSpc>
                <a:spcPct val="100000"/>
              </a:lnSpc>
            </a:pPr>
            <a:r>
              <a:rPr lang="en-US" sz="2400" dirty="0"/>
              <a:t>Carl Jung: Analytical Psychology</a:t>
            </a:r>
          </a:p>
        </p:txBody>
      </p:sp>
      <p:pic>
        <p:nvPicPr>
          <p:cNvPr id="8194" name="Picture 2" descr="A photograph shows Carl Jung.">
            <a:extLst>
              <a:ext uri="{FF2B5EF4-FFF2-40B4-BE49-F238E27FC236}">
                <a16:creationId xmlns:a16="http://schemas.microsoft.com/office/drawing/2014/main" id="{0E03EACC-5866-463C-91F0-08B903EDC204}"/>
              </a:ext>
              <a:ext uri="{C183D7F6-B498-43B3-948B-1728B52AA6E4}">
                <adec:decorative xmlns:adec="http://schemas.microsoft.com/office/drawing/2017/decorative" val="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 b="21111"/>
          <a:stretch/>
        </p:blipFill>
        <p:spPr bwMode="auto">
          <a:xfrm>
            <a:off x="20" y="2"/>
            <a:ext cx="4585628" cy="6857998"/>
          </a:xfrm>
          <a:custGeom>
            <a:avLst/>
            <a:gdLst/>
            <a:ahLst/>
            <a:cxnLst/>
            <a:rect l="l" t="t" r="r" b="b"/>
            <a:pathLst>
              <a:path w="4585648" h="6857998">
                <a:moveTo>
                  <a:pt x="0" y="0"/>
                </a:moveTo>
                <a:lnTo>
                  <a:pt x="3944047" y="0"/>
                </a:lnTo>
                <a:lnTo>
                  <a:pt x="3944688" y="10340"/>
                </a:lnTo>
                <a:cubicBezTo>
                  <a:pt x="3965528" y="36732"/>
                  <a:pt x="3945672" y="53579"/>
                  <a:pt x="3950304" y="81398"/>
                </a:cubicBezTo>
                <a:cubicBezTo>
                  <a:pt x="3979668" y="102733"/>
                  <a:pt x="3935739" y="103225"/>
                  <a:pt x="3930579" y="118301"/>
                </a:cubicBezTo>
                <a:lnTo>
                  <a:pt x="3930846" y="122373"/>
                </a:lnTo>
                <a:lnTo>
                  <a:pt x="3937038" y="132397"/>
                </a:lnTo>
                <a:lnTo>
                  <a:pt x="3940265" y="135982"/>
                </a:lnTo>
                <a:cubicBezTo>
                  <a:pt x="3942154" y="138523"/>
                  <a:pt x="3942977" y="140298"/>
                  <a:pt x="3943073" y="141620"/>
                </a:cubicBezTo>
                <a:cubicBezTo>
                  <a:pt x="3942998" y="141685"/>
                  <a:pt x="3942926" y="141751"/>
                  <a:pt x="3942854" y="141816"/>
                </a:cubicBezTo>
                <a:lnTo>
                  <a:pt x="3946045" y="146983"/>
                </a:lnTo>
                <a:cubicBezTo>
                  <a:pt x="3952085" y="155570"/>
                  <a:pt x="3958585" y="163800"/>
                  <a:pt x="3965281" y="171535"/>
                </a:cubicBezTo>
                <a:cubicBezTo>
                  <a:pt x="3952744" y="181711"/>
                  <a:pt x="3987015" y="208379"/>
                  <a:pt x="3955100" y="211093"/>
                </a:cubicBezTo>
                <a:cubicBezTo>
                  <a:pt x="3963231" y="221704"/>
                  <a:pt x="3979172" y="225918"/>
                  <a:pt x="3957453" y="226143"/>
                </a:cubicBezTo>
                <a:cubicBezTo>
                  <a:pt x="3959561" y="229747"/>
                  <a:pt x="3959011" y="232340"/>
                  <a:pt x="3957179" y="234484"/>
                </a:cubicBezTo>
                <a:lnTo>
                  <a:pt x="3956175" y="235199"/>
                </a:lnTo>
                <a:lnTo>
                  <a:pt x="3974755" y="258709"/>
                </a:lnTo>
                <a:cubicBezTo>
                  <a:pt x="3974810" y="259903"/>
                  <a:pt x="3974864" y="261097"/>
                  <a:pt x="3974919" y="262291"/>
                </a:cubicBezTo>
                <a:lnTo>
                  <a:pt x="3989981" y="277023"/>
                </a:lnTo>
                <a:lnTo>
                  <a:pt x="3996191" y="284947"/>
                </a:lnTo>
                <a:lnTo>
                  <a:pt x="4001190" y="286536"/>
                </a:lnTo>
                <a:cubicBezTo>
                  <a:pt x="4004786" y="288616"/>
                  <a:pt x="4007623" y="292056"/>
                  <a:pt x="4008705" y="298565"/>
                </a:cubicBezTo>
                <a:cubicBezTo>
                  <a:pt x="4008585" y="299108"/>
                  <a:pt x="4008465" y="299650"/>
                  <a:pt x="4008344" y="300194"/>
                </a:cubicBezTo>
                <a:lnTo>
                  <a:pt x="4019098" y="309203"/>
                </a:lnTo>
                <a:cubicBezTo>
                  <a:pt x="4023353" y="311943"/>
                  <a:pt x="4028131" y="314172"/>
                  <a:pt x="4033618" y="315650"/>
                </a:cubicBezTo>
                <a:cubicBezTo>
                  <a:pt x="4027964" y="354775"/>
                  <a:pt x="4065415" y="383133"/>
                  <a:pt x="4080284" y="421400"/>
                </a:cubicBezTo>
                <a:cubicBezTo>
                  <a:pt x="4052614" y="444764"/>
                  <a:pt x="4129047" y="500739"/>
                  <a:pt x="4168461" y="503092"/>
                </a:cubicBezTo>
                <a:cubicBezTo>
                  <a:pt x="4128023" y="511488"/>
                  <a:pt x="4257167" y="577423"/>
                  <a:pt x="4192557" y="560735"/>
                </a:cubicBezTo>
                <a:cubicBezTo>
                  <a:pt x="4202585" y="572893"/>
                  <a:pt x="4193454" y="589341"/>
                  <a:pt x="4176910" y="584674"/>
                </a:cubicBezTo>
                <a:cubicBezTo>
                  <a:pt x="4224177" y="618252"/>
                  <a:pt x="4225772" y="681450"/>
                  <a:pt x="4260533" y="723119"/>
                </a:cubicBezTo>
                <a:cubicBezTo>
                  <a:pt x="4242328" y="753272"/>
                  <a:pt x="4263820" y="734604"/>
                  <a:pt x="4270711" y="760720"/>
                </a:cubicBezTo>
                <a:cubicBezTo>
                  <a:pt x="4295191" y="748303"/>
                  <a:pt x="4270314" y="794183"/>
                  <a:pt x="4302509" y="789247"/>
                </a:cubicBezTo>
                <a:cubicBezTo>
                  <a:pt x="4302741" y="794159"/>
                  <a:pt x="4301954" y="799070"/>
                  <a:pt x="4300921" y="804034"/>
                </a:cubicBezTo>
                <a:cubicBezTo>
                  <a:pt x="4300749" y="804900"/>
                  <a:pt x="4300572" y="805767"/>
                  <a:pt x="4300400" y="806635"/>
                </a:cubicBezTo>
                <a:lnTo>
                  <a:pt x="4303753" y="815950"/>
                </a:lnTo>
                <a:lnTo>
                  <a:pt x="4297888" y="819940"/>
                </a:lnTo>
                <a:cubicBezTo>
                  <a:pt x="4297944" y="824938"/>
                  <a:pt x="4297999" y="829937"/>
                  <a:pt x="4298055" y="834935"/>
                </a:cubicBezTo>
                <a:cubicBezTo>
                  <a:pt x="4299172" y="840340"/>
                  <a:pt x="4301603" y="845911"/>
                  <a:pt x="4306135" y="851700"/>
                </a:cubicBezTo>
                <a:cubicBezTo>
                  <a:pt x="4332817" y="868320"/>
                  <a:pt x="4317557" y="909641"/>
                  <a:pt x="4352091" y="929754"/>
                </a:cubicBezTo>
                <a:cubicBezTo>
                  <a:pt x="4362479" y="937980"/>
                  <a:pt x="4380484" y="968513"/>
                  <a:pt x="4375270" y="977376"/>
                </a:cubicBezTo>
                <a:cubicBezTo>
                  <a:pt x="4377250" y="984377"/>
                  <a:pt x="4384849" y="990651"/>
                  <a:pt x="4377297" y="996912"/>
                </a:cubicBezTo>
                <a:cubicBezTo>
                  <a:pt x="4369005" y="1005760"/>
                  <a:pt x="4399874" y="1021625"/>
                  <a:pt x="4384684" y="1023223"/>
                </a:cubicBezTo>
                <a:cubicBezTo>
                  <a:pt x="4406172" y="1034643"/>
                  <a:pt x="4390237" y="1055523"/>
                  <a:pt x="4392472" y="1070780"/>
                </a:cubicBezTo>
                <a:cubicBezTo>
                  <a:pt x="4411832" y="1078905"/>
                  <a:pt x="4397439" y="1102903"/>
                  <a:pt x="4412067" y="1132722"/>
                </a:cubicBezTo>
                <a:cubicBezTo>
                  <a:pt x="4434025" y="1141419"/>
                  <a:pt x="4421728" y="1152870"/>
                  <a:pt x="4455281" y="1171648"/>
                </a:cubicBezTo>
                <a:cubicBezTo>
                  <a:pt x="4453907" y="1173110"/>
                  <a:pt x="4452815" y="1174775"/>
                  <a:pt x="4452047" y="1176593"/>
                </a:cubicBezTo>
                <a:cubicBezTo>
                  <a:pt x="4447572" y="1187166"/>
                  <a:pt x="4454607" y="1200545"/>
                  <a:pt x="4467755" y="1206479"/>
                </a:cubicBezTo>
                <a:lnTo>
                  <a:pt x="4498518" y="1230184"/>
                </a:lnTo>
                <a:lnTo>
                  <a:pt x="4503988" y="1239714"/>
                </a:lnTo>
                <a:cubicBezTo>
                  <a:pt x="4506730" y="1246063"/>
                  <a:pt x="4507415" y="1251722"/>
                  <a:pt x="4506821" y="1256926"/>
                </a:cubicBezTo>
                <a:lnTo>
                  <a:pt x="4502210" y="1270678"/>
                </a:lnTo>
                <a:lnTo>
                  <a:pt x="4494994" y="1272955"/>
                </a:lnTo>
                <a:lnTo>
                  <a:pt x="4495424" y="1282254"/>
                </a:lnTo>
                <a:lnTo>
                  <a:pt x="4494064" y="1284511"/>
                </a:lnTo>
                <a:cubicBezTo>
                  <a:pt x="4491436" y="1288808"/>
                  <a:pt x="4489075" y="1293117"/>
                  <a:pt x="4487745" y="1297660"/>
                </a:cubicBezTo>
                <a:cubicBezTo>
                  <a:pt x="4521914" y="1300656"/>
                  <a:pt x="4482088" y="1336801"/>
                  <a:pt x="4510831" y="1331158"/>
                </a:cubicBezTo>
                <a:cubicBezTo>
                  <a:pt x="4509485" y="1356644"/>
                  <a:pt x="4537196" y="1344587"/>
                  <a:pt x="4509149" y="1367911"/>
                </a:cubicBezTo>
                <a:cubicBezTo>
                  <a:pt x="4525575" y="1402569"/>
                  <a:pt x="4519252" y="1443943"/>
                  <a:pt x="4530734" y="1480066"/>
                </a:cubicBezTo>
                <a:lnTo>
                  <a:pt x="4531332" y="1481140"/>
                </a:lnTo>
                <a:lnTo>
                  <a:pt x="4523757" y="1500827"/>
                </a:lnTo>
                <a:lnTo>
                  <a:pt x="4517749" y="1528834"/>
                </a:lnTo>
                <a:lnTo>
                  <a:pt x="4510978" y="1526104"/>
                </a:lnTo>
                <a:cubicBezTo>
                  <a:pt x="4505305" y="1525236"/>
                  <a:pt x="4507721" y="1530251"/>
                  <a:pt x="4513177" y="1537822"/>
                </a:cubicBezTo>
                <a:lnTo>
                  <a:pt x="4515243" y="1540521"/>
                </a:lnTo>
                <a:lnTo>
                  <a:pt x="4514146" y="1545627"/>
                </a:lnTo>
                <a:cubicBezTo>
                  <a:pt x="4512031" y="1559801"/>
                  <a:pt x="4511188" y="1572109"/>
                  <a:pt x="4512185" y="1579228"/>
                </a:cubicBezTo>
                <a:cubicBezTo>
                  <a:pt x="4545845" y="1639398"/>
                  <a:pt x="4550705" y="1726741"/>
                  <a:pt x="4554335" y="1818364"/>
                </a:cubicBezTo>
                <a:cubicBezTo>
                  <a:pt x="4560401" y="1899079"/>
                  <a:pt x="4548295" y="2018831"/>
                  <a:pt x="4548582" y="2063518"/>
                </a:cubicBezTo>
                <a:lnTo>
                  <a:pt x="4556056" y="2086487"/>
                </a:lnTo>
                <a:lnTo>
                  <a:pt x="4554275" y="2089340"/>
                </a:lnTo>
                <a:cubicBezTo>
                  <a:pt x="4550593" y="2102174"/>
                  <a:pt x="4551716" y="2110234"/>
                  <a:pt x="4554956" y="2116163"/>
                </a:cubicBezTo>
                <a:lnTo>
                  <a:pt x="4560492" y="2121961"/>
                </a:lnTo>
                <a:lnTo>
                  <a:pt x="4571444" y="2176482"/>
                </a:lnTo>
                <a:lnTo>
                  <a:pt x="4575448" y="2237907"/>
                </a:lnTo>
                <a:lnTo>
                  <a:pt x="4573513" y="2238688"/>
                </a:lnTo>
                <a:cubicBezTo>
                  <a:pt x="4569330" y="2241686"/>
                  <a:pt x="4566526" y="2246244"/>
                  <a:pt x="4566533" y="2254203"/>
                </a:cubicBezTo>
                <a:cubicBezTo>
                  <a:pt x="4536852" y="2242405"/>
                  <a:pt x="4555170" y="2259280"/>
                  <a:pt x="4557814" y="2283790"/>
                </a:cubicBezTo>
                <a:cubicBezTo>
                  <a:pt x="4512304" y="2270934"/>
                  <a:pt x="4537738" y="2340304"/>
                  <a:pt x="4512647" y="2352361"/>
                </a:cubicBezTo>
                <a:cubicBezTo>
                  <a:pt x="4515616" y="2370657"/>
                  <a:pt x="4517925" y="2389769"/>
                  <a:pt x="4519328" y="2409295"/>
                </a:cubicBezTo>
                <a:lnTo>
                  <a:pt x="4519571" y="2420793"/>
                </a:lnTo>
                <a:lnTo>
                  <a:pt x="4519120" y="2421041"/>
                </a:lnTo>
                <a:cubicBezTo>
                  <a:pt x="4518201" y="2423576"/>
                  <a:pt x="4517918" y="2427373"/>
                  <a:pt x="4518471" y="2433205"/>
                </a:cubicBezTo>
                <a:lnTo>
                  <a:pt x="4461595" y="2530080"/>
                </a:lnTo>
                <a:cubicBezTo>
                  <a:pt x="4445853" y="2584934"/>
                  <a:pt x="4405533" y="2605402"/>
                  <a:pt x="4412936" y="2666699"/>
                </a:cubicBezTo>
                <a:cubicBezTo>
                  <a:pt x="4398065" y="2717991"/>
                  <a:pt x="4372927" y="2756371"/>
                  <a:pt x="4370093" y="2804588"/>
                </a:cubicBezTo>
                <a:cubicBezTo>
                  <a:pt x="4347398" y="2879436"/>
                  <a:pt x="4272392" y="2939011"/>
                  <a:pt x="4262477" y="3058637"/>
                </a:cubicBezTo>
                <a:cubicBezTo>
                  <a:pt x="4283714" y="3099999"/>
                  <a:pt x="4256160" y="3144249"/>
                  <a:pt x="4253454" y="3179447"/>
                </a:cubicBezTo>
                <a:cubicBezTo>
                  <a:pt x="4259242" y="3200557"/>
                  <a:pt x="4257117" y="3211737"/>
                  <a:pt x="4239228" y="3217364"/>
                </a:cubicBezTo>
                <a:cubicBezTo>
                  <a:pt x="4268875" y="3316502"/>
                  <a:pt x="4225924" y="3257304"/>
                  <a:pt x="4222932" y="3330364"/>
                </a:cubicBezTo>
                <a:cubicBezTo>
                  <a:pt x="4224428" y="3395928"/>
                  <a:pt x="4215196" y="3463236"/>
                  <a:pt x="4248669" y="3547193"/>
                </a:cubicBezTo>
                <a:cubicBezTo>
                  <a:pt x="4260183" y="3566053"/>
                  <a:pt x="4256781" y="3592027"/>
                  <a:pt x="4241070" y="3605210"/>
                </a:cubicBezTo>
                <a:cubicBezTo>
                  <a:pt x="4238364" y="3607478"/>
                  <a:pt x="4235392" y="3609274"/>
                  <a:pt x="4232239" y="3610540"/>
                </a:cubicBezTo>
                <a:cubicBezTo>
                  <a:pt x="4258208" y="3664330"/>
                  <a:pt x="4231517" y="3673159"/>
                  <a:pt x="4251881" y="3702764"/>
                </a:cubicBezTo>
                <a:cubicBezTo>
                  <a:pt x="4242939" y="3759891"/>
                  <a:pt x="4201773" y="3786712"/>
                  <a:pt x="4219293" y="3813528"/>
                </a:cubicBezTo>
                <a:cubicBezTo>
                  <a:pt x="4207910" y="3838914"/>
                  <a:pt x="4167663" y="3859754"/>
                  <a:pt x="4184863" y="3893255"/>
                </a:cubicBezTo>
                <a:cubicBezTo>
                  <a:pt x="4163644" y="3884625"/>
                  <a:pt x="4188862" y="3931915"/>
                  <a:pt x="4169808" y="3939619"/>
                </a:cubicBezTo>
                <a:cubicBezTo>
                  <a:pt x="4154129" y="3943837"/>
                  <a:pt x="4158129" y="3959170"/>
                  <a:pt x="4154137" y="3971517"/>
                </a:cubicBezTo>
                <a:cubicBezTo>
                  <a:pt x="4139069" y="3981495"/>
                  <a:pt x="4133844" y="4042203"/>
                  <a:pt x="4139625" y="4062614"/>
                </a:cubicBezTo>
                <a:cubicBezTo>
                  <a:pt x="4165622" y="4119195"/>
                  <a:pt x="4107101" y="4172348"/>
                  <a:pt x="4126180" y="4217749"/>
                </a:cubicBezTo>
                <a:cubicBezTo>
                  <a:pt x="4128014" y="4267056"/>
                  <a:pt x="4089563" y="4286360"/>
                  <a:pt x="4072389" y="4317623"/>
                </a:cubicBezTo>
                <a:cubicBezTo>
                  <a:pt x="4062182" y="4356545"/>
                  <a:pt x="4071264" y="4384138"/>
                  <a:pt x="4064937" y="4451279"/>
                </a:cubicBezTo>
                <a:cubicBezTo>
                  <a:pt x="4050628" y="4512697"/>
                  <a:pt x="4048851" y="4652154"/>
                  <a:pt x="4034424" y="4720470"/>
                </a:cubicBezTo>
                <a:cubicBezTo>
                  <a:pt x="3973937" y="4868361"/>
                  <a:pt x="4025760" y="4964348"/>
                  <a:pt x="4016334" y="5052878"/>
                </a:cubicBezTo>
                <a:cubicBezTo>
                  <a:pt x="3999794" y="5123327"/>
                  <a:pt x="4021855" y="5194887"/>
                  <a:pt x="3977865" y="5251650"/>
                </a:cubicBezTo>
                <a:cubicBezTo>
                  <a:pt x="3973961" y="5317292"/>
                  <a:pt x="3987477" y="5410025"/>
                  <a:pt x="3997669" y="5413392"/>
                </a:cubicBezTo>
                <a:cubicBezTo>
                  <a:pt x="3969262" y="5397845"/>
                  <a:pt x="3981248" y="5449403"/>
                  <a:pt x="3981869" y="5471875"/>
                </a:cubicBezTo>
                <a:cubicBezTo>
                  <a:pt x="3957580" y="5534944"/>
                  <a:pt x="3976666" y="5598829"/>
                  <a:pt x="3901990" y="5708604"/>
                </a:cubicBezTo>
                <a:cubicBezTo>
                  <a:pt x="3897618" y="5810136"/>
                  <a:pt x="3870199" y="5788842"/>
                  <a:pt x="3860571" y="5821275"/>
                </a:cubicBezTo>
                <a:cubicBezTo>
                  <a:pt x="3868171" y="5831278"/>
                  <a:pt x="3866949" y="5900968"/>
                  <a:pt x="3849074" y="5900679"/>
                </a:cubicBezTo>
                <a:cubicBezTo>
                  <a:pt x="3871964" y="5925143"/>
                  <a:pt x="3834226" y="5972433"/>
                  <a:pt x="3841809" y="5992005"/>
                </a:cubicBezTo>
                <a:cubicBezTo>
                  <a:pt x="3848533" y="6035132"/>
                  <a:pt x="3834497" y="6078819"/>
                  <a:pt x="3832901" y="6122412"/>
                </a:cubicBezTo>
                <a:cubicBezTo>
                  <a:pt x="3799640" y="6263751"/>
                  <a:pt x="3784898" y="6198720"/>
                  <a:pt x="3804166" y="6389843"/>
                </a:cubicBezTo>
                <a:cubicBezTo>
                  <a:pt x="3799226" y="6482285"/>
                  <a:pt x="3740829" y="6538361"/>
                  <a:pt x="3736537" y="6595214"/>
                </a:cubicBezTo>
                <a:cubicBezTo>
                  <a:pt x="3692112" y="6745846"/>
                  <a:pt x="3660956" y="6804405"/>
                  <a:pt x="3649707" y="6848925"/>
                </a:cubicBezTo>
                <a:lnTo>
                  <a:pt x="3649314" y="6857996"/>
                </a:lnTo>
                <a:lnTo>
                  <a:pt x="4585648" y="6857996"/>
                </a:lnTo>
                <a:lnTo>
                  <a:pt x="4585648" y="6857998"/>
                </a:lnTo>
                <a:lnTo>
                  <a:pt x="0" y="6857998"/>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E5D622C3-ADFA-4A49-9E24-B5C1EC9AF775}"/>
              </a:ext>
            </a:extLst>
          </p:cNvPr>
          <p:cNvSpPr>
            <a:spLocks noGrp="1"/>
          </p:cNvSpPr>
          <p:nvPr>
            <p:ph idx="1"/>
          </p:nvPr>
        </p:nvSpPr>
        <p:spPr>
          <a:xfrm>
            <a:off x="5177859" y="2147356"/>
            <a:ext cx="5683624" cy="4107021"/>
          </a:xfrm>
        </p:spPr>
        <p:txBody>
          <a:bodyPr>
            <a:normAutofit/>
          </a:bodyPr>
          <a:lstStyle/>
          <a:p>
            <a:r>
              <a:rPr lang="en-US" dirty="0"/>
              <a:t>Balance between conscious and unconscious thought</a:t>
            </a:r>
          </a:p>
          <a:p>
            <a:r>
              <a:rPr lang="en-US" dirty="0"/>
              <a:t>Collective unconscious</a:t>
            </a:r>
          </a:p>
          <a:p>
            <a:r>
              <a:rPr lang="en-US" dirty="0"/>
              <a:t>Archetypes </a:t>
            </a:r>
          </a:p>
          <a:p>
            <a:r>
              <a:rPr lang="en-US" dirty="0"/>
              <a:t>Extroversion vs Introversion</a:t>
            </a:r>
          </a:p>
        </p:txBody>
      </p:sp>
    </p:spTree>
    <p:extLst>
      <p:ext uri="{BB962C8B-B14F-4D97-AF65-F5344CB8AC3E}">
        <p14:creationId xmlns:p14="http://schemas.microsoft.com/office/powerpoint/2010/main" val="1997802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C6F62-0AFD-43B9-89C1-A3E32A136825}"/>
              </a:ext>
            </a:extLst>
          </p:cNvPr>
          <p:cNvSpPr>
            <a:spLocks noGrp="1"/>
          </p:cNvSpPr>
          <p:nvPr>
            <p:ph type="title"/>
          </p:nvPr>
        </p:nvSpPr>
        <p:spPr>
          <a:xfrm>
            <a:off x="723901" y="509587"/>
            <a:ext cx="7649239" cy="742951"/>
          </a:xfrm>
        </p:spPr>
        <p:txBody>
          <a:bodyPr vert="horz" lIns="91440" tIns="45720" rIns="91440" bIns="45720" rtlCol="0" anchor="ctr">
            <a:normAutofit/>
          </a:bodyPr>
          <a:lstStyle/>
          <a:p>
            <a:pPr>
              <a:lnSpc>
                <a:spcPct val="100000"/>
              </a:lnSpc>
            </a:pPr>
            <a:r>
              <a:rPr lang="en-US" sz="3200" b="1" dirty="0"/>
              <a:t>Karen Horney and Unconscious Anxiety</a:t>
            </a:r>
          </a:p>
        </p:txBody>
      </p:sp>
      <p:graphicFrame>
        <p:nvGraphicFramePr>
          <p:cNvPr id="4" name="Content Placeholder 3">
            <a:extLst>
              <a:ext uri="{FF2B5EF4-FFF2-40B4-BE49-F238E27FC236}">
                <a16:creationId xmlns:a16="http://schemas.microsoft.com/office/drawing/2014/main" id="{A27A4A8F-3D4B-49F0-BC7E-0558545965E9}"/>
              </a:ext>
            </a:extLst>
          </p:cNvPr>
          <p:cNvGraphicFramePr>
            <a:graphicFrameLocks noGrp="1"/>
          </p:cNvGraphicFramePr>
          <p:nvPr>
            <p:ph idx="1"/>
          </p:nvPr>
        </p:nvGraphicFramePr>
        <p:xfrm>
          <a:off x="895792" y="2124075"/>
          <a:ext cx="10388543" cy="4076701"/>
        </p:xfrm>
        <a:graphic>
          <a:graphicData uri="http://schemas.openxmlformats.org/drawingml/2006/table">
            <a:tbl>
              <a:tblPr firstRow="1" bandRow="1">
                <a:solidFill>
                  <a:schemeClr val="bg1">
                    <a:lumMod val="95000"/>
                  </a:schemeClr>
                </a:solidFill>
              </a:tblPr>
              <a:tblGrid>
                <a:gridCol w="3009946">
                  <a:extLst>
                    <a:ext uri="{9D8B030D-6E8A-4147-A177-3AD203B41FA5}">
                      <a16:colId xmlns:a16="http://schemas.microsoft.com/office/drawing/2014/main" val="817175363"/>
                    </a:ext>
                  </a:extLst>
                </a:gridCol>
                <a:gridCol w="3355710">
                  <a:extLst>
                    <a:ext uri="{9D8B030D-6E8A-4147-A177-3AD203B41FA5}">
                      <a16:colId xmlns:a16="http://schemas.microsoft.com/office/drawing/2014/main" val="4097533693"/>
                    </a:ext>
                  </a:extLst>
                </a:gridCol>
                <a:gridCol w="4022887">
                  <a:extLst>
                    <a:ext uri="{9D8B030D-6E8A-4147-A177-3AD203B41FA5}">
                      <a16:colId xmlns:a16="http://schemas.microsoft.com/office/drawing/2014/main" val="1689185209"/>
                    </a:ext>
                  </a:extLst>
                </a:gridCol>
              </a:tblGrid>
              <a:tr h="668542">
                <a:tc>
                  <a:txBody>
                    <a:bodyPr/>
                    <a:lstStyle/>
                    <a:p>
                      <a:pPr algn="l" fontAlgn="b"/>
                      <a:r>
                        <a:rPr lang="en-US" sz="2500" b="1" cap="none" spc="0">
                          <a:solidFill>
                            <a:schemeClr val="tx1"/>
                          </a:solidFill>
                          <a:effectLst/>
                        </a:rPr>
                        <a:t>Coping Style</a:t>
                      </a:r>
                    </a:p>
                  </a:txBody>
                  <a:tcPr marL="98177" marR="86732" marT="28051" marB="210380" anchor="b">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gn="l" fontAlgn="b"/>
                      <a:r>
                        <a:rPr lang="en-US" sz="2500" b="1" cap="none" spc="0">
                          <a:solidFill>
                            <a:schemeClr val="tx1"/>
                          </a:solidFill>
                          <a:effectLst/>
                        </a:rPr>
                        <a:t>Description</a:t>
                      </a:r>
                    </a:p>
                  </a:txBody>
                  <a:tcPr marL="98177" marR="86732" marT="28051" marB="210380" anchor="b">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gn="l" fontAlgn="b"/>
                      <a:r>
                        <a:rPr lang="en-US" sz="2500" b="1" cap="none" spc="0">
                          <a:solidFill>
                            <a:schemeClr val="tx1"/>
                          </a:solidFill>
                          <a:effectLst/>
                        </a:rPr>
                        <a:t>Example</a:t>
                      </a:r>
                    </a:p>
                  </a:txBody>
                  <a:tcPr marL="98177" marR="86732" marT="28051" marB="210380" anchor="b">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509221115"/>
                  </a:ext>
                </a:extLst>
              </a:tr>
              <a:tr h="1136053">
                <a:tc>
                  <a:txBody>
                    <a:bodyPr/>
                    <a:lstStyle/>
                    <a:p>
                      <a:pPr fontAlgn="ctr"/>
                      <a:r>
                        <a:rPr lang="en-US" sz="1800" cap="none" spc="0">
                          <a:solidFill>
                            <a:schemeClr val="tx1"/>
                          </a:solidFill>
                          <a:effectLst/>
                        </a:rPr>
                        <a:t>Moving toward people</a:t>
                      </a:r>
                    </a:p>
                  </a:txBody>
                  <a:tcPr marL="98177" marR="86732" marT="28051" marB="210380" anchor="ctr">
                    <a:lnL w="12700" cap="flat" cmpd="sng" algn="ctr">
                      <a:solidFill>
                        <a:schemeClr val="tx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fontAlgn="ctr"/>
                      <a:r>
                        <a:rPr lang="en-US" sz="1800" cap="none" spc="0">
                          <a:solidFill>
                            <a:schemeClr val="tx1"/>
                          </a:solidFill>
                          <a:effectLst/>
                        </a:rPr>
                        <a:t>Affiliation and dependence</a:t>
                      </a:r>
                    </a:p>
                  </a:txBody>
                  <a:tcPr marL="98177" marR="86732" marT="28051" marB="210380"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fontAlgn="ctr"/>
                      <a:r>
                        <a:rPr lang="en-US" sz="1800" cap="none" spc="0">
                          <a:solidFill>
                            <a:schemeClr val="tx1"/>
                          </a:solidFill>
                          <a:effectLst/>
                        </a:rPr>
                        <a:t>Child seeking positive attention and affection from parent; adult needing love</a:t>
                      </a:r>
                    </a:p>
                  </a:txBody>
                  <a:tcPr marL="98177" marR="86732" marT="28051" marB="210380"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2546886718"/>
                  </a:ext>
                </a:extLst>
              </a:tr>
              <a:tr h="1416560">
                <a:tc>
                  <a:txBody>
                    <a:bodyPr/>
                    <a:lstStyle/>
                    <a:p>
                      <a:pPr fontAlgn="ctr"/>
                      <a:r>
                        <a:rPr lang="en-US" sz="1800" cap="none" spc="0">
                          <a:solidFill>
                            <a:schemeClr val="tx1"/>
                          </a:solidFill>
                          <a:effectLst/>
                        </a:rPr>
                        <a:t>Moving against people</a:t>
                      </a:r>
                    </a:p>
                  </a:txBody>
                  <a:tcPr marL="98177" marR="86732" marT="28051" marB="210380"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fontAlgn="ctr"/>
                      <a:r>
                        <a:rPr lang="en-US" sz="1800" cap="none" spc="0">
                          <a:solidFill>
                            <a:schemeClr val="tx1"/>
                          </a:solidFill>
                          <a:effectLst/>
                        </a:rPr>
                        <a:t>Aggression and manipulation</a:t>
                      </a:r>
                    </a:p>
                  </a:txBody>
                  <a:tcPr marL="98177" marR="86732" marT="28051" marB="210380"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fontAlgn="ctr"/>
                      <a:r>
                        <a:rPr lang="en-US" sz="1800" cap="none" spc="0">
                          <a:solidFill>
                            <a:schemeClr val="tx1"/>
                          </a:solidFill>
                          <a:effectLst/>
                        </a:rPr>
                        <a:t>Child fighting or bullying other children; adult who is abrasive and verbally hurtful, or who exploits others</a:t>
                      </a:r>
                    </a:p>
                  </a:txBody>
                  <a:tcPr marL="98177" marR="86732" marT="28051" marB="210380"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2298438679"/>
                  </a:ext>
                </a:extLst>
              </a:tr>
              <a:tr h="855546">
                <a:tc>
                  <a:txBody>
                    <a:bodyPr/>
                    <a:lstStyle/>
                    <a:p>
                      <a:pPr fontAlgn="ctr"/>
                      <a:r>
                        <a:rPr lang="en-US" sz="1800" cap="none" spc="0">
                          <a:solidFill>
                            <a:schemeClr val="tx1"/>
                          </a:solidFill>
                          <a:effectLst/>
                        </a:rPr>
                        <a:t>Moving away from people</a:t>
                      </a:r>
                    </a:p>
                  </a:txBody>
                  <a:tcPr marL="98177" marR="86732" marT="28051" marB="210380" anchor="ctr">
                    <a:lnL w="12700" cap="flat" cmpd="sng" algn="ctr">
                      <a:solidFill>
                        <a:schemeClr val="tx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800" cap="none" spc="0">
                          <a:solidFill>
                            <a:schemeClr val="tx1"/>
                          </a:solidFill>
                          <a:effectLst/>
                        </a:rPr>
                        <a:t>Detachment and isolation</a:t>
                      </a:r>
                    </a:p>
                  </a:txBody>
                  <a:tcPr marL="98177" marR="86732" marT="28051" marB="21038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800" cap="none" spc="0">
                          <a:solidFill>
                            <a:schemeClr val="tx1"/>
                          </a:solidFill>
                          <a:effectLst/>
                        </a:rPr>
                        <a:t>Child withdrawn from the world and isolated; adult loner</a:t>
                      </a:r>
                    </a:p>
                  </a:txBody>
                  <a:tcPr marL="98177" marR="86732" marT="28051" marB="21038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80873680"/>
                  </a:ext>
                </a:extLst>
              </a:tr>
            </a:tbl>
          </a:graphicData>
        </a:graphic>
      </p:graphicFrame>
    </p:spTree>
    <p:extLst>
      <p:ext uri="{BB962C8B-B14F-4D97-AF65-F5344CB8AC3E}">
        <p14:creationId xmlns:p14="http://schemas.microsoft.com/office/powerpoint/2010/main" val="2662759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196C6-1EBA-4D35-B6FD-4DC40C3AEB01}"/>
              </a:ext>
            </a:extLst>
          </p:cNvPr>
          <p:cNvSpPr>
            <a:spLocks noGrp="1"/>
          </p:cNvSpPr>
          <p:nvPr>
            <p:ph type="title"/>
          </p:nvPr>
        </p:nvSpPr>
        <p:spPr>
          <a:xfrm>
            <a:off x="1050879" y="609601"/>
            <a:ext cx="9810604" cy="1216024"/>
          </a:xfrm>
        </p:spPr>
        <p:txBody>
          <a:bodyPr vert="horz" lIns="91440" tIns="45720" rIns="91440" bIns="45720" rtlCol="0">
            <a:normAutofit/>
          </a:bodyPr>
          <a:lstStyle/>
          <a:p>
            <a:r>
              <a:rPr lang="en-US" dirty="0"/>
              <a:t>Learning Approaches</a:t>
            </a:r>
            <a:endParaRPr lang="en-US"/>
          </a:p>
        </p:txBody>
      </p:sp>
      <p:graphicFrame>
        <p:nvGraphicFramePr>
          <p:cNvPr id="5" name="Content Placeholder 2">
            <a:extLst>
              <a:ext uri="{FF2B5EF4-FFF2-40B4-BE49-F238E27FC236}">
                <a16:creationId xmlns:a16="http://schemas.microsoft.com/office/drawing/2014/main" id="{698E9634-FE44-43C0-8254-B559453D62FF}"/>
              </a:ext>
            </a:extLst>
          </p:cNvPr>
          <p:cNvGraphicFramePr>
            <a:graphicFrameLocks noGrp="1"/>
          </p:cNvGraphicFramePr>
          <p:nvPr>
            <p:ph idx="1"/>
            <p:extLst>
              <p:ext uri="{D42A27DB-BD31-4B8C-83A1-F6EECF244321}">
                <p14:modId xmlns:p14="http://schemas.microsoft.com/office/powerpoint/2010/main" val="2367866753"/>
              </p:ext>
            </p:extLst>
          </p:nvPr>
        </p:nvGraphicFramePr>
        <p:xfrm>
          <a:off x="1050925" y="2586251"/>
          <a:ext cx="10064998" cy="36621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48670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8BE4D-DDF7-4224-9632-206C48D2E5EF}"/>
              </a:ext>
            </a:extLst>
          </p:cNvPr>
          <p:cNvSpPr>
            <a:spLocks noGrp="1"/>
          </p:cNvSpPr>
          <p:nvPr>
            <p:ph type="title"/>
          </p:nvPr>
        </p:nvSpPr>
        <p:spPr>
          <a:xfrm>
            <a:off x="723901" y="509587"/>
            <a:ext cx="7649239" cy="2016330"/>
          </a:xfrm>
        </p:spPr>
        <p:txBody>
          <a:bodyPr vert="horz" lIns="91440" tIns="45720" rIns="91440" bIns="45720" rtlCol="0" anchor="ctr">
            <a:normAutofit/>
          </a:bodyPr>
          <a:lstStyle/>
          <a:p>
            <a:r>
              <a:rPr lang="en-US" sz="5400" b="1" dirty="0"/>
              <a:t>The Locus of Control</a:t>
            </a:r>
            <a:br>
              <a:rPr lang="en-US" dirty="0"/>
            </a:br>
            <a:br>
              <a:rPr lang="en-US" dirty="0"/>
            </a:br>
            <a:r>
              <a:rPr lang="en-US" sz="3600" dirty="0"/>
              <a:t>Julian Rotter</a:t>
            </a:r>
            <a:endParaRPr lang="en-US" dirty="0"/>
          </a:p>
        </p:txBody>
      </p:sp>
      <p:pic>
        <p:nvPicPr>
          <p:cNvPr id="10242" name="Picture 2" descr="A box is labeled “Locus of Control.” An arrow points to the left from this box to another labeled “Internal” containing “I am in control of outcomes: belief that one’s effort and decisions determine outcomes.” Another arrow points to the right from the “Locus of Control” box to another box labeled “External” containing “Outcomes are beyond my control: belief that luck, fate, and other people determine outcomes.”">
            <a:extLst>
              <a:ext uri="{FF2B5EF4-FFF2-40B4-BE49-F238E27FC236}">
                <a16:creationId xmlns:a16="http://schemas.microsoft.com/office/drawing/2014/main" id="{3DF83458-0475-4649-9B2A-D28E57745B9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705972" y="3247130"/>
            <a:ext cx="10768181" cy="1830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41921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EFC80-A986-4BF2-9AAF-061FA8A06EBC}"/>
              </a:ext>
            </a:extLst>
          </p:cNvPr>
          <p:cNvSpPr>
            <a:spLocks noGrp="1"/>
          </p:cNvSpPr>
          <p:nvPr>
            <p:ph type="title"/>
          </p:nvPr>
        </p:nvSpPr>
        <p:spPr>
          <a:xfrm>
            <a:off x="768095" y="667512"/>
            <a:ext cx="7678787" cy="826310"/>
          </a:xfrm>
        </p:spPr>
        <p:txBody>
          <a:bodyPr/>
          <a:lstStyle/>
          <a:p>
            <a:r>
              <a:rPr lang="en-US" b="1" dirty="0"/>
              <a:t>Humanistic Approaches</a:t>
            </a:r>
          </a:p>
        </p:txBody>
      </p:sp>
      <p:graphicFrame>
        <p:nvGraphicFramePr>
          <p:cNvPr id="5" name="Content Placeholder 2">
            <a:extLst>
              <a:ext uri="{FF2B5EF4-FFF2-40B4-BE49-F238E27FC236}">
                <a16:creationId xmlns:a16="http://schemas.microsoft.com/office/drawing/2014/main" id="{B828B296-6CF3-4C09-BAE9-D32516364782}"/>
              </a:ext>
            </a:extLst>
          </p:cNvPr>
          <p:cNvGraphicFramePr>
            <a:graphicFrameLocks noGrp="1"/>
          </p:cNvGraphicFramePr>
          <p:nvPr>
            <p:ph idx="1"/>
          </p:nvPr>
        </p:nvGraphicFramePr>
        <p:xfrm>
          <a:off x="1050879" y="1825624"/>
          <a:ext cx="9810604" cy="44287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282815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8E86B2-D147-40B6-9014-D2A462B90436}"/>
              </a:ext>
            </a:extLst>
          </p:cNvPr>
          <p:cNvSpPr>
            <a:spLocks noGrp="1"/>
          </p:cNvSpPr>
          <p:nvPr>
            <p:ph idx="1"/>
          </p:nvPr>
        </p:nvSpPr>
        <p:spPr>
          <a:xfrm>
            <a:off x="2829562" y="1817700"/>
            <a:ext cx="6297433" cy="3757667"/>
          </a:xfrm>
        </p:spPr>
        <p:txBody>
          <a:bodyPr anchor="ctr">
            <a:normAutofit lnSpcReduction="10000"/>
          </a:bodyPr>
          <a:lstStyle/>
          <a:p>
            <a:pPr marL="0" indent="0">
              <a:buNone/>
            </a:pPr>
            <a:r>
              <a:rPr lang="en-US" sz="4400" dirty="0"/>
              <a:t>How might a study with twins provide information about the biological approach to personality?</a:t>
            </a:r>
          </a:p>
        </p:txBody>
      </p:sp>
    </p:spTree>
    <p:extLst>
      <p:ext uri="{BB962C8B-B14F-4D97-AF65-F5344CB8AC3E}">
        <p14:creationId xmlns:p14="http://schemas.microsoft.com/office/powerpoint/2010/main" val="1799963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196C6-1EBA-4D35-B6FD-4DC40C3AEB01}"/>
              </a:ext>
            </a:extLst>
          </p:cNvPr>
          <p:cNvSpPr>
            <a:spLocks noGrp="1"/>
          </p:cNvSpPr>
          <p:nvPr>
            <p:ph type="title"/>
          </p:nvPr>
        </p:nvSpPr>
        <p:spPr>
          <a:xfrm>
            <a:off x="2074460" y="1790700"/>
            <a:ext cx="8106770" cy="2010201"/>
          </a:xfrm>
        </p:spPr>
        <p:txBody>
          <a:bodyPr vert="horz" lIns="91440" tIns="45720" rIns="91440" bIns="45720" rtlCol="0" anchor="b">
            <a:normAutofit/>
          </a:bodyPr>
          <a:lstStyle/>
          <a:p>
            <a:pPr algn="ctr"/>
            <a:r>
              <a:rPr lang="en-US" dirty="0"/>
              <a:t>Trait Theories</a:t>
            </a:r>
          </a:p>
        </p:txBody>
      </p:sp>
    </p:spTree>
    <p:extLst>
      <p:ext uri="{BB962C8B-B14F-4D97-AF65-F5344CB8AC3E}">
        <p14:creationId xmlns:p14="http://schemas.microsoft.com/office/powerpoint/2010/main" val="2561514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26AE7-8739-451E-B391-29474BC704C4}"/>
              </a:ext>
            </a:extLst>
          </p:cNvPr>
          <p:cNvSpPr>
            <a:spLocks noGrp="1"/>
          </p:cNvSpPr>
          <p:nvPr>
            <p:ph type="title"/>
          </p:nvPr>
        </p:nvSpPr>
        <p:spPr>
          <a:xfrm>
            <a:off x="8431501" y="891795"/>
            <a:ext cx="3760499" cy="2795160"/>
          </a:xfrm>
        </p:spPr>
        <p:txBody>
          <a:bodyPr vert="horz" lIns="91440" tIns="45720" rIns="91440" bIns="45720" rtlCol="0" anchor="b">
            <a:normAutofit/>
          </a:bodyPr>
          <a:lstStyle/>
          <a:p>
            <a:pPr algn="ctr"/>
            <a:r>
              <a:rPr lang="en-US" dirty="0"/>
              <a:t>Cattell’s 16 personality factors</a:t>
            </a:r>
          </a:p>
        </p:txBody>
      </p:sp>
      <p:graphicFrame>
        <p:nvGraphicFramePr>
          <p:cNvPr id="7" name="Content Placeholder 3">
            <a:extLst>
              <a:ext uri="{FF2B5EF4-FFF2-40B4-BE49-F238E27FC236}">
                <a16:creationId xmlns:a16="http://schemas.microsoft.com/office/drawing/2014/main" id="{F2E4C42B-E523-4A59-B6D0-A428B5CA1695}"/>
              </a:ext>
            </a:extLst>
          </p:cNvPr>
          <p:cNvGraphicFramePr>
            <a:graphicFrameLocks/>
          </p:cNvGraphicFramePr>
          <p:nvPr>
            <p:extLst>
              <p:ext uri="{D42A27DB-BD31-4B8C-83A1-F6EECF244321}">
                <p14:modId xmlns:p14="http://schemas.microsoft.com/office/powerpoint/2010/main" val="2244615704"/>
              </p:ext>
            </p:extLst>
          </p:nvPr>
        </p:nvGraphicFramePr>
        <p:xfrm>
          <a:off x="1952089" y="193649"/>
          <a:ext cx="6080221" cy="6470701"/>
        </p:xfrm>
        <a:graphic>
          <a:graphicData uri="http://schemas.openxmlformats.org/drawingml/2006/table">
            <a:tbl>
              <a:tblPr firstRow="1" bandRow="1">
                <a:noFill/>
              </a:tblPr>
              <a:tblGrid>
                <a:gridCol w="1942159">
                  <a:extLst>
                    <a:ext uri="{9D8B030D-6E8A-4147-A177-3AD203B41FA5}">
                      <a16:colId xmlns:a16="http://schemas.microsoft.com/office/drawing/2014/main" val="2436270284"/>
                    </a:ext>
                  </a:extLst>
                </a:gridCol>
                <a:gridCol w="2047096">
                  <a:extLst>
                    <a:ext uri="{9D8B030D-6E8A-4147-A177-3AD203B41FA5}">
                      <a16:colId xmlns:a16="http://schemas.microsoft.com/office/drawing/2014/main" val="3076871923"/>
                    </a:ext>
                  </a:extLst>
                </a:gridCol>
                <a:gridCol w="2090966">
                  <a:extLst>
                    <a:ext uri="{9D8B030D-6E8A-4147-A177-3AD203B41FA5}">
                      <a16:colId xmlns:a16="http://schemas.microsoft.com/office/drawing/2014/main" val="209582030"/>
                    </a:ext>
                  </a:extLst>
                </a:gridCol>
              </a:tblGrid>
              <a:tr h="323005">
                <a:tc>
                  <a:txBody>
                    <a:bodyPr/>
                    <a:lstStyle/>
                    <a:p>
                      <a:pPr algn="l" fontAlgn="b"/>
                      <a:r>
                        <a:rPr lang="en-US" sz="1100" b="1" cap="all" spc="60">
                          <a:solidFill>
                            <a:schemeClr val="tx1"/>
                          </a:solidFill>
                          <a:effectLst/>
                        </a:rPr>
                        <a:t>Factor</a:t>
                      </a:r>
                    </a:p>
                  </a:txBody>
                  <a:tcPr marL="59993" marR="32873" marT="63762" marB="63762" anchor="b">
                    <a:lnL w="12700" cmpd="sng">
                      <a:noFill/>
                    </a:lnL>
                    <a:lnR w="12700" cmpd="sng">
                      <a:noFill/>
                    </a:lnR>
                    <a:lnT w="12700" cmpd="sng">
                      <a:noFill/>
                    </a:lnT>
                    <a:lnB w="12700" cmpd="sng">
                      <a:noFill/>
                      <a:prstDash val="solid"/>
                    </a:lnB>
                    <a:noFill/>
                  </a:tcPr>
                </a:tc>
                <a:tc>
                  <a:txBody>
                    <a:bodyPr/>
                    <a:lstStyle/>
                    <a:p>
                      <a:pPr algn="l" fontAlgn="b"/>
                      <a:r>
                        <a:rPr lang="en-US" sz="1100" b="1" cap="all" spc="60">
                          <a:solidFill>
                            <a:schemeClr val="tx1"/>
                          </a:solidFill>
                          <a:effectLst/>
                        </a:rPr>
                        <a:t>Low Score</a:t>
                      </a:r>
                    </a:p>
                  </a:txBody>
                  <a:tcPr marL="59993" marR="32873" marT="63762" marB="63762" anchor="b">
                    <a:lnL w="12700" cmpd="sng">
                      <a:noFill/>
                    </a:lnL>
                    <a:lnR w="12700" cmpd="sng">
                      <a:noFill/>
                    </a:lnR>
                    <a:lnT w="12700" cmpd="sng">
                      <a:noFill/>
                    </a:lnT>
                    <a:lnB w="12700" cmpd="sng">
                      <a:noFill/>
                      <a:prstDash val="solid"/>
                    </a:lnB>
                    <a:noFill/>
                  </a:tcPr>
                </a:tc>
                <a:tc>
                  <a:txBody>
                    <a:bodyPr/>
                    <a:lstStyle/>
                    <a:p>
                      <a:pPr algn="l" fontAlgn="b"/>
                      <a:r>
                        <a:rPr lang="en-US" sz="1100" b="1" cap="all" spc="60">
                          <a:solidFill>
                            <a:schemeClr val="tx1"/>
                          </a:solidFill>
                          <a:effectLst/>
                        </a:rPr>
                        <a:t>High Score</a:t>
                      </a:r>
                    </a:p>
                  </a:txBody>
                  <a:tcPr marL="59993" marR="32873" marT="63762" marB="63762" anchor="b">
                    <a:lnL w="12700" cmpd="sng">
                      <a:noFill/>
                    </a:lnL>
                    <a:lnR w="12700" cmpd="sng">
                      <a:noFill/>
                      <a:prstDash val="solid"/>
                    </a:lnR>
                    <a:lnT w="12700" cmpd="sng">
                      <a:noFill/>
                    </a:lnT>
                    <a:lnB w="12700" cmpd="sng">
                      <a:noFill/>
                      <a:prstDash val="solid"/>
                    </a:lnB>
                    <a:noFill/>
                  </a:tcPr>
                </a:tc>
                <a:extLst>
                  <a:ext uri="{0D108BD9-81ED-4DB2-BD59-A6C34878D82A}">
                    <a16:rowId xmlns:a16="http://schemas.microsoft.com/office/drawing/2014/main" val="1203960412"/>
                  </a:ext>
                </a:extLst>
              </a:tr>
              <a:tr h="345929">
                <a:tc>
                  <a:txBody>
                    <a:bodyPr/>
                    <a:lstStyle/>
                    <a:p>
                      <a:pPr fontAlgn="ctr"/>
                      <a:r>
                        <a:rPr lang="en-US" sz="1600" cap="none" spc="0" dirty="0">
                          <a:solidFill>
                            <a:schemeClr val="tx1"/>
                          </a:solidFill>
                          <a:effectLst/>
                        </a:rPr>
                        <a:t>Warmth</a:t>
                      </a:r>
                    </a:p>
                  </a:txBody>
                  <a:tcPr marL="59993" marR="32873" marT="46149" marB="63762" anchor="ctr">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fontAlgn="ctr"/>
                      <a:r>
                        <a:rPr lang="en-US" sz="1600" cap="none" spc="0">
                          <a:solidFill>
                            <a:schemeClr val="tx1"/>
                          </a:solidFill>
                          <a:effectLst/>
                        </a:rPr>
                        <a:t>Reserved, detached</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noFill/>
                  </a:tcPr>
                </a:tc>
                <a:tc>
                  <a:txBody>
                    <a:bodyPr/>
                    <a:lstStyle/>
                    <a:p>
                      <a:pPr fontAlgn="ctr"/>
                      <a:r>
                        <a:rPr lang="en-US" sz="1600" cap="none" spc="0">
                          <a:solidFill>
                            <a:schemeClr val="tx1"/>
                          </a:solidFill>
                          <a:effectLst/>
                        </a:rPr>
                        <a:t>Outgoing, supportive</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758512289"/>
                  </a:ext>
                </a:extLst>
              </a:tr>
              <a:tr h="345929">
                <a:tc>
                  <a:txBody>
                    <a:bodyPr/>
                    <a:lstStyle/>
                    <a:p>
                      <a:pPr fontAlgn="ctr"/>
                      <a:r>
                        <a:rPr lang="en-US" sz="1600" cap="none" spc="0">
                          <a:solidFill>
                            <a:schemeClr val="tx1"/>
                          </a:solidFill>
                          <a:effectLst/>
                        </a:rPr>
                        <a:t>Intellect</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600" cap="none" spc="0">
                          <a:solidFill>
                            <a:schemeClr val="tx1"/>
                          </a:solidFill>
                          <a:effectLst/>
                        </a:rPr>
                        <a:t>Concrete thinker</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600" cap="none" spc="0">
                          <a:solidFill>
                            <a:schemeClr val="tx1"/>
                          </a:solidFill>
                          <a:effectLst/>
                        </a:rPr>
                        <a:t>Analytical</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715082963"/>
                  </a:ext>
                </a:extLst>
              </a:tr>
              <a:tr h="345929">
                <a:tc>
                  <a:txBody>
                    <a:bodyPr/>
                    <a:lstStyle/>
                    <a:p>
                      <a:pPr fontAlgn="ctr"/>
                      <a:r>
                        <a:rPr lang="en-US" sz="1600" cap="none" spc="0" dirty="0">
                          <a:solidFill>
                            <a:schemeClr val="tx1"/>
                          </a:solidFill>
                          <a:effectLst/>
                        </a:rPr>
                        <a:t>Emotional stability</a:t>
                      </a:r>
                    </a:p>
                  </a:txBody>
                  <a:tcPr marL="59993" marR="32873" marT="46149" marB="63762" anchor="ctr">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fontAlgn="ctr"/>
                      <a:r>
                        <a:rPr lang="en-US" sz="1600" cap="none" spc="0">
                          <a:solidFill>
                            <a:schemeClr val="tx1"/>
                          </a:solidFill>
                          <a:effectLst/>
                        </a:rPr>
                        <a:t>Moody, irritable</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noFill/>
                  </a:tcPr>
                </a:tc>
                <a:tc>
                  <a:txBody>
                    <a:bodyPr/>
                    <a:lstStyle/>
                    <a:p>
                      <a:pPr fontAlgn="ctr"/>
                      <a:r>
                        <a:rPr lang="en-US" sz="1600" cap="none" spc="0">
                          <a:solidFill>
                            <a:schemeClr val="tx1"/>
                          </a:solidFill>
                          <a:effectLst/>
                        </a:rPr>
                        <a:t>Stable, calm</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163367365"/>
                  </a:ext>
                </a:extLst>
              </a:tr>
              <a:tr h="345929">
                <a:tc>
                  <a:txBody>
                    <a:bodyPr/>
                    <a:lstStyle/>
                    <a:p>
                      <a:pPr fontAlgn="ctr"/>
                      <a:r>
                        <a:rPr lang="en-US" sz="1600" cap="none" spc="0">
                          <a:solidFill>
                            <a:schemeClr val="tx1"/>
                          </a:solidFill>
                          <a:effectLst/>
                        </a:rPr>
                        <a:t>Aggressiveness</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600" cap="none" spc="0">
                          <a:solidFill>
                            <a:schemeClr val="tx1"/>
                          </a:solidFill>
                          <a:effectLst/>
                        </a:rPr>
                        <a:t>Docile, submissive</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600" cap="none" spc="0">
                          <a:solidFill>
                            <a:schemeClr val="tx1"/>
                          </a:solidFill>
                          <a:effectLst/>
                        </a:rPr>
                        <a:t>Controlling, dominant</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4086240362"/>
                  </a:ext>
                </a:extLst>
              </a:tr>
              <a:tr h="574243">
                <a:tc>
                  <a:txBody>
                    <a:bodyPr/>
                    <a:lstStyle/>
                    <a:p>
                      <a:pPr fontAlgn="ctr"/>
                      <a:r>
                        <a:rPr lang="en-US" sz="1600" cap="none" spc="0">
                          <a:solidFill>
                            <a:schemeClr val="tx1"/>
                          </a:solidFill>
                          <a:effectLst/>
                        </a:rPr>
                        <a:t>Liveliness</a:t>
                      </a:r>
                    </a:p>
                  </a:txBody>
                  <a:tcPr marL="59993" marR="32873" marT="46149" marB="63762" anchor="ctr">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fontAlgn="ctr"/>
                      <a:r>
                        <a:rPr lang="en-US" sz="1600" cap="none" spc="0">
                          <a:solidFill>
                            <a:schemeClr val="tx1"/>
                          </a:solidFill>
                          <a:effectLst/>
                        </a:rPr>
                        <a:t>Somber, prudent</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noFill/>
                  </a:tcPr>
                </a:tc>
                <a:tc>
                  <a:txBody>
                    <a:bodyPr/>
                    <a:lstStyle/>
                    <a:p>
                      <a:pPr fontAlgn="ctr"/>
                      <a:r>
                        <a:rPr lang="en-US" sz="1600" cap="none" spc="0">
                          <a:solidFill>
                            <a:schemeClr val="tx1"/>
                          </a:solidFill>
                          <a:effectLst/>
                        </a:rPr>
                        <a:t>Adventurous, spontaneous</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956563023"/>
                  </a:ext>
                </a:extLst>
              </a:tr>
              <a:tr h="345929">
                <a:tc>
                  <a:txBody>
                    <a:bodyPr/>
                    <a:lstStyle/>
                    <a:p>
                      <a:pPr fontAlgn="ctr"/>
                      <a:r>
                        <a:rPr lang="en-US" sz="1600" cap="none" spc="0">
                          <a:solidFill>
                            <a:schemeClr val="tx1"/>
                          </a:solidFill>
                          <a:effectLst/>
                        </a:rPr>
                        <a:t>Dutifulness</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600" cap="none" spc="0">
                          <a:solidFill>
                            <a:schemeClr val="tx1"/>
                          </a:solidFill>
                          <a:effectLst/>
                        </a:rPr>
                        <a:t>Unreliable</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600" cap="none" spc="0">
                          <a:solidFill>
                            <a:schemeClr val="tx1"/>
                          </a:solidFill>
                          <a:effectLst/>
                        </a:rPr>
                        <a:t>Conscientious</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379471597"/>
                  </a:ext>
                </a:extLst>
              </a:tr>
              <a:tr h="345929">
                <a:tc>
                  <a:txBody>
                    <a:bodyPr/>
                    <a:lstStyle/>
                    <a:p>
                      <a:pPr fontAlgn="ctr"/>
                      <a:r>
                        <a:rPr lang="en-US" sz="1600" cap="none" spc="0">
                          <a:solidFill>
                            <a:schemeClr val="tx1"/>
                          </a:solidFill>
                          <a:effectLst/>
                        </a:rPr>
                        <a:t>Social assertiveness</a:t>
                      </a:r>
                    </a:p>
                  </a:txBody>
                  <a:tcPr marL="59993" marR="32873" marT="46149" marB="63762" anchor="ctr">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fontAlgn="ctr"/>
                      <a:r>
                        <a:rPr lang="en-US" sz="1600" cap="none" spc="0">
                          <a:solidFill>
                            <a:schemeClr val="tx1"/>
                          </a:solidFill>
                          <a:effectLst/>
                        </a:rPr>
                        <a:t>Shy, restrained</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noFill/>
                  </a:tcPr>
                </a:tc>
                <a:tc>
                  <a:txBody>
                    <a:bodyPr/>
                    <a:lstStyle/>
                    <a:p>
                      <a:pPr fontAlgn="ctr"/>
                      <a:r>
                        <a:rPr lang="en-US" sz="1600" cap="none" spc="0">
                          <a:solidFill>
                            <a:schemeClr val="tx1"/>
                          </a:solidFill>
                          <a:effectLst/>
                        </a:rPr>
                        <a:t>Uninhibited, bold</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154184221"/>
                  </a:ext>
                </a:extLst>
              </a:tr>
              <a:tr h="345929">
                <a:tc>
                  <a:txBody>
                    <a:bodyPr/>
                    <a:lstStyle/>
                    <a:p>
                      <a:pPr fontAlgn="ctr"/>
                      <a:r>
                        <a:rPr lang="en-US" sz="1600" cap="none" spc="0">
                          <a:solidFill>
                            <a:schemeClr val="tx1"/>
                          </a:solidFill>
                          <a:effectLst/>
                        </a:rPr>
                        <a:t>Sensitivity</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600" cap="none" spc="0">
                          <a:solidFill>
                            <a:schemeClr val="tx1"/>
                          </a:solidFill>
                          <a:effectLst/>
                        </a:rPr>
                        <a:t>Tough-minded</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600" cap="none" spc="0">
                          <a:solidFill>
                            <a:schemeClr val="tx1"/>
                          </a:solidFill>
                          <a:effectLst/>
                        </a:rPr>
                        <a:t>Sensitive, caring</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305847804"/>
                  </a:ext>
                </a:extLst>
              </a:tr>
              <a:tr h="345929">
                <a:tc>
                  <a:txBody>
                    <a:bodyPr/>
                    <a:lstStyle/>
                    <a:p>
                      <a:pPr fontAlgn="ctr"/>
                      <a:r>
                        <a:rPr lang="en-US" sz="1600" cap="none" spc="0">
                          <a:solidFill>
                            <a:schemeClr val="tx1"/>
                          </a:solidFill>
                          <a:effectLst/>
                        </a:rPr>
                        <a:t>Paranoia</a:t>
                      </a:r>
                    </a:p>
                  </a:txBody>
                  <a:tcPr marL="59993" marR="32873" marT="46149" marB="63762" anchor="ctr">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fontAlgn="ctr"/>
                      <a:r>
                        <a:rPr lang="en-US" sz="1600" cap="none" spc="0">
                          <a:solidFill>
                            <a:schemeClr val="tx1"/>
                          </a:solidFill>
                          <a:effectLst/>
                        </a:rPr>
                        <a:t>Trusting</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noFill/>
                  </a:tcPr>
                </a:tc>
                <a:tc>
                  <a:txBody>
                    <a:bodyPr/>
                    <a:lstStyle/>
                    <a:p>
                      <a:pPr fontAlgn="ctr"/>
                      <a:r>
                        <a:rPr lang="en-US" sz="1600" cap="none" spc="0">
                          <a:solidFill>
                            <a:schemeClr val="tx1"/>
                          </a:solidFill>
                          <a:effectLst/>
                        </a:rPr>
                        <a:t>Suspicious</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644558586"/>
                  </a:ext>
                </a:extLst>
              </a:tr>
              <a:tr h="345929">
                <a:tc>
                  <a:txBody>
                    <a:bodyPr/>
                    <a:lstStyle/>
                    <a:p>
                      <a:pPr fontAlgn="ctr"/>
                      <a:r>
                        <a:rPr lang="en-US" sz="1600" cap="none" spc="0">
                          <a:solidFill>
                            <a:schemeClr val="tx1"/>
                          </a:solidFill>
                          <a:effectLst/>
                        </a:rPr>
                        <a:t>Abstractness</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600" cap="none" spc="0">
                          <a:solidFill>
                            <a:schemeClr val="tx1"/>
                          </a:solidFill>
                          <a:effectLst/>
                        </a:rPr>
                        <a:t>Conventional</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600" cap="none" spc="0">
                          <a:solidFill>
                            <a:schemeClr val="tx1"/>
                          </a:solidFill>
                          <a:effectLst/>
                        </a:rPr>
                        <a:t>Imaginative</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569024113"/>
                  </a:ext>
                </a:extLst>
              </a:tr>
              <a:tr h="345929">
                <a:tc>
                  <a:txBody>
                    <a:bodyPr/>
                    <a:lstStyle/>
                    <a:p>
                      <a:pPr fontAlgn="ctr"/>
                      <a:r>
                        <a:rPr lang="en-US" sz="1600" cap="none" spc="0">
                          <a:solidFill>
                            <a:schemeClr val="tx1"/>
                          </a:solidFill>
                          <a:effectLst/>
                        </a:rPr>
                        <a:t>Introversion</a:t>
                      </a:r>
                    </a:p>
                  </a:txBody>
                  <a:tcPr marL="59993" marR="32873" marT="46149" marB="63762" anchor="ctr">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fontAlgn="ctr"/>
                      <a:r>
                        <a:rPr lang="en-US" sz="1600" cap="none" spc="0">
                          <a:solidFill>
                            <a:schemeClr val="tx1"/>
                          </a:solidFill>
                          <a:effectLst/>
                        </a:rPr>
                        <a:t>Open, straightforward</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noFill/>
                  </a:tcPr>
                </a:tc>
                <a:tc>
                  <a:txBody>
                    <a:bodyPr/>
                    <a:lstStyle/>
                    <a:p>
                      <a:pPr fontAlgn="ctr"/>
                      <a:r>
                        <a:rPr lang="en-US" sz="1600" cap="none" spc="0">
                          <a:solidFill>
                            <a:schemeClr val="tx1"/>
                          </a:solidFill>
                          <a:effectLst/>
                        </a:rPr>
                        <a:t>Private, shrewd</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352752334"/>
                  </a:ext>
                </a:extLst>
              </a:tr>
              <a:tr h="345929">
                <a:tc>
                  <a:txBody>
                    <a:bodyPr/>
                    <a:lstStyle/>
                    <a:p>
                      <a:pPr fontAlgn="ctr"/>
                      <a:r>
                        <a:rPr lang="en-US" sz="1600" cap="none" spc="0">
                          <a:solidFill>
                            <a:schemeClr val="tx1"/>
                          </a:solidFill>
                          <a:effectLst/>
                        </a:rPr>
                        <a:t>Anxiety</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600" cap="none" spc="0">
                          <a:solidFill>
                            <a:schemeClr val="tx1"/>
                          </a:solidFill>
                          <a:effectLst/>
                        </a:rPr>
                        <a:t>Confident</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600" cap="none" spc="0">
                          <a:solidFill>
                            <a:schemeClr val="tx1"/>
                          </a:solidFill>
                          <a:effectLst/>
                        </a:rPr>
                        <a:t>Apprehensive</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545215331"/>
                  </a:ext>
                </a:extLst>
              </a:tr>
              <a:tr h="345929">
                <a:tc>
                  <a:txBody>
                    <a:bodyPr/>
                    <a:lstStyle/>
                    <a:p>
                      <a:pPr fontAlgn="ctr"/>
                      <a:r>
                        <a:rPr lang="en-US" sz="1600" cap="none" spc="0">
                          <a:solidFill>
                            <a:schemeClr val="tx1"/>
                          </a:solidFill>
                          <a:effectLst/>
                        </a:rPr>
                        <a:t>Openmindedness</a:t>
                      </a:r>
                    </a:p>
                  </a:txBody>
                  <a:tcPr marL="59993" marR="32873" marT="46149" marB="63762" anchor="ctr">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fontAlgn="ctr"/>
                      <a:r>
                        <a:rPr lang="en-US" sz="1600" cap="none" spc="0">
                          <a:solidFill>
                            <a:schemeClr val="tx1"/>
                          </a:solidFill>
                          <a:effectLst/>
                        </a:rPr>
                        <a:t>Closeminded, traditional</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noFill/>
                  </a:tcPr>
                </a:tc>
                <a:tc>
                  <a:txBody>
                    <a:bodyPr/>
                    <a:lstStyle/>
                    <a:p>
                      <a:pPr fontAlgn="ctr"/>
                      <a:r>
                        <a:rPr lang="en-US" sz="1600" cap="none" spc="0">
                          <a:solidFill>
                            <a:schemeClr val="tx1"/>
                          </a:solidFill>
                          <a:effectLst/>
                        </a:rPr>
                        <a:t>Curious, experimental</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206681343"/>
                  </a:ext>
                </a:extLst>
              </a:tr>
              <a:tr h="345929">
                <a:tc>
                  <a:txBody>
                    <a:bodyPr/>
                    <a:lstStyle/>
                    <a:p>
                      <a:pPr fontAlgn="ctr"/>
                      <a:r>
                        <a:rPr lang="en-US" sz="1600" cap="none" spc="0">
                          <a:solidFill>
                            <a:schemeClr val="tx1"/>
                          </a:solidFill>
                          <a:effectLst/>
                        </a:rPr>
                        <a:t>Independence</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600" cap="none" spc="0">
                          <a:solidFill>
                            <a:schemeClr val="tx1"/>
                          </a:solidFill>
                          <a:effectLst/>
                        </a:rPr>
                        <a:t>Outgoing, social</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600" cap="none" spc="0">
                          <a:solidFill>
                            <a:schemeClr val="tx1"/>
                          </a:solidFill>
                          <a:effectLst/>
                        </a:rPr>
                        <a:t>Self-sufficient</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533838971"/>
                  </a:ext>
                </a:extLst>
              </a:tr>
              <a:tr h="345929">
                <a:tc>
                  <a:txBody>
                    <a:bodyPr/>
                    <a:lstStyle/>
                    <a:p>
                      <a:pPr fontAlgn="ctr"/>
                      <a:r>
                        <a:rPr lang="en-US" sz="1600" cap="none" spc="0">
                          <a:solidFill>
                            <a:schemeClr val="tx1"/>
                          </a:solidFill>
                          <a:effectLst/>
                        </a:rPr>
                        <a:t>Perfectionism</a:t>
                      </a:r>
                    </a:p>
                  </a:txBody>
                  <a:tcPr marL="59993" marR="32873" marT="46149" marB="63762" anchor="ctr">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fontAlgn="ctr"/>
                      <a:r>
                        <a:rPr lang="en-US" sz="1600" cap="none" spc="0">
                          <a:solidFill>
                            <a:schemeClr val="tx1"/>
                          </a:solidFill>
                          <a:effectLst/>
                        </a:rPr>
                        <a:t>Disorganized, casual</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noFill/>
                  </a:tcPr>
                </a:tc>
                <a:tc>
                  <a:txBody>
                    <a:bodyPr/>
                    <a:lstStyle/>
                    <a:p>
                      <a:pPr fontAlgn="ctr"/>
                      <a:r>
                        <a:rPr lang="en-US" sz="1600" cap="none" spc="0">
                          <a:solidFill>
                            <a:schemeClr val="tx1"/>
                          </a:solidFill>
                          <a:effectLst/>
                        </a:rPr>
                        <a:t>Organized, precise</a:t>
                      </a:r>
                    </a:p>
                  </a:txBody>
                  <a:tcPr marL="59993" marR="32873" marT="46149" marB="6376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433776158"/>
                  </a:ext>
                </a:extLst>
              </a:tr>
              <a:tr h="345929">
                <a:tc>
                  <a:txBody>
                    <a:bodyPr/>
                    <a:lstStyle/>
                    <a:p>
                      <a:pPr fontAlgn="ctr"/>
                      <a:r>
                        <a:rPr lang="en-US" sz="1600" cap="none" spc="0">
                          <a:solidFill>
                            <a:schemeClr val="tx1"/>
                          </a:solidFill>
                          <a:effectLst/>
                        </a:rPr>
                        <a:t>Tension</a:t>
                      </a:r>
                    </a:p>
                  </a:txBody>
                  <a:tcPr marL="59993" marR="32873" marT="46149" marB="63762" anchor="ctr">
                    <a:lnL w="12700" cmpd="sng">
                      <a:noFill/>
                      <a:prstDash val="solid"/>
                    </a:lnL>
                    <a:lnR w="12700" cmpd="sng">
                      <a:noFill/>
                      <a:prstDash val="solid"/>
                    </a:lnR>
                    <a:lnT w="12700" cmpd="sng">
                      <a:noFill/>
                      <a:prstDash val="solid"/>
                    </a:lnT>
                    <a:lnB w="12700" cap="flat" cmpd="sng" algn="ctr">
                      <a:noFill/>
                      <a:prstDash val="solid"/>
                    </a:lnB>
                    <a:solidFill>
                      <a:schemeClr val="bg1">
                        <a:lumMod val="95000"/>
                      </a:schemeClr>
                    </a:solidFill>
                  </a:tcPr>
                </a:tc>
                <a:tc>
                  <a:txBody>
                    <a:bodyPr/>
                    <a:lstStyle/>
                    <a:p>
                      <a:pPr fontAlgn="ctr"/>
                      <a:r>
                        <a:rPr lang="en-US" sz="1600" cap="none" spc="0">
                          <a:solidFill>
                            <a:schemeClr val="tx1"/>
                          </a:solidFill>
                          <a:effectLst/>
                        </a:rPr>
                        <a:t>Relaxed</a:t>
                      </a:r>
                    </a:p>
                  </a:txBody>
                  <a:tcPr marL="59993" marR="32873" marT="46149" marB="63762" anchor="ctr">
                    <a:lnL w="12700" cmpd="sng">
                      <a:noFill/>
                      <a:prstDash val="solid"/>
                    </a:lnL>
                    <a:lnR w="12700" cmpd="sng">
                      <a:noFill/>
                      <a:prstDash val="solid"/>
                    </a:lnR>
                    <a:lnT w="12700" cmpd="sng">
                      <a:noFill/>
                      <a:prstDash val="solid"/>
                    </a:lnT>
                    <a:lnB w="12700" cap="flat" cmpd="sng" algn="ctr">
                      <a:noFill/>
                      <a:prstDash val="solid"/>
                    </a:lnB>
                    <a:solidFill>
                      <a:schemeClr val="bg1">
                        <a:lumMod val="95000"/>
                      </a:schemeClr>
                    </a:solidFill>
                  </a:tcPr>
                </a:tc>
                <a:tc>
                  <a:txBody>
                    <a:bodyPr/>
                    <a:lstStyle/>
                    <a:p>
                      <a:pPr fontAlgn="ctr"/>
                      <a:r>
                        <a:rPr lang="en-US" sz="1600" cap="none" spc="0" dirty="0">
                          <a:solidFill>
                            <a:schemeClr val="tx1"/>
                          </a:solidFill>
                          <a:effectLst/>
                        </a:rPr>
                        <a:t>Stressed</a:t>
                      </a:r>
                    </a:p>
                  </a:txBody>
                  <a:tcPr marL="59993" marR="32873" marT="46149" marB="63762" anchor="ctr">
                    <a:lnL w="12700" cmpd="sng">
                      <a:noFill/>
                      <a:prstDash val="solid"/>
                    </a:lnL>
                    <a:lnR w="12700" cmpd="sng">
                      <a:noFill/>
                      <a:prstDash val="solid"/>
                    </a:lnR>
                    <a:lnT w="12700" cmpd="sng">
                      <a:noFill/>
                      <a:prstDash val="solid"/>
                    </a:lnT>
                    <a:lnB w="12700" cap="flat" cmpd="sng" algn="ctr">
                      <a:noFill/>
                      <a:prstDash val="solid"/>
                    </a:lnB>
                    <a:solidFill>
                      <a:schemeClr val="bg1">
                        <a:lumMod val="95000"/>
                      </a:schemeClr>
                    </a:solidFill>
                  </a:tcPr>
                </a:tc>
                <a:extLst>
                  <a:ext uri="{0D108BD9-81ED-4DB2-BD59-A6C34878D82A}">
                    <a16:rowId xmlns:a16="http://schemas.microsoft.com/office/drawing/2014/main" val="316353326"/>
                  </a:ext>
                </a:extLst>
              </a:tr>
            </a:tbl>
          </a:graphicData>
        </a:graphic>
      </p:graphicFrame>
    </p:spTree>
    <p:extLst>
      <p:ext uri="{BB962C8B-B14F-4D97-AF65-F5344CB8AC3E}">
        <p14:creationId xmlns:p14="http://schemas.microsoft.com/office/powerpoint/2010/main" val="39739640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FD28B-BDFC-4F20-AFB7-7197DD43721B}"/>
              </a:ext>
            </a:extLst>
          </p:cNvPr>
          <p:cNvSpPr>
            <a:spLocks noGrp="1"/>
          </p:cNvSpPr>
          <p:nvPr>
            <p:ph type="title"/>
          </p:nvPr>
        </p:nvSpPr>
        <p:spPr>
          <a:xfrm>
            <a:off x="773408" y="992094"/>
            <a:ext cx="3760499" cy="2795160"/>
          </a:xfrm>
        </p:spPr>
        <p:txBody>
          <a:bodyPr vert="horz" lIns="91440" tIns="45720" rIns="91440" bIns="45720" rtlCol="0" anchor="b">
            <a:normAutofit/>
          </a:bodyPr>
          <a:lstStyle/>
          <a:p>
            <a:pPr algn="ctr"/>
            <a:r>
              <a:rPr lang="en-US" dirty="0"/>
              <a:t>The Five Factor Model</a:t>
            </a:r>
            <a:endParaRPr lang="en-US"/>
          </a:p>
        </p:txBody>
      </p:sp>
      <p:pic>
        <p:nvPicPr>
          <p:cNvPr id="12290" name="Picture 2" descr="A diagram includes five vertically stacked arrows, which point to the left and right. A dimension's first letter, name, and description are included inside of each arrow. A box to the left of each arrow includes factors associated with a low score for that arrow's dimension. A box to the right of each arrow includes factors associated with a high score for that arrow's dimension. The top arrow includes the factor “openness,” which is described with the words, “imagination,” “feelings,” “actions,” and “ideas.” The box to the left of that arrow includes the words, “practical,” “conventional,” and “prefers routine,” while the box to the right of that arrow includes the words, “curious,” “wide range of interests,” and “independent.” The next arrow includes the factor “conscientiousness,” which is described with the words, “competence,” “self-discipline,” “thoughtfulness,” and “goal-driven.” The box to the left of that arrow includes the words, “impulsive,” “careless,” and “disorganized,” while the box to the right of that arrow includes the words, “hardworking,” “dependable,” and “organized.” The next arrow includes the factor “extroversion,” which is described with the words, “sociability,” “assertiveness,” and “emotional expression.” The box to the left of that arrow includes the words, “quiet,” “reserved,” and “withdrawn,” while the box to the right of that arrow includes the words, “outgoing,” “warm,” and “seeks adventure.” The next arrow includes the factor “agreeableness,” which is described with the words, “cooperative,” “trustworthy,” and “good-natured.” The box to the left of that arrow includes the words, “critical,” “uncooperative,” and “suspicious,” while the box to the right of that arrow includes the words, “helpful,” “trusting,” and “empathetic.” The next arrow includes the factor “neuroticism,” which is described as “tendency toward unstable emotions.” The box to the left of that arrow includes the words, “calm,” “even-tempered,” and “secure,” while the box to the right of that arrow includes the words, “anxious,” “unhappy,” and “prone to negative emotions.”">
            <a:extLst>
              <a:ext uri="{FF2B5EF4-FFF2-40B4-BE49-F238E27FC236}">
                <a16:creationId xmlns:a16="http://schemas.microsoft.com/office/drawing/2014/main" id="{D845E1D1-9B19-41EF-88D8-3539BC1E964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5852080" y="615950"/>
            <a:ext cx="5387021" cy="5670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1746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CD55F-B1EA-4849-B080-17BBF0F28E40}"/>
              </a:ext>
            </a:extLst>
          </p:cNvPr>
          <p:cNvSpPr>
            <a:spLocks noGrp="1"/>
          </p:cNvSpPr>
          <p:nvPr>
            <p:ph type="title"/>
          </p:nvPr>
        </p:nvSpPr>
        <p:spPr>
          <a:xfrm>
            <a:off x="1050879" y="609601"/>
            <a:ext cx="9810604" cy="1216024"/>
          </a:xfrm>
        </p:spPr>
        <p:txBody>
          <a:bodyPr>
            <a:normAutofit/>
          </a:bodyPr>
          <a:lstStyle/>
          <a:p>
            <a:r>
              <a:rPr lang="en-US" dirty="0"/>
              <a:t>The </a:t>
            </a:r>
            <a:r>
              <a:rPr lang="en-US" dirty="0" err="1"/>
              <a:t>Hexaco</a:t>
            </a:r>
            <a:r>
              <a:rPr lang="en-US" dirty="0"/>
              <a:t> Traits</a:t>
            </a:r>
          </a:p>
        </p:txBody>
      </p:sp>
      <p:graphicFrame>
        <p:nvGraphicFramePr>
          <p:cNvPr id="4" name="Content Placeholder 3">
            <a:extLst>
              <a:ext uri="{FF2B5EF4-FFF2-40B4-BE49-F238E27FC236}">
                <a16:creationId xmlns:a16="http://schemas.microsoft.com/office/drawing/2014/main" id="{A0547C7D-7314-4410-A998-E41124B7FFD3}"/>
              </a:ext>
            </a:extLst>
          </p:cNvPr>
          <p:cNvGraphicFramePr>
            <a:graphicFrameLocks noGrp="1"/>
          </p:cNvGraphicFramePr>
          <p:nvPr>
            <p:ph idx="1"/>
          </p:nvPr>
        </p:nvGraphicFramePr>
        <p:xfrm>
          <a:off x="1623698" y="2586251"/>
          <a:ext cx="8919451" cy="3662148"/>
        </p:xfrm>
        <a:graphic>
          <a:graphicData uri="http://schemas.openxmlformats.org/drawingml/2006/table">
            <a:tbl>
              <a:tblPr firstRow="1" bandRow="1">
                <a:noFill/>
              </a:tblPr>
              <a:tblGrid>
                <a:gridCol w="3926143">
                  <a:extLst>
                    <a:ext uri="{9D8B030D-6E8A-4147-A177-3AD203B41FA5}">
                      <a16:colId xmlns:a16="http://schemas.microsoft.com/office/drawing/2014/main" val="4003618552"/>
                    </a:ext>
                  </a:extLst>
                </a:gridCol>
                <a:gridCol w="4993308">
                  <a:extLst>
                    <a:ext uri="{9D8B030D-6E8A-4147-A177-3AD203B41FA5}">
                      <a16:colId xmlns:a16="http://schemas.microsoft.com/office/drawing/2014/main" val="3250970482"/>
                    </a:ext>
                  </a:extLst>
                </a:gridCol>
              </a:tblGrid>
              <a:tr h="523164">
                <a:tc>
                  <a:txBody>
                    <a:bodyPr/>
                    <a:lstStyle/>
                    <a:p>
                      <a:pPr algn="l" fontAlgn="b"/>
                      <a:r>
                        <a:rPr lang="en-US" sz="1800" b="1">
                          <a:solidFill>
                            <a:schemeClr val="tx1">
                              <a:lumMod val="75000"/>
                              <a:lumOff val="25000"/>
                            </a:schemeClr>
                          </a:solidFill>
                          <a:effectLst/>
                        </a:rPr>
                        <a:t>Trait</a:t>
                      </a:r>
                    </a:p>
                  </a:txBody>
                  <a:tcPr marL="213536" marR="116197" marT="106768" marB="106768" anchor="b">
                    <a:lnL w="12700" cmpd="sng">
                      <a:noFill/>
                      <a:prstDash val="solid"/>
                    </a:lnL>
                    <a:lnR w="12700" cmpd="sng">
                      <a:noFill/>
                      <a:prstDash val="solid"/>
                    </a:lnR>
                    <a:lnT w="12700" cmpd="sng">
                      <a:noFill/>
                      <a:prstDash val="solid"/>
                    </a:lnT>
                    <a:lnB w="9525" cap="flat" cmpd="sng" algn="ctr">
                      <a:solidFill>
                        <a:srgbClr val="D8DCDC"/>
                      </a:solidFill>
                      <a:prstDash val="solid"/>
                    </a:lnB>
                    <a:noFill/>
                  </a:tcPr>
                </a:tc>
                <a:tc>
                  <a:txBody>
                    <a:bodyPr/>
                    <a:lstStyle/>
                    <a:p>
                      <a:pPr algn="l" fontAlgn="b"/>
                      <a:r>
                        <a:rPr lang="en-US" sz="1800" b="1">
                          <a:solidFill>
                            <a:schemeClr val="tx1">
                              <a:lumMod val="75000"/>
                              <a:lumOff val="25000"/>
                            </a:schemeClr>
                          </a:solidFill>
                          <a:effectLst/>
                        </a:rPr>
                        <a:t>Example Aspects of Trait</a:t>
                      </a:r>
                    </a:p>
                  </a:txBody>
                  <a:tcPr marL="213536" marR="116197" marT="106768" marB="106768" anchor="b">
                    <a:lnL w="12700" cmpd="sng">
                      <a:noFill/>
                      <a:prstDash val="solid"/>
                    </a:lnL>
                    <a:lnR w="12700" cmpd="sng">
                      <a:noFill/>
                      <a:prstDash val="solid"/>
                    </a:lnR>
                    <a:lnT w="12700" cmpd="sng">
                      <a:noFill/>
                      <a:prstDash val="solid"/>
                    </a:lnT>
                    <a:lnB w="9525" cap="flat" cmpd="sng" algn="ctr">
                      <a:solidFill>
                        <a:srgbClr val="D8DCDC"/>
                      </a:solidFill>
                      <a:prstDash val="solid"/>
                    </a:lnB>
                    <a:noFill/>
                  </a:tcPr>
                </a:tc>
                <a:extLst>
                  <a:ext uri="{0D108BD9-81ED-4DB2-BD59-A6C34878D82A}">
                    <a16:rowId xmlns:a16="http://schemas.microsoft.com/office/drawing/2014/main" val="1248179467"/>
                  </a:ext>
                </a:extLst>
              </a:tr>
              <a:tr h="523164">
                <a:tc>
                  <a:txBody>
                    <a:bodyPr/>
                    <a:lstStyle/>
                    <a:p>
                      <a:pPr fontAlgn="ctr"/>
                      <a:r>
                        <a:rPr lang="en-US" sz="1800">
                          <a:solidFill>
                            <a:schemeClr val="tx1">
                              <a:lumMod val="75000"/>
                              <a:lumOff val="25000"/>
                            </a:schemeClr>
                          </a:solidFill>
                          <a:effectLst/>
                        </a:rPr>
                        <a:t>(H) Honesty-humility</a:t>
                      </a:r>
                    </a:p>
                  </a:txBody>
                  <a:tcPr marL="213536" marR="116197" marT="106768" marB="106768"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fontAlgn="ctr"/>
                      <a:r>
                        <a:rPr lang="en-US" sz="1800">
                          <a:solidFill>
                            <a:schemeClr val="tx1">
                              <a:lumMod val="75000"/>
                              <a:lumOff val="25000"/>
                            </a:schemeClr>
                          </a:solidFill>
                          <a:effectLst/>
                        </a:rPr>
                        <a:t>Sincerity, modesty, faithfulness</a:t>
                      </a:r>
                    </a:p>
                  </a:txBody>
                  <a:tcPr marL="213536" marR="116197" marT="106768" marB="106768"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2457336919"/>
                  </a:ext>
                </a:extLst>
              </a:tr>
              <a:tr h="523164">
                <a:tc>
                  <a:txBody>
                    <a:bodyPr/>
                    <a:lstStyle/>
                    <a:p>
                      <a:pPr fontAlgn="ctr"/>
                      <a:r>
                        <a:rPr lang="en-US" sz="1800">
                          <a:solidFill>
                            <a:schemeClr val="tx1">
                              <a:lumMod val="75000"/>
                              <a:lumOff val="25000"/>
                            </a:schemeClr>
                          </a:solidFill>
                          <a:effectLst/>
                        </a:rPr>
                        <a:t>(E) Emotionality</a:t>
                      </a:r>
                    </a:p>
                  </a:txBody>
                  <a:tcPr marL="213536" marR="116197" marT="106768" marB="106768"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fontAlgn="ctr"/>
                      <a:r>
                        <a:rPr lang="en-US" sz="1800">
                          <a:solidFill>
                            <a:schemeClr val="tx1">
                              <a:lumMod val="75000"/>
                              <a:lumOff val="25000"/>
                            </a:schemeClr>
                          </a:solidFill>
                          <a:effectLst/>
                        </a:rPr>
                        <a:t>Sentimentality, anxiety, sensitivity</a:t>
                      </a:r>
                    </a:p>
                  </a:txBody>
                  <a:tcPr marL="213536" marR="116197" marT="106768" marB="106768"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2507833197"/>
                  </a:ext>
                </a:extLst>
              </a:tr>
              <a:tr h="523164">
                <a:tc>
                  <a:txBody>
                    <a:bodyPr/>
                    <a:lstStyle/>
                    <a:p>
                      <a:pPr fontAlgn="ctr"/>
                      <a:r>
                        <a:rPr lang="en-US" sz="1800">
                          <a:solidFill>
                            <a:schemeClr val="tx1">
                              <a:lumMod val="75000"/>
                              <a:lumOff val="25000"/>
                            </a:schemeClr>
                          </a:solidFill>
                          <a:effectLst/>
                        </a:rPr>
                        <a:t>(X) Extraversion</a:t>
                      </a:r>
                    </a:p>
                  </a:txBody>
                  <a:tcPr marL="213536" marR="116197" marT="106768" marB="106768"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fontAlgn="ctr"/>
                      <a:r>
                        <a:rPr lang="en-US" sz="1800">
                          <a:solidFill>
                            <a:schemeClr val="tx1">
                              <a:lumMod val="75000"/>
                              <a:lumOff val="25000"/>
                            </a:schemeClr>
                          </a:solidFill>
                          <a:effectLst/>
                        </a:rPr>
                        <a:t>Sociability, talkativeness, boldness</a:t>
                      </a:r>
                    </a:p>
                  </a:txBody>
                  <a:tcPr marL="213536" marR="116197" marT="106768" marB="106768"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1541129409"/>
                  </a:ext>
                </a:extLst>
              </a:tr>
              <a:tr h="523164">
                <a:tc>
                  <a:txBody>
                    <a:bodyPr/>
                    <a:lstStyle/>
                    <a:p>
                      <a:pPr fontAlgn="ctr"/>
                      <a:r>
                        <a:rPr lang="en-US" sz="1800">
                          <a:solidFill>
                            <a:schemeClr val="tx1">
                              <a:lumMod val="75000"/>
                              <a:lumOff val="25000"/>
                            </a:schemeClr>
                          </a:solidFill>
                          <a:effectLst/>
                        </a:rPr>
                        <a:t>(A) Agreeableness</a:t>
                      </a:r>
                    </a:p>
                  </a:txBody>
                  <a:tcPr marL="213536" marR="116197" marT="106768" marB="106768"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fontAlgn="ctr"/>
                      <a:r>
                        <a:rPr lang="en-US" sz="1800">
                          <a:solidFill>
                            <a:schemeClr val="tx1">
                              <a:lumMod val="75000"/>
                              <a:lumOff val="25000"/>
                            </a:schemeClr>
                          </a:solidFill>
                          <a:effectLst/>
                        </a:rPr>
                        <a:t>Patience, tolerance, gentleness</a:t>
                      </a:r>
                    </a:p>
                  </a:txBody>
                  <a:tcPr marL="213536" marR="116197" marT="106768" marB="106768"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3137677338"/>
                  </a:ext>
                </a:extLst>
              </a:tr>
              <a:tr h="523164">
                <a:tc>
                  <a:txBody>
                    <a:bodyPr/>
                    <a:lstStyle/>
                    <a:p>
                      <a:pPr fontAlgn="ctr"/>
                      <a:r>
                        <a:rPr lang="en-US" sz="1800">
                          <a:solidFill>
                            <a:schemeClr val="tx1">
                              <a:lumMod val="75000"/>
                              <a:lumOff val="25000"/>
                            </a:schemeClr>
                          </a:solidFill>
                          <a:effectLst/>
                        </a:rPr>
                        <a:t>(C) Conscientiousness</a:t>
                      </a:r>
                    </a:p>
                  </a:txBody>
                  <a:tcPr marL="213536" marR="116197" marT="106768" marB="106768"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fontAlgn="ctr"/>
                      <a:r>
                        <a:rPr lang="en-US" sz="1800">
                          <a:solidFill>
                            <a:schemeClr val="tx1">
                              <a:lumMod val="75000"/>
                              <a:lumOff val="25000"/>
                            </a:schemeClr>
                          </a:solidFill>
                          <a:effectLst/>
                        </a:rPr>
                        <a:t>Organization, thoroughness, precision</a:t>
                      </a:r>
                    </a:p>
                  </a:txBody>
                  <a:tcPr marL="213536" marR="116197" marT="106768" marB="106768" anchor="ctr">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2291810"/>
                  </a:ext>
                </a:extLst>
              </a:tr>
              <a:tr h="523164">
                <a:tc>
                  <a:txBody>
                    <a:bodyPr/>
                    <a:lstStyle/>
                    <a:p>
                      <a:pPr fontAlgn="ctr"/>
                      <a:r>
                        <a:rPr lang="en-US" sz="1800">
                          <a:solidFill>
                            <a:schemeClr val="tx1">
                              <a:lumMod val="75000"/>
                              <a:lumOff val="25000"/>
                            </a:schemeClr>
                          </a:solidFill>
                          <a:effectLst/>
                        </a:rPr>
                        <a:t>(O) Openness</a:t>
                      </a:r>
                    </a:p>
                  </a:txBody>
                  <a:tcPr marL="213536" marR="116197" marT="106768" marB="106768"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tc>
                  <a:txBody>
                    <a:bodyPr/>
                    <a:lstStyle/>
                    <a:p>
                      <a:pPr fontAlgn="ctr"/>
                      <a:r>
                        <a:rPr lang="en-US" sz="1800">
                          <a:solidFill>
                            <a:schemeClr val="tx1">
                              <a:lumMod val="75000"/>
                              <a:lumOff val="25000"/>
                            </a:schemeClr>
                          </a:solidFill>
                          <a:effectLst/>
                        </a:rPr>
                        <a:t>Creativity, inquisitiveness, innovativeness</a:t>
                      </a:r>
                    </a:p>
                  </a:txBody>
                  <a:tcPr marL="213536" marR="116197" marT="106768" marB="106768" anchor="ctr">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EDC"/>
                      </a:solidFill>
                      <a:prstDash val="solid"/>
                    </a:lnB>
                    <a:noFill/>
                  </a:tcPr>
                </a:tc>
                <a:extLst>
                  <a:ext uri="{0D108BD9-81ED-4DB2-BD59-A6C34878D82A}">
                    <a16:rowId xmlns:a16="http://schemas.microsoft.com/office/drawing/2014/main" val="979115701"/>
                  </a:ext>
                </a:extLst>
              </a:tr>
            </a:tbl>
          </a:graphicData>
        </a:graphic>
      </p:graphicFrame>
    </p:spTree>
    <p:extLst>
      <p:ext uri="{BB962C8B-B14F-4D97-AF65-F5344CB8AC3E}">
        <p14:creationId xmlns:p14="http://schemas.microsoft.com/office/powerpoint/2010/main" val="10741946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6244B-60B9-41F5-928B-2C057D471B5A}"/>
              </a:ext>
            </a:extLst>
          </p:cNvPr>
          <p:cNvSpPr>
            <a:spLocks noGrp="1"/>
          </p:cNvSpPr>
          <p:nvPr>
            <p:ph type="title"/>
          </p:nvPr>
        </p:nvSpPr>
        <p:spPr>
          <a:xfrm>
            <a:off x="7858364" y="609601"/>
            <a:ext cx="4043363" cy="5691187"/>
          </a:xfrm>
        </p:spPr>
        <p:txBody>
          <a:bodyPr/>
          <a:lstStyle/>
          <a:p>
            <a:r>
              <a:rPr lang="en-US" dirty="0"/>
              <a:t>Culture’s Influence on Personality</a:t>
            </a:r>
          </a:p>
        </p:txBody>
      </p:sp>
      <p:pic>
        <p:nvPicPr>
          <p:cNvPr id="14338" name="Picture 2" descr="A map of the United States is shown. Above it is the label “Personality Clusters in the Continental United States.” Below it is a legend which defines areas in the map as either, “Cluster 1: friendly, conventional;” “Cluster 2: relaxed, creative;” or “Cluster 3: temperamental, uninhibited.” Cluster 1occurs mainly in the center of the country. Cluster 2 occurs mainly on the west side of the country. Cluster 3 occurs mainly in the North-East region of the country and also in Texas. These are generalizations; there are several states which are comprised of a combination of two different clusters.">
            <a:extLst>
              <a:ext uri="{FF2B5EF4-FFF2-40B4-BE49-F238E27FC236}">
                <a16:creationId xmlns:a16="http://schemas.microsoft.com/office/drawing/2014/main" id="{433A5F3F-AE53-4257-895C-147A2ABA090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03748" y="609601"/>
            <a:ext cx="7008036" cy="5448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57807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601FDE-D13C-48A5-8314-B12CD0C283D5}"/>
              </a:ext>
            </a:extLst>
          </p:cNvPr>
          <p:cNvSpPr>
            <a:spLocks noGrp="1"/>
          </p:cNvSpPr>
          <p:nvPr>
            <p:ph idx="1"/>
          </p:nvPr>
        </p:nvSpPr>
        <p:spPr>
          <a:xfrm>
            <a:off x="6617860" y="613411"/>
            <a:ext cx="4601882" cy="5654330"/>
          </a:xfrm>
        </p:spPr>
        <p:txBody>
          <a:bodyPr anchor="ctr">
            <a:normAutofit/>
          </a:bodyPr>
          <a:lstStyle/>
          <a:p>
            <a:pPr marL="0" indent="0">
              <a:buNone/>
            </a:pPr>
            <a:r>
              <a:rPr lang="en-US" sz="4000" dirty="0"/>
              <a:t>What purpose could a personality test serve?</a:t>
            </a:r>
          </a:p>
        </p:txBody>
      </p:sp>
      <p:pic>
        <p:nvPicPr>
          <p:cNvPr id="5" name="Picture 4">
            <a:extLst>
              <a:ext uri="{FF2B5EF4-FFF2-40B4-BE49-F238E27FC236}">
                <a16:creationId xmlns:a16="http://schemas.microsoft.com/office/drawing/2014/main" id="{AD167F96-82F7-4FE0-914D-47C88DD2706B}"/>
              </a:ext>
              <a:ext uri="{C183D7F6-B498-43B3-948B-1728B52AA6E4}">
                <adec:decorative xmlns:adec="http://schemas.microsoft.com/office/drawing/2017/decorative" val="1"/>
              </a:ext>
            </a:extLst>
          </p:cNvPr>
          <p:cNvPicPr>
            <a:picLocks noChangeAspect="1"/>
          </p:cNvPicPr>
          <p:nvPr/>
        </p:nvPicPr>
        <p:blipFill rotWithShape="1">
          <a:blip r:embed="rId3"/>
          <a:srcRect l="9246" r="6292"/>
          <a:stretch/>
        </p:blipFill>
        <p:spPr>
          <a:xfrm>
            <a:off x="1398929" y="3555468"/>
            <a:ext cx="3434234" cy="2287123"/>
          </a:xfrm>
          <a:prstGeom prst="rect">
            <a:avLst/>
          </a:prstGeom>
        </p:spPr>
      </p:pic>
    </p:spTree>
    <p:extLst>
      <p:ext uri="{BB962C8B-B14F-4D97-AF65-F5344CB8AC3E}">
        <p14:creationId xmlns:p14="http://schemas.microsoft.com/office/powerpoint/2010/main" val="30901406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58F9C-8644-45E1-9E3E-656EA82DEFCB}"/>
              </a:ext>
            </a:extLst>
          </p:cNvPr>
          <p:cNvSpPr>
            <a:spLocks noGrp="1"/>
          </p:cNvSpPr>
          <p:nvPr>
            <p:ph type="title"/>
          </p:nvPr>
        </p:nvSpPr>
        <p:spPr>
          <a:xfrm>
            <a:off x="1050879" y="609600"/>
            <a:ext cx="3131822" cy="5644775"/>
          </a:xfrm>
        </p:spPr>
        <p:txBody>
          <a:bodyPr>
            <a:normAutofit/>
          </a:bodyPr>
          <a:lstStyle/>
          <a:p>
            <a:r>
              <a:rPr lang="en-US" dirty="0"/>
              <a:t>Personality Assessments</a:t>
            </a:r>
          </a:p>
        </p:txBody>
      </p:sp>
      <p:graphicFrame>
        <p:nvGraphicFramePr>
          <p:cNvPr id="5" name="Content Placeholder 2">
            <a:extLst>
              <a:ext uri="{FF2B5EF4-FFF2-40B4-BE49-F238E27FC236}">
                <a16:creationId xmlns:a16="http://schemas.microsoft.com/office/drawing/2014/main" id="{E3CD0C99-D3D6-4FEF-8679-4159E698CD4B}"/>
              </a:ext>
            </a:extLst>
          </p:cNvPr>
          <p:cNvGraphicFramePr>
            <a:graphicFrameLocks noGrp="1"/>
          </p:cNvGraphicFramePr>
          <p:nvPr>
            <p:ph idx="1"/>
            <p:extLst>
              <p:ext uri="{D42A27DB-BD31-4B8C-83A1-F6EECF244321}">
                <p14:modId xmlns:p14="http://schemas.microsoft.com/office/powerpoint/2010/main" val="586698322"/>
              </p:ext>
            </p:extLst>
          </p:nvPr>
        </p:nvGraphicFramePr>
        <p:xfrm>
          <a:off x="4454305" y="609601"/>
          <a:ext cx="4916033" cy="56447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348019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2E090BA-E351-E4F3-A685-7CAE91ED18BA}"/>
              </a:ext>
            </a:extLst>
          </p:cNvPr>
          <p:cNvSpPr>
            <a:spLocks noGrp="1"/>
          </p:cNvSpPr>
          <p:nvPr>
            <p:ph type="title"/>
          </p:nvPr>
        </p:nvSpPr>
        <p:spPr/>
        <p:txBody>
          <a:bodyPr/>
          <a:lstStyle/>
          <a:p>
            <a:r>
              <a:rPr lang="en-US" dirty="0"/>
              <a:t>Next time on PSY 203…</a:t>
            </a:r>
          </a:p>
        </p:txBody>
      </p:sp>
      <p:sp>
        <p:nvSpPr>
          <p:cNvPr id="6" name="Content Placeholder 5">
            <a:extLst>
              <a:ext uri="{FF2B5EF4-FFF2-40B4-BE49-F238E27FC236}">
                <a16:creationId xmlns:a16="http://schemas.microsoft.com/office/drawing/2014/main" id="{694F2E81-9C7C-B5C9-1DD9-4F07341C51FB}"/>
              </a:ext>
            </a:extLst>
          </p:cNvPr>
          <p:cNvSpPr>
            <a:spLocks noGrp="1"/>
          </p:cNvSpPr>
          <p:nvPr>
            <p:ph idx="1"/>
          </p:nvPr>
        </p:nvSpPr>
        <p:spPr/>
        <p:txBody>
          <a:bodyPr/>
          <a:lstStyle/>
          <a:p>
            <a:pPr marL="0" indent="0">
              <a:buNone/>
            </a:pPr>
            <a:r>
              <a:rPr lang="en-US" dirty="0"/>
              <a:t>BEFORE NEXT CLASS:</a:t>
            </a:r>
          </a:p>
          <a:p>
            <a:r>
              <a:rPr lang="en-US" dirty="0"/>
              <a:t>Read Chapter 12</a:t>
            </a:r>
          </a:p>
          <a:p>
            <a:r>
              <a:rPr lang="en-US" dirty="0"/>
              <a:t>Chapter 12 Quiz</a:t>
            </a:r>
          </a:p>
          <a:p>
            <a:pPr lvl="1"/>
            <a:endParaRPr lang="en-US" dirty="0"/>
          </a:p>
        </p:txBody>
      </p:sp>
      <p:sp>
        <p:nvSpPr>
          <p:cNvPr id="7" name="Content Placeholder 6">
            <a:extLst>
              <a:ext uri="{FF2B5EF4-FFF2-40B4-BE49-F238E27FC236}">
                <a16:creationId xmlns:a16="http://schemas.microsoft.com/office/drawing/2014/main" id="{D5A1EB2A-BB63-6729-EE0B-292C510190F7}"/>
              </a:ext>
            </a:extLst>
          </p:cNvPr>
          <p:cNvSpPr>
            <a:spLocks noGrp="1"/>
          </p:cNvSpPr>
          <p:nvPr>
            <p:ph idx="13"/>
          </p:nvPr>
        </p:nvSpPr>
        <p:spPr/>
        <p:txBody>
          <a:bodyPr/>
          <a:lstStyle/>
          <a:p>
            <a:pPr marL="0" indent="0">
              <a:buNone/>
            </a:pPr>
            <a:r>
              <a:rPr lang="en-US" dirty="0"/>
              <a:t>NEXT CLASS:</a:t>
            </a:r>
          </a:p>
          <a:p>
            <a:r>
              <a:rPr lang="en-US" dirty="0"/>
              <a:t>Chapter 12- Social Psychology</a:t>
            </a:r>
          </a:p>
        </p:txBody>
      </p:sp>
      <p:sp>
        <p:nvSpPr>
          <p:cNvPr id="4" name="Slide Number Placeholder 3">
            <a:extLst>
              <a:ext uri="{FF2B5EF4-FFF2-40B4-BE49-F238E27FC236}">
                <a16:creationId xmlns:a16="http://schemas.microsoft.com/office/drawing/2014/main" id="{35828B26-5C4D-2E5A-3769-813B239AAC6F}"/>
              </a:ext>
            </a:extLst>
          </p:cNvPr>
          <p:cNvSpPr>
            <a:spLocks noGrp="1"/>
          </p:cNvSpPr>
          <p:nvPr>
            <p:ph type="sldNum" sz="quarter" idx="12"/>
          </p:nvPr>
        </p:nvSpPr>
        <p:spPr/>
        <p:txBody>
          <a:bodyPr/>
          <a:lstStyle/>
          <a:p>
            <a:fld id="{CBD12358-51D2-46B3-9BDE-DF29528B9454}" type="slidenum">
              <a:rPr lang="en-US" smtClean="0"/>
              <a:t>26</a:t>
            </a:fld>
            <a:endParaRPr lang="en-US" dirty="0"/>
          </a:p>
        </p:txBody>
      </p:sp>
    </p:spTree>
    <p:extLst>
      <p:ext uri="{BB962C8B-B14F-4D97-AF65-F5344CB8AC3E}">
        <p14:creationId xmlns:p14="http://schemas.microsoft.com/office/powerpoint/2010/main" val="1226345955"/>
      </p:ext>
    </p:extLst>
  </p:cSld>
  <p:clrMapOvr>
    <a:masterClrMapping/>
  </p:clrMapOvr>
</p:sld>
</file>

<file path=ppt/theme/theme1.xml><?xml version="1.0" encoding="utf-8"?>
<a:theme xmlns:a="http://schemas.openxmlformats.org/drawingml/2006/main" name="Custom">
  <a:themeElements>
    <a:clrScheme name="Custom 17">
      <a:dk1>
        <a:sysClr val="windowText" lastClr="000000"/>
      </a:dk1>
      <a:lt1>
        <a:sysClr val="window" lastClr="FFFFFF"/>
      </a:lt1>
      <a:dk2>
        <a:srgbClr val="44546A"/>
      </a:dk2>
      <a:lt2>
        <a:srgbClr val="E7E6E6"/>
      </a:lt2>
      <a:accent1>
        <a:srgbClr val="BED6DA"/>
      </a:accent1>
      <a:accent2>
        <a:srgbClr val="3E7090"/>
      </a:accent2>
      <a:accent3>
        <a:srgbClr val="93A5A8"/>
      </a:accent3>
      <a:accent4>
        <a:srgbClr val="627272"/>
      </a:accent4>
      <a:accent5>
        <a:srgbClr val="BDA07D"/>
      </a:accent5>
      <a:accent6>
        <a:srgbClr val="D8CAB7"/>
      </a:accent6>
      <a:hlink>
        <a:srgbClr val="0563C1"/>
      </a:hlink>
      <a:folHlink>
        <a:srgbClr val="954F72"/>
      </a:folHlink>
    </a:clrScheme>
    <a:fontScheme name="Custom 24">
      <a:majorFont>
        <a:latin typeface="Segoe UI Ligh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3468121_win32_CP_V3" id="{DB41292E-DA07-4A60-84D2-21F0B686AF93}" vid="{CD2DD4A9-674C-44A3-BA93-D7C3019ED0B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Background xmlns="71af3243-3dd4-4a8d-8c0d-dd76da1f02a5">false</Background>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2AF5DA8-6387-4138-BF96-B65D39F2FC2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279BBA1-1277-4614-8DDE-B2EB22751222}">
  <ds:schemaRefs>
    <ds:schemaRef ds:uri="http://schemas.microsoft.com/sharepoint/v3/contenttype/forms"/>
  </ds:schemaRefs>
</ds:datastoreItem>
</file>

<file path=customXml/itemProps3.xml><?xml version="1.0" encoding="utf-8"?>
<ds:datastoreItem xmlns:ds="http://schemas.openxmlformats.org/officeDocument/2006/customXml" ds:itemID="{BE47603A-423C-4B8F-AA3D-8E6FA47105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Coastal presentation</Template>
  <TotalTime>192</TotalTime>
  <Words>632</Words>
  <Application>Microsoft Office PowerPoint</Application>
  <PresentationFormat>Widescreen</PresentationFormat>
  <Paragraphs>199</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Segoe UI Light</vt:lpstr>
      <vt:lpstr>Custom</vt:lpstr>
      <vt:lpstr>Personality</vt:lpstr>
      <vt:lpstr>Agenda</vt:lpstr>
      <vt:lpstr>PowerPoint Presentation</vt:lpstr>
      <vt:lpstr>Historical Perspectives- The Humors</vt:lpstr>
      <vt:lpstr>Historical Perspectives- Phrenology  Franz Gall</vt:lpstr>
      <vt:lpstr>Historical Perspectives- The Humors 2.0  Wilhelm Wundt</vt:lpstr>
      <vt:lpstr>Freud’s Levels of Consciousness</vt:lpstr>
      <vt:lpstr>Freud’s  Defense Mechanisms</vt:lpstr>
      <vt:lpstr>Freud’s Stages of Psychosexual Development</vt:lpstr>
      <vt:lpstr>Neo-Freudians</vt:lpstr>
      <vt:lpstr>Alfred Adler: Individual Psychology</vt:lpstr>
      <vt:lpstr>Erik Erikson: Psychosocial Stages</vt:lpstr>
      <vt:lpstr>Carl Jung: Analytical Psychology</vt:lpstr>
      <vt:lpstr>Karen Horney and Unconscious Anxiety</vt:lpstr>
      <vt:lpstr>Learning Approaches</vt:lpstr>
      <vt:lpstr>The Locus of Control  Julian Rotter</vt:lpstr>
      <vt:lpstr>Humanistic Approaches</vt:lpstr>
      <vt:lpstr>PowerPoint Presentation</vt:lpstr>
      <vt:lpstr>Trait Theories</vt:lpstr>
      <vt:lpstr>Cattell’s 16 personality factors</vt:lpstr>
      <vt:lpstr>The Five Factor Model</vt:lpstr>
      <vt:lpstr>The Hexaco Traits</vt:lpstr>
      <vt:lpstr>Culture’s Influence on Personality</vt:lpstr>
      <vt:lpstr>PowerPoint Presentation</vt:lpstr>
      <vt:lpstr>Personality Assessments</vt:lpstr>
      <vt:lpstr>Next time on PSY 203…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Scheuler, Bryanna</dc:creator>
  <cp:lastModifiedBy>Bryanna Scheuler</cp:lastModifiedBy>
  <cp:revision>12</cp:revision>
  <dcterms:created xsi:type="dcterms:W3CDTF">2025-10-16T09:38:32Z</dcterms:created>
  <dcterms:modified xsi:type="dcterms:W3CDTF">2026-03-12T15:54:23Z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