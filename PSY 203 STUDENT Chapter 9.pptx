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0"/>
  </p:notesMasterIdLst>
  <p:handoutMasterIdLst>
    <p:handoutMasterId r:id="rId31"/>
  </p:handoutMasterIdLst>
  <p:sldIdLst>
    <p:sldId id="338" r:id="rId5"/>
    <p:sldId id="339" r:id="rId6"/>
    <p:sldId id="257" r:id="rId7"/>
    <p:sldId id="340" r:id="rId8"/>
    <p:sldId id="259" r:id="rId9"/>
    <p:sldId id="260" r:id="rId10"/>
    <p:sldId id="261" r:id="rId11"/>
    <p:sldId id="342" r:id="rId12"/>
    <p:sldId id="341" r:id="rId13"/>
    <p:sldId id="264" r:id="rId14"/>
    <p:sldId id="265" r:id="rId15"/>
    <p:sldId id="266" r:id="rId16"/>
    <p:sldId id="270" r:id="rId17"/>
    <p:sldId id="271" r:id="rId18"/>
    <p:sldId id="343" r:id="rId19"/>
    <p:sldId id="273" r:id="rId20"/>
    <p:sldId id="276" r:id="rId21"/>
    <p:sldId id="277" r:id="rId22"/>
    <p:sldId id="278" r:id="rId23"/>
    <p:sldId id="279" r:id="rId24"/>
    <p:sldId id="281" r:id="rId25"/>
    <p:sldId id="282" r:id="rId26"/>
    <p:sldId id="275" r:id="rId27"/>
    <p:sldId id="335" r:id="rId28"/>
    <p:sldId id="34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5135"/>
    <a:srgbClr val="BDA07D"/>
    <a:srgbClr val="F5F9F9"/>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70287" autoAdjust="0"/>
  </p:normalViewPr>
  <p:slideViewPr>
    <p:cSldViewPr snapToGrid="0">
      <p:cViewPr varScale="1">
        <p:scale>
          <a:sx n="76" d="100"/>
          <a:sy n="76" d="100"/>
        </p:scale>
        <p:origin x="3366"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9D6A54-746F-4586-85CE-F3B1389B670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082BD31-1725-43E8-BB6F-FA0B68A74B39}">
      <dgm:prSet/>
      <dgm:spPr/>
      <dgm:t>
        <a:bodyPr/>
        <a:lstStyle/>
        <a:p>
          <a:pPr>
            <a:lnSpc>
              <a:spcPct val="100000"/>
            </a:lnSpc>
            <a:defRPr cap="all"/>
          </a:pPr>
          <a:r>
            <a:rPr lang="en-US"/>
            <a:t>Physical</a:t>
          </a:r>
        </a:p>
      </dgm:t>
    </dgm:pt>
    <dgm:pt modelId="{7DCF1AFF-3D63-44B6-8B3C-2A282132F0D4}" type="parTrans" cxnId="{CF104884-D867-43EC-9BDB-E6174972218A}">
      <dgm:prSet/>
      <dgm:spPr/>
      <dgm:t>
        <a:bodyPr/>
        <a:lstStyle/>
        <a:p>
          <a:endParaRPr lang="en-US"/>
        </a:p>
      </dgm:t>
    </dgm:pt>
    <dgm:pt modelId="{19337077-2922-40B1-92E5-801E75F983E5}" type="sibTrans" cxnId="{CF104884-D867-43EC-9BDB-E6174972218A}">
      <dgm:prSet/>
      <dgm:spPr/>
      <dgm:t>
        <a:bodyPr/>
        <a:lstStyle/>
        <a:p>
          <a:endParaRPr lang="en-US"/>
        </a:p>
      </dgm:t>
    </dgm:pt>
    <dgm:pt modelId="{31B2EB69-0FC2-4A33-9343-A4E27B5FB3E3}">
      <dgm:prSet/>
      <dgm:spPr/>
      <dgm:t>
        <a:bodyPr/>
        <a:lstStyle/>
        <a:p>
          <a:pPr>
            <a:lnSpc>
              <a:spcPct val="100000"/>
            </a:lnSpc>
            <a:defRPr cap="all"/>
          </a:pPr>
          <a:r>
            <a:rPr lang="en-US"/>
            <a:t>Cognitive</a:t>
          </a:r>
        </a:p>
      </dgm:t>
    </dgm:pt>
    <dgm:pt modelId="{6C8E101B-8E81-43D0-BEB0-E7CD9E026679}" type="parTrans" cxnId="{EA697107-CDDE-4873-9EA4-EDE30C464542}">
      <dgm:prSet/>
      <dgm:spPr/>
      <dgm:t>
        <a:bodyPr/>
        <a:lstStyle/>
        <a:p>
          <a:endParaRPr lang="en-US"/>
        </a:p>
      </dgm:t>
    </dgm:pt>
    <dgm:pt modelId="{4F40B39C-87E3-4F3F-8160-3409F36D7311}" type="sibTrans" cxnId="{EA697107-CDDE-4873-9EA4-EDE30C464542}">
      <dgm:prSet/>
      <dgm:spPr/>
      <dgm:t>
        <a:bodyPr/>
        <a:lstStyle/>
        <a:p>
          <a:endParaRPr lang="en-US"/>
        </a:p>
      </dgm:t>
    </dgm:pt>
    <dgm:pt modelId="{041B1791-C8C5-4444-8E16-CF0CE772B7DC}">
      <dgm:prSet/>
      <dgm:spPr/>
      <dgm:t>
        <a:bodyPr/>
        <a:lstStyle/>
        <a:p>
          <a:pPr>
            <a:lnSpc>
              <a:spcPct val="100000"/>
            </a:lnSpc>
            <a:defRPr cap="all"/>
          </a:pPr>
          <a:r>
            <a:rPr lang="en-US" dirty="0"/>
            <a:t>Psychosocial</a:t>
          </a:r>
        </a:p>
      </dgm:t>
    </dgm:pt>
    <dgm:pt modelId="{418A2235-9748-4829-BAFD-35C03CD9A66E}" type="parTrans" cxnId="{5435913C-F4D8-4FE9-997E-C1CC8115DEA3}">
      <dgm:prSet/>
      <dgm:spPr/>
      <dgm:t>
        <a:bodyPr/>
        <a:lstStyle/>
        <a:p>
          <a:endParaRPr lang="en-US"/>
        </a:p>
      </dgm:t>
    </dgm:pt>
    <dgm:pt modelId="{BFCD989D-4227-4C4E-BF1B-989BE281DC04}" type="sibTrans" cxnId="{5435913C-F4D8-4FE9-997E-C1CC8115DEA3}">
      <dgm:prSet/>
      <dgm:spPr/>
      <dgm:t>
        <a:bodyPr/>
        <a:lstStyle/>
        <a:p>
          <a:endParaRPr lang="en-US"/>
        </a:p>
      </dgm:t>
    </dgm:pt>
    <dgm:pt modelId="{6AD2873B-C09E-40D8-8D36-EAAEDB626E17}" type="pres">
      <dgm:prSet presAssocID="{C29D6A54-746F-4586-85CE-F3B1389B6701}" presName="root" presStyleCnt="0">
        <dgm:presLayoutVars>
          <dgm:dir/>
          <dgm:resizeHandles val="exact"/>
        </dgm:presLayoutVars>
      </dgm:prSet>
      <dgm:spPr/>
    </dgm:pt>
    <dgm:pt modelId="{9DD365BD-88ED-4CF0-AAEA-23EDA8C12708}" type="pres">
      <dgm:prSet presAssocID="{1082BD31-1725-43E8-BB6F-FA0B68A74B39}" presName="compNode" presStyleCnt="0"/>
      <dgm:spPr/>
    </dgm:pt>
    <dgm:pt modelId="{151C547B-E04E-45FD-A0B5-EFB60F70FFD2}" type="pres">
      <dgm:prSet presAssocID="{1082BD31-1725-43E8-BB6F-FA0B68A74B39}" presName="iconBgRect" presStyleLbl="bgShp" presStyleIdx="0" presStyleCnt="3"/>
      <dgm:spPr>
        <a:prstGeom prst="round2DiagRect">
          <a:avLst>
            <a:gd name="adj1" fmla="val 29727"/>
            <a:gd name="adj2" fmla="val 0"/>
          </a:avLst>
        </a:prstGeom>
      </dgm:spPr>
    </dgm:pt>
    <dgm:pt modelId="{7576CFE4-E2A6-43E3-911C-AE2600E76088}" type="pres">
      <dgm:prSet presAssocID="{1082BD31-1725-43E8-BB6F-FA0B68A74B3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F5B91F2-AD39-4B3F-88C2-B818209B3BF2}" type="pres">
      <dgm:prSet presAssocID="{1082BD31-1725-43E8-BB6F-FA0B68A74B39}" presName="spaceRect" presStyleCnt="0"/>
      <dgm:spPr/>
    </dgm:pt>
    <dgm:pt modelId="{7BEF28FF-9CA9-4285-86B4-800826DBD76F}" type="pres">
      <dgm:prSet presAssocID="{1082BD31-1725-43E8-BB6F-FA0B68A74B39}" presName="textRect" presStyleLbl="revTx" presStyleIdx="0" presStyleCnt="3">
        <dgm:presLayoutVars>
          <dgm:chMax val="1"/>
          <dgm:chPref val="1"/>
        </dgm:presLayoutVars>
      </dgm:prSet>
      <dgm:spPr/>
    </dgm:pt>
    <dgm:pt modelId="{C90C0D31-27C2-47EE-866B-3FBA0872FA9C}" type="pres">
      <dgm:prSet presAssocID="{19337077-2922-40B1-92E5-801E75F983E5}" presName="sibTrans" presStyleCnt="0"/>
      <dgm:spPr/>
    </dgm:pt>
    <dgm:pt modelId="{1A4A971A-FFBE-481C-B842-FB10AD05E37A}" type="pres">
      <dgm:prSet presAssocID="{31B2EB69-0FC2-4A33-9343-A4E27B5FB3E3}" presName="compNode" presStyleCnt="0"/>
      <dgm:spPr/>
    </dgm:pt>
    <dgm:pt modelId="{42D9874B-CED9-44B0-909A-D8AD13D11387}" type="pres">
      <dgm:prSet presAssocID="{31B2EB69-0FC2-4A33-9343-A4E27B5FB3E3}" presName="iconBgRect" presStyleLbl="bgShp" presStyleIdx="1" presStyleCnt="3"/>
      <dgm:spPr>
        <a:prstGeom prst="round2DiagRect">
          <a:avLst>
            <a:gd name="adj1" fmla="val 29727"/>
            <a:gd name="adj2" fmla="val 0"/>
          </a:avLst>
        </a:prstGeom>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8B5AFCE-DDCE-40D5-BFB1-2C8F30C554A7}" type="pres">
      <dgm:prSet presAssocID="{31B2EB69-0FC2-4A33-9343-A4E27B5FB3E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53549462-0658-4E30-9169-C0061EA9FAF4}" type="pres">
      <dgm:prSet presAssocID="{31B2EB69-0FC2-4A33-9343-A4E27B5FB3E3}" presName="spaceRect" presStyleCnt="0"/>
      <dgm:spPr/>
    </dgm:pt>
    <dgm:pt modelId="{CE1BDA73-BF32-4766-8A77-CCE0BB1BBB0C}" type="pres">
      <dgm:prSet presAssocID="{31B2EB69-0FC2-4A33-9343-A4E27B5FB3E3}" presName="textRect" presStyleLbl="revTx" presStyleIdx="1" presStyleCnt="3">
        <dgm:presLayoutVars>
          <dgm:chMax val="1"/>
          <dgm:chPref val="1"/>
        </dgm:presLayoutVars>
      </dgm:prSet>
      <dgm:spPr/>
    </dgm:pt>
    <dgm:pt modelId="{58598405-028A-405D-907D-7FDD5E508F17}" type="pres">
      <dgm:prSet presAssocID="{4F40B39C-87E3-4F3F-8160-3409F36D7311}" presName="sibTrans" presStyleCnt="0"/>
      <dgm:spPr/>
    </dgm:pt>
    <dgm:pt modelId="{6DF51AA6-85F1-44DD-B1DE-EA2F45DAC5BA}" type="pres">
      <dgm:prSet presAssocID="{041B1791-C8C5-4444-8E16-CF0CE772B7DC}" presName="compNode" presStyleCnt="0"/>
      <dgm:spPr/>
    </dgm:pt>
    <dgm:pt modelId="{AF9F0A7B-D16B-45C2-8145-FD01998FFE88}" type="pres">
      <dgm:prSet presAssocID="{041B1791-C8C5-4444-8E16-CF0CE772B7DC}" presName="iconBgRect" presStyleLbl="bgShp" presStyleIdx="2" presStyleCnt="3"/>
      <dgm:spPr>
        <a:prstGeom prst="round2DiagRect">
          <a:avLst>
            <a:gd name="adj1" fmla="val 29727"/>
            <a:gd name="adj2" fmla="val 0"/>
          </a:avLst>
        </a:prstGeom>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094952B-A506-481F-9FBC-CFE199E12A95}" type="pres">
      <dgm:prSet presAssocID="{041B1791-C8C5-4444-8E16-CF0CE772B7D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E5885812-34B1-4634-9DC2-5016347D87F2}" type="pres">
      <dgm:prSet presAssocID="{041B1791-C8C5-4444-8E16-CF0CE772B7DC}" presName="spaceRect" presStyleCnt="0"/>
      <dgm:spPr/>
    </dgm:pt>
    <dgm:pt modelId="{7921D51D-4C95-4B5D-AF78-ED56BD6CBFF6}" type="pres">
      <dgm:prSet presAssocID="{041B1791-C8C5-4444-8E16-CF0CE772B7DC}" presName="textRect" presStyleLbl="revTx" presStyleIdx="2" presStyleCnt="3">
        <dgm:presLayoutVars>
          <dgm:chMax val="1"/>
          <dgm:chPref val="1"/>
        </dgm:presLayoutVars>
      </dgm:prSet>
      <dgm:spPr/>
    </dgm:pt>
  </dgm:ptLst>
  <dgm:cxnLst>
    <dgm:cxn modelId="{EA697107-CDDE-4873-9EA4-EDE30C464542}" srcId="{C29D6A54-746F-4586-85CE-F3B1389B6701}" destId="{31B2EB69-0FC2-4A33-9343-A4E27B5FB3E3}" srcOrd="1" destOrd="0" parTransId="{6C8E101B-8E81-43D0-BEB0-E7CD9E026679}" sibTransId="{4F40B39C-87E3-4F3F-8160-3409F36D7311}"/>
    <dgm:cxn modelId="{5435913C-F4D8-4FE9-997E-C1CC8115DEA3}" srcId="{C29D6A54-746F-4586-85CE-F3B1389B6701}" destId="{041B1791-C8C5-4444-8E16-CF0CE772B7DC}" srcOrd="2" destOrd="0" parTransId="{418A2235-9748-4829-BAFD-35C03CD9A66E}" sibTransId="{BFCD989D-4227-4C4E-BF1B-989BE281DC04}"/>
    <dgm:cxn modelId="{662F695E-E88A-4447-A5E9-C44D4E6C6607}" type="presOf" srcId="{1082BD31-1725-43E8-BB6F-FA0B68A74B39}" destId="{7BEF28FF-9CA9-4285-86B4-800826DBD76F}" srcOrd="0" destOrd="0" presId="urn:microsoft.com/office/officeart/2018/5/layout/IconLeafLabelList"/>
    <dgm:cxn modelId="{CF104884-D867-43EC-9BDB-E6174972218A}" srcId="{C29D6A54-746F-4586-85CE-F3B1389B6701}" destId="{1082BD31-1725-43E8-BB6F-FA0B68A74B39}" srcOrd="0" destOrd="0" parTransId="{7DCF1AFF-3D63-44B6-8B3C-2A282132F0D4}" sibTransId="{19337077-2922-40B1-92E5-801E75F983E5}"/>
    <dgm:cxn modelId="{C2A91391-9BB0-4C6F-B34B-0394E3D3477A}" type="presOf" srcId="{041B1791-C8C5-4444-8E16-CF0CE772B7DC}" destId="{7921D51D-4C95-4B5D-AF78-ED56BD6CBFF6}" srcOrd="0" destOrd="0" presId="urn:microsoft.com/office/officeart/2018/5/layout/IconLeafLabelList"/>
    <dgm:cxn modelId="{FA079EBD-30E3-4D1A-BF22-5B223C2C748D}" type="presOf" srcId="{31B2EB69-0FC2-4A33-9343-A4E27B5FB3E3}" destId="{CE1BDA73-BF32-4766-8A77-CCE0BB1BBB0C}" srcOrd="0" destOrd="0" presId="urn:microsoft.com/office/officeart/2018/5/layout/IconLeafLabelList"/>
    <dgm:cxn modelId="{7FC726D1-3E25-4EDB-BCE6-632129046D92}" type="presOf" srcId="{C29D6A54-746F-4586-85CE-F3B1389B6701}" destId="{6AD2873B-C09E-40D8-8D36-EAAEDB626E17}" srcOrd="0" destOrd="0" presId="urn:microsoft.com/office/officeart/2018/5/layout/IconLeafLabelList"/>
    <dgm:cxn modelId="{DF5825F1-848A-4D13-8453-927F95C5604D}" type="presParOf" srcId="{6AD2873B-C09E-40D8-8D36-EAAEDB626E17}" destId="{9DD365BD-88ED-4CF0-AAEA-23EDA8C12708}" srcOrd="0" destOrd="0" presId="urn:microsoft.com/office/officeart/2018/5/layout/IconLeafLabelList"/>
    <dgm:cxn modelId="{855E6499-2C0B-4B3F-A345-C82541B23654}" type="presParOf" srcId="{9DD365BD-88ED-4CF0-AAEA-23EDA8C12708}" destId="{151C547B-E04E-45FD-A0B5-EFB60F70FFD2}" srcOrd="0" destOrd="0" presId="urn:microsoft.com/office/officeart/2018/5/layout/IconLeafLabelList"/>
    <dgm:cxn modelId="{FA639B7A-13D3-4FA0-ACB4-BD7751E3BE60}" type="presParOf" srcId="{9DD365BD-88ED-4CF0-AAEA-23EDA8C12708}" destId="{7576CFE4-E2A6-43E3-911C-AE2600E76088}" srcOrd="1" destOrd="0" presId="urn:microsoft.com/office/officeart/2018/5/layout/IconLeafLabelList"/>
    <dgm:cxn modelId="{FAB82274-9C8A-43F6-A80D-129904B646B3}" type="presParOf" srcId="{9DD365BD-88ED-4CF0-AAEA-23EDA8C12708}" destId="{1F5B91F2-AD39-4B3F-88C2-B818209B3BF2}" srcOrd="2" destOrd="0" presId="urn:microsoft.com/office/officeart/2018/5/layout/IconLeafLabelList"/>
    <dgm:cxn modelId="{0128AAF3-237D-40F5-B04D-48EA495EB154}" type="presParOf" srcId="{9DD365BD-88ED-4CF0-AAEA-23EDA8C12708}" destId="{7BEF28FF-9CA9-4285-86B4-800826DBD76F}" srcOrd="3" destOrd="0" presId="urn:microsoft.com/office/officeart/2018/5/layout/IconLeafLabelList"/>
    <dgm:cxn modelId="{AFA8DDAB-0EB0-461C-BC8D-B7A94530ADC6}" type="presParOf" srcId="{6AD2873B-C09E-40D8-8D36-EAAEDB626E17}" destId="{C90C0D31-27C2-47EE-866B-3FBA0872FA9C}" srcOrd="1" destOrd="0" presId="urn:microsoft.com/office/officeart/2018/5/layout/IconLeafLabelList"/>
    <dgm:cxn modelId="{9EFAFD55-A2D9-4952-895B-F774055FFAC8}" type="presParOf" srcId="{6AD2873B-C09E-40D8-8D36-EAAEDB626E17}" destId="{1A4A971A-FFBE-481C-B842-FB10AD05E37A}" srcOrd="2" destOrd="0" presId="urn:microsoft.com/office/officeart/2018/5/layout/IconLeafLabelList"/>
    <dgm:cxn modelId="{B546D03E-832F-48CC-AE0C-6F14C37D9332}" type="presParOf" srcId="{1A4A971A-FFBE-481C-B842-FB10AD05E37A}" destId="{42D9874B-CED9-44B0-909A-D8AD13D11387}" srcOrd="0" destOrd="0" presId="urn:microsoft.com/office/officeart/2018/5/layout/IconLeafLabelList"/>
    <dgm:cxn modelId="{689F16DB-E2A0-40A1-A0CF-B3DAAC907F85}" type="presParOf" srcId="{1A4A971A-FFBE-481C-B842-FB10AD05E37A}" destId="{68B5AFCE-DDCE-40D5-BFB1-2C8F30C554A7}" srcOrd="1" destOrd="0" presId="urn:microsoft.com/office/officeart/2018/5/layout/IconLeafLabelList"/>
    <dgm:cxn modelId="{D34E1383-0942-4073-9D31-C3C472F78C2B}" type="presParOf" srcId="{1A4A971A-FFBE-481C-B842-FB10AD05E37A}" destId="{53549462-0658-4E30-9169-C0061EA9FAF4}" srcOrd="2" destOrd="0" presId="urn:microsoft.com/office/officeart/2018/5/layout/IconLeafLabelList"/>
    <dgm:cxn modelId="{05EAB0DD-3CF8-4676-BAE8-D2A4F2EE30D9}" type="presParOf" srcId="{1A4A971A-FFBE-481C-B842-FB10AD05E37A}" destId="{CE1BDA73-BF32-4766-8A77-CCE0BB1BBB0C}" srcOrd="3" destOrd="0" presId="urn:microsoft.com/office/officeart/2018/5/layout/IconLeafLabelList"/>
    <dgm:cxn modelId="{0DF3B2D4-512D-4171-B65B-5E73DB1DC56F}" type="presParOf" srcId="{6AD2873B-C09E-40D8-8D36-EAAEDB626E17}" destId="{58598405-028A-405D-907D-7FDD5E508F17}" srcOrd="3" destOrd="0" presId="urn:microsoft.com/office/officeart/2018/5/layout/IconLeafLabelList"/>
    <dgm:cxn modelId="{12918C5A-BCF4-4C3B-8129-78AE09FBDBF1}" type="presParOf" srcId="{6AD2873B-C09E-40D8-8D36-EAAEDB626E17}" destId="{6DF51AA6-85F1-44DD-B1DE-EA2F45DAC5BA}" srcOrd="4" destOrd="0" presId="urn:microsoft.com/office/officeart/2018/5/layout/IconLeafLabelList"/>
    <dgm:cxn modelId="{10C9A093-0EA9-483C-9030-E5F0306BD0B4}" type="presParOf" srcId="{6DF51AA6-85F1-44DD-B1DE-EA2F45DAC5BA}" destId="{AF9F0A7B-D16B-45C2-8145-FD01998FFE88}" srcOrd="0" destOrd="0" presId="urn:microsoft.com/office/officeart/2018/5/layout/IconLeafLabelList"/>
    <dgm:cxn modelId="{FFDE2E42-68FE-4543-A2C0-AE8B72876C27}" type="presParOf" srcId="{6DF51AA6-85F1-44DD-B1DE-EA2F45DAC5BA}" destId="{4094952B-A506-481F-9FBC-CFE199E12A95}" srcOrd="1" destOrd="0" presId="urn:microsoft.com/office/officeart/2018/5/layout/IconLeafLabelList"/>
    <dgm:cxn modelId="{952131B5-B755-458C-AF35-C84519E4FA8A}" type="presParOf" srcId="{6DF51AA6-85F1-44DD-B1DE-EA2F45DAC5BA}" destId="{E5885812-34B1-4634-9DC2-5016347D87F2}" srcOrd="2" destOrd="0" presId="urn:microsoft.com/office/officeart/2018/5/layout/IconLeafLabelList"/>
    <dgm:cxn modelId="{B9CF9EDE-F354-4355-9A56-1CA772FF2CC1}" type="presParOf" srcId="{6DF51AA6-85F1-44DD-B1DE-EA2F45DAC5BA}" destId="{7921D51D-4C95-4B5D-AF78-ED56BD6CBFF6}"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9D7FF9-95B2-4BA1-930C-4775C88660E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B37CD7A-67B8-408B-825A-EB8B9E154654}">
      <dgm:prSet/>
      <dgm:spPr/>
      <dgm:t>
        <a:bodyPr/>
        <a:lstStyle/>
        <a:p>
          <a:r>
            <a:rPr lang="en-US" dirty="0"/>
            <a:t>Does everyone develop at the same rate?</a:t>
          </a:r>
        </a:p>
      </dgm:t>
      <dgm:extLst>
        <a:ext uri="{E40237B7-FDA0-4F09-8148-C483321AD2D9}">
          <dgm14:cNvPr xmlns:dgm14="http://schemas.microsoft.com/office/drawing/2010/diagram" id="0" name="" descr="Does everyone develop at the same rate?"/>
        </a:ext>
      </dgm:extLst>
    </dgm:pt>
    <dgm:pt modelId="{030DA77B-C535-4D07-9DD7-BB454D71C664}" type="parTrans" cxnId="{CA244E16-716B-4590-96A6-B7C08C5B4EF1}">
      <dgm:prSet/>
      <dgm:spPr/>
      <dgm:t>
        <a:bodyPr/>
        <a:lstStyle/>
        <a:p>
          <a:endParaRPr lang="en-US"/>
        </a:p>
      </dgm:t>
    </dgm:pt>
    <dgm:pt modelId="{E4FE030F-B77B-4F09-8302-B09BD6342FB1}" type="sibTrans" cxnId="{CA244E16-716B-4590-96A6-B7C08C5B4EF1}">
      <dgm:prSet/>
      <dgm:spPr/>
      <dgm:t>
        <a:bodyPr/>
        <a:lstStyle/>
        <a:p>
          <a:endParaRPr lang="en-US"/>
        </a:p>
      </dgm:t>
    </dgm:pt>
    <dgm:pt modelId="{DB864582-365D-4CCF-9425-962A9DAAB6EF}">
      <dgm:prSet/>
      <dgm:spPr/>
      <dgm:t>
        <a:bodyPr/>
        <a:lstStyle/>
        <a:p>
          <a:r>
            <a:rPr lang="en-US" dirty="0"/>
            <a:t>How does culture impact development?</a:t>
          </a:r>
        </a:p>
      </dgm:t>
      <dgm:extLst>
        <a:ext uri="{E40237B7-FDA0-4F09-8148-C483321AD2D9}">
          <dgm14:cNvPr xmlns:dgm14="http://schemas.microsoft.com/office/drawing/2010/diagram" id="0" name="" descr="How does culture impact development?&#10;"/>
        </a:ext>
      </dgm:extLst>
    </dgm:pt>
    <dgm:pt modelId="{D7D7BCEB-A05A-4609-8E17-19D6CD72490F}" type="parTrans" cxnId="{8C701A8E-0B0C-4C5C-B2B7-4116A2D37C0A}">
      <dgm:prSet/>
      <dgm:spPr/>
      <dgm:t>
        <a:bodyPr/>
        <a:lstStyle/>
        <a:p>
          <a:endParaRPr lang="en-US"/>
        </a:p>
      </dgm:t>
    </dgm:pt>
    <dgm:pt modelId="{B5D97FD1-D557-4757-8795-6857F8CFCE3A}" type="sibTrans" cxnId="{8C701A8E-0B0C-4C5C-B2B7-4116A2D37C0A}">
      <dgm:prSet/>
      <dgm:spPr/>
      <dgm:t>
        <a:bodyPr/>
        <a:lstStyle/>
        <a:p>
          <a:endParaRPr lang="en-US"/>
        </a:p>
      </dgm:t>
    </dgm:pt>
    <dgm:pt modelId="{67308DE1-F3CD-440F-AADB-AA7BA8F3BB0A}">
      <dgm:prSet/>
      <dgm:spPr/>
      <dgm:t>
        <a:bodyPr/>
        <a:lstStyle/>
        <a:p>
          <a:r>
            <a:rPr lang="en-US" dirty="0"/>
            <a:t>How do nature and nurture influence development? </a:t>
          </a:r>
        </a:p>
      </dgm:t>
      <dgm:extLst>
        <a:ext uri="{E40237B7-FDA0-4F09-8148-C483321AD2D9}">
          <dgm14:cNvPr xmlns:dgm14="http://schemas.microsoft.com/office/drawing/2010/diagram" id="0" name="" descr="How do nature and nurture influence development? &#10;"/>
        </a:ext>
      </dgm:extLst>
    </dgm:pt>
    <dgm:pt modelId="{765815F7-7083-4D20-B586-48199D9CCC28}" type="parTrans" cxnId="{CD9B84DF-C452-4232-A466-0D0E951DCE50}">
      <dgm:prSet/>
      <dgm:spPr/>
      <dgm:t>
        <a:bodyPr/>
        <a:lstStyle/>
        <a:p>
          <a:endParaRPr lang="en-US"/>
        </a:p>
      </dgm:t>
    </dgm:pt>
    <dgm:pt modelId="{480A887D-DDF2-49D0-9EDD-5D0E810127B3}" type="sibTrans" cxnId="{CD9B84DF-C452-4232-A466-0D0E951DCE50}">
      <dgm:prSet/>
      <dgm:spPr/>
      <dgm:t>
        <a:bodyPr/>
        <a:lstStyle/>
        <a:p>
          <a:endParaRPr lang="en-US"/>
        </a:p>
      </dgm:t>
    </dgm:pt>
    <dgm:pt modelId="{23723491-423E-4B3F-8CE8-F56C497301BA}" type="pres">
      <dgm:prSet presAssocID="{A59D7FF9-95B2-4BA1-930C-4775C88660E6}" presName="hierChild1" presStyleCnt="0">
        <dgm:presLayoutVars>
          <dgm:chPref val="1"/>
          <dgm:dir/>
          <dgm:animOne val="branch"/>
          <dgm:animLvl val="lvl"/>
          <dgm:resizeHandles/>
        </dgm:presLayoutVars>
      </dgm:prSet>
      <dgm:spPr/>
    </dgm:pt>
    <dgm:pt modelId="{BCD3CA46-3EF3-4C48-B0A4-337E99B4A889}" type="pres">
      <dgm:prSet presAssocID="{DB37CD7A-67B8-408B-825A-EB8B9E154654}" presName="hierRoot1" presStyleCnt="0"/>
      <dgm:spPr/>
    </dgm:pt>
    <dgm:pt modelId="{84B962EF-BE40-488B-8628-C5472AD4B718}" type="pres">
      <dgm:prSet presAssocID="{DB37CD7A-67B8-408B-825A-EB8B9E154654}" presName="composite" presStyleCnt="0"/>
      <dgm:spPr/>
    </dgm:pt>
    <dgm:pt modelId="{C3054D36-0D72-4EFC-BB6C-D0EF69BD054C}" type="pres">
      <dgm:prSet presAssocID="{DB37CD7A-67B8-408B-825A-EB8B9E154654}" presName="background" presStyleLbl="node0" presStyleIdx="0" presStyleCnt="3"/>
      <dgm:spPr/>
    </dgm:pt>
    <dgm:pt modelId="{50A8ADF8-8B01-4A82-82DE-277EB9D43D22}" type="pres">
      <dgm:prSet presAssocID="{DB37CD7A-67B8-408B-825A-EB8B9E154654}" presName="text" presStyleLbl="fgAcc0" presStyleIdx="0" presStyleCnt="3">
        <dgm:presLayoutVars>
          <dgm:chPref val="3"/>
        </dgm:presLayoutVars>
      </dgm:prSet>
      <dgm:spPr/>
    </dgm:pt>
    <dgm:pt modelId="{47B559EF-1282-4750-B196-95D355A41EE7}" type="pres">
      <dgm:prSet presAssocID="{DB37CD7A-67B8-408B-825A-EB8B9E154654}" presName="hierChild2" presStyleCnt="0"/>
      <dgm:spPr/>
    </dgm:pt>
    <dgm:pt modelId="{DBD7EC6A-E886-4838-9299-C05045F1FE6F}" type="pres">
      <dgm:prSet presAssocID="{DB864582-365D-4CCF-9425-962A9DAAB6EF}" presName="hierRoot1" presStyleCnt="0"/>
      <dgm:spPr/>
    </dgm:pt>
    <dgm:pt modelId="{A6C05A5B-17BE-4E57-9D91-756935B0DF8A}" type="pres">
      <dgm:prSet presAssocID="{DB864582-365D-4CCF-9425-962A9DAAB6EF}" presName="composite" presStyleCnt="0"/>
      <dgm:spPr/>
    </dgm:pt>
    <dgm:pt modelId="{AD9D9F8C-E9DE-4E26-B970-C6B6DED68EE8}" type="pres">
      <dgm:prSet presAssocID="{DB864582-365D-4CCF-9425-962A9DAAB6EF}" presName="background" presStyleLbl="node0" presStyleIdx="1" presStyleCnt="3"/>
      <dgm:spPr/>
    </dgm:pt>
    <dgm:pt modelId="{54733AC0-FC53-42FF-916B-D73F17856509}" type="pres">
      <dgm:prSet presAssocID="{DB864582-365D-4CCF-9425-962A9DAAB6EF}" presName="text" presStyleLbl="fgAcc0" presStyleIdx="1" presStyleCnt="3">
        <dgm:presLayoutVars>
          <dgm:chPref val="3"/>
        </dgm:presLayoutVars>
      </dgm:prSet>
      <dgm:spPr/>
    </dgm:pt>
    <dgm:pt modelId="{A2428691-9D40-43B5-8B0F-DD31C7CDFC41}" type="pres">
      <dgm:prSet presAssocID="{DB864582-365D-4CCF-9425-962A9DAAB6EF}" presName="hierChild2" presStyleCnt="0"/>
      <dgm:spPr/>
    </dgm:pt>
    <dgm:pt modelId="{C5CCE56B-1814-4E7A-B085-B9CF662495F5}" type="pres">
      <dgm:prSet presAssocID="{67308DE1-F3CD-440F-AADB-AA7BA8F3BB0A}" presName="hierRoot1" presStyleCnt="0"/>
      <dgm:spPr/>
    </dgm:pt>
    <dgm:pt modelId="{4869F9C5-0DBB-45AD-BA74-8E4BFFBF685E}" type="pres">
      <dgm:prSet presAssocID="{67308DE1-F3CD-440F-AADB-AA7BA8F3BB0A}" presName="composite" presStyleCnt="0"/>
      <dgm:spPr/>
    </dgm:pt>
    <dgm:pt modelId="{00B53266-5BD3-4728-A4BB-B39207808042}" type="pres">
      <dgm:prSet presAssocID="{67308DE1-F3CD-440F-AADB-AA7BA8F3BB0A}" presName="background" presStyleLbl="node0" presStyleIdx="2" presStyleCnt="3"/>
      <dgm:spPr/>
    </dgm:pt>
    <dgm:pt modelId="{FAF6C47D-DBA5-4A65-89D3-779E4953636A}" type="pres">
      <dgm:prSet presAssocID="{67308DE1-F3CD-440F-AADB-AA7BA8F3BB0A}" presName="text" presStyleLbl="fgAcc0" presStyleIdx="2" presStyleCnt="3">
        <dgm:presLayoutVars>
          <dgm:chPref val="3"/>
        </dgm:presLayoutVars>
      </dgm:prSet>
      <dgm:spPr/>
    </dgm:pt>
    <dgm:pt modelId="{E130B28D-72EE-4DFD-9012-9D985C67751F}" type="pres">
      <dgm:prSet presAssocID="{67308DE1-F3CD-440F-AADB-AA7BA8F3BB0A}" presName="hierChild2" presStyleCnt="0"/>
      <dgm:spPr/>
    </dgm:pt>
  </dgm:ptLst>
  <dgm:cxnLst>
    <dgm:cxn modelId="{CA244E16-716B-4590-96A6-B7C08C5B4EF1}" srcId="{A59D7FF9-95B2-4BA1-930C-4775C88660E6}" destId="{DB37CD7A-67B8-408B-825A-EB8B9E154654}" srcOrd="0" destOrd="0" parTransId="{030DA77B-C535-4D07-9DD7-BB454D71C664}" sibTransId="{E4FE030F-B77B-4F09-8302-B09BD6342FB1}"/>
    <dgm:cxn modelId="{AD0F9C1A-3CAF-4961-8495-04E0357E0F9A}" type="presOf" srcId="{DB864582-365D-4CCF-9425-962A9DAAB6EF}" destId="{54733AC0-FC53-42FF-916B-D73F17856509}" srcOrd="0" destOrd="0" presId="urn:microsoft.com/office/officeart/2005/8/layout/hierarchy1"/>
    <dgm:cxn modelId="{527D3D1F-B863-4AD6-A970-2009C013BA97}" type="presOf" srcId="{67308DE1-F3CD-440F-AADB-AA7BA8F3BB0A}" destId="{FAF6C47D-DBA5-4A65-89D3-779E4953636A}" srcOrd="0" destOrd="0" presId="urn:microsoft.com/office/officeart/2005/8/layout/hierarchy1"/>
    <dgm:cxn modelId="{8C701A8E-0B0C-4C5C-B2B7-4116A2D37C0A}" srcId="{A59D7FF9-95B2-4BA1-930C-4775C88660E6}" destId="{DB864582-365D-4CCF-9425-962A9DAAB6EF}" srcOrd="1" destOrd="0" parTransId="{D7D7BCEB-A05A-4609-8E17-19D6CD72490F}" sibTransId="{B5D97FD1-D557-4757-8795-6857F8CFCE3A}"/>
    <dgm:cxn modelId="{D642FAB6-8CD2-4E8C-8A92-0DEA8FE5EC5F}" type="presOf" srcId="{DB37CD7A-67B8-408B-825A-EB8B9E154654}" destId="{50A8ADF8-8B01-4A82-82DE-277EB9D43D22}" srcOrd="0" destOrd="0" presId="urn:microsoft.com/office/officeart/2005/8/layout/hierarchy1"/>
    <dgm:cxn modelId="{2ED444C3-FA98-42F2-BD7C-921002CA464A}" type="presOf" srcId="{A59D7FF9-95B2-4BA1-930C-4775C88660E6}" destId="{23723491-423E-4B3F-8CE8-F56C497301BA}" srcOrd="0" destOrd="0" presId="urn:microsoft.com/office/officeart/2005/8/layout/hierarchy1"/>
    <dgm:cxn modelId="{CD9B84DF-C452-4232-A466-0D0E951DCE50}" srcId="{A59D7FF9-95B2-4BA1-930C-4775C88660E6}" destId="{67308DE1-F3CD-440F-AADB-AA7BA8F3BB0A}" srcOrd="2" destOrd="0" parTransId="{765815F7-7083-4D20-B586-48199D9CCC28}" sibTransId="{480A887D-DDF2-49D0-9EDD-5D0E810127B3}"/>
    <dgm:cxn modelId="{0A2F3726-0FBB-4ABC-BA64-22B5F4E51593}" type="presParOf" srcId="{23723491-423E-4B3F-8CE8-F56C497301BA}" destId="{BCD3CA46-3EF3-4C48-B0A4-337E99B4A889}" srcOrd="0" destOrd="0" presId="urn:microsoft.com/office/officeart/2005/8/layout/hierarchy1"/>
    <dgm:cxn modelId="{F648337A-9675-4B62-925A-5643B95870A0}" type="presParOf" srcId="{BCD3CA46-3EF3-4C48-B0A4-337E99B4A889}" destId="{84B962EF-BE40-488B-8628-C5472AD4B718}" srcOrd="0" destOrd="0" presId="urn:microsoft.com/office/officeart/2005/8/layout/hierarchy1"/>
    <dgm:cxn modelId="{A08B3C23-1442-4640-8B9A-CFDEC7E6AA9B}" type="presParOf" srcId="{84B962EF-BE40-488B-8628-C5472AD4B718}" destId="{C3054D36-0D72-4EFC-BB6C-D0EF69BD054C}" srcOrd="0" destOrd="0" presId="urn:microsoft.com/office/officeart/2005/8/layout/hierarchy1"/>
    <dgm:cxn modelId="{ECC4A722-467F-4E74-B9AD-319FD0E5B566}" type="presParOf" srcId="{84B962EF-BE40-488B-8628-C5472AD4B718}" destId="{50A8ADF8-8B01-4A82-82DE-277EB9D43D22}" srcOrd="1" destOrd="0" presId="urn:microsoft.com/office/officeart/2005/8/layout/hierarchy1"/>
    <dgm:cxn modelId="{40F18846-B2F1-4FC5-861A-72A7B506E5C2}" type="presParOf" srcId="{BCD3CA46-3EF3-4C48-B0A4-337E99B4A889}" destId="{47B559EF-1282-4750-B196-95D355A41EE7}" srcOrd="1" destOrd="0" presId="urn:microsoft.com/office/officeart/2005/8/layout/hierarchy1"/>
    <dgm:cxn modelId="{D941A34A-37D5-4319-AFF7-AEBC3C7918C2}" type="presParOf" srcId="{23723491-423E-4B3F-8CE8-F56C497301BA}" destId="{DBD7EC6A-E886-4838-9299-C05045F1FE6F}" srcOrd="1" destOrd="0" presId="urn:microsoft.com/office/officeart/2005/8/layout/hierarchy1"/>
    <dgm:cxn modelId="{311E0212-D081-41AA-9DBE-3EA4C7042AF9}" type="presParOf" srcId="{DBD7EC6A-E886-4838-9299-C05045F1FE6F}" destId="{A6C05A5B-17BE-4E57-9D91-756935B0DF8A}" srcOrd="0" destOrd="0" presId="urn:microsoft.com/office/officeart/2005/8/layout/hierarchy1"/>
    <dgm:cxn modelId="{CD24D70B-3425-4EFF-9347-CABAA47332A6}" type="presParOf" srcId="{A6C05A5B-17BE-4E57-9D91-756935B0DF8A}" destId="{AD9D9F8C-E9DE-4E26-B970-C6B6DED68EE8}" srcOrd="0" destOrd="0" presId="urn:microsoft.com/office/officeart/2005/8/layout/hierarchy1"/>
    <dgm:cxn modelId="{D2877141-426A-4F1B-BDD7-E3E76227D443}" type="presParOf" srcId="{A6C05A5B-17BE-4E57-9D91-756935B0DF8A}" destId="{54733AC0-FC53-42FF-916B-D73F17856509}" srcOrd="1" destOrd="0" presId="urn:microsoft.com/office/officeart/2005/8/layout/hierarchy1"/>
    <dgm:cxn modelId="{6602000C-5834-413B-8173-D9DE0E556687}" type="presParOf" srcId="{DBD7EC6A-E886-4838-9299-C05045F1FE6F}" destId="{A2428691-9D40-43B5-8B0F-DD31C7CDFC41}" srcOrd="1" destOrd="0" presId="urn:microsoft.com/office/officeart/2005/8/layout/hierarchy1"/>
    <dgm:cxn modelId="{66B91C2A-463E-40FA-BAF1-B18F05127E64}" type="presParOf" srcId="{23723491-423E-4B3F-8CE8-F56C497301BA}" destId="{C5CCE56B-1814-4E7A-B085-B9CF662495F5}" srcOrd="2" destOrd="0" presId="urn:microsoft.com/office/officeart/2005/8/layout/hierarchy1"/>
    <dgm:cxn modelId="{2CAF22A5-4184-48B8-B7F6-B6459B6363DA}" type="presParOf" srcId="{C5CCE56B-1814-4E7A-B085-B9CF662495F5}" destId="{4869F9C5-0DBB-45AD-BA74-8E4BFFBF685E}" srcOrd="0" destOrd="0" presId="urn:microsoft.com/office/officeart/2005/8/layout/hierarchy1"/>
    <dgm:cxn modelId="{8638245C-CD3D-4177-8B8F-CADFA67F1ABD}" type="presParOf" srcId="{4869F9C5-0DBB-45AD-BA74-8E4BFFBF685E}" destId="{00B53266-5BD3-4728-A4BB-B39207808042}" srcOrd="0" destOrd="0" presId="urn:microsoft.com/office/officeart/2005/8/layout/hierarchy1"/>
    <dgm:cxn modelId="{B3DE807E-12E6-4146-AECD-7EDADDB32A9A}" type="presParOf" srcId="{4869F9C5-0DBB-45AD-BA74-8E4BFFBF685E}" destId="{FAF6C47D-DBA5-4A65-89D3-779E4953636A}" srcOrd="1" destOrd="0" presId="urn:microsoft.com/office/officeart/2005/8/layout/hierarchy1"/>
    <dgm:cxn modelId="{6D627200-3D21-48B5-8461-F102E7BB54F6}" type="presParOf" srcId="{C5CCE56B-1814-4E7A-B085-B9CF662495F5}" destId="{E130B28D-72EE-4DFD-9012-9D985C67751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A5ABF9-5081-47C8-9F03-BE20365D1F96}" type="doc">
      <dgm:prSet loTypeId="urn:microsoft.com/office/officeart/2005/8/layout/matrix3" loCatId="matrix" qsTypeId="urn:microsoft.com/office/officeart/2005/8/quickstyle/simple1" qsCatId="simple" csTypeId="urn:microsoft.com/office/officeart/2005/8/colors/accent2_2" csCatId="accent2"/>
      <dgm:spPr/>
      <dgm:t>
        <a:bodyPr/>
        <a:lstStyle/>
        <a:p>
          <a:endParaRPr lang="en-US"/>
        </a:p>
      </dgm:t>
    </dgm:pt>
    <dgm:pt modelId="{E6484A1F-DBCA-4072-BE89-5015EE4CACEA}">
      <dgm:prSet/>
      <dgm:spPr/>
      <dgm:t>
        <a:bodyPr/>
        <a:lstStyle/>
        <a:p>
          <a:r>
            <a:rPr lang="en-US"/>
            <a:t>Secure attachment</a:t>
          </a:r>
        </a:p>
      </dgm:t>
    </dgm:pt>
    <dgm:pt modelId="{1794C400-0E28-46E9-BF23-FDFCBBD6A2A1}" type="parTrans" cxnId="{630FC7BD-B779-43B8-9AA1-A0906B6E465B}">
      <dgm:prSet/>
      <dgm:spPr/>
      <dgm:t>
        <a:bodyPr/>
        <a:lstStyle/>
        <a:p>
          <a:endParaRPr lang="en-US"/>
        </a:p>
      </dgm:t>
    </dgm:pt>
    <dgm:pt modelId="{8B4425A0-900B-4AFD-8AFE-1AAE11AE9BFE}" type="sibTrans" cxnId="{630FC7BD-B779-43B8-9AA1-A0906B6E465B}">
      <dgm:prSet/>
      <dgm:spPr/>
      <dgm:t>
        <a:bodyPr/>
        <a:lstStyle/>
        <a:p>
          <a:endParaRPr lang="en-US"/>
        </a:p>
      </dgm:t>
    </dgm:pt>
    <dgm:pt modelId="{EE496F38-CAAE-4112-A273-77F9562B6BDC}">
      <dgm:prSet/>
      <dgm:spPr/>
      <dgm:t>
        <a:bodyPr/>
        <a:lstStyle/>
        <a:p>
          <a:r>
            <a:rPr lang="en-US"/>
            <a:t>Avoidant attachment</a:t>
          </a:r>
        </a:p>
      </dgm:t>
    </dgm:pt>
    <dgm:pt modelId="{3441053F-D6C9-4142-BBD3-AA5C5E8F56F1}" type="parTrans" cxnId="{F6345480-B9EF-46B6-B88F-94C16A940B57}">
      <dgm:prSet/>
      <dgm:spPr/>
      <dgm:t>
        <a:bodyPr/>
        <a:lstStyle/>
        <a:p>
          <a:endParaRPr lang="en-US"/>
        </a:p>
      </dgm:t>
    </dgm:pt>
    <dgm:pt modelId="{E1ECF77D-EE90-49AA-A597-7545B9B70C23}" type="sibTrans" cxnId="{F6345480-B9EF-46B6-B88F-94C16A940B57}">
      <dgm:prSet/>
      <dgm:spPr/>
      <dgm:t>
        <a:bodyPr/>
        <a:lstStyle/>
        <a:p>
          <a:endParaRPr lang="en-US"/>
        </a:p>
      </dgm:t>
    </dgm:pt>
    <dgm:pt modelId="{96A877BF-C1C4-447A-99AB-28A6F7538075}">
      <dgm:prSet/>
      <dgm:spPr/>
      <dgm:t>
        <a:bodyPr/>
        <a:lstStyle/>
        <a:p>
          <a:r>
            <a:rPr lang="en-US"/>
            <a:t>Resistant attachment</a:t>
          </a:r>
        </a:p>
      </dgm:t>
    </dgm:pt>
    <dgm:pt modelId="{77965151-9742-4270-85B6-0898692BBE5A}" type="parTrans" cxnId="{AF50332B-3567-461B-8712-A7D1C21B3B06}">
      <dgm:prSet/>
      <dgm:spPr/>
      <dgm:t>
        <a:bodyPr/>
        <a:lstStyle/>
        <a:p>
          <a:endParaRPr lang="en-US"/>
        </a:p>
      </dgm:t>
    </dgm:pt>
    <dgm:pt modelId="{F9257AB9-04A1-46CD-A6D3-CA0A4B9C31D3}" type="sibTrans" cxnId="{AF50332B-3567-461B-8712-A7D1C21B3B06}">
      <dgm:prSet/>
      <dgm:spPr/>
      <dgm:t>
        <a:bodyPr/>
        <a:lstStyle/>
        <a:p>
          <a:endParaRPr lang="en-US"/>
        </a:p>
      </dgm:t>
    </dgm:pt>
    <dgm:pt modelId="{F9FAB91B-D85B-47B3-A2EC-8ACE16C64604}">
      <dgm:prSet/>
      <dgm:spPr/>
      <dgm:t>
        <a:bodyPr/>
        <a:lstStyle/>
        <a:p>
          <a:r>
            <a:rPr lang="en-US"/>
            <a:t>Disorganized attachment </a:t>
          </a:r>
        </a:p>
      </dgm:t>
    </dgm:pt>
    <dgm:pt modelId="{5E9B78E5-F8AA-4A4C-B22E-985825600217}" type="parTrans" cxnId="{8BD440C9-0D47-440A-A03B-8368E0778C48}">
      <dgm:prSet/>
      <dgm:spPr/>
      <dgm:t>
        <a:bodyPr/>
        <a:lstStyle/>
        <a:p>
          <a:endParaRPr lang="en-US"/>
        </a:p>
      </dgm:t>
    </dgm:pt>
    <dgm:pt modelId="{04CD3E32-7097-4E81-AD6E-A65AADD16804}" type="sibTrans" cxnId="{8BD440C9-0D47-440A-A03B-8368E0778C48}">
      <dgm:prSet/>
      <dgm:spPr/>
      <dgm:t>
        <a:bodyPr/>
        <a:lstStyle/>
        <a:p>
          <a:endParaRPr lang="en-US"/>
        </a:p>
      </dgm:t>
    </dgm:pt>
    <dgm:pt modelId="{906BEE20-1643-456E-A358-EC9DCE65174E}" type="pres">
      <dgm:prSet presAssocID="{E7A5ABF9-5081-47C8-9F03-BE20365D1F96}" presName="matrix" presStyleCnt="0">
        <dgm:presLayoutVars>
          <dgm:chMax val="1"/>
          <dgm:dir/>
          <dgm:resizeHandles val="exact"/>
        </dgm:presLayoutVars>
      </dgm:prSet>
      <dgm:spPr/>
    </dgm:pt>
    <dgm:pt modelId="{D3E79FA1-B090-405C-865A-7439597C0F17}" type="pres">
      <dgm:prSet presAssocID="{E7A5ABF9-5081-47C8-9F03-BE20365D1F96}" presName="diamond" presStyleLbl="bgShp" presStyleIdx="0" presStyleCnt="1"/>
      <dgm:spPr/>
    </dgm:pt>
    <dgm:pt modelId="{0BEEDEE3-AD56-4362-8628-A8C33A38A205}" type="pres">
      <dgm:prSet presAssocID="{E7A5ABF9-5081-47C8-9F03-BE20365D1F96}" presName="quad1" presStyleLbl="node1" presStyleIdx="0" presStyleCnt="4">
        <dgm:presLayoutVars>
          <dgm:chMax val="0"/>
          <dgm:chPref val="0"/>
          <dgm:bulletEnabled val="1"/>
        </dgm:presLayoutVars>
      </dgm:prSet>
      <dgm:spPr/>
    </dgm:pt>
    <dgm:pt modelId="{FD82A1A5-934B-4096-9FBB-6E6E60535609}" type="pres">
      <dgm:prSet presAssocID="{E7A5ABF9-5081-47C8-9F03-BE20365D1F96}" presName="quad2" presStyleLbl="node1" presStyleIdx="1" presStyleCnt="4">
        <dgm:presLayoutVars>
          <dgm:chMax val="0"/>
          <dgm:chPref val="0"/>
          <dgm:bulletEnabled val="1"/>
        </dgm:presLayoutVars>
      </dgm:prSet>
      <dgm:spPr/>
    </dgm:pt>
    <dgm:pt modelId="{3D19F922-040D-494B-AD9C-CB1EF907D77F}" type="pres">
      <dgm:prSet presAssocID="{E7A5ABF9-5081-47C8-9F03-BE20365D1F96}" presName="quad3" presStyleLbl="node1" presStyleIdx="2" presStyleCnt="4">
        <dgm:presLayoutVars>
          <dgm:chMax val="0"/>
          <dgm:chPref val="0"/>
          <dgm:bulletEnabled val="1"/>
        </dgm:presLayoutVars>
      </dgm:prSet>
      <dgm:spPr/>
    </dgm:pt>
    <dgm:pt modelId="{35EC0EAD-DA3D-438C-8CD4-E5A1AA25F970}" type="pres">
      <dgm:prSet presAssocID="{E7A5ABF9-5081-47C8-9F03-BE20365D1F96}" presName="quad4" presStyleLbl="node1" presStyleIdx="3" presStyleCnt="4">
        <dgm:presLayoutVars>
          <dgm:chMax val="0"/>
          <dgm:chPref val="0"/>
          <dgm:bulletEnabled val="1"/>
        </dgm:presLayoutVars>
      </dgm:prSet>
      <dgm:spPr/>
    </dgm:pt>
  </dgm:ptLst>
  <dgm:cxnLst>
    <dgm:cxn modelId="{AF50332B-3567-461B-8712-A7D1C21B3B06}" srcId="{E7A5ABF9-5081-47C8-9F03-BE20365D1F96}" destId="{96A877BF-C1C4-447A-99AB-28A6F7538075}" srcOrd="2" destOrd="0" parTransId="{77965151-9742-4270-85B6-0898692BBE5A}" sibTransId="{F9257AB9-04A1-46CD-A6D3-CA0A4B9C31D3}"/>
    <dgm:cxn modelId="{013EA63F-DF40-4EEC-9CAF-746FC5168A8F}" type="presOf" srcId="{E7A5ABF9-5081-47C8-9F03-BE20365D1F96}" destId="{906BEE20-1643-456E-A358-EC9DCE65174E}" srcOrd="0" destOrd="0" presId="urn:microsoft.com/office/officeart/2005/8/layout/matrix3"/>
    <dgm:cxn modelId="{68A5D54A-9951-4BCE-B537-3A2DA23491F4}" type="presOf" srcId="{E6484A1F-DBCA-4072-BE89-5015EE4CACEA}" destId="{0BEEDEE3-AD56-4362-8628-A8C33A38A205}" srcOrd="0" destOrd="0" presId="urn:microsoft.com/office/officeart/2005/8/layout/matrix3"/>
    <dgm:cxn modelId="{F6345480-B9EF-46B6-B88F-94C16A940B57}" srcId="{E7A5ABF9-5081-47C8-9F03-BE20365D1F96}" destId="{EE496F38-CAAE-4112-A273-77F9562B6BDC}" srcOrd="1" destOrd="0" parTransId="{3441053F-D6C9-4142-BBD3-AA5C5E8F56F1}" sibTransId="{E1ECF77D-EE90-49AA-A597-7545B9B70C23}"/>
    <dgm:cxn modelId="{9468ED9A-CE62-4513-B620-75863B7E55B9}" type="presOf" srcId="{96A877BF-C1C4-447A-99AB-28A6F7538075}" destId="{3D19F922-040D-494B-AD9C-CB1EF907D77F}" srcOrd="0" destOrd="0" presId="urn:microsoft.com/office/officeart/2005/8/layout/matrix3"/>
    <dgm:cxn modelId="{479D9B9E-7451-4D04-883E-C74D08F76F12}" type="presOf" srcId="{F9FAB91B-D85B-47B3-A2EC-8ACE16C64604}" destId="{35EC0EAD-DA3D-438C-8CD4-E5A1AA25F970}" srcOrd="0" destOrd="0" presId="urn:microsoft.com/office/officeart/2005/8/layout/matrix3"/>
    <dgm:cxn modelId="{630FC7BD-B779-43B8-9AA1-A0906B6E465B}" srcId="{E7A5ABF9-5081-47C8-9F03-BE20365D1F96}" destId="{E6484A1F-DBCA-4072-BE89-5015EE4CACEA}" srcOrd="0" destOrd="0" parTransId="{1794C400-0E28-46E9-BF23-FDFCBBD6A2A1}" sibTransId="{8B4425A0-900B-4AFD-8AFE-1AAE11AE9BFE}"/>
    <dgm:cxn modelId="{8BD440C9-0D47-440A-A03B-8368E0778C48}" srcId="{E7A5ABF9-5081-47C8-9F03-BE20365D1F96}" destId="{F9FAB91B-D85B-47B3-A2EC-8ACE16C64604}" srcOrd="3" destOrd="0" parTransId="{5E9B78E5-F8AA-4A4C-B22E-985825600217}" sibTransId="{04CD3E32-7097-4E81-AD6E-A65AADD16804}"/>
    <dgm:cxn modelId="{3CB262D1-9380-4F17-B5EA-2E232A317BD8}" type="presOf" srcId="{EE496F38-CAAE-4112-A273-77F9562B6BDC}" destId="{FD82A1A5-934B-4096-9FBB-6E6E60535609}" srcOrd="0" destOrd="0" presId="urn:microsoft.com/office/officeart/2005/8/layout/matrix3"/>
    <dgm:cxn modelId="{6069E00F-E806-4D61-B4BB-E35BF23550D5}" type="presParOf" srcId="{906BEE20-1643-456E-A358-EC9DCE65174E}" destId="{D3E79FA1-B090-405C-865A-7439597C0F17}" srcOrd="0" destOrd="0" presId="urn:microsoft.com/office/officeart/2005/8/layout/matrix3"/>
    <dgm:cxn modelId="{6A65C2FC-BB54-4697-9FEC-21A89444F19F}" type="presParOf" srcId="{906BEE20-1643-456E-A358-EC9DCE65174E}" destId="{0BEEDEE3-AD56-4362-8628-A8C33A38A205}" srcOrd="1" destOrd="0" presId="urn:microsoft.com/office/officeart/2005/8/layout/matrix3"/>
    <dgm:cxn modelId="{67B6619F-EEC2-42AA-A084-5B13EB0A7157}" type="presParOf" srcId="{906BEE20-1643-456E-A358-EC9DCE65174E}" destId="{FD82A1A5-934B-4096-9FBB-6E6E60535609}" srcOrd="2" destOrd="0" presId="urn:microsoft.com/office/officeart/2005/8/layout/matrix3"/>
    <dgm:cxn modelId="{2DA02828-162C-48E6-8DCC-A13B6FBBFC14}" type="presParOf" srcId="{906BEE20-1643-456E-A358-EC9DCE65174E}" destId="{3D19F922-040D-494B-AD9C-CB1EF907D77F}" srcOrd="3" destOrd="0" presId="urn:microsoft.com/office/officeart/2005/8/layout/matrix3"/>
    <dgm:cxn modelId="{68333469-8F9A-43D6-869B-1F01F1F8E1FB}" type="presParOf" srcId="{906BEE20-1643-456E-A358-EC9DCE65174E}" destId="{35EC0EAD-DA3D-438C-8CD4-E5A1AA25F970}"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162E7D-4C4D-477D-8EB8-6870C064ABEE}"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6558FDE9-EB73-4A13-9499-7DED91C846DD}">
      <dgm:prSet/>
      <dgm:spPr/>
      <dgm:t>
        <a:bodyPr/>
        <a:lstStyle/>
        <a:p>
          <a:r>
            <a:rPr lang="en-US"/>
            <a:t>Authoritative style</a:t>
          </a:r>
        </a:p>
      </dgm:t>
    </dgm:pt>
    <dgm:pt modelId="{E9636E6F-3748-454F-9B7E-7901984AEAE1}" type="parTrans" cxnId="{53BDC37F-E371-417D-B890-0F9D157966DC}">
      <dgm:prSet/>
      <dgm:spPr/>
      <dgm:t>
        <a:bodyPr/>
        <a:lstStyle/>
        <a:p>
          <a:endParaRPr lang="en-US"/>
        </a:p>
      </dgm:t>
    </dgm:pt>
    <dgm:pt modelId="{2EFFF29D-7005-4C64-B214-333D5861C3C9}" type="sibTrans" cxnId="{53BDC37F-E371-417D-B890-0F9D157966DC}">
      <dgm:prSet/>
      <dgm:spPr/>
      <dgm:t>
        <a:bodyPr/>
        <a:lstStyle/>
        <a:p>
          <a:endParaRPr lang="en-US"/>
        </a:p>
      </dgm:t>
    </dgm:pt>
    <dgm:pt modelId="{F1BFFFCA-1A4A-4860-A052-FE352F9FA5A4}">
      <dgm:prSet/>
      <dgm:spPr/>
      <dgm:t>
        <a:bodyPr/>
        <a:lstStyle/>
        <a:p>
          <a:r>
            <a:rPr lang="en-US"/>
            <a:t>Authoritarian style</a:t>
          </a:r>
        </a:p>
      </dgm:t>
    </dgm:pt>
    <dgm:pt modelId="{EB8CF63E-2986-47C6-B65D-EB494722E524}" type="parTrans" cxnId="{E8535FE8-4066-4424-8731-9F1BBB79C5A7}">
      <dgm:prSet/>
      <dgm:spPr/>
      <dgm:t>
        <a:bodyPr/>
        <a:lstStyle/>
        <a:p>
          <a:endParaRPr lang="en-US"/>
        </a:p>
      </dgm:t>
    </dgm:pt>
    <dgm:pt modelId="{1DC0D65B-4F79-4B68-80FD-9B36ECB18801}" type="sibTrans" cxnId="{E8535FE8-4066-4424-8731-9F1BBB79C5A7}">
      <dgm:prSet/>
      <dgm:spPr/>
      <dgm:t>
        <a:bodyPr/>
        <a:lstStyle/>
        <a:p>
          <a:endParaRPr lang="en-US"/>
        </a:p>
      </dgm:t>
    </dgm:pt>
    <dgm:pt modelId="{93B2ED2B-5B58-4D0A-9DC3-393373BC6D40}">
      <dgm:prSet/>
      <dgm:spPr/>
      <dgm:t>
        <a:bodyPr/>
        <a:lstStyle/>
        <a:p>
          <a:r>
            <a:rPr lang="en-US"/>
            <a:t>Permissive style</a:t>
          </a:r>
        </a:p>
      </dgm:t>
    </dgm:pt>
    <dgm:pt modelId="{D29EC966-AFF6-4375-8DA9-D56E0EA66011}" type="parTrans" cxnId="{FF3EEFCA-E4F4-4754-A0DE-AD61C01C6CD2}">
      <dgm:prSet/>
      <dgm:spPr/>
      <dgm:t>
        <a:bodyPr/>
        <a:lstStyle/>
        <a:p>
          <a:endParaRPr lang="en-US"/>
        </a:p>
      </dgm:t>
    </dgm:pt>
    <dgm:pt modelId="{6277F782-EF08-4E7F-B424-AC934F694E64}" type="sibTrans" cxnId="{FF3EEFCA-E4F4-4754-A0DE-AD61C01C6CD2}">
      <dgm:prSet/>
      <dgm:spPr/>
      <dgm:t>
        <a:bodyPr/>
        <a:lstStyle/>
        <a:p>
          <a:endParaRPr lang="en-US"/>
        </a:p>
      </dgm:t>
    </dgm:pt>
    <dgm:pt modelId="{EEFA1C7A-EA80-4B6A-B7AA-AED7809B8D28}">
      <dgm:prSet/>
      <dgm:spPr/>
      <dgm:t>
        <a:bodyPr/>
        <a:lstStyle/>
        <a:p>
          <a:r>
            <a:rPr lang="en-US"/>
            <a:t>Uninvolved style</a:t>
          </a:r>
        </a:p>
      </dgm:t>
    </dgm:pt>
    <dgm:pt modelId="{68B1783B-0F09-42E3-ADC0-995FCF65E3C6}" type="parTrans" cxnId="{EE2BA5BF-67E3-4395-B287-C7CA928E5A22}">
      <dgm:prSet/>
      <dgm:spPr/>
      <dgm:t>
        <a:bodyPr/>
        <a:lstStyle/>
        <a:p>
          <a:endParaRPr lang="en-US"/>
        </a:p>
      </dgm:t>
    </dgm:pt>
    <dgm:pt modelId="{7E8D95DE-DE35-4B77-8802-B8C461A43625}" type="sibTrans" cxnId="{EE2BA5BF-67E3-4395-B287-C7CA928E5A22}">
      <dgm:prSet/>
      <dgm:spPr/>
      <dgm:t>
        <a:bodyPr/>
        <a:lstStyle/>
        <a:p>
          <a:endParaRPr lang="en-US"/>
        </a:p>
      </dgm:t>
    </dgm:pt>
    <dgm:pt modelId="{67990917-77AC-463D-B694-D053F8156024}" type="pres">
      <dgm:prSet presAssocID="{0B162E7D-4C4D-477D-8EB8-6870C064ABEE}" presName="hierChild1" presStyleCnt="0">
        <dgm:presLayoutVars>
          <dgm:chPref val="1"/>
          <dgm:dir/>
          <dgm:animOne val="branch"/>
          <dgm:animLvl val="lvl"/>
          <dgm:resizeHandles/>
        </dgm:presLayoutVars>
      </dgm:prSet>
      <dgm:spPr/>
    </dgm:pt>
    <dgm:pt modelId="{A1E5BB6A-719D-4A6E-8F02-FEFFCC467FE3}" type="pres">
      <dgm:prSet presAssocID="{6558FDE9-EB73-4A13-9499-7DED91C846DD}" presName="hierRoot1" presStyleCnt="0"/>
      <dgm:spPr/>
    </dgm:pt>
    <dgm:pt modelId="{58E8C326-9956-42A3-B6BA-D20AD91CAFE6}" type="pres">
      <dgm:prSet presAssocID="{6558FDE9-EB73-4A13-9499-7DED91C846DD}" presName="composite" presStyleCnt="0"/>
      <dgm:spPr/>
    </dgm:pt>
    <dgm:pt modelId="{B98EAD6F-1C49-4914-B4D7-4258B5354294}" type="pres">
      <dgm:prSet presAssocID="{6558FDE9-EB73-4A13-9499-7DED91C846DD}" presName="background" presStyleLbl="node0" presStyleIdx="0" presStyleCnt="4"/>
      <dgm:spPr/>
    </dgm:pt>
    <dgm:pt modelId="{BE9986C5-64D8-40EA-B3BF-4C1459393192}" type="pres">
      <dgm:prSet presAssocID="{6558FDE9-EB73-4A13-9499-7DED91C846DD}" presName="text" presStyleLbl="fgAcc0" presStyleIdx="0" presStyleCnt="4">
        <dgm:presLayoutVars>
          <dgm:chPref val="3"/>
        </dgm:presLayoutVars>
      </dgm:prSet>
      <dgm:spPr/>
    </dgm:pt>
    <dgm:pt modelId="{00FA1E62-712A-46B8-BA58-8A5572BFBDE6}" type="pres">
      <dgm:prSet presAssocID="{6558FDE9-EB73-4A13-9499-7DED91C846DD}" presName="hierChild2" presStyleCnt="0"/>
      <dgm:spPr/>
    </dgm:pt>
    <dgm:pt modelId="{E0C08C80-97E3-41A8-BCAA-EC158EBC2FAF}" type="pres">
      <dgm:prSet presAssocID="{F1BFFFCA-1A4A-4860-A052-FE352F9FA5A4}" presName="hierRoot1" presStyleCnt="0"/>
      <dgm:spPr/>
    </dgm:pt>
    <dgm:pt modelId="{963CA910-25D3-469A-A083-81CA9215B7CA}" type="pres">
      <dgm:prSet presAssocID="{F1BFFFCA-1A4A-4860-A052-FE352F9FA5A4}" presName="composite" presStyleCnt="0"/>
      <dgm:spPr/>
    </dgm:pt>
    <dgm:pt modelId="{FFA26527-18CC-47B3-89AB-E21CAC2731BA}" type="pres">
      <dgm:prSet presAssocID="{F1BFFFCA-1A4A-4860-A052-FE352F9FA5A4}" presName="background" presStyleLbl="node0" presStyleIdx="1" presStyleCnt="4"/>
      <dgm:spPr/>
    </dgm:pt>
    <dgm:pt modelId="{C06A0A52-45AF-4196-B43E-6F696E2AAF7A}" type="pres">
      <dgm:prSet presAssocID="{F1BFFFCA-1A4A-4860-A052-FE352F9FA5A4}" presName="text" presStyleLbl="fgAcc0" presStyleIdx="1" presStyleCnt="4">
        <dgm:presLayoutVars>
          <dgm:chPref val="3"/>
        </dgm:presLayoutVars>
      </dgm:prSet>
      <dgm:spPr/>
    </dgm:pt>
    <dgm:pt modelId="{C4F3D198-B617-4638-8FA1-69AD414C3540}" type="pres">
      <dgm:prSet presAssocID="{F1BFFFCA-1A4A-4860-A052-FE352F9FA5A4}" presName="hierChild2" presStyleCnt="0"/>
      <dgm:spPr/>
    </dgm:pt>
    <dgm:pt modelId="{FBEC8794-8322-4807-98E1-7E1A77EE7D3E}" type="pres">
      <dgm:prSet presAssocID="{93B2ED2B-5B58-4D0A-9DC3-393373BC6D40}" presName="hierRoot1" presStyleCnt="0"/>
      <dgm:spPr/>
    </dgm:pt>
    <dgm:pt modelId="{C53D9CF0-1678-4099-A78E-EC1CE667D2CC}" type="pres">
      <dgm:prSet presAssocID="{93B2ED2B-5B58-4D0A-9DC3-393373BC6D40}" presName="composite" presStyleCnt="0"/>
      <dgm:spPr/>
    </dgm:pt>
    <dgm:pt modelId="{5A201D57-E1DF-436D-99B8-8D845C3C858D}" type="pres">
      <dgm:prSet presAssocID="{93B2ED2B-5B58-4D0A-9DC3-393373BC6D40}" presName="background" presStyleLbl="node0" presStyleIdx="2" presStyleCnt="4"/>
      <dgm:spPr/>
    </dgm:pt>
    <dgm:pt modelId="{2F7940A3-49A1-4005-A819-D5BDB2B4081F}" type="pres">
      <dgm:prSet presAssocID="{93B2ED2B-5B58-4D0A-9DC3-393373BC6D40}" presName="text" presStyleLbl="fgAcc0" presStyleIdx="2" presStyleCnt="4">
        <dgm:presLayoutVars>
          <dgm:chPref val="3"/>
        </dgm:presLayoutVars>
      </dgm:prSet>
      <dgm:spPr/>
    </dgm:pt>
    <dgm:pt modelId="{EC432458-E29B-48BE-90BC-48DB95E18305}" type="pres">
      <dgm:prSet presAssocID="{93B2ED2B-5B58-4D0A-9DC3-393373BC6D40}" presName="hierChild2" presStyleCnt="0"/>
      <dgm:spPr/>
    </dgm:pt>
    <dgm:pt modelId="{A004FA12-ED1C-4141-8AEF-BD81F63946AA}" type="pres">
      <dgm:prSet presAssocID="{EEFA1C7A-EA80-4B6A-B7AA-AED7809B8D28}" presName="hierRoot1" presStyleCnt="0"/>
      <dgm:spPr/>
    </dgm:pt>
    <dgm:pt modelId="{A36ADE2A-E420-49B6-8AEC-494C020E7022}" type="pres">
      <dgm:prSet presAssocID="{EEFA1C7A-EA80-4B6A-B7AA-AED7809B8D28}" presName="composite" presStyleCnt="0"/>
      <dgm:spPr/>
    </dgm:pt>
    <dgm:pt modelId="{0FF566C0-97AB-4DCB-810B-EC17B25E673F}" type="pres">
      <dgm:prSet presAssocID="{EEFA1C7A-EA80-4B6A-B7AA-AED7809B8D28}" presName="background" presStyleLbl="node0" presStyleIdx="3" presStyleCnt="4"/>
      <dgm:spPr/>
    </dgm:pt>
    <dgm:pt modelId="{36A6F0C9-6B6A-4A0A-A196-A5F2B0FA4A7A}" type="pres">
      <dgm:prSet presAssocID="{EEFA1C7A-EA80-4B6A-B7AA-AED7809B8D28}" presName="text" presStyleLbl="fgAcc0" presStyleIdx="3" presStyleCnt="4">
        <dgm:presLayoutVars>
          <dgm:chPref val="3"/>
        </dgm:presLayoutVars>
      </dgm:prSet>
      <dgm:spPr/>
    </dgm:pt>
    <dgm:pt modelId="{BB1CECEA-59AD-4906-8848-82FA5A4090BC}" type="pres">
      <dgm:prSet presAssocID="{EEFA1C7A-EA80-4B6A-B7AA-AED7809B8D28}" presName="hierChild2" presStyleCnt="0"/>
      <dgm:spPr/>
    </dgm:pt>
  </dgm:ptLst>
  <dgm:cxnLst>
    <dgm:cxn modelId="{45F5DB00-8F43-41C9-B17C-AC4B138CBFA8}" type="presOf" srcId="{6558FDE9-EB73-4A13-9499-7DED91C846DD}" destId="{BE9986C5-64D8-40EA-B3BF-4C1459393192}" srcOrd="0" destOrd="0" presId="urn:microsoft.com/office/officeart/2005/8/layout/hierarchy1"/>
    <dgm:cxn modelId="{53BDC37F-E371-417D-B890-0F9D157966DC}" srcId="{0B162E7D-4C4D-477D-8EB8-6870C064ABEE}" destId="{6558FDE9-EB73-4A13-9499-7DED91C846DD}" srcOrd="0" destOrd="0" parTransId="{E9636E6F-3748-454F-9B7E-7901984AEAE1}" sibTransId="{2EFFF29D-7005-4C64-B214-333D5861C3C9}"/>
    <dgm:cxn modelId="{B0D66AA4-EF3E-4CC0-9303-19AAE68529BC}" type="presOf" srcId="{93B2ED2B-5B58-4D0A-9DC3-393373BC6D40}" destId="{2F7940A3-49A1-4005-A819-D5BDB2B4081F}" srcOrd="0" destOrd="0" presId="urn:microsoft.com/office/officeart/2005/8/layout/hierarchy1"/>
    <dgm:cxn modelId="{EE2BA5BF-67E3-4395-B287-C7CA928E5A22}" srcId="{0B162E7D-4C4D-477D-8EB8-6870C064ABEE}" destId="{EEFA1C7A-EA80-4B6A-B7AA-AED7809B8D28}" srcOrd="3" destOrd="0" parTransId="{68B1783B-0F09-42E3-ADC0-995FCF65E3C6}" sibTransId="{7E8D95DE-DE35-4B77-8802-B8C461A43625}"/>
    <dgm:cxn modelId="{2964ECC0-247D-4B5B-B51B-D12E06698A26}" type="presOf" srcId="{F1BFFFCA-1A4A-4860-A052-FE352F9FA5A4}" destId="{C06A0A52-45AF-4196-B43E-6F696E2AAF7A}" srcOrd="0" destOrd="0" presId="urn:microsoft.com/office/officeart/2005/8/layout/hierarchy1"/>
    <dgm:cxn modelId="{FF3EEFCA-E4F4-4754-A0DE-AD61C01C6CD2}" srcId="{0B162E7D-4C4D-477D-8EB8-6870C064ABEE}" destId="{93B2ED2B-5B58-4D0A-9DC3-393373BC6D40}" srcOrd="2" destOrd="0" parTransId="{D29EC966-AFF6-4375-8DA9-D56E0EA66011}" sibTransId="{6277F782-EF08-4E7F-B424-AC934F694E64}"/>
    <dgm:cxn modelId="{6C7C8EE7-24E2-4A27-B931-B7F792195280}" type="presOf" srcId="{EEFA1C7A-EA80-4B6A-B7AA-AED7809B8D28}" destId="{36A6F0C9-6B6A-4A0A-A196-A5F2B0FA4A7A}" srcOrd="0" destOrd="0" presId="urn:microsoft.com/office/officeart/2005/8/layout/hierarchy1"/>
    <dgm:cxn modelId="{E8535FE8-4066-4424-8731-9F1BBB79C5A7}" srcId="{0B162E7D-4C4D-477D-8EB8-6870C064ABEE}" destId="{F1BFFFCA-1A4A-4860-A052-FE352F9FA5A4}" srcOrd="1" destOrd="0" parTransId="{EB8CF63E-2986-47C6-B65D-EB494722E524}" sibTransId="{1DC0D65B-4F79-4B68-80FD-9B36ECB18801}"/>
    <dgm:cxn modelId="{3822BEF0-DBDE-4BB8-95B5-5065E5A0EFE0}" type="presOf" srcId="{0B162E7D-4C4D-477D-8EB8-6870C064ABEE}" destId="{67990917-77AC-463D-B694-D053F8156024}" srcOrd="0" destOrd="0" presId="urn:microsoft.com/office/officeart/2005/8/layout/hierarchy1"/>
    <dgm:cxn modelId="{1C36178F-6E6E-4F25-A0B3-EB1AA9216CC7}" type="presParOf" srcId="{67990917-77AC-463D-B694-D053F8156024}" destId="{A1E5BB6A-719D-4A6E-8F02-FEFFCC467FE3}" srcOrd="0" destOrd="0" presId="urn:microsoft.com/office/officeart/2005/8/layout/hierarchy1"/>
    <dgm:cxn modelId="{209B59D3-3C27-4797-A14E-407BD37B6C70}" type="presParOf" srcId="{A1E5BB6A-719D-4A6E-8F02-FEFFCC467FE3}" destId="{58E8C326-9956-42A3-B6BA-D20AD91CAFE6}" srcOrd="0" destOrd="0" presId="urn:microsoft.com/office/officeart/2005/8/layout/hierarchy1"/>
    <dgm:cxn modelId="{7DB3636E-DD07-4FD9-8420-1BDE5B3CD56B}" type="presParOf" srcId="{58E8C326-9956-42A3-B6BA-D20AD91CAFE6}" destId="{B98EAD6F-1C49-4914-B4D7-4258B5354294}" srcOrd="0" destOrd="0" presId="urn:microsoft.com/office/officeart/2005/8/layout/hierarchy1"/>
    <dgm:cxn modelId="{BFEAD76D-6298-4476-B9FA-AA8F83B2D69A}" type="presParOf" srcId="{58E8C326-9956-42A3-B6BA-D20AD91CAFE6}" destId="{BE9986C5-64D8-40EA-B3BF-4C1459393192}" srcOrd="1" destOrd="0" presId="urn:microsoft.com/office/officeart/2005/8/layout/hierarchy1"/>
    <dgm:cxn modelId="{4C93E8A8-AC25-47A4-A123-8AB5EEAAA224}" type="presParOf" srcId="{A1E5BB6A-719D-4A6E-8F02-FEFFCC467FE3}" destId="{00FA1E62-712A-46B8-BA58-8A5572BFBDE6}" srcOrd="1" destOrd="0" presId="urn:microsoft.com/office/officeart/2005/8/layout/hierarchy1"/>
    <dgm:cxn modelId="{990B99C5-36C6-40D1-A281-1EEC61A485BF}" type="presParOf" srcId="{67990917-77AC-463D-B694-D053F8156024}" destId="{E0C08C80-97E3-41A8-BCAA-EC158EBC2FAF}" srcOrd="1" destOrd="0" presId="urn:microsoft.com/office/officeart/2005/8/layout/hierarchy1"/>
    <dgm:cxn modelId="{887F2415-0367-45C1-B407-A8931EA67705}" type="presParOf" srcId="{E0C08C80-97E3-41A8-BCAA-EC158EBC2FAF}" destId="{963CA910-25D3-469A-A083-81CA9215B7CA}" srcOrd="0" destOrd="0" presId="urn:microsoft.com/office/officeart/2005/8/layout/hierarchy1"/>
    <dgm:cxn modelId="{411A4B3B-FD4F-43DA-8770-7285FBA7359F}" type="presParOf" srcId="{963CA910-25D3-469A-A083-81CA9215B7CA}" destId="{FFA26527-18CC-47B3-89AB-E21CAC2731BA}" srcOrd="0" destOrd="0" presId="urn:microsoft.com/office/officeart/2005/8/layout/hierarchy1"/>
    <dgm:cxn modelId="{4E17B89D-F42A-4D3F-BF5E-57A61F1DD9B1}" type="presParOf" srcId="{963CA910-25D3-469A-A083-81CA9215B7CA}" destId="{C06A0A52-45AF-4196-B43E-6F696E2AAF7A}" srcOrd="1" destOrd="0" presId="urn:microsoft.com/office/officeart/2005/8/layout/hierarchy1"/>
    <dgm:cxn modelId="{478FF00E-4220-4AAA-854B-8EB2DD84C522}" type="presParOf" srcId="{E0C08C80-97E3-41A8-BCAA-EC158EBC2FAF}" destId="{C4F3D198-B617-4638-8FA1-69AD414C3540}" srcOrd="1" destOrd="0" presId="urn:microsoft.com/office/officeart/2005/8/layout/hierarchy1"/>
    <dgm:cxn modelId="{C07FECEF-9BE5-4287-9409-B38D349A9A3A}" type="presParOf" srcId="{67990917-77AC-463D-B694-D053F8156024}" destId="{FBEC8794-8322-4807-98E1-7E1A77EE7D3E}" srcOrd="2" destOrd="0" presId="urn:microsoft.com/office/officeart/2005/8/layout/hierarchy1"/>
    <dgm:cxn modelId="{6D5D5F0E-1D49-4DC9-966D-8EFB7367C182}" type="presParOf" srcId="{FBEC8794-8322-4807-98E1-7E1A77EE7D3E}" destId="{C53D9CF0-1678-4099-A78E-EC1CE667D2CC}" srcOrd="0" destOrd="0" presId="urn:microsoft.com/office/officeart/2005/8/layout/hierarchy1"/>
    <dgm:cxn modelId="{C1931F2B-1FCA-4FD4-BF2C-E7116A26A076}" type="presParOf" srcId="{C53D9CF0-1678-4099-A78E-EC1CE667D2CC}" destId="{5A201D57-E1DF-436D-99B8-8D845C3C858D}" srcOrd="0" destOrd="0" presId="urn:microsoft.com/office/officeart/2005/8/layout/hierarchy1"/>
    <dgm:cxn modelId="{6FFBB21A-846D-4E2D-8D72-40831ACC5D07}" type="presParOf" srcId="{C53D9CF0-1678-4099-A78E-EC1CE667D2CC}" destId="{2F7940A3-49A1-4005-A819-D5BDB2B4081F}" srcOrd="1" destOrd="0" presId="urn:microsoft.com/office/officeart/2005/8/layout/hierarchy1"/>
    <dgm:cxn modelId="{06ED54FF-F2D9-4C5E-A507-D65BB6AA505B}" type="presParOf" srcId="{FBEC8794-8322-4807-98E1-7E1A77EE7D3E}" destId="{EC432458-E29B-48BE-90BC-48DB95E18305}" srcOrd="1" destOrd="0" presId="urn:microsoft.com/office/officeart/2005/8/layout/hierarchy1"/>
    <dgm:cxn modelId="{DC3E607B-B6A4-4959-840E-92614A1BB9CF}" type="presParOf" srcId="{67990917-77AC-463D-B694-D053F8156024}" destId="{A004FA12-ED1C-4141-8AEF-BD81F63946AA}" srcOrd="3" destOrd="0" presId="urn:microsoft.com/office/officeart/2005/8/layout/hierarchy1"/>
    <dgm:cxn modelId="{7A76C771-345A-4C99-9CD1-567CDCB231E8}" type="presParOf" srcId="{A004FA12-ED1C-4141-8AEF-BD81F63946AA}" destId="{A36ADE2A-E420-49B6-8AEC-494C020E7022}" srcOrd="0" destOrd="0" presId="urn:microsoft.com/office/officeart/2005/8/layout/hierarchy1"/>
    <dgm:cxn modelId="{3DC65C2E-1F65-499E-B040-0CEA385A2DDC}" type="presParOf" srcId="{A36ADE2A-E420-49B6-8AEC-494C020E7022}" destId="{0FF566C0-97AB-4DCB-810B-EC17B25E673F}" srcOrd="0" destOrd="0" presId="urn:microsoft.com/office/officeart/2005/8/layout/hierarchy1"/>
    <dgm:cxn modelId="{9D491565-8BF1-417B-9B59-BBDB023ADAE6}" type="presParOf" srcId="{A36ADE2A-E420-49B6-8AEC-494C020E7022}" destId="{36A6F0C9-6B6A-4A0A-A196-A5F2B0FA4A7A}" srcOrd="1" destOrd="0" presId="urn:microsoft.com/office/officeart/2005/8/layout/hierarchy1"/>
    <dgm:cxn modelId="{2AEFB5DF-801B-4607-B6BE-353BB188FEB1}" type="presParOf" srcId="{A004FA12-ED1C-4141-8AEF-BD81F63946AA}" destId="{BB1CECEA-59AD-4906-8848-82FA5A4090B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F72167-FB4D-4904-B173-6BB1032CEE51}"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C98B26E-4ACA-4A2D-89D7-7DEFA7CE8D8B}">
      <dgm:prSet/>
      <dgm:spPr/>
      <dgm:t>
        <a:bodyPr/>
        <a:lstStyle/>
        <a:p>
          <a:r>
            <a:rPr lang="en-US" dirty="0"/>
            <a:t>Hospice</a:t>
          </a:r>
        </a:p>
      </dgm:t>
    </dgm:pt>
    <dgm:pt modelId="{C0A555E4-E4C9-4949-B410-6B5887C21190}" type="parTrans" cxnId="{8413EEB9-C5F4-43DC-B173-C7DC1E0F3996}">
      <dgm:prSet/>
      <dgm:spPr/>
      <dgm:t>
        <a:bodyPr/>
        <a:lstStyle/>
        <a:p>
          <a:endParaRPr lang="en-US"/>
        </a:p>
      </dgm:t>
    </dgm:pt>
    <dgm:pt modelId="{AAB0DD85-8959-49E3-A589-1FA58BF6B41C}" type="sibTrans" cxnId="{8413EEB9-C5F4-43DC-B173-C7DC1E0F3996}">
      <dgm:prSet/>
      <dgm:spPr/>
      <dgm:t>
        <a:bodyPr/>
        <a:lstStyle/>
        <a:p>
          <a:endParaRPr lang="en-US"/>
        </a:p>
      </dgm:t>
    </dgm:pt>
    <dgm:pt modelId="{49375C19-9019-49AB-971A-497AB570AB17}">
      <dgm:prSet/>
      <dgm:spPr/>
      <dgm:t>
        <a:bodyPr/>
        <a:lstStyle/>
        <a:p>
          <a:r>
            <a:rPr lang="en-US"/>
            <a:t>Living will/ advanced directive</a:t>
          </a:r>
        </a:p>
      </dgm:t>
    </dgm:pt>
    <dgm:pt modelId="{EAE57930-5C3A-40BB-8863-2E51543B5665}" type="parTrans" cxnId="{FB3A725A-0DA2-4E2E-BC38-E8556F8B2966}">
      <dgm:prSet/>
      <dgm:spPr/>
      <dgm:t>
        <a:bodyPr/>
        <a:lstStyle/>
        <a:p>
          <a:endParaRPr lang="en-US"/>
        </a:p>
      </dgm:t>
    </dgm:pt>
    <dgm:pt modelId="{75FDCC26-6A3E-4D4D-99B1-BD88E851D354}" type="sibTrans" cxnId="{FB3A725A-0DA2-4E2E-BC38-E8556F8B2966}">
      <dgm:prSet/>
      <dgm:spPr/>
      <dgm:t>
        <a:bodyPr/>
        <a:lstStyle/>
        <a:p>
          <a:endParaRPr lang="en-US"/>
        </a:p>
      </dgm:t>
    </dgm:pt>
    <dgm:pt modelId="{86AC7820-5719-45B7-941F-9042BB0E0337}">
      <dgm:prSet/>
      <dgm:spPr/>
      <dgm:t>
        <a:bodyPr/>
        <a:lstStyle/>
        <a:p>
          <a:r>
            <a:rPr lang="en-US" dirty="0"/>
            <a:t>Do Not Resuscitate Order</a:t>
          </a:r>
        </a:p>
      </dgm:t>
    </dgm:pt>
    <dgm:pt modelId="{2E09CB9E-1EBC-4FC0-A90C-B20F985BE540}" type="parTrans" cxnId="{DAFDDA28-DA3B-44A0-A7D4-53CC5A190D5D}">
      <dgm:prSet/>
      <dgm:spPr/>
      <dgm:t>
        <a:bodyPr/>
        <a:lstStyle/>
        <a:p>
          <a:endParaRPr lang="en-US"/>
        </a:p>
      </dgm:t>
    </dgm:pt>
    <dgm:pt modelId="{893EA7C9-1AD1-468A-BE42-E88C79774593}" type="sibTrans" cxnId="{DAFDDA28-DA3B-44A0-A7D4-53CC5A190D5D}">
      <dgm:prSet/>
      <dgm:spPr/>
      <dgm:t>
        <a:bodyPr/>
        <a:lstStyle/>
        <a:p>
          <a:endParaRPr lang="en-US"/>
        </a:p>
      </dgm:t>
    </dgm:pt>
    <dgm:pt modelId="{0EA83426-4C5B-410C-963C-B5B90A2CC0F5}">
      <dgm:prSet/>
      <dgm:spPr/>
      <dgm:t>
        <a:bodyPr/>
        <a:lstStyle/>
        <a:p>
          <a:r>
            <a:rPr lang="en-US" dirty="0"/>
            <a:t>Health care proxy</a:t>
          </a:r>
        </a:p>
      </dgm:t>
    </dgm:pt>
    <dgm:pt modelId="{3B4D166E-F7B1-4F14-BDAC-4AEBD6C2E03C}" type="parTrans" cxnId="{BC7FA474-B0D9-4E45-836E-5465AF8CFA32}">
      <dgm:prSet/>
      <dgm:spPr/>
      <dgm:t>
        <a:bodyPr/>
        <a:lstStyle/>
        <a:p>
          <a:endParaRPr lang="en-US"/>
        </a:p>
      </dgm:t>
    </dgm:pt>
    <dgm:pt modelId="{4C2811E4-A5BB-4B2A-81D7-E3A3A5C8D742}" type="sibTrans" cxnId="{BC7FA474-B0D9-4E45-836E-5465AF8CFA32}">
      <dgm:prSet/>
      <dgm:spPr/>
      <dgm:t>
        <a:bodyPr/>
        <a:lstStyle/>
        <a:p>
          <a:endParaRPr lang="en-US"/>
        </a:p>
      </dgm:t>
    </dgm:pt>
    <dgm:pt modelId="{70A4F1C2-7AC1-4504-9CEE-E4F78B3A2E8E}">
      <dgm:prSet/>
      <dgm:spPr/>
      <dgm:t>
        <a:bodyPr/>
        <a:lstStyle/>
        <a:p>
          <a:r>
            <a:rPr lang="en-US"/>
            <a:t>Power of attorney</a:t>
          </a:r>
          <a:endParaRPr lang="en-US" dirty="0"/>
        </a:p>
      </dgm:t>
    </dgm:pt>
    <dgm:pt modelId="{81807FCB-6E1D-463F-B4E7-8A9AFCE3EE56}" type="parTrans" cxnId="{03170E81-FBA4-4188-B67B-55D053E1F21F}">
      <dgm:prSet/>
      <dgm:spPr/>
    </dgm:pt>
    <dgm:pt modelId="{EE5042D5-7326-4636-A1C5-BDD7A8C1A65D}" type="sibTrans" cxnId="{03170E81-FBA4-4188-B67B-55D053E1F21F}">
      <dgm:prSet/>
      <dgm:spPr/>
    </dgm:pt>
    <dgm:pt modelId="{A5D8904E-3702-462F-B87D-5526BD303504}" type="pres">
      <dgm:prSet presAssocID="{C0F72167-FB4D-4904-B173-6BB1032CEE51}" presName="vert0" presStyleCnt="0">
        <dgm:presLayoutVars>
          <dgm:dir/>
          <dgm:animOne val="branch"/>
          <dgm:animLvl val="lvl"/>
        </dgm:presLayoutVars>
      </dgm:prSet>
      <dgm:spPr/>
    </dgm:pt>
    <dgm:pt modelId="{6F6758D2-206F-4265-8491-4C63A1B9AADD}" type="pres">
      <dgm:prSet presAssocID="{7C98B26E-4ACA-4A2D-89D7-7DEFA7CE8D8B}" presName="thickLine" presStyleLbl="alignNode1" presStyleIdx="0" presStyleCnt="5"/>
      <dgm:spPr/>
    </dgm:pt>
    <dgm:pt modelId="{DE847FD8-CBE9-480D-A246-74465C15E10C}" type="pres">
      <dgm:prSet presAssocID="{7C98B26E-4ACA-4A2D-89D7-7DEFA7CE8D8B}" presName="horz1" presStyleCnt="0"/>
      <dgm:spPr/>
    </dgm:pt>
    <dgm:pt modelId="{8F509B9E-35D8-4D51-B1EC-00EF9BCBACF5}" type="pres">
      <dgm:prSet presAssocID="{7C98B26E-4ACA-4A2D-89D7-7DEFA7CE8D8B}" presName="tx1" presStyleLbl="revTx" presStyleIdx="0" presStyleCnt="5"/>
      <dgm:spPr/>
    </dgm:pt>
    <dgm:pt modelId="{9E90C1BD-2EB8-4809-AD74-14677B824334}" type="pres">
      <dgm:prSet presAssocID="{7C98B26E-4ACA-4A2D-89D7-7DEFA7CE8D8B}" presName="vert1" presStyleCnt="0"/>
      <dgm:spPr/>
    </dgm:pt>
    <dgm:pt modelId="{08AE9646-9422-45DB-AE06-62329B2BA265}" type="pres">
      <dgm:prSet presAssocID="{0EA83426-4C5B-410C-963C-B5B90A2CC0F5}" presName="thickLine" presStyleLbl="alignNode1" presStyleIdx="1" presStyleCnt="5"/>
      <dgm:spPr/>
    </dgm:pt>
    <dgm:pt modelId="{24D92AFE-A486-4770-A7DA-9FC2EB323406}" type="pres">
      <dgm:prSet presAssocID="{0EA83426-4C5B-410C-963C-B5B90A2CC0F5}" presName="horz1" presStyleCnt="0"/>
      <dgm:spPr/>
    </dgm:pt>
    <dgm:pt modelId="{EFFEB216-7152-4294-9FA5-67C9B08E03BF}" type="pres">
      <dgm:prSet presAssocID="{0EA83426-4C5B-410C-963C-B5B90A2CC0F5}" presName="tx1" presStyleLbl="revTx" presStyleIdx="1" presStyleCnt="5"/>
      <dgm:spPr/>
    </dgm:pt>
    <dgm:pt modelId="{5BB993D4-4EFA-4BE1-9AF5-983D18BC1665}" type="pres">
      <dgm:prSet presAssocID="{0EA83426-4C5B-410C-963C-B5B90A2CC0F5}" presName="vert1" presStyleCnt="0"/>
      <dgm:spPr/>
    </dgm:pt>
    <dgm:pt modelId="{8C3E8B61-F5B2-4756-962D-CD3F128CA166}" type="pres">
      <dgm:prSet presAssocID="{70A4F1C2-7AC1-4504-9CEE-E4F78B3A2E8E}" presName="thickLine" presStyleLbl="alignNode1" presStyleIdx="2" presStyleCnt="5"/>
      <dgm:spPr/>
    </dgm:pt>
    <dgm:pt modelId="{F2D6D360-6E3E-4D2A-B2C2-3BCC1CE1C16C}" type="pres">
      <dgm:prSet presAssocID="{70A4F1C2-7AC1-4504-9CEE-E4F78B3A2E8E}" presName="horz1" presStyleCnt="0"/>
      <dgm:spPr/>
    </dgm:pt>
    <dgm:pt modelId="{401EE90D-A73F-442C-892F-968586C441E1}" type="pres">
      <dgm:prSet presAssocID="{70A4F1C2-7AC1-4504-9CEE-E4F78B3A2E8E}" presName="tx1" presStyleLbl="revTx" presStyleIdx="2" presStyleCnt="5"/>
      <dgm:spPr/>
    </dgm:pt>
    <dgm:pt modelId="{7E877F29-2363-4414-AFAD-51B4BE5E2C86}" type="pres">
      <dgm:prSet presAssocID="{70A4F1C2-7AC1-4504-9CEE-E4F78B3A2E8E}" presName="vert1" presStyleCnt="0"/>
      <dgm:spPr/>
    </dgm:pt>
    <dgm:pt modelId="{FFCE7145-3FC2-4279-AA57-5AA7576D5AF7}" type="pres">
      <dgm:prSet presAssocID="{49375C19-9019-49AB-971A-497AB570AB17}" presName="thickLine" presStyleLbl="alignNode1" presStyleIdx="3" presStyleCnt="5"/>
      <dgm:spPr/>
    </dgm:pt>
    <dgm:pt modelId="{F05A12E0-AA6A-4BEB-A3B6-6CDEFAA1DE83}" type="pres">
      <dgm:prSet presAssocID="{49375C19-9019-49AB-971A-497AB570AB17}" presName="horz1" presStyleCnt="0"/>
      <dgm:spPr/>
    </dgm:pt>
    <dgm:pt modelId="{444C3965-C49A-4A77-B560-DEA566F011A8}" type="pres">
      <dgm:prSet presAssocID="{49375C19-9019-49AB-971A-497AB570AB17}" presName="tx1" presStyleLbl="revTx" presStyleIdx="3" presStyleCnt="5"/>
      <dgm:spPr/>
    </dgm:pt>
    <dgm:pt modelId="{998E36BA-3155-4593-997D-50ED22EE0263}" type="pres">
      <dgm:prSet presAssocID="{49375C19-9019-49AB-971A-497AB570AB17}" presName="vert1" presStyleCnt="0"/>
      <dgm:spPr/>
    </dgm:pt>
    <dgm:pt modelId="{6FCF4B3B-1A89-4847-8B14-53C02B662191}" type="pres">
      <dgm:prSet presAssocID="{86AC7820-5719-45B7-941F-9042BB0E0337}" presName="thickLine" presStyleLbl="alignNode1" presStyleIdx="4" presStyleCnt="5"/>
      <dgm:spPr/>
    </dgm:pt>
    <dgm:pt modelId="{23936B9B-4251-4AB5-94D1-9D90975D971B}" type="pres">
      <dgm:prSet presAssocID="{86AC7820-5719-45B7-941F-9042BB0E0337}" presName="horz1" presStyleCnt="0"/>
      <dgm:spPr/>
    </dgm:pt>
    <dgm:pt modelId="{0A81CB05-8B2E-4650-8D60-2832F1CD6EE7}" type="pres">
      <dgm:prSet presAssocID="{86AC7820-5719-45B7-941F-9042BB0E0337}" presName="tx1" presStyleLbl="revTx" presStyleIdx="4" presStyleCnt="5"/>
      <dgm:spPr/>
    </dgm:pt>
    <dgm:pt modelId="{3287BF42-263E-4223-8B85-D6FC2F1366D5}" type="pres">
      <dgm:prSet presAssocID="{86AC7820-5719-45B7-941F-9042BB0E0337}" presName="vert1" presStyleCnt="0"/>
      <dgm:spPr/>
    </dgm:pt>
  </dgm:ptLst>
  <dgm:cxnLst>
    <dgm:cxn modelId="{97D50C1B-4762-4367-B524-979BD9B2F0A7}" type="presOf" srcId="{7C98B26E-4ACA-4A2D-89D7-7DEFA7CE8D8B}" destId="{8F509B9E-35D8-4D51-B1EC-00EF9BCBACF5}" srcOrd="0" destOrd="0" presId="urn:microsoft.com/office/officeart/2008/layout/LinedList"/>
    <dgm:cxn modelId="{DAFDDA28-DA3B-44A0-A7D4-53CC5A190D5D}" srcId="{C0F72167-FB4D-4904-B173-6BB1032CEE51}" destId="{86AC7820-5719-45B7-941F-9042BB0E0337}" srcOrd="4" destOrd="0" parTransId="{2E09CB9E-1EBC-4FC0-A90C-B20F985BE540}" sibTransId="{893EA7C9-1AD1-468A-BE42-E88C79774593}"/>
    <dgm:cxn modelId="{71DEFE3D-A65A-42B2-ADCF-33552A187714}" type="presOf" srcId="{86AC7820-5719-45B7-941F-9042BB0E0337}" destId="{0A81CB05-8B2E-4650-8D60-2832F1CD6EE7}" srcOrd="0" destOrd="0" presId="urn:microsoft.com/office/officeart/2008/layout/LinedList"/>
    <dgm:cxn modelId="{2894E041-F1FD-4BE2-A667-5C0171A110E4}" type="presOf" srcId="{C0F72167-FB4D-4904-B173-6BB1032CEE51}" destId="{A5D8904E-3702-462F-B87D-5526BD303504}" srcOrd="0" destOrd="0" presId="urn:microsoft.com/office/officeart/2008/layout/LinedList"/>
    <dgm:cxn modelId="{BC7FA474-B0D9-4E45-836E-5465AF8CFA32}" srcId="{C0F72167-FB4D-4904-B173-6BB1032CEE51}" destId="{0EA83426-4C5B-410C-963C-B5B90A2CC0F5}" srcOrd="1" destOrd="0" parTransId="{3B4D166E-F7B1-4F14-BDAC-4AEBD6C2E03C}" sibTransId="{4C2811E4-A5BB-4B2A-81D7-E3A3A5C8D742}"/>
    <dgm:cxn modelId="{FB3A725A-0DA2-4E2E-BC38-E8556F8B2966}" srcId="{C0F72167-FB4D-4904-B173-6BB1032CEE51}" destId="{49375C19-9019-49AB-971A-497AB570AB17}" srcOrd="3" destOrd="0" parTransId="{EAE57930-5C3A-40BB-8863-2E51543B5665}" sibTransId="{75FDCC26-6A3E-4D4D-99B1-BD88E851D354}"/>
    <dgm:cxn modelId="{03170E81-FBA4-4188-B67B-55D053E1F21F}" srcId="{C0F72167-FB4D-4904-B173-6BB1032CEE51}" destId="{70A4F1C2-7AC1-4504-9CEE-E4F78B3A2E8E}" srcOrd="2" destOrd="0" parTransId="{81807FCB-6E1D-463F-B4E7-8A9AFCE3EE56}" sibTransId="{EE5042D5-7326-4636-A1C5-BDD7A8C1A65D}"/>
    <dgm:cxn modelId="{BA7274B0-6419-4FC0-B739-6FF255F002C1}" type="presOf" srcId="{70A4F1C2-7AC1-4504-9CEE-E4F78B3A2E8E}" destId="{401EE90D-A73F-442C-892F-968586C441E1}" srcOrd="0" destOrd="0" presId="urn:microsoft.com/office/officeart/2008/layout/LinedList"/>
    <dgm:cxn modelId="{8413EEB9-C5F4-43DC-B173-C7DC1E0F3996}" srcId="{C0F72167-FB4D-4904-B173-6BB1032CEE51}" destId="{7C98B26E-4ACA-4A2D-89D7-7DEFA7CE8D8B}" srcOrd="0" destOrd="0" parTransId="{C0A555E4-E4C9-4949-B410-6B5887C21190}" sibTransId="{AAB0DD85-8959-49E3-A589-1FA58BF6B41C}"/>
    <dgm:cxn modelId="{6924FFBD-8E4D-474E-98E7-93050AA697B5}" type="presOf" srcId="{49375C19-9019-49AB-971A-497AB570AB17}" destId="{444C3965-C49A-4A77-B560-DEA566F011A8}" srcOrd="0" destOrd="0" presId="urn:microsoft.com/office/officeart/2008/layout/LinedList"/>
    <dgm:cxn modelId="{D573FCCC-14A5-495A-83DD-A0A746F5D0E7}" type="presOf" srcId="{0EA83426-4C5B-410C-963C-B5B90A2CC0F5}" destId="{EFFEB216-7152-4294-9FA5-67C9B08E03BF}" srcOrd="0" destOrd="0" presId="urn:microsoft.com/office/officeart/2008/layout/LinedList"/>
    <dgm:cxn modelId="{82ABE13A-EACA-44B0-BE6B-C8B363FC0735}" type="presParOf" srcId="{A5D8904E-3702-462F-B87D-5526BD303504}" destId="{6F6758D2-206F-4265-8491-4C63A1B9AADD}" srcOrd="0" destOrd="0" presId="urn:microsoft.com/office/officeart/2008/layout/LinedList"/>
    <dgm:cxn modelId="{8A3C15AA-AC8D-4023-B156-D862B5F09A54}" type="presParOf" srcId="{A5D8904E-3702-462F-B87D-5526BD303504}" destId="{DE847FD8-CBE9-480D-A246-74465C15E10C}" srcOrd="1" destOrd="0" presId="urn:microsoft.com/office/officeart/2008/layout/LinedList"/>
    <dgm:cxn modelId="{A8167E08-9EC2-46E1-B17A-A086021B5D16}" type="presParOf" srcId="{DE847FD8-CBE9-480D-A246-74465C15E10C}" destId="{8F509B9E-35D8-4D51-B1EC-00EF9BCBACF5}" srcOrd="0" destOrd="0" presId="urn:microsoft.com/office/officeart/2008/layout/LinedList"/>
    <dgm:cxn modelId="{2DDA65DC-7404-4C57-B805-459B6F5FF60C}" type="presParOf" srcId="{DE847FD8-CBE9-480D-A246-74465C15E10C}" destId="{9E90C1BD-2EB8-4809-AD74-14677B824334}" srcOrd="1" destOrd="0" presId="urn:microsoft.com/office/officeart/2008/layout/LinedList"/>
    <dgm:cxn modelId="{D3718F62-DEAB-4FF3-8AC4-B78CDFCE1C94}" type="presParOf" srcId="{A5D8904E-3702-462F-B87D-5526BD303504}" destId="{08AE9646-9422-45DB-AE06-62329B2BA265}" srcOrd="2" destOrd="0" presId="urn:microsoft.com/office/officeart/2008/layout/LinedList"/>
    <dgm:cxn modelId="{366E4F92-CD11-482E-A2A4-D81456F3BEE2}" type="presParOf" srcId="{A5D8904E-3702-462F-B87D-5526BD303504}" destId="{24D92AFE-A486-4770-A7DA-9FC2EB323406}" srcOrd="3" destOrd="0" presId="urn:microsoft.com/office/officeart/2008/layout/LinedList"/>
    <dgm:cxn modelId="{A27CE644-6233-4BD1-B043-275EF40F29B4}" type="presParOf" srcId="{24D92AFE-A486-4770-A7DA-9FC2EB323406}" destId="{EFFEB216-7152-4294-9FA5-67C9B08E03BF}" srcOrd="0" destOrd="0" presId="urn:microsoft.com/office/officeart/2008/layout/LinedList"/>
    <dgm:cxn modelId="{D53427D2-C164-495E-8B88-ACC7682B0730}" type="presParOf" srcId="{24D92AFE-A486-4770-A7DA-9FC2EB323406}" destId="{5BB993D4-4EFA-4BE1-9AF5-983D18BC1665}" srcOrd="1" destOrd="0" presId="urn:microsoft.com/office/officeart/2008/layout/LinedList"/>
    <dgm:cxn modelId="{3FE3EC62-AC53-43EB-A106-65BE5FD4ABF3}" type="presParOf" srcId="{A5D8904E-3702-462F-B87D-5526BD303504}" destId="{8C3E8B61-F5B2-4756-962D-CD3F128CA166}" srcOrd="4" destOrd="0" presId="urn:microsoft.com/office/officeart/2008/layout/LinedList"/>
    <dgm:cxn modelId="{33E1AEBE-5064-4C5A-AE29-FC87E0E68515}" type="presParOf" srcId="{A5D8904E-3702-462F-B87D-5526BD303504}" destId="{F2D6D360-6E3E-4D2A-B2C2-3BCC1CE1C16C}" srcOrd="5" destOrd="0" presId="urn:microsoft.com/office/officeart/2008/layout/LinedList"/>
    <dgm:cxn modelId="{0E9E1C74-4A0D-42EB-BE1D-C3E1AC95AD2C}" type="presParOf" srcId="{F2D6D360-6E3E-4D2A-B2C2-3BCC1CE1C16C}" destId="{401EE90D-A73F-442C-892F-968586C441E1}" srcOrd="0" destOrd="0" presId="urn:microsoft.com/office/officeart/2008/layout/LinedList"/>
    <dgm:cxn modelId="{EEABC654-82AF-4EED-92FA-51D183575859}" type="presParOf" srcId="{F2D6D360-6E3E-4D2A-B2C2-3BCC1CE1C16C}" destId="{7E877F29-2363-4414-AFAD-51B4BE5E2C86}" srcOrd="1" destOrd="0" presId="urn:microsoft.com/office/officeart/2008/layout/LinedList"/>
    <dgm:cxn modelId="{20065533-636A-439D-BCE5-F4D0E98D4DA8}" type="presParOf" srcId="{A5D8904E-3702-462F-B87D-5526BD303504}" destId="{FFCE7145-3FC2-4279-AA57-5AA7576D5AF7}" srcOrd="6" destOrd="0" presId="urn:microsoft.com/office/officeart/2008/layout/LinedList"/>
    <dgm:cxn modelId="{851B617A-C2B9-433F-8AA2-4C1C226673C3}" type="presParOf" srcId="{A5D8904E-3702-462F-B87D-5526BD303504}" destId="{F05A12E0-AA6A-4BEB-A3B6-6CDEFAA1DE83}" srcOrd="7" destOrd="0" presId="urn:microsoft.com/office/officeart/2008/layout/LinedList"/>
    <dgm:cxn modelId="{6F6987FA-25DE-40FD-BEE4-4ECCF9280D88}" type="presParOf" srcId="{F05A12E0-AA6A-4BEB-A3B6-6CDEFAA1DE83}" destId="{444C3965-C49A-4A77-B560-DEA566F011A8}" srcOrd="0" destOrd="0" presId="urn:microsoft.com/office/officeart/2008/layout/LinedList"/>
    <dgm:cxn modelId="{ACD6290A-EB8F-492E-A8AD-E94AFC0A5A08}" type="presParOf" srcId="{F05A12E0-AA6A-4BEB-A3B6-6CDEFAA1DE83}" destId="{998E36BA-3155-4593-997D-50ED22EE0263}" srcOrd="1" destOrd="0" presId="urn:microsoft.com/office/officeart/2008/layout/LinedList"/>
    <dgm:cxn modelId="{35B63F50-B404-407A-ABF4-314588F20F91}" type="presParOf" srcId="{A5D8904E-3702-462F-B87D-5526BD303504}" destId="{6FCF4B3B-1A89-4847-8B14-53C02B662191}" srcOrd="8" destOrd="0" presId="urn:microsoft.com/office/officeart/2008/layout/LinedList"/>
    <dgm:cxn modelId="{1A838CF8-711E-40CE-8D94-385A65A3CFAD}" type="presParOf" srcId="{A5D8904E-3702-462F-B87D-5526BD303504}" destId="{23936B9B-4251-4AB5-94D1-9D90975D971B}" srcOrd="9" destOrd="0" presId="urn:microsoft.com/office/officeart/2008/layout/LinedList"/>
    <dgm:cxn modelId="{C6CDF5C6-0E64-4EC3-BFE4-5EBD5F56BB04}" type="presParOf" srcId="{23936B9B-4251-4AB5-94D1-9D90975D971B}" destId="{0A81CB05-8B2E-4650-8D60-2832F1CD6EE7}" srcOrd="0" destOrd="0" presId="urn:microsoft.com/office/officeart/2008/layout/LinedList"/>
    <dgm:cxn modelId="{624DFA30-FB3B-47F0-899B-7EF3F7DF8E5C}" type="presParOf" srcId="{23936B9B-4251-4AB5-94D1-9D90975D971B}" destId="{3287BF42-263E-4223-8B85-D6FC2F1366D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1C547B-E04E-45FD-A0B5-EFB60F70FFD2}">
      <dsp:nvSpPr>
        <dsp:cNvPr id="0" name=""/>
        <dsp:cNvSpPr/>
      </dsp:nvSpPr>
      <dsp:spPr>
        <a:xfrm>
          <a:off x="625409" y="40818"/>
          <a:ext cx="1749937" cy="1749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76CFE4-E2A6-43E3-911C-AE2600E76088}">
      <dsp:nvSpPr>
        <dsp:cNvPr id="0" name=""/>
        <dsp:cNvSpPr/>
      </dsp:nvSpPr>
      <dsp:spPr>
        <a:xfrm>
          <a:off x="998346" y="413756"/>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EF28FF-9CA9-4285-86B4-800826DBD76F}">
      <dsp:nvSpPr>
        <dsp:cNvPr id="0" name=""/>
        <dsp:cNvSpPr/>
      </dsp:nvSpPr>
      <dsp:spPr>
        <a:xfrm>
          <a:off x="66003" y="2335819"/>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cap="all"/>
          </a:pPr>
          <a:r>
            <a:rPr lang="en-US" sz="3300" kern="1200"/>
            <a:t>Physical</a:t>
          </a:r>
        </a:p>
      </dsp:txBody>
      <dsp:txXfrm>
        <a:off x="66003" y="2335819"/>
        <a:ext cx="2868750" cy="720000"/>
      </dsp:txXfrm>
    </dsp:sp>
    <dsp:sp modelId="{42D9874B-CED9-44B0-909A-D8AD13D11387}">
      <dsp:nvSpPr>
        <dsp:cNvPr id="0" name=""/>
        <dsp:cNvSpPr/>
      </dsp:nvSpPr>
      <dsp:spPr>
        <a:xfrm>
          <a:off x="3996190" y="40818"/>
          <a:ext cx="1749937" cy="1749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B5AFCE-DDCE-40D5-BFB1-2C8F30C554A7}">
      <dsp:nvSpPr>
        <dsp:cNvPr id="0" name=""/>
        <dsp:cNvSpPr/>
      </dsp:nvSpPr>
      <dsp:spPr>
        <a:xfrm>
          <a:off x="4369128" y="413756"/>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1BDA73-BF32-4766-8A77-CCE0BB1BBB0C}">
      <dsp:nvSpPr>
        <dsp:cNvPr id="0" name=""/>
        <dsp:cNvSpPr/>
      </dsp:nvSpPr>
      <dsp:spPr>
        <a:xfrm>
          <a:off x="3436784" y="2335819"/>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cap="all"/>
          </a:pPr>
          <a:r>
            <a:rPr lang="en-US" sz="3300" kern="1200"/>
            <a:t>Cognitive</a:t>
          </a:r>
        </a:p>
      </dsp:txBody>
      <dsp:txXfrm>
        <a:off x="3436784" y="2335819"/>
        <a:ext cx="2868750" cy="720000"/>
      </dsp:txXfrm>
    </dsp:sp>
    <dsp:sp modelId="{AF9F0A7B-D16B-45C2-8145-FD01998FFE88}">
      <dsp:nvSpPr>
        <dsp:cNvPr id="0" name=""/>
        <dsp:cNvSpPr/>
      </dsp:nvSpPr>
      <dsp:spPr>
        <a:xfrm>
          <a:off x="7366972" y="40818"/>
          <a:ext cx="1749937" cy="174993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94952B-A506-481F-9FBC-CFE199E12A95}">
      <dsp:nvSpPr>
        <dsp:cNvPr id="0" name=""/>
        <dsp:cNvSpPr/>
      </dsp:nvSpPr>
      <dsp:spPr>
        <a:xfrm>
          <a:off x="7739909" y="413756"/>
          <a:ext cx="1004062" cy="10040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21D51D-4C95-4B5D-AF78-ED56BD6CBFF6}">
      <dsp:nvSpPr>
        <dsp:cNvPr id="0" name=""/>
        <dsp:cNvSpPr/>
      </dsp:nvSpPr>
      <dsp:spPr>
        <a:xfrm>
          <a:off x="6807565" y="2335819"/>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cap="all"/>
          </a:pPr>
          <a:r>
            <a:rPr lang="en-US" sz="3300" kern="1200" dirty="0"/>
            <a:t>Psychosocial</a:t>
          </a:r>
        </a:p>
      </dsp:txBody>
      <dsp:txXfrm>
        <a:off x="6807565" y="2335819"/>
        <a:ext cx="286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54D36-0D72-4EFC-BB6C-D0EF69BD054C}">
      <dsp:nvSpPr>
        <dsp:cNvPr id="0" name=""/>
        <dsp:cNvSpPr/>
      </dsp:nvSpPr>
      <dsp:spPr>
        <a:xfrm>
          <a:off x="0" y="518745"/>
          <a:ext cx="2817763" cy="1789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A8ADF8-8B01-4A82-82DE-277EB9D43D22}">
      <dsp:nvSpPr>
        <dsp:cNvPr id="0" name=""/>
        <dsp:cNvSpPr/>
      </dsp:nvSpPr>
      <dsp:spPr>
        <a:xfrm>
          <a:off x="313084" y="816176"/>
          <a:ext cx="2817763" cy="17892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Does everyone develop at the same rate?</a:t>
          </a:r>
        </a:p>
      </dsp:txBody>
      <dsp:txXfrm>
        <a:off x="365490" y="868582"/>
        <a:ext cx="2712951" cy="1684467"/>
      </dsp:txXfrm>
    </dsp:sp>
    <dsp:sp modelId="{AD9D9F8C-E9DE-4E26-B970-C6B6DED68EE8}">
      <dsp:nvSpPr>
        <dsp:cNvPr id="0" name=""/>
        <dsp:cNvSpPr/>
      </dsp:nvSpPr>
      <dsp:spPr>
        <a:xfrm>
          <a:off x="3443932" y="518745"/>
          <a:ext cx="2817763" cy="1789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733AC0-FC53-42FF-916B-D73F17856509}">
      <dsp:nvSpPr>
        <dsp:cNvPr id="0" name=""/>
        <dsp:cNvSpPr/>
      </dsp:nvSpPr>
      <dsp:spPr>
        <a:xfrm>
          <a:off x="3757017" y="816176"/>
          <a:ext cx="2817763" cy="17892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How does culture impact development?</a:t>
          </a:r>
        </a:p>
      </dsp:txBody>
      <dsp:txXfrm>
        <a:off x="3809423" y="868582"/>
        <a:ext cx="2712951" cy="1684467"/>
      </dsp:txXfrm>
    </dsp:sp>
    <dsp:sp modelId="{00B53266-5BD3-4728-A4BB-B39207808042}">
      <dsp:nvSpPr>
        <dsp:cNvPr id="0" name=""/>
        <dsp:cNvSpPr/>
      </dsp:nvSpPr>
      <dsp:spPr>
        <a:xfrm>
          <a:off x="6887865" y="518745"/>
          <a:ext cx="2817763" cy="1789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F6C47D-DBA5-4A65-89D3-779E4953636A}">
      <dsp:nvSpPr>
        <dsp:cNvPr id="0" name=""/>
        <dsp:cNvSpPr/>
      </dsp:nvSpPr>
      <dsp:spPr>
        <a:xfrm>
          <a:off x="7200949" y="816176"/>
          <a:ext cx="2817763" cy="17892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How do nature and nurture influence development? </a:t>
          </a:r>
        </a:p>
      </dsp:txBody>
      <dsp:txXfrm>
        <a:off x="7253355" y="868582"/>
        <a:ext cx="2712951" cy="16844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79FA1-B090-405C-865A-7439597C0F17}">
      <dsp:nvSpPr>
        <dsp:cNvPr id="0" name=""/>
        <dsp:cNvSpPr/>
      </dsp:nvSpPr>
      <dsp:spPr>
        <a:xfrm>
          <a:off x="754856" y="0"/>
          <a:ext cx="5239808" cy="5239808"/>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EEDEE3-AD56-4362-8628-A8C33A38A205}">
      <dsp:nvSpPr>
        <dsp:cNvPr id="0" name=""/>
        <dsp:cNvSpPr/>
      </dsp:nvSpPr>
      <dsp:spPr>
        <a:xfrm>
          <a:off x="1252638" y="497781"/>
          <a:ext cx="2043525" cy="20435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Secure attachment</a:t>
          </a:r>
        </a:p>
      </dsp:txBody>
      <dsp:txXfrm>
        <a:off x="1352395" y="597538"/>
        <a:ext cx="1844011" cy="1844011"/>
      </dsp:txXfrm>
    </dsp:sp>
    <dsp:sp modelId="{FD82A1A5-934B-4096-9FBB-6E6E60535609}">
      <dsp:nvSpPr>
        <dsp:cNvPr id="0" name=""/>
        <dsp:cNvSpPr/>
      </dsp:nvSpPr>
      <dsp:spPr>
        <a:xfrm>
          <a:off x="3453357" y="497781"/>
          <a:ext cx="2043525" cy="20435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Avoidant attachment</a:t>
          </a:r>
        </a:p>
      </dsp:txBody>
      <dsp:txXfrm>
        <a:off x="3553114" y="597538"/>
        <a:ext cx="1844011" cy="1844011"/>
      </dsp:txXfrm>
    </dsp:sp>
    <dsp:sp modelId="{3D19F922-040D-494B-AD9C-CB1EF907D77F}">
      <dsp:nvSpPr>
        <dsp:cNvPr id="0" name=""/>
        <dsp:cNvSpPr/>
      </dsp:nvSpPr>
      <dsp:spPr>
        <a:xfrm>
          <a:off x="1252638" y="2698501"/>
          <a:ext cx="2043525" cy="20435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Resistant attachment</a:t>
          </a:r>
        </a:p>
      </dsp:txBody>
      <dsp:txXfrm>
        <a:off x="1352395" y="2798258"/>
        <a:ext cx="1844011" cy="1844011"/>
      </dsp:txXfrm>
    </dsp:sp>
    <dsp:sp modelId="{35EC0EAD-DA3D-438C-8CD4-E5A1AA25F970}">
      <dsp:nvSpPr>
        <dsp:cNvPr id="0" name=""/>
        <dsp:cNvSpPr/>
      </dsp:nvSpPr>
      <dsp:spPr>
        <a:xfrm>
          <a:off x="3453357" y="2698501"/>
          <a:ext cx="2043525" cy="20435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Disorganized attachment </a:t>
          </a:r>
        </a:p>
      </dsp:txBody>
      <dsp:txXfrm>
        <a:off x="3553114" y="2798258"/>
        <a:ext cx="1844011" cy="18440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8EAD6F-1C49-4914-B4D7-4258B5354294}">
      <dsp:nvSpPr>
        <dsp:cNvPr id="0" name=""/>
        <dsp:cNvSpPr/>
      </dsp:nvSpPr>
      <dsp:spPr>
        <a:xfrm>
          <a:off x="2935" y="786105"/>
          <a:ext cx="2095711" cy="13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9986C5-64D8-40EA-B3BF-4C1459393192}">
      <dsp:nvSpPr>
        <dsp:cNvPr id="0" name=""/>
        <dsp:cNvSpPr/>
      </dsp:nvSpPr>
      <dsp:spPr>
        <a:xfrm>
          <a:off x="235791" y="1007319"/>
          <a:ext cx="2095711" cy="13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Authoritative style</a:t>
          </a:r>
        </a:p>
      </dsp:txBody>
      <dsp:txXfrm>
        <a:off x="274768" y="1046296"/>
        <a:ext cx="2017757" cy="1252822"/>
      </dsp:txXfrm>
    </dsp:sp>
    <dsp:sp modelId="{FFA26527-18CC-47B3-89AB-E21CAC2731BA}">
      <dsp:nvSpPr>
        <dsp:cNvPr id="0" name=""/>
        <dsp:cNvSpPr/>
      </dsp:nvSpPr>
      <dsp:spPr>
        <a:xfrm>
          <a:off x="2564360" y="786105"/>
          <a:ext cx="2095711" cy="13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6A0A52-45AF-4196-B43E-6F696E2AAF7A}">
      <dsp:nvSpPr>
        <dsp:cNvPr id="0" name=""/>
        <dsp:cNvSpPr/>
      </dsp:nvSpPr>
      <dsp:spPr>
        <a:xfrm>
          <a:off x="2797216" y="1007319"/>
          <a:ext cx="2095711" cy="13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Authoritarian style</a:t>
          </a:r>
        </a:p>
      </dsp:txBody>
      <dsp:txXfrm>
        <a:off x="2836193" y="1046296"/>
        <a:ext cx="2017757" cy="1252822"/>
      </dsp:txXfrm>
    </dsp:sp>
    <dsp:sp modelId="{5A201D57-E1DF-436D-99B8-8D845C3C858D}">
      <dsp:nvSpPr>
        <dsp:cNvPr id="0" name=""/>
        <dsp:cNvSpPr/>
      </dsp:nvSpPr>
      <dsp:spPr>
        <a:xfrm>
          <a:off x="5125784" y="786105"/>
          <a:ext cx="2095711" cy="13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7940A3-49A1-4005-A819-D5BDB2B4081F}">
      <dsp:nvSpPr>
        <dsp:cNvPr id="0" name=""/>
        <dsp:cNvSpPr/>
      </dsp:nvSpPr>
      <dsp:spPr>
        <a:xfrm>
          <a:off x="5358641" y="1007319"/>
          <a:ext cx="2095711" cy="13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Permissive style</a:t>
          </a:r>
        </a:p>
      </dsp:txBody>
      <dsp:txXfrm>
        <a:off x="5397618" y="1046296"/>
        <a:ext cx="2017757" cy="1252822"/>
      </dsp:txXfrm>
    </dsp:sp>
    <dsp:sp modelId="{0FF566C0-97AB-4DCB-810B-EC17B25E673F}">
      <dsp:nvSpPr>
        <dsp:cNvPr id="0" name=""/>
        <dsp:cNvSpPr/>
      </dsp:nvSpPr>
      <dsp:spPr>
        <a:xfrm>
          <a:off x="7687209" y="786105"/>
          <a:ext cx="2095711" cy="13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A6F0C9-6B6A-4A0A-A196-A5F2B0FA4A7A}">
      <dsp:nvSpPr>
        <dsp:cNvPr id="0" name=""/>
        <dsp:cNvSpPr/>
      </dsp:nvSpPr>
      <dsp:spPr>
        <a:xfrm>
          <a:off x="7920066" y="1007319"/>
          <a:ext cx="2095711" cy="13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Uninvolved style</a:t>
          </a:r>
        </a:p>
      </dsp:txBody>
      <dsp:txXfrm>
        <a:off x="7959043" y="1046296"/>
        <a:ext cx="2017757" cy="12528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758D2-206F-4265-8491-4C63A1B9AADD}">
      <dsp:nvSpPr>
        <dsp:cNvPr id="0" name=""/>
        <dsp:cNvSpPr/>
      </dsp:nvSpPr>
      <dsp:spPr>
        <a:xfrm>
          <a:off x="0" y="623"/>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509B9E-35D8-4D51-B1EC-00EF9BCBACF5}">
      <dsp:nvSpPr>
        <dsp:cNvPr id="0" name=""/>
        <dsp:cNvSpPr/>
      </dsp:nvSpPr>
      <dsp:spPr>
        <a:xfrm>
          <a:off x="0" y="623"/>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Hospice</a:t>
          </a:r>
        </a:p>
      </dsp:txBody>
      <dsp:txXfrm>
        <a:off x="0" y="623"/>
        <a:ext cx="6492875" cy="1020830"/>
      </dsp:txXfrm>
    </dsp:sp>
    <dsp:sp modelId="{08AE9646-9422-45DB-AE06-62329B2BA265}">
      <dsp:nvSpPr>
        <dsp:cNvPr id="0" name=""/>
        <dsp:cNvSpPr/>
      </dsp:nvSpPr>
      <dsp:spPr>
        <a:xfrm>
          <a:off x="0" y="1021453"/>
          <a:ext cx="6492875" cy="0"/>
        </a:xfrm>
        <a:prstGeom prst="line">
          <a:avLst/>
        </a:prstGeom>
        <a:solidFill>
          <a:schemeClr val="accent2">
            <a:hueOff val="-222635"/>
            <a:satOff val="-7259"/>
            <a:lumOff val="5343"/>
            <a:alphaOff val="0"/>
          </a:schemeClr>
        </a:solidFill>
        <a:ln w="12700" cap="flat" cmpd="sng" algn="ctr">
          <a:solidFill>
            <a:schemeClr val="accent2">
              <a:hueOff val="-222635"/>
              <a:satOff val="-7259"/>
              <a:lumOff val="53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FEB216-7152-4294-9FA5-67C9B08E03BF}">
      <dsp:nvSpPr>
        <dsp:cNvPr id="0" name=""/>
        <dsp:cNvSpPr/>
      </dsp:nvSpPr>
      <dsp:spPr>
        <a:xfrm>
          <a:off x="0" y="1021453"/>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Health care proxy</a:t>
          </a:r>
        </a:p>
      </dsp:txBody>
      <dsp:txXfrm>
        <a:off x="0" y="1021453"/>
        <a:ext cx="6492875" cy="1020830"/>
      </dsp:txXfrm>
    </dsp:sp>
    <dsp:sp modelId="{8C3E8B61-F5B2-4756-962D-CD3F128CA166}">
      <dsp:nvSpPr>
        <dsp:cNvPr id="0" name=""/>
        <dsp:cNvSpPr/>
      </dsp:nvSpPr>
      <dsp:spPr>
        <a:xfrm>
          <a:off x="0" y="2042284"/>
          <a:ext cx="6492875" cy="0"/>
        </a:xfrm>
        <a:prstGeom prst="line">
          <a:avLst/>
        </a:prstGeom>
        <a:solidFill>
          <a:schemeClr val="accent2">
            <a:hueOff val="-445269"/>
            <a:satOff val="-14518"/>
            <a:lumOff val="10686"/>
            <a:alphaOff val="0"/>
          </a:schemeClr>
        </a:solidFill>
        <a:ln w="12700" cap="flat" cmpd="sng" algn="ctr">
          <a:solidFill>
            <a:schemeClr val="accent2">
              <a:hueOff val="-445269"/>
              <a:satOff val="-14518"/>
              <a:lumOff val="106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1EE90D-A73F-442C-892F-968586C441E1}">
      <dsp:nvSpPr>
        <dsp:cNvPr id="0" name=""/>
        <dsp:cNvSpPr/>
      </dsp:nvSpPr>
      <dsp:spPr>
        <a:xfrm>
          <a:off x="0" y="2042284"/>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Power of attorney</a:t>
          </a:r>
          <a:endParaRPr lang="en-US" sz="3900" kern="1200" dirty="0"/>
        </a:p>
      </dsp:txBody>
      <dsp:txXfrm>
        <a:off x="0" y="2042284"/>
        <a:ext cx="6492875" cy="1020830"/>
      </dsp:txXfrm>
    </dsp:sp>
    <dsp:sp modelId="{FFCE7145-3FC2-4279-AA57-5AA7576D5AF7}">
      <dsp:nvSpPr>
        <dsp:cNvPr id="0" name=""/>
        <dsp:cNvSpPr/>
      </dsp:nvSpPr>
      <dsp:spPr>
        <a:xfrm>
          <a:off x="0" y="3063115"/>
          <a:ext cx="6492875" cy="0"/>
        </a:xfrm>
        <a:prstGeom prst="line">
          <a:avLst/>
        </a:prstGeom>
        <a:solidFill>
          <a:schemeClr val="accent2">
            <a:hueOff val="-667904"/>
            <a:satOff val="-21778"/>
            <a:lumOff val="16030"/>
            <a:alphaOff val="0"/>
          </a:schemeClr>
        </a:solidFill>
        <a:ln w="12700" cap="flat" cmpd="sng" algn="ctr">
          <a:solidFill>
            <a:schemeClr val="accent2">
              <a:hueOff val="-667904"/>
              <a:satOff val="-21778"/>
              <a:lumOff val="160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4C3965-C49A-4A77-B560-DEA566F011A8}">
      <dsp:nvSpPr>
        <dsp:cNvPr id="0" name=""/>
        <dsp:cNvSpPr/>
      </dsp:nvSpPr>
      <dsp:spPr>
        <a:xfrm>
          <a:off x="0" y="3063115"/>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Living will/ advanced directive</a:t>
          </a:r>
        </a:p>
      </dsp:txBody>
      <dsp:txXfrm>
        <a:off x="0" y="3063115"/>
        <a:ext cx="6492875" cy="1020830"/>
      </dsp:txXfrm>
    </dsp:sp>
    <dsp:sp modelId="{6FCF4B3B-1A89-4847-8B14-53C02B662191}">
      <dsp:nvSpPr>
        <dsp:cNvPr id="0" name=""/>
        <dsp:cNvSpPr/>
      </dsp:nvSpPr>
      <dsp:spPr>
        <a:xfrm>
          <a:off x="0" y="4083946"/>
          <a:ext cx="6492875" cy="0"/>
        </a:xfrm>
        <a:prstGeom prst="line">
          <a:avLst/>
        </a:prstGeom>
        <a:solidFill>
          <a:schemeClr val="accent2">
            <a:hueOff val="-890538"/>
            <a:satOff val="-29037"/>
            <a:lumOff val="21373"/>
            <a:alphaOff val="0"/>
          </a:schemeClr>
        </a:solidFill>
        <a:ln w="12700" cap="flat" cmpd="sng" algn="ctr">
          <a:solidFill>
            <a:schemeClr val="accent2">
              <a:hueOff val="-890538"/>
              <a:satOff val="-29037"/>
              <a:lumOff val="2137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81CB05-8B2E-4650-8D60-2832F1CD6EE7}">
      <dsp:nvSpPr>
        <dsp:cNvPr id="0" name=""/>
        <dsp:cNvSpPr/>
      </dsp:nvSpPr>
      <dsp:spPr>
        <a:xfrm>
          <a:off x="0" y="4083946"/>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Do Not Resuscitate Order</a:t>
          </a:r>
        </a:p>
      </dsp:txBody>
      <dsp:txXfrm>
        <a:off x="0" y="4083946"/>
        <a:ext cx="6492875" cy="102083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3/5/2026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3/5/2026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0202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41285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52739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5438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58348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1018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05324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45378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BB4DA-4753-9A5D-8E40-DE529462E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0122E-04FD-DB66-AE6E-4590DA5AC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35E30-0C8A-47BE-5E63-5E59118547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E87A4B-C202-C94B-8011-FB0A3028C009}"/>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42155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34061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14670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93832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65869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158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83838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75439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712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04888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81178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14183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91151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166967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63062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39EF8-C1A8-1F34-2655-2ECFC4D4E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7415A-6541-8491-9131-3CB516A39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299A9-8BB1-C849-4D92-8B8F250810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CE5C2-98EB-0121-9C9D-E608FBB8C876}"/>
              </a:ext>
            </a:extLst>
          </p:cNvPr>
          <p:cNvSpPr>
            <a:spLocks noGrp="1"/>
          </p:cNvSpPr>
          <p:nvPr>
            <p:ph type="sldNum" sz="quarter" idx="5"/>
          </p:nvPr>
        </p:nvSpPr>
        <p:spPr/>
        <p:txBody>
          <a:bodyPr/>
          <a:lstStyle/>
          <a:p>
            <a:endParaRPr lang="en-US" noProof="0" dirty="0"/>
          </a:p>
        </p:txBody>
      </p:sp>
    </p:spTree>
    <p:extLst>
      <p:ext uri="{BB962C8B-B14F-4D97-AF65-F5344CB8AC3E}">
        <p14:creationId xmlns:p14="http://schemas.microsoft.com/office/powerpoint/2010/main" val="838336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378340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EFF508-C7C0-4D0A-90CE-A724C7C27859}"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6824F9-E747-4CFD-82F3-86D454927835}" type="slidenum">
              <a:rPr lang="en-US" smtClean="0"/>
              <a:t>‹#›</a:t>
            </a:fld>
            <a:endParaRPr lang="en-US"/>
          </a:p>
        </p:txBody>
      </p:sp>
    </p:spTree>
    <p:extLst>
      <p:ext uri="{BB962C8B-B14F-4D97-AF65-F5344CB8AC3E}">
        <p14:creationId xmlns:p14="http://schemas.microsoft.com/office/powerpoint/2010/main" val="3769784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96400126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 id="2147483687" r:id="rId14"/>
    <p:sldLayoutId id="2147483688" r:id="rId15"/>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pxhere.com/id/photo/592171"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GE_lI86boUU?feature=oembed" TargetMode="External"/><Relationship Id="rId4" Type="http://schemas.openxmlformats.org/officeDocument/2006/relationships/image" Target="../media/image32.jpe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ideo" Target="https://www.youtube.com/embed/0vrdkzOnGgo?feature=oembed" TargetMode="External"/><Relationship Id="rId4" Type="http://schemas.openxmlformats.org/officeDocument/2006/relationships/image" Target="../media/image3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4.xml"/><Relationship Id="rId1" Type="http://schemas.openxmlformats.org/officeDocument/2006/relationships/slideLayout" Target="../slideLayouts/slideLayout15.xml"/><Relationship Id="rId5" Type="http://schemas.openxmlformats.org/officeDocument/2006/relationships/hyperlink" Target="https://ajsarts.com/2020/03/14/the-five-stages-of-grief/" TargetMode="External"/><Relationship Id="rId4" Type="http://schemas.openxmlformats.org/officeDocument/2006/relationships/image" Target="../media/image40.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6DCC-AE35-A8D4-597B-DAE7A10E143F}"/>
              </a:ext>
            </a:extLst>
          </p:cNvPr>
          <p:cNvSpPr>
            <a:spLocks noGrp="1"/>
          </p:cNvSpPr>
          <p:nvPr>
            <p:ph type="title"/>
          </p:nvPr>
        </p:nvSpPr>
        <p:spPr/>
        <p:txBody>
          <a:bodyPr/>
          <a:lstStyle/>
          <a:p>
            <a:r>
              <a:rPr lang="en-US" dirty="0"/>
              <a:t>Lifespan Development</a:t>
            </a:r>
          </a:p>
        </p:txBody>
      </p:sp>
      <p:sp>
        <p:nvSpPr>
          <p:cNvPr id="3" name="Text Placeholder 2">
            <a:extLst>
              <a:ext uri="{FF2B5EF4-FFF2-40B4-BE49-F238E27FC236}">
                <a16:creationId xmlns:a16="http://schemas.microsoft.com/office/drawing/2014/main" id="{5B00A2D9-55BE-07C5-5751-AD4B69190181}"/>
              </a:ext>
            </a:extLst>
          </p:cNvPr>
          <p:cNvSpPr>
            <a:spLocks noGrp="1"/>
          </p:cNvSpPr>
          <p:nvPr>
            <p:ph type="body" sz="quarter" idx="10"/>
          </p:nvPr>
        </p:nvSpPr>
        <p:spPr/>
        <p:txBody>
          <a:bodyPr/>
          <a:lstStyle/>
          <a:p>
            <a:r>
              <a:rPr lang="en-US" dirty="0"/>
              <a:t>Chapter 9</a:t>
            </a:r>
          </a:p>
        </p:txBody>
      </p:sp>
      <p:pic>
        <p:nvPicPr>
          <p:cNvPr id="10" name="Picture Placeholder 9">
            <a:extLst>
              <a:ext uri="{FF2B5EF4-FFF2-40B4-BE49-F238E27FC236}">
                <a16:creationId xmlns:a16="http://schemas.microsoft.com/office/drawing/2014/main" id="{9962538C-3B25-70F7-277B-56A6CFB6713F}"/>
              </a:ext>
              <a:ext uri="{C183D7F6-B498-43B3-948B-1728B52AA6E4}">
                <adec:decorative xmlns:adec="http://schemas.microsoft.com/office/drawing/2017/decorative" val="1"/>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19410" r="19410"/>
          <a:stretch>
            <a:fillRect/>
          </a:stretch>
        </p:blipFill>
        <p:spPr/>
      </p:pic>
    </p:spTree>
    <p:extLst>
      <p:ext uri="{BB962C8B-B14F-4D97-AF65-F5344CB8AC3E}">
        <p14:creationId xmlns:p14="http://schemas.microsoft.com/office/powerpoint/2010/main" val="4019898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5774-2A59-88B9-83D9-F90ECF42E58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7B6CDEA-EE7B-E5F5-2C9D-B16594F845DE}"/>
              </a:ext>
            </a:extLst>
          </p:cNvPr>
          <p:cNvSpPr>
            <a:spLocks noGrp="1"/>
          </p:cNvSpPr>
          <p:nvPr>
            <p:ph idx="1"/>
          </p:nvPr>
        </p:nvSpPr>
        <p:spPr/>
        <p:txBody>
          <a:bodyPr/>
          <a:lstStyle/>
          <a:p>
            <a:r>
              <a:rPr lang="en-US" dirty="0"/>
              <a:t>What is Lifespan Development?</a:t>
            </a:r>
          </a:p>
          <a:p>
            <a:r>
              <a:rPr lang="en-US" dirty="0"/>
              <a:t>Lifespan Theories</a:t>
            </a:r>
          </a:p>
          <a:p>
            <a:r>
              <a:rPr lang="en-US" dirty="0"/>
              <a:t>Stages of Development</a:t>
            </a:r>
          </a:p>
          <a:p>
            <a:r>
              <a:rPr lang="en-US" dirty="0"/>
              <a:t>Death and Dying</a:t>
            </a:r>
          </a:p>
        </p:txBody>
      </p:sp>
      <p:sp>
        <p:nvSpPr>
          <p:cNvPr id="4" name="Slide Number Placeholder 3">
            <a:extLst>
              <a:ext uri="{FF2B5EF4-FFF2-40B4-BE49-F238E27FC236}">
                <a16:creationId xmlns:a16="http://schemas.microsoft.com/office/drawing/2014/main" id="{0937694A-0676-0018-F0BE-E8EEEDA51521}"/>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154215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35DCC-5CC9-45E6-8205-DF96B75E0A56}"/>
              </a:ext>
            </a:extLst>
          </p:cNvPr>
          <p:cNvSpPr>
            <a:spLocks noGrp="1"/>
          </p:cNvSpPr>
          <p:nvPr>
            <p:ph type="title"/>
          </p:nvPr>
        </p:nvSpPr>
        <p:spPr>
          <a:xfrm>
            <a:off x="1760706" y="685800"/>
            <a:ext cx="9742318" cy="1752599"/>
          </a:xfrm>
        </p:spPr>
        <p:txBody>
          <a:bodyPr>
            <a:normAutofit/>
          </a:bodyPr>
          <a:lstStyle/>
          <a:p>
            <a:r>
              <a:rPr lang="en-US" dirty="0"/>
              <a:t>Developmental Domains</a:t>
            </a:r>
          </a:p>
        </p:txBody>
      </p:sp>
      <p:graphicFrame>
        <p:nvGraphicFramePr>
          <p:cNvPr id="5" name="Content Placeholder 2">
            <a:extLst>
              <a:ext uri="{FF2B5EF4-FFF2-40B4-BE49-F238E27FC236}">
                <a16:creationId xmlns:a16="http://schemas.microsoft.com/office/drawing/2014/main" id="{94DAC527-25D5-4497-A53F-6D36C5CE25AB}"/>
              </a:ext>
            </a:extLst>
          </p:cNvPr>
          <p:cNvGraphicFramePr>
            <a:graphicFrameLocks noGrp="1"/>
          </p:cNvGraphicFramePr>
          <p:nvPr>
            <p:ph idx="1"/>
            <p:extLst>
              <p:ext uri="{D42A27DB-BD31-4B8C-83A1-F6EECF244321}">
                <p14:modId xmlns:p14="http://schemas.microsoft.com/office/powerpoint/2010/main" val="263453327"/>
              </p:ext>
            </p:extLst>
          </p:nvPr>
        </p:nvGraphicFramePr>
        <p:xfrm>
          <a:off x="1760705" y="2694562"/>
          <a:ext cx="9742319" cy="309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731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43A292-50B2-7BB7-5E01-C318355043CD}"/>
              </a:ext>
            </a:extLst>
          </p:cNvPr>
          <p:cNvSpPr>
            <a:spLocks noGrp="1"/>
          </p:cNvSpPr>
          <p:nvPr>
            <p:ph type="title"/>
          </p:nvPr>
        </p:nvSpPr>
        <p:spPr>
          <a:xfrm>
            <a:off x="777240" y="365760"/>
            <a:ext cx="3794760" cy="3228466"/>
          </a:xfrm>
        </p:spPr>
        <p:txBody>
          <a:bodyPr/>
          <a:lstStyle/>
          <a:p>
            <a:r>
              <a:rPr lang="en-US" dirty="0"/>
              <a:t>Developmental Milestones</a:t>
            </a:r>
          </a:p>
        </p:txBody>
      </p:sp>
      <p:sp>
        <p:nvSpPr>
          <p:cNvPr id="4" name="Slide Number Placeholder 3">
            <a:extLst>
              <a:ext uri="{FF2B5EF4-FFF2-40B4-BE49-F238E27FC236}">
                <a16:creationId xmlns:a16="http://schemas.microsoft.com/office/drawing/2014/main" id="{565B6C70-DE7A-BDE2-14E2-3FF5CF9311DD}"/>
              </a:ext>
            </a:extLst>
          </p:cNvPr>
          <p:cNvSpPr>
            <a:spLocks noGrp="1"/>
          </p:cNvSpPr>
          <p:nvPr>
            <p:ph type="sldNum" sz="quarter" idx="12"/>
          </p:nvPr>
        </p:nvSpPr>
        <p:spPr/>
        <p:txBody>
          <a:bodyPr/>
          <a:lstStyle/>
          <a:p>
            <a:fld id="{CBD12358-51D2-46B3-9BDE-DF29528B9454}" type="slidenum">
              <a:rPr lang="en-US" smtClean="0"/>
              <a:t>4</a:t>
            </a:fld>
            <a:endParaRPr lang="en-US" dirty="0"/>
          </a:p>
        </p:txBody>
      </p:sp>
      <p:pic>
        <p:nvPicPr>
          <p:cNvPr id="14" name="Content Placeholder 13" descr="Timeline chart illustrating gross motor milestones from 6 weeks to 60 months, with color-coded sections for each age range. Key milestones include pushing up on tummy at 6 weeks, walking unaided by 12 months, running and climbing stairs by 24 months, and advanced skills like hopping and somersaults by 48 to 60 months.&#10;">
            <a:extLst>
              <a:ext uri="{FF2B5EF4-FFF2-40B4-BE49-F238E27FC236}">
                <a16:creationId xmlns:a16="http://schemas.microsoft.com/office/drawing/2014/main" id="{D07BEBC4-3F25-7F5C-0CAE-45B7D8CC1BB5}"/>
              </a:ext>
            </a:extLst>
          </p:cNvPr>
          <p:cNvPicPr>
            <a:picLocks noGrp="1" noChangeAspect="1"/>
          </p:cNvPicPr>
          <p:nvPr>
            <p:ph idx="13"/>
          </p:nvPr>
        </p:nvPicPr>
        <p:blipFill>
          <a:blip r:embed="rId3"/>
          <a:stretch>
            <a:fillRect/>
          </a:stretch>
        </p:blipFill>
        <p:spPr bwMode="auto">
          <a:xfrm>
            <a:off x="4738600" y="669258"/>
            <a:ext cx="6985637" cy="584993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97B564-6C87-81D7-D65E-B582C1491542}"/>
              </a:ext>
            </a:extLst>
          </p:cNvPr>
          <p:cNvSpPr txBox="1"/>
          <p:nvPr/>
        </p:nvSpPr>
        <p:spPr>
          <a:xfrm>
            <a:off x="570368" y="4291343"/>
            <a:ext cx="3521798" cy="1200329"/>
          </a:xfrm>
          <a:prstGeom prst="rect">
            <a:avLst/>
          </a:prstGeom>
          <a:noFill/>
        </p:spPr>
        <p:txBody>
          <a:bodyPr wrap="square" rtlCol="0">
            <a:spAutoFit/>
          </a:bodyPr>
          <a:lstStyle/>
          <a:p>
            <a:r>
              <a:rPr lang="en-US" sz="2400" dirty="0"/>
              <a:t>The </a:t>
            </a:r>
            <a:r>
              <a:rPr lang="en-US" sz="2400" b="1" u="sng" dirty="0"/>
              <a:t>normative approach</a:t>
            </a:r>
            <a:r>
              <a:rPr lang="en-US" sz="2400" dirty="0"/>
              <a:t>- </a:t>
            </a:r>
            <a:br>
              <a:rPr lang="en-US" sz="2400" dirty="0"/>
            </a:br>
            <a:r>
              <a:rPr lang="en-US" sz="2400" dirty="0"/>
              <a:t>“What is normal development?”</a:t>
            </a:r>
          </a:p>
        </p:txBody>
      </p:sp>
    </p:spTree>
    <p:extLst>
      <p:ext uri="{BB962C8B-B14F-4D97-AF65-F5344CB8AC3E}">
        <p14:creationId xmlns:p14="http://schemas.microsoft.com/office/powerpoint/2010/main" val="365001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A818-F02C-4FF3-80B0-2908CE25D974}"/>
              </a:ext>
            </a:extLst>
          </p:cNvPr>
          <p:cNvSpPr>
            <a:spLocks noGrp="1"/>
          </p:cNvSpPr>
          <p:nvPr>
            <p:ph type="title"/>
          </p:nvPr>
        </p:nvSpPr>
        <p:spPr>
          <a:xfrm>
            <a:off x="4089399" y="4078424"/>
            <a:ext cx="7413623" cy="1155427"/>
          </a:xfrm>
        </p:spPr>
        <p:txBody>
          <a:bodyPr vert="horz" lIns="91440" tIns="45720" rIns="91440" bIns="45720" rtlCol="0" anchor="b">
            <a:normAutofit/>
          </a:bodyPr>
          <a:lstStyle/>
          <a:p>
            <a:pPr algn="r"/>
            <a:r>
              <a:rPr lang="en-US" sz="6000"/>
              <a:t>How do we develop?</a:t>
            </a:r>
          </a:p>
        </p:txBody>
      </p:sp>
      <p:pic>
        <p:nvPicPr>
          <p:cNvPr id="1026" name="Picture 2" descr="Continuous and Discontinuous development are shown side by side using two separate pictures. The first picture is a triangle labeled “Continuous Development” which slopes upward from Infancy to Adulthood in a straight line. The second picture is 4 bars side by side labeled “Discontinuous Development” which get higher from Infancy to Adulthood. These bars resemble a staircase.">
            <a:extLst>
              <a:ext uri="{FF2B5EF4-FFF2-40B4-BE49-F238E27FC236}">
                <a16:creationId xmlns:a16="http://schemas.microsoft.com/office/drawing/2014/main" id="{C4DA56F8-1E04-44B3-B11D-F42D2C5E4FD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07261" y="872547"/>
            <a:ext cx="10452950" cy="284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047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92D08-3073-489C-9C48-96701CEE4110}"/>
              </a:ext>
            </a:extLst>
          </p:cNvPr>
          <p:cNvSpPr>
            <a:spLocks noGrp="1"/>
          </p:cNvSpPr>
          <p:nvPr>
            <p:ph type="title"/>
          </p:nvPr>
        </p:nvSpPr>
        <p:spPr>
          <a:xfrm>
            <a:off x="731881" y="902902"/>
            <a:ext cx="9344625" cy="1315197"/>
          </a:xfrm>
        </p:spPr>
        <p:txBody>
          <a:bodyPr/>
          <a:lstStyle/>
          <a:p>
            <a:r>
              <a:rPr lang="en-US" dirty="0"/>
              <a:t>Questions, Questions, Questions</a:t>
            </a:r>
          </a:p>
        </p:txBody>
      </p:sp>
      <p:graphicFrame>
        <p:nvGraphicFramePr>
          <p:cNvPr id="5" name="Content Placeholder 2">
            <a:extLst>
              <a:ext uri="{FF2B5EF4-FFF2-40B4-BE49-F238E27FC236}">
                <a16:creationId xmlns:a16="http://schemas.microsoft.com/office/drawing/2014/main" id="{6A149675-BB3A-4050-AEBD-232B7439A665}"/>
              </a:ext>
            </a:extLst>
          </p:cNvPr>
          <p:cNvGraphicFramePr>
            <a:graphicFrameLocks noGrp="1"/>
          </p:cNvGraphicFramePr>
          <p:nvPr>
            <p:ph idx="1"/>
            <p:extLst>
              <p:ext uri="{D42A27DB-BD31-4B8C-83A1-F6EECF244321}">
                <p14:modId xmlns:p14="http://schemas.microsoft.com/office/powerpoint/2010/main" val="522160410"/>
              </p:ext>
            </p:extLst>
          </p:nvPr>
        </p:nvGraphicFramePr>
        <p:xfrm>
          <a:off x="1484310" y="2666999"/>
          <a:ext cx="10018713" cy="3124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633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hotograph of a glowing light bulb suspended in a dimly lit, empty room with soft shadows. The bulb emits a warm light, contrasting with the cool blue-gray background, symbolizing ideas or innovation.&#10;&#10;AI-generated content may be incorrect.">
            <a:extLst>
              <a:ext uri="{FF2B5EF4-FFF2-40B4-BE49-F238E27FC236}">
                <a16:creationId xmlns:a16="http://schemas.microsoft.com/office/drawing/2014/main" id="{8E1BF422-EEC7-4443-87D1-9C335A949925}"/>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9091" t="11690" b="523"/>
          <a:stretch/>
        </p:blipFill>
        <p:spPr>
          <a:xfrm>
            <a:off x="20" y="10"/>
            <a:ext cx="12191980" cy="6857990"/>
          </a:xfrm>
          <a:prstGeom prst="rect">
            <a:avLst/>
          </a:prstGeom>
        </p:spPr>
      </p:pic>
      <p:sp>
        <p:nvSpPr>
          <p:cNvPr id="4" name="Title 3">
            <a:extLst>
              <a:ext uri="{FF2B5EF4-FFF2-40B4-BE49-F238E27FC236}">
                <a16:creationId xmlns:a16="http://schemas.microsoft.com/office/drawing/2014/main" id="{B2B22011-95E2-4B24-B2FD-AF780FA8776B}"/>
              </a:ext>
            </a:extLst>
          </p:cNvPr>
          <p:cNvSpPr>
            <a:spLocks noGrp="1"/>
          </p:cNvSpPr>
          <p:nvPr>
            <p:ph type="title"/>
          </p:nvPr>
        </p:nvSpPr>
        <p:spPr>
          <a:xfrm>
            <a:off x="685800" y="1634067"/>
            <a:ext cx="4080932" cy="3310468"/>
          </a:xfrm>
        </p:spPr>
        <p:txBody>
          <a:bodyPr vert="horz" lIns="91440" tIns="45720" rIns="91440" bIns="45720" rtlCol="0" anchor="b">
            <a:normAutofit/>
          </a:bodyPr>
          <a:lstStyle/>
          <a:p>
            <a:pPr algn="l"/>
            <a:r>
              <a:rPr lang="en-US" sz="5400">
                <a:solidFill>
                  <a:schemeClr val="bg1"/>
                </a:solidFill>
              </a:rPr>
              <a:t>Theory Time!</a:t>
            </a:r>
          </a:p>
        </p:txBody>
      </p:sp>
    </p:spTree>
    <p:extLst>
      <p:ext uri="{BB962C8B-B14F-4D97-AF65-F5344CB8AC3E}">
        <p14:creationId xmlns:p14="http://schemas.microsoft.com/office/powerpoint/2010/main" val="182766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91419-20EE-D5C9-F3C6-53854C322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F6580-6064-276A-07E7-7B65826E90F8}"/>
              </a:ext>
            </a:extLst>
          </p:cNvPr>
          <p:cNvSpPr>
            <a:spLocks noGrp="1"/>
          </p:cNvSpPr>
          <p:nvPr>
            <p:ph type="title"/>
          </p:nvPr>
        </p:nvSpPr>
        <p:spPr>
          <a:xfrm>
            <a:off x="7212739" y="646736"/>
            <a:ext cx="4553077" cy="2648726"/>
          </a:xfrm>
        </p:spPr>
        <p:txBody>
          <a:bodyPr vert="horz" lIns="91440" tIns="45720" rIns="91440" bIns="45720" rtlCol="0" anchor="b">
            <a:normAutofit/>
          </a:bodyPr>
          <a:lstStyle/>
          <a:p>
            <a:pPr algn="r">
              <a:lnSpc>
                <a:spcPct val="90000"/>
              </a:lnSpc>
            </a:pPr>
            <a:r>
              <a:rPr lang="en-US" sz="6000" dirty="0"/>
              <a:t>Psychosexual Theory of Development</a:t>
            </a:r>
          </a:p>
        </p:txBody>
      </p:sp>
      <p:sp>
        <p:nvSpPr>
          <p:cNvPr id="3" name="Content Placeholder 2">
            <a:extLst>
              <a:ext uri="{FF2B5EF4-FFF2-40B4-BE49-F238E27FC236}">
                <a16:creationId xmlns:a16="http://schemas.microsoft.com/office/drawing/2014/main" id="{4F3EC84C-3118-ABC7-6744-B762A039686C}"/>
              </a:ext>
            </a:extLst>
          </p:cNvPr>
          <p:cNvSpPr>
            <a:spLocks noGrp="1"/>
          </p:cNvSpPr>
          <p:nvPr>
            <p:ph idx="1"/>
          </p:nvPr>
        </p:nvSpPr>
        <p:spPr>
          <a:xfrm>
            <a:off x="9288856" y="3429000"/>
            <a:ext cx="1872437" cy="557626"/>
          </a:xfrm>
        </p:spPr>
        <p:txBody>
          <a:bodyPr vert="horz" lIns="91440" tIns="45720" rIns="91440" bIns="45720" rtlCol="0" anchor="t">
            <a:normAutofit fontScale="92500"/>
          </a:bodyPr>
          <a:lstStyle/>
          <a:p>
            <a:pPr marL="0" indent="0" algn="r">
              <a:buNone/>
            </a:pPr>
            <a:r>
              <a:rPr lang="en-US" sz="2100" dirty="0"/>
              <a:t>Sigmund Freud</a:t>
            </a:r>
          </a:p>
        </p:txBody>
      </p:sp>
      <p:graphicFrame>
        <p:nvGraphicFramePr>
          <p:cNvPr id="4" name="Content Placeholder 3">
            <a:extLst>
              <a:ext uri="{FF2B5EF4-FFF2-40B4-BE49-F238E27FC236}">
                <a16:creationId xmlns:a16="http://schemas.microsoft.com/office/drawing/2014/main" id="{03F59B63-EE4C-8A83-8475-503D8F723A17}"/>
              </a:ext>
            </a:extLst>
          </p:cNvPr>
          <p:cNvGraphicFramePr>
            <a:graphicFrameLocks/>
          </p:cNvGraphicFramePr>
          <p:nvPr>
            <p:extLst>
              <p:ext uri="{D42A27DB-BD31-4B8C-83A1-F6EECF244321}">
                <p14:modId xmlns:p14="http://schemas.microsoft.com/office/powerpoint/2010/main" val="1655935364"/>
              </p:ext>
            </p:extLst>
          </p:nvPr>
        </p:nvGraphicFramePr>
        <p:xfrm>
          <a:off x="613433" y="1587863"/>
          <a:ext cx="6375842" cy="4797526"/>
        </p:xfrm>
        <a:graphic>
          <a:graphicData uri="http://schemas.openxmlformats.org/drawingml/2006/table">
            <a:tbl>
              <a:tblPr firstRow="1" bandRow="1">
                <a:tableStyleId>{5C22544A-7EE6-4342-B048-85BDC9FD1C3A}</a:tableStyleId>
              </a:tblPr>
              <a:tblGrid>
                <a:gridCol w="1061257">
                  <a:extLst>
                    <a:ext uri="{9D8B030D-6E8A-4147-A177-3AD203B41FA5}">
                      <a16:colId xmlns:a16="http://schemas.microsoft.com/office/drawing/2014/main" val="13242109"/>
                    </a:ext>
                  </a:extLst>
                </a:gridCol>
                <a:gridCol w="1785540">
                  <a:extLst>
                    <a:ext uri="{9D8B030D-6E8A-4147-A177-3AD203B41FA5}">
                      <a16:colId xmlns:a16="http://schemas.microsoft.com/office/drawing/2014/main" val="3248351043"/>
                    </a:ext>
                  </a:extLst>
                </a:gridCol>
                <a:gridCol w="3529045">
                  <a:extLst>
                    <a:ext uri="{9D8B030D-6E8A-4147-A177-3AD203B41FA5}">
                      <a16:colId xmlns:a16="http://schemas.microsoft.com/office/drawing/2014/main" val="1568320638"/>
                    </a:ext>
                  </a:extLst>
                </a:gridCol>
              </a:tblGrid>
              <a:tr h="618027">
                <a:tc>
                  <a:txBody>
                    <a:bodyPr/>
                    <a:lstStyle/>
                    <a:p>
                      <a:pPr algn="l" fontAlgn="b"/>
                      <a:r>
                        <a:rPr lang="en-US" sz="1400" b="1">
                          <a:solidFill>
                            <a:schemeClr val="tx1">
                              <a:lumMod val="95000"/>
                              <a:lumOff val="5000"/>
                            </a:schemeClr>
                          </a:solidFill>
                          <a:effectLst/>
                        </a:rPr>
                        <a:t>Age (years)</a:t>
                      </a:r>
                    </a:p>
                  </a:txBody>
                  <a:tcPr marL="73570" marR="73570" marT="36784" marB="36784" anchor="b"/>
                </a:tc>
                <a:tc>
                  <a:txBody>
                    <a:bodyPr/>
                    <a:lstStyle/>
                    <a:p>
                      <a:pPr algn="l" fontAlgn="b"/>
                      <a:r>
                        <a:rPr lang="en-US" sz="1400" b="1">
                          <a:solidFill>
                            <a:schemeClr val="tx1">
                              <a:lumMod val="95000"/>
                              <a:lumOff val="5000"/>
                            </a:schemeClr>
                          </a:solidFill>
                          <a:effectLst/>
                        </a:rPr>
                        <a:t>Stage</a:t>
                      </a:r>
                    </a:p>
                  </a:txBody>
                  <a:tcPr marL="73570" marR="73570" marT="36784" marB="36784" anchor="b"/>
                </a:tc>
                <a:tc>
                  <a:txBody>
                    <a:bodyPr/>
                    <a:lstStyle/>
                    <a:p>
                      <a:pPr algn="l" fontAlgn="b"/>
                      <a:r>
                        <a:rPr lang="en-US" sz="1400" b="1" dirty="0">
                          <a:solidFill>
                            <a:schemeClr val="tx1">
                              <a:lumMod val="95000"/>
                              <a:lumOff val="5000"/>
                            </a:schemeClr>
                          </a:solidFill>
                          <a:effectLst/>
                        </a:rPr>
                        <a:t>Development Activities</a:t>
                      </a:r>
                    </a:p>
                  </a:txBody>
                  <a:tcPr marL="73570" marR="73570" marT="36784" marB="36784" anchor="b"/>
                </a:tc>
                <a:extLst>
                  <a:ext uri="{0D108BD9-81ED-4DB2-BD59-A6C34878D82A}">
                    <a16:rowId xmlns:a16="http://schemas.microsoft.com/office/drawing/2014/main" val="263134415"/>
                  </a:ext>
                </a:extLst>
              </a:tr>
              <a:tr h="865448">
                <a:tc>
                  <a:txBody>
                    <a:bodyPr/>
                    <a:lstStyle/>
                    <a:p>
                      <a:pPr fontAlgn="ctr"/>
                      <a:r>
                        <a:rPr lang="en-US" sz="1400" dirty="0">
                          <a:effectLst/>
                        </a:rPr>
                        <a:t>0–1</a:t>
                      </a:r>
                    </a:p>
                  </a:txBody>
                  <a:tcPr marL="73570" marR="73570" marT="36784" marB="36784" anchor="ctr"/>
                </a:tc>
                <a:tc>
                  <a:txBody>
                    <a:bodyPr/>
                    <a:lstStyle/>
                    <a:p>
                      <a:pPr fontAlgn="ctr"/>
                      <a:r>
                        <a:rPr lang="en-US" sz="1400" dirty="0">
                          <a:effectLst/>
                        </a:rPr>
                        <a:t>Oral stage</a:t>
                      </a:r>
                    </a:p>
                  </a:txBody>
                  <a:tcPr marL="73570" marR="73570" marT="36784" marB="36784" anchor="ctr"/>
                </a:tc>
                <a:tc>
                  <a:txBody>
                    <a:bodyPr/>
                    <a:lstStyle/>
                    <a:p>
                      <a:pPr fontAlgn="ctr"/>
                      <a:r>
                        <a:rPr lang="en-US" sz="1400" dirty="0">
                          <a:effectLst/>
                        </a:rPr>
                        <a:t>Children derive pleasure from oral activities, such as sucking and tasting</a:t>
                      </a:r>
                    </a:p>
                  </a:txBody>
                  <a:tcPr marL="73570" marR="73570" marT="36784" marB="36784" anchor="ctr"/>
                </a:tc>
                <a:extLst>
                  <a:ext uri="{0D108BD9-81ED-4DB2-BD59-A6C34878D82A}">
                    <a16:rowId xmlns:a16="http://schemas.microsoft.com/office/drawing/2014/main" val="34446766"/>
                  </a:ext>
                </a:extLst>
              </a:tr>
              <a:tr h="1112865">
                <a:tc>
                  <a:txBody>
                    <a:bodyPr/>
                    <a:lstStyle/>
                    <a:p>
                      <a:pPr fontAlgn="ctr"/>
                      <a:r>
                        <a:rPr lang="en-US" sz="1400" dirty="0">
                          <a:effectLst/>
                        </a:rPr>
                        <a:t>2–3</a:t>
                      </a:r>
                    </a:p>
                  </a:txBody>
                  <a:tcPr marL="73570" marR="73570" marT="36784" marB="36784" anchor="ctr"/>
                </a:tc>
                <a:tc>
                  <a:txBody>
                    <a:bodyPr/>
                    <a:lstStyle/>
                    <a:p>
                      <a:pPr fontAlgn="ctr"/>
                      <a:r>
                        <a:rPr lang="en-US" sz="1400" dirty="0">
                          <a:effectLst/>
                        </a:rPr>
                        <a:t>Anal stage</a:t>
                      </a:r>
                    </a:p>
                  </a:txBody>
                  <a:tcPr marL="73570" marR="73570" marT="36784" marB="36784" anchor="ctr"/>
                </a:tc>
                <a:tc>
                  <a:txBody>
                    <a:bodyPr/>
                    <a:lstStyle/>
                    <a:p>
                      <a:pPr fontAlgn="ctr"/>
                      <a:r>
                        <a:rPr lang="en-US" sz="1400" dirty="0">
                          <a:effectLst/>
                        </a:rPr>
                        <a:t>Children begin potty training</a:t>
                      </a:r>
                    </a:p>
                  </a:txBody>
                  <a:tcPr marL="73570" marR="73570" marT="36784" marB="36784" anchor="ctr"/>
                </a:tc>
                <a:extLst>
                  <a:ext uri="{0D108BD9-81ED-4DB2-BD59-A6C34878D82A}">
                    <a16:rowId xmlns:a16="http://schemas.microsoft.com/office/drawing/2014/main" val="3602372651"/>
                  </a:ext>
                </a:extLst>
              </a:tr>
              <a:tr h="865448">
                <a:tc>
                  <a:txBody>
                    <a:bodyPr/>
                    <a:lstStyle/>
                    <a:p>
                      <a:pPr fontAlgn="ctr"/>
                      <a:r>
                        <a:rPr lang="en-US" sz="1400" dirty="0">
                          <a:effectLst/>
                        </a:rPr>
                        <a:t>3-6</a:t>
                      </a:r>
                    </a:p>
                  </a:txBody>
                  <a:tcPr marL="73570" marR="73570" marT="36784" marB="36784" anchor="ctr"/>
                </a:tc>
                <a:tc>
                  <a:txBody>
                    <a:bodyPr/>
                    <a:lstStyle/>
                    <a:p>
                      <a:pPr fontAlgn="ctr"/>
                      <a:r>
                        <a:rPr lang="en-US" sz="1400" dirty="0">
                          <a:effectLst/>
                        </a:rPr>
                        <a:t>Phallic stage</a:t>
                      </a:r>
                    </a:p>
                  </a:txBody>
                  <a:tcPr marL="73570" marR="73570" marT="36784" marB="36784" anchor="ctr"/>
                </a:tc>
                <a:tc>
                  <a:txBody>
                    <a:bodyPr/>
                    <a:lstStyle/>
                    <a:p>
                      <a:pPr fontAlgn="ctr"/>
                      <a:r>
                        <a:rPr lang="en-US" sz="1400" dirty="0">
                          <a:effectLst/>
                        </a:rPr>
                        <a:t>Boys are more attracted to their mother, girls are more attracted to their father</a:t>
                      </a:r>
                    </a:p>
                  </a:txBody>
                  <a:tcPr marL="73570" marR="73570" marT="36784" marB="36784" anchor="ctr"/>
                </a:tc>
                <a:extLst>
                  <a:ext uri="{0D108BD9-81ED-4DB2-BD59-A6C34878D82A}">
                    <a16:rowId xmlns:a16="http://schemas.microsoft.com/office/drawing/2014/main" val="3049859867"/>
                  </a:ext>
                </a:extLst>
              </a:tr>
              <a:tr h="717711">
                <a:tc>
                  <a:txBody>
                    <a:bodyPr/>
                    <a:lstStyle/>
                    <a:p>
                      <a:pPr fontAlgn="ctr"/>
                      <a:r>
                        <a:rPr lang="en-US" sz="1400" dirty="0">
                          <a:effectLst/>
                        </a:rPr>
                        <a:t>6-puberty</a:t>
                      </a:r>
                    </a:p>
                  </a:txBody>
                  <a:tcPr marL="73570" marR="73570" marT="36784" marB="36784" anchor="ctr"/>
                </a:tc>
                <a:tc>
                  <a:txBody>
                    <a:bodyPr/>
                    <a:lstStyle/>
                    <a:p>
                      <a:pPr fontAlgn="ctr"/>
                      <a:r>
                        <a:rPr lang="en-US" sz="1400" dirty="0">
                          <a:effectLst/>
                        </a:rPr>
                        <a:t>Latency stage</a:t>
                      </a:r>
                    </a:p>
                  </a:txBody>
                  <a:tcPr marL="73570" marR="73570" marT="36784" marB="36784" anchor="ctr"/>
                </a:tc>
                <a:tc>
                  <a:txBody>
                    <a:bodyPr/>
                    <a:lstStyle/>
                    <a:p>
                      <a:pPr fontAlgn="ctr"/>
                      <a:r>
                        <a:rPr lang="en-US" sz="1400" dirty="0">
                          <a:effectLst/>
                        </a:rPr>
                        <a:t>Children spend most of their time with same sex peers (minimal sexual development)</a:t>
                      </a:r>
                    </a:p>
                  </a:txBody>
                  <a:tcPr marL="73570" marR="73570" marT="36784" marB="36784" anchor="ctr"/>
                </a:tc>
                <a:extLst>
                  <a:ext uri="{0D108BD9-81ED-4DB2-BD59-A6C34878D82A}">
                    <a16:rowId xmlns:a16="http://schemas.microsoft.com/office/drawing/2014/main" val="1788111691"/>
                  </a:ext>
                </a:extLst>
              </a:tr>
              <a:tr h="618027">
                <a:tc>
                  <a:txBody>
                    <a:bodyPr/>
                    <a:lstStyle/>
                    <a:p>
                      <a:pPr fontAlgn="ctr"/>
                      <a:r>
                        <a:rPr lang="en-US" sz="1400" dirty="0">
                          <a:effectLst/>
                        </a:rPr>
                        <a:t>Beyond puberty</a:t>
                      </a:r>
                    </a:p>
                  </a:txBody>
                  <a:tcPr marL="73570" marR="73570" marT="36784" marB="36784" anchor="ctr"/>
                </a:tc>
                <a:tc>
                  <a:txBody>
                    <a:bodyPr/>
                    <a:lstStyle/>
                    <a:p>
                      <a:pPr fontAlgn="ctr"/>
                      <a:r>
                        <a:rPr lang="en-US" sz="1400" dirty="0">
                          <a:effectLst/>
                        </a:rPr>
                        <a:t>Genital stage</a:t>
                      </a:r>
                    </a:p>
                  </a:txBody>
                  <a:tcPr marL="73570" marR="73570" marT="36784" marB="36784" anchor="ctr"/>
                </a:tc>
                <a:tc>
                  <a:txBody>
                    <a:bodyPr/>
                    <a:lstStyle/>
                    <a:p>
                      <a:pPr fontAlgn="ctr"/>
                      <a:r>
                        <a:rPr lang="en-US" sz="1400" dirty="0">
                          <a:effectLst/>
                        </a:rPr>
                        <a:t>Individuals are attracted to opposite sex partners</a:t>
                      </a:r>
                    </a:p>
                  </a:txBody>
                  <a:tcPr marL="73570" marR="73570" marT="36784" marB="36784" anchor="ctr"/>
                </a:tc>
                <a:extLst>
                  <a:ext uri="{0D108BD9-81ED-4DB2-BD59-A6C34878D82A}">
                    <a16:rowId xmlns:a16="http://schemas.microsoft.com/office/drawing/2014/main" val="2036593317"/>
                  </a:ext>
                </a:extLst>
              </a:tr>
            </a:tbl>
          </a:graphicData>
        </a:graphic>
      </p:graphicFrame>
    </p:spTree>
    <p:extLst>
      <p:ext uri="{BB962C8B-B14F-4D97-AF65-F5344CB8AC3E}">
        <p14:creationId xmlns:p14="http://schemas.microsoft.com/office/powerpoint/2010/main" val="4166300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B2212-6B3B-4A1A-956C-90DEA5023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CCE4C-67DE-4AFC-D28F-6C623ED0A781}"/>
              </a:ext>
            </a:extLst>
          </p:cNvPr>
          <p:cNvSpPr>
            <a:spLocks noGrp="1"/>
          </p:cNvSpPr>
          <p:nvPr>
            <p:ph type="title"/>
          </p:nvPr>
        </p:nvSpPr>
        <p:spPr>
          <a:xfrm>
            <a:off x="7460055" y="812801"/>
            <a:ext cx="4605196" cy="2616199"/>
          </a:xfrm>
        </p:spPr>
        <p:txBody>
          <a:bodyPr vert="horz" lIns="91440" tIns="45720" rIns="91440" bIns="45720" rtlCol="0" anchor="b">
            <a:normAutofit/>
          </a:bodyPr>
          <a:lstStyle/>
          <a:p>
            <a:pPr algn="r">
              <a:lnSpc>
                <a:spcPct val="90000"/>
              </a:lnSpc>
            </a:pPr>
            <a:r>
              <a:rPr lang="en-US" sz="6000" dirty="0"/>
              <a:t>Psychosocial Theory of Development</a:t>
            </a:r>
          </a:p>
        </p:txBody>
      </p:sp>
      <p:sp>
        <p:nvSpPr>
          <p:cNvPr id="3" name="Content Placeholder 2">
            <a:extLst>
              <a:ext uri="{FF2B5EF4-FFF2-40B4-BE49-F238E27FC236}">
                <a16:creationId xmlns:a16="http://schemas.microsoft.com/office/drawing/2014/main" id="{EA380AC6-9D67-C752-0227-D35DE9417B9C}"/>
              </a:ext>
            </a:extLst>
          </p:cNvPr>
          <p:cNvSpPr>
            <a:spLocks noGrp="1"/>
          </p:cNvSpPr>
          <p:nvPr>
            <p:ph idx="1"/>
          </p:nvPr>
        </p:nvSpPr>
        <p:spPr>
          <a:xfrm>
            <a:off x="9198321" y="3652236"/>
            <a:ext cx="1700422" cy="584786"/>
          </a:xfrm>
        </p:spPr>
        <p:txBody>
          <a:bodyPr vert="horz" lIns="91440" tIns="45720" rIns="91440" bIns="45720" rtlCol="0" anchor="t">
            <a:normAutofit/>
          </a:bodyPr>
          <a:lstStyle/>
          <a:p>
            <a:pPr marL="0" indent="0" algn="r">
              <a:buNone/>
            </a:pPr>
            <a:r>
              <a:rPr lang="en-US" sz="2100"/>
              <a:t>Erik Erikson</a:t>
            </a:r>
          </a:p>
        </p:txBody>
      </p:sp>
      <p:graphicFrame>
        <p:nvGraphicFramePr>
          <p:cNvPr id="5" name="Content Placeholder 4">
            <a:extLst>
              <a:ext uri="{FF2B5EF4-FFF2-40B4-BE49-F238E27FC236}">
                <a16:creationId xmlns:a16="http://schemas.microsoft.com/office/drawing/2014/main" id="{33A31608-0988-C081-E868-91A2160094FB}"/>
              </a:ext>
            </a:extLst>
          </p:cNvPr>
          <p:cNvGraphicFramePr>
            <a:graphicFrameLocks/>
          </p:cNvGraphicFramePr>
          <p:nvPr/>
        </p:nvGraphicFramePr>
        <p:xfrm>
          <a:off x="505668" y="1256407"/>
          <a:ext cx="6954387" cy="5053858"/>
        </p:xfrm>
        <a:graphic>
          <a:graphicData uri="http://schemas.openxmlformats.org/drawingml/2006/table">
            <a:tbl>
              <a:tblPr firstRow="1" bandRow="1">
                <a:tableStyleId>{B301B821-A1FF-4177-AEE7-76D212191A09}</a:tableStyleId>
              </a:tblPr>
              <a:tblGrid>
                <a:gridCol w="661122">
                  <a:extLst>
                    <a:ext uri="{9D8B030D-6E8A-4147-A177-3AD203B41FA5}">
                      <a16:colId xmlns:a16="http://schemas.microsoft.com/office/drawing/2014/main" val="2222783393"/>
                    </a:ext>
                  </a:extLst>
                </a:gridCol>
                <a:gridCol w="753222">
                  <a:extLst>
                    <a:ext uri="{9D8B030D-6E8A-4147-A177-3AD203B41FA5}">
                      <a16:colId xmlns:a16="http://schemas.microsoft.com/office/drawing/2014/main" val="2990423124"/>
                    </a:ext>
                  </a:extLst>
                </a:gridCol>
                <a:gridCol w="1479563">
                  <a:extLst>
                    <a:ext uri="{9D8B030D-6E8A-4147-A177-3AD203B41FA5}">
                      <a16:colId xmlns:a16="http://schemas.microsoft.com/office/drawing/2014/main" val="1616853936"/>
                    </a:ext>
                  </a:extLst>
                </a:gridCol>
                <a:gridCol w="4060480">
                  <a:extLst>
                    <a:ext uri="{9D8B030D-6E8A-4147-A177-3AD203B41FA5}">
                      <a16:colId xmlns:a16="http://schemas.microsoft.com/office/drawing/2014/main" val="1873652621"/>
                    </a:ext>
                  </a:extLst>
                </a:gridCol>
              </a:tblGrid>
              <a:tr h="543204">
                <a:tc>
                  <a:txBody>
                    <a:bodyPr/>
                    <a:lstStyle/>
                    <a:p>
                      <a:pPr algn="l" fontAlgn="b"/>
                      <a:r>
                        <a:rPr lang="en-US" sz="1400" b="1">
                          <a:solidFill>
                            <a:schemeClr val="tx1">
                              <a:lumMod val="95000"/>
                              <a:lumOff val="5000"/>
                            </a:schemeClr>
                          </a:solidFill>
                          <a:effectLst/>
                        </a:rPr>
                        <a:t>Stage</a:t>
                      </a:r>
                    </a:p>
                  </a:txBody>
                  <a:tcPr marL="31404" marR="31404" marT="15701" marB="15701" anchor="b"/>
                </a:tc>
                <a:tc>
                  <a:txBody>
                    <a:bodyPr/>
                    <a:lstStyle/>
                    <a:p>
                      <a:pPr algn="l" fontAlgn="b"/>
                      <a:r>
                        <a:rPr lang="en-US" sz="1400" b="1">
                          <a:solidFill>
                            <a:schemeClr val="tx1">
                              <a:lumMod val="95000"/>
                              <a:lumOff val="5000"/>
                            </a:schemeClr>
                          </a:solidFill>
                          <a:effectLst/>
                        </a:rPr>
                        <a:t>Age (years)</a:t>
                      </a:r>
                    </a:p>
                  </a:txBody>
                  <a:tcPr marL="31404" marR="31404" marT="15701" marB="15701" anchor="b"/>
                </a:tc>
                <a:tc>
                  <a:txBody>
                    <a:bodyPr/>
                    <a:lstStyle/>
                    <a:p>
                      <a:pPr algn="l" fontAlgn="b"/>
                      <a:r>
                        <a:rPr lang="en-US" sz="1400" b="1" dirty="0">
                          <a:solidFill>
                            <a:schemeClr val="tx1">
                              <a:lumMod val="95000"/>
                              <a:lumOff val="5000"/>
                            </a:schemeClr>
                          </a:solidFill>
                          <a:effectLst/>
                        </a:rPr>
                        <a:t>Developmental Task</a:t>
                      </a:r>
                    </a:p>
                  </a:txBody>
                  <a:tcPr marL="31404" marR="31404" marT="15701" marB="15701" anchor="b"/>
                </a:tc>
                <a:tc>
                  <a:txBody>
                    <a:bodyPr/>
                    <a:lstStyle/>
                    <a:p>
                      <a:pPr algn="l" fontAlgn="b"/>
                      <a:r>
                        <a:rPr lang="en-US" sz="1400" b="1" dirty="0">
                          <a:solidFill>
                            <a:schemeClr val="tx1">
                              <a:lumMod val="95000"/>
                              <a:lumOff val="5000"/>
                            </a:schemeClr>
                          </a:solidFill>
                          <a:effectLst/>
                        </a:rPr>
                        <a:t>Description</a:t>
                      </a:r>
                    </a:p>
                  </a:txBody>
                  <a:tcPr marL="31404" marR="31404" marT="15701" marB="15701" anchor="b"/>
                </a:tc>
                <a:extLst>
                  <a:ext uri="{0D108BD9-81ED-4DB2-BD59-A6C34878D82A}">
                    <a16:rowId xmlns:a16="http://schemas.microsoft.com/office/drawing/2014/main" val="3960385593"/>
                  </a:ext>
                </a:extLst>
              </a:tr>
              <a:tr h="543204">
                <a:tc>
                  <a:txBody>
                    <a:bodyPr/>
                    <a:lstStyle/>
                    <a:p>
                      <a:pPr fontAlgn="ctr"/>
                      <a:r>
                        <a:rPr lang="en-US" sz="1400">
                          <a:effectLst/>
                        </a:rPr>
                        <a:t>1</a:t>
                      </a:r>
                    </a:p>
                  </a:txBody>
                  <a:tcPr marL="31404" marR="31404" marT="15701" marB="15701" anchor="ctr"/>
                </a:tc>
                <a:tc>
                  <a:txBody>
                    <a:bodyPr/>
                    <a:lstStyle/>
                    <a:p>
                      <a:pPr fontAlgn="ctr"/>
                      <a:r>
                        <a:rPr lang="en-US" sz="1400">
                          <a:effectLst/>
                        </a:rPr>
                        <a:t>0–1</a:t>
                      </a:r>
                    </a:p>
                  </a:txBody>
                  <a:tcPr marL="31404" marR="31404" marT="15701" marB="15701" anchor="ctr"/>
                </a:tc>
                <a:tc>
                  <a:txBody>
                    <a:bodyPr/>
                    <a:lstStyle/>
                    <a:p>
                      <a:pPr fontAlgn="ctr"/>
                      <a:r>
                        <a:rPr lang="en-US" sz="1400">
                          <a:effectLst/>
                        </a:rPr>
                        <a:t>Trust vs. mistrust</a:t>
                      </a:r>
                    </a:p>
                  </a:txBody>
                  <a:tcPr marL="31404" marR="31404" marT="15701" marB="15701" anchor="ctr"/>
                </a:tc>
                <a:tc>
                  <a:txBody>
                    <a:bodyPr/>
                    <a:lstStyle/>
                    <a:p>
                      <a:pPr fontAlgn="ctr"/>
                      <a:r>
                        <a:rPr lang="en-US" sz="1400">
                          <a:effectLst/>
                        </a:rPr>
                        <a:t>Trust (or mistrust) that basic needs, such as nourishment and affection, will be met</a:t>
                      </a:r>
                    </a:p>
                  </a:txBody>
                  <a:tcPr marL="31404" marR="31404" marT="15701" marB="15701" anchor="ctr"/>
                </a:tc>
                <a:extLst>
                  <a:ext uri="{0D108BD9-81ED-4DB2-BD59-A6C34878D82A}">
                    <a16:rowId xmlns:a16="http://schemas.microsoft.com/office/drawing/2014/main" val="4288221691"/>
                  </a:ext>
                </a:extLst>
              </a:tr>
              <a:tr h="543204">
                <a:tc>
                  <a:txBody>
                    <a:bodyPr/>
                    <a:lstStyle/>
                    <a:p>
                      <a:pPr fontAlgn="ctr"/>
                      <a:r>
                        <a:rPr lang="en-US" sz="1400">
                          <a:effectLst/>
                        </a:rPr>
                        <a:t>2</a:t>
                      </a:r>
                    </a:p>
                  </a:txBody>
                  <a:tcPr marL="31404" marR="31404" marT="15701" marB="15701" anchor="ctr"/>
                </a:tc>
                <a:tc>
                  <a:txBody>
                    <a:bodyPr/>
                    <a:lstStyle/>
                    <a:p>
                      <a:pPr fontAlgn="ctr"/>
                      <a:r>
                        <a:rPr lang="en-US" sz="1400">
                          <a:effectLst/>
                        </a:rPr>
                        <a:t>1–3</a:t>
                      </a:r>
                    </a:p>
                  </a:txBody>
                  <a:tcPr marL="31404" marR="31404" marT="15701" marB="15701" anchor="ctr"/>
                </a:tc>
                <a:tc>
                  <a:txBody>
                    <a:bodyPr/>
                    <a:lstStyle/>
                    <a:p>
                      <a:pPr fontAlgn="ctr"/>
                      <a:r>
                        <a:rPr lang="en-US" sz="1400">
                          <a:effectLst/>
                        </a:rPr>
                        <a:t>Autonomy vs. shame/doubt</a:t>
                      </a:r>
                    </a:p>
                  </a:txBody>
                  <a:tcPr marL="31404" marR="31404" marT="15701" marB="15701" anchor="ctr"/>
                </a:tc>
                <a:tc>
                  <a:txBody>
                    <a:bodyPr/>
                    <a:lstStyle/>
                    <a:p>
                      <a:pPr fontAlgn="ctr"/>
                      <a:r>
                        <a:rPr lang="en-US" sz="1400">
                          <a:effectLst/>
                        </a:rPr>
                        <a:t>Develop a sense of independence in many tasks</a:t>
                      </a:r>
                    </a:p>
                  </a:txBody>
                  <a:tcPr marL="31404" marR="31404" marT="15701" marB="15701" anchor="ctr"/>
                </a:tc>
                <a:extLst>
                  <a:ext uri="{0D108BD9-81ED-4DB2-BD59-A6C34878D82A}">
                    <a16:rowId xmlns:a16="http://schemas.microsoft.com/office/drawing/2014/main" val="1481030005"/>
                  </a:ext>
                </a:extLst>
              </a:tr>
              <a:tr h="708226">
                <a:tc>
                  <a:txBody>
                    <a:bodyPr/>
                    <a:lstStyle/>
                    <a:p>
                      <a:pPr fontAlgn="ctr"/>
                      <a:r>
                        <a:rPr lang="en-US" sz="1400">
                          <a:effectLst/>
                        </a:rPr>
                        <a:t>3</a:t>
                      </a:r>
                    </a:p>
                  </a:txBody>
                  <a:tcPr marL="31404" marR="31404" marT="15701" marB="15701" anchor="ctr"/>
                </a:tc>
                <a:tc>
                  <a:txBody>
                    <a:bodyPr/>
                    <a:lstStyle/>
                    <a:p>
                      <a:pPr fontAlgn="ctr"/>
                      <a:r>
                        <a:rPr lang="en-US" sz="1400">
                          <a:effectLst/>
                        </a:rPr>
                        <a:t>3–6</a:t>
                      </a:r>
                    </a:p>
                  </a:txBody>
                  <a:tcPr marL="31404" marR="31404" marT="15701" marB="15701" anchor="ctr"/>
                </a:tc>
                <a:tc>
                  <a:txBody>
                    <a:bodyPr/>
                    <a:lstStyle/>
                    <a:p>
                      <a:pPr fontAlgn="ctr"/>
                      <a:r>
                        <a:rPr lang="en-US" sz="1400">
                          <a:effectLst/>
                        </a:rPr>
                        <a:t>Initiative vs. guilt</a:t>
                      </a:r>
                    </a:p>
                  </a:txBody>
                  <a:tcPr marL="31404" marR="31404" marT="15701" marB="15701" anchor="ctr"/>
                </a:tc>
                <a:tc>
                  <a:txBody>
                    <a:bodyPr/>
                    <a:lstStyle/>
                    <a:p>
                      <a:pPr fontAlgn="ctr"/>
                      <a:r>
                        <a:rPr lang="en-US" sz="1400" dirty="0">
                          <a:effectLst/>
                        </a:rPr>
                        <a:t>Take initiative on some activities—may develop guilt when unsuccessful or boundaries overstepped</a:t>
                      </a:r>
                    </a:p>
                  </a:txBody>
                  <a:tcPr marL="31404" marR="31404" marT="15701" marB="15701" anchor="ctr"/>
                </a:tc>
                <a:extLst>
                  <a:ext uri="{0D108BD9-81ED-4DB2-BD59-A6C34878D82A}">
                    <a16:rowId xmlns:a16="http://schemas.microsoft.com/office/drawing/2014/main" val="3671648681"/>
                  </a:ext>
                </a:extLst>
              </a:tr>
              <a:tr h="543204">
                <a:tc>
                  <a:txBody>
                    <a:bodyPr/>
                    <a:lstStyle/>
                    <a:p>
                      <a:pPr fontAlgn="ctr"/>
                      <a:r>
                        <a:rPr lang="en-US" sz="1400">
                          <a:effectLst/>
                        </a:rPr>
                        <a:t>4</a:t>
                      </a:r>
                    </a:p>
                  </a:txBody>
                  <a:tcPr marL="31404" marR="31404" marT="15701" marB="15701" anchor="ctr"/>
                </a:tc>
                <a:tc>
                  <a:txBody>
                    <a:bodyPr/>
                    <a:lstStyle/>
                    <a:p>
                      <a:pPr fontAlgn="ctr"/>
                      <a:r>
                        <a:rPr lang="en-US" sz="1400">
                          <a:effectLst/>
                        </a:rPr>
                        <a:t>7–11</a:t>
                      </a:r>
                    </a:p>
                  </a:txBody>
                  <a:tcPr marL="31404" marR="31404" marT="15701" marB="15701" anchor="ctr"/>
                </a:tc>
                <a:tc>
                  <a:txBody>
                    <a:bodyPr/>
                    <a:lstStyle/>
                    <a:p>
                      <a:pPr fontAlgn="ctr"/>
                      <a:r>
                        <a:rPr lang="en-US" sz="1400">
                          <a:effectLst/>
                        </a:rPr>
                        <a:t>Industry vs. inferiority</a:t>
                      </a:r>
                    </a:p>
                  </a:txBody>
                  <a:tcPr marL="31404" marR="31404" marT="15701" marB="15701" anchor="ctr"/>
                </a:tc>
                <a:tc>
                  <a:txBody>
                    <a:bodyPr/>
                    <a:lstStyle/>
                    <a:p>
                      <a:pPr fontAlgn="ctr"/>
                      <a:r>
                        <a:rPr lang="en-US" sz="1400">
                          <a:effectLst/>
                        </a:rPr>
                        <a:t>Develop self-confidence in abilities when competent or sense of inferiority when not</a:t>
                      </a:r>
                    </a:p>
                  </a:txBody>
                  <a:tcPr marL="31404" marR="31404" marT="15701" marB="15701" anchor="ctr"/>
                </a:tc>
                <a:extLst>
                  <a:ext uri="{0D108BD9-81ED-4DB2-BD59-A6C34878D82A}">
                    <a16:rowId xmlns:a16="http://schemas.microsoft.com/office/drawing/2014/main" val="3208406795"/>
                  </a:ext>
                </a:extLst>
              </a:tr>
              <a:tr h="543204">
                <a:tc>
                  <a:txBody>
                    <a:bodyPr/>
                    <a:lstStyle/>
                    <a:p>
                      <a:pPr fontAlgn="ctr"/>
                      <a:r>
                        <a:rPr lang="en-US" sz="1400">
                          <a:effectLst/>
                        </a:rPr>
                        <a:t>5</a:t>
                      </a:r>
                    </a:p>
                  </a:txBody>
                  <a:tcPr marL="31404" marR="31404" marT="15701" marB="15701" anchor="ctr"/>
                </a:tc>
                <a:tc>
                  <a:txBody>
                    <a:bodyPr/>
                    <a:lstStyle/>
                    <a:p>
                      <a:pPr fontAlgn="ctr"/>
                      <a:r>
                        <a:rPr lang="en-US" sz="1400">
                          <a:effectLst/>
                        </a:rPr>
                        <a:t>12–18</a:t>
                      </a:r>
                    </a:p>
                  </a:txBody>
                  <a:tcPr marL="31404" marR="31404" marT="15701" marB="15701" anchor="ctr"/>
                </a:tc>
                <a:tc>
                  <a:txBody>
                    <a:bodyPr/>
                    <a:lstStyle/>
                    <a:p>
                      <a:pPr fontAlgn="ctr"/>
                      <a:r>
                        <a:rPr lang="en-US" sz="1400">
                          <a:effectLst/>
                        </a:rPr>
                        <a:t>Identity vs. confusion</a:t>
                      </a:r>
                    </a:p>
                  </a:txBody>
                  <a:tcPr marL="31404" marR="31404" marT="15701" marB="15701" anchor="ctr"/>
                </a:tc>
                <a:tc>
                  <a:txBody>
                    <a:bodyPr/>
                    <a:lstStyle/>
                    <a:p>
                      <a:pPr fontAlgn="ctr"/>
                      <a:r>
                        <a:rPr lang="en-US" sz="1400">
                          <a:effectLst/>
                        </a:rPr>
                        <a:t>Experiment with and develop identity and roles</a:t>
                      </a:r>
                    </a:p>
                  </a:txBody>
                  <a:tcPr marL="31404" marR="31404" marT="15701" marB="15701" anchor="ctr"/>
                </a:tc>
                <a:extLst>
                  <a:ext uri="{0D108BD9-81ED-4DB2-BD59-A6C34878D82A}">
                    <a16:rowId xmlns:a16="http://schemas.microsoft.com/office/drawing/2014/main" val="3575651969"/>
                  </a:ext>
                </a:extLst>
              </a:tr>
              <a:tr h="543204">
                <a:tc>
                  <a:txBody>
                    <a:bodyPr/>
                    <a:lstStyle/>
                    <a:p>
                      <a:pPr fontAlgn="ctr"/>
                      <a:r>
                        <a:rPr lang="en-US" sz="1400">
                          <a:effectLst/>
                        </a:rPr>
                        <a:t>6</a:t>
                      </a:r>
                    </a:p>
                  </a:txBody>
                  <a:tcPr marL="31404" marR="31404" marT="15701" marB="15701" anchor="ctr"/>
                </a:tc>
                <a:tc>
                  <a:txBody>
                    <a:bodyPr/>
                    <a:lstStyle/>
                    <a:p>
                      <a:pPr fontAlgn="ctr"/>
                      <a:r>
                        <a:rPr lang="en-US" sz="1400">
                          <a:effectLst/>
                        </a:rPr>
                        <a:t>19–29</a:t>
                      </a:r>
                    </a:p>
                  </a:txBody>
                  <a:tcPr marL="31404" marR="31404" marT="15701" marB="15701" anchor="ctr"/>
                </a:tc>
                <a:tc>
                  <a:txBody>
                    <a:bodyPr/>
                    <a:lstStyle/>
                    <a:p>
                      <a:pPr fontAlgn="ctr"/>
                      <a:r>
                        <a:rPr lang="en-US" sz="1400" dirty="0">
                          <a:effectLst/>
                        </a:rPr>
                        <a:t>Intimacy vs. isolation</a:t>
                      </a:r>
                    </a:p>
                  </a:txBody>
                  <a:tcPr marL="31404" marR="31404" marT="15701" marB="15701" anchor="ctr"/>
                </a:tc>
                <a:tc>
                  <a:txBody>
                    <a:bodyPr/>
                    <a:lstStyle/>
                    <a:p>
                      <a:pPr fontAlgn="ctr"/>
                      <a:r>
                        <a:rPr lang="en-US" sz="1400" dirty="0">
                          <a:effectLst/>
                        </a:rPr>
                        <a:t>Establish intimacy and relationships with others</a:t>
                      </a:r>
                    </a:p>
                  </a:txBody>
                  <a:tcPr marL="31404" marR="31404" marT="15701" marB="15701" anchor="ctr"/>
                </a:tc>
                <a:extLst>
                  <a:ext uri="{0D108BD9-81ED-4DB2-BD59-A6C34878D82A}">
                    <a16:rowId xmlns:a16="http://schemas.microsoft.com/office/drawing/2014/main" val="31548367"/>
                  </a:ext>
                </a:extLst>
              </a:tr>
              <a:tr h="543204">
                <a:tc>
                  <a:txBody>
                    <a:bodyPr/>
                    <a:lstStyle/>
                    <a:p>
                      <a:pPr fontAlgn="ctr"/>
                      <a:r>
                        <a:rPr lang="en-US" sz="1400">
                          <a:effectLst/>
                        </a:rPr>
                        <a:t>7</a:t>
                      </a:r>
                    </a:p>
                  </a:txBody>
                  <a:tcPr marL="31404" marR="31404" marT="15701" marB="15701" anchor="ctr"/>
                </a:tc>
                <a:tc>
                  <a:txBody>
                    <a:bodyPr/>
                    <a:lstStyle/>
                    <a:p>
                      <a:pPr fontAlgn="ctr"/>
                      <a:r>
                        <a:rPr lang="en-US" sz="1400">
                          <a:effectLst/>
                        </a:rPr>
                        <a:t>30–64</a:t>
                      </a:r>
                    </a:p>
                  </a:txBody>
                  <a:tcPr marL="31404" marR="31404" marT="15701" marB="15701" anchor="ctr"/>
                </a:tc>
                <a:tc>
                  <a:txBody>
                    <a:bodyPr/>
                    <a:lstStyle/>
                    <a:p>
                      <a:pPr fontAlgn="ctr"/>
                      <a:r>
                        <a:rPr lang="en-US" sz="1400">
                          <a:effectLst/>
                        </a:rPr>
                        <a:t>Generativity vs. stagnation</a:t>
                      </a:r>
                    </a:p>
                  </a:txBody>
                  <a:tcPr marL="31404" marR="31404" marT="15701" marB="15701" anchor="ctr"/>
                </a:tc>
                <a:tc>
                  <a:txBody>
                    <a:bodyPr/>
                    <a:lstStyle/>
                    <a:p>
                      <a:pPr fontAlgn="ctr"/>
                      <a:r>
                        <a:rPr lang="en-US" sz="1400">
                          <a:effectLst/>
                        </a:rPr>
                        <a:t>Contribute to society and be part of a family</a:t>
                      </a:r>
                    </a:p>
                  </a:txBody>
                  <a:tcPr marL="31404" marR="31404" marT="15701" marB="15701" anchor="ctr"/>
                </a:tc>
                <a:extLst>
                  <a:ext uri="{0D108BD9-81ED-4DB2-BD59-A6C34878D82A}">
                    <a16:rowId xmlns:a16="http://schemas.microsoft.com/office/drawing/2014/main" val="604843395"/>
                  </a:ext>
                </a:extLst>
              </a:tr>
              <a:tr h="543204">
                <a:tc>
                  <a:txBody>
                    <a:bodyPr/>
                    <a:lstStyle/>
                    <a:p>
                      <a:pPr fontAlgn="ctr"/>
                      <a:r>
                        <a:rPr lang="en-US" sz="1400">
                          <a:effectLst/>
                        </a:rPr>
                        <a:t>8</a:t>
                      </a:r>
                    </a:p>
                  </a:txBody>
                  <a:tcPr marL="31404" marR="31404" marT="15701" marB="15701" anchor="ctr"/>
                </a:tc>
                <a:tc>
                  <a:txBody>
                    <a:bodyPr/>
                    <a:lstStyle/>
                    <a:p>
                      <a:pPr fontAlgn="ctr"/>
                      <a:r>
                        <a:rPr lang="en-US" sz="1400">
                          <a:effectLst/>
                        </a:rPr>
                        <a:t>65–</a:t>
                      </a:r>
                    </a:p>
                  </a:txBody>
                  <a:tcPr marL="31404" marR="31404" marT="15701" marB="15701" anchor="ctr"/>
                </a:tc>
                <a:tc>
                  <a:txBody>
                    <a:bodyPr/>
                    <a:lstStyle/>
                    <a:p>
                      <a:pPr fontAlgn="ctr"/>
                      <a:r>
                        <a:rPr lang="en-US" sz="1400">
                          <a:effectLst/>
                        </a:rPr>
                        <a:t>Integrity vs. despair</a:t>
                      </a:r>
                    </a:p>
                  </a:txBody>
                  <a:tcPr marL="31404" marR="31404" marT="15701" marB="15701" anchor="ctr"/>
                </a:tc>
                <a:tc>
                  <a:txBody>
                    <a:bodyPr/>
                    <a:lstStyle/>
                    <a:p>
                      <a:pPr fontAlgn="ctr"/>
                      <a:r>
                        <a:rPr lang="en-US" sz="1400" dirty="0">
                          <a:effectLst/>
                        </a:rPr>
                        <a:t>Assess and make sense of life and meaning of contributions</a:t>
                      </a:r>
                    </a:p>
                  </a:txBody>
                  <a:tcPr marL="31404" marR="31404" marT="15701" marB="15701" anchor="ctr"/>
                </a:tc>
                <a:extLst>
                  <a:ext uri="{0D108BD9-81ED-4DB2-BD59-A6C34878D82A}">
                    <a16:rowId xmlns:a16="http://schemas.microsoft.com/office/drawing/2014/main" val="4185464878"/>
                  </a:ext>
                </a:extLst>
              </a:tr>
            </a:tbl>
          </a:graphicData>
        </a:graphic>
      </p:graphicFrame>
    </p:spTree>
    <p:extLst>
      <p:ext uri="{BB962C8B-B14F-4D97-AF65-F5344CB8AC3E}">
        <p14:creationId xmlns:p14="http://schemas.microsoft.com/office/powerpoint/2010/main" val="117076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D503-FF16-4247-B7C4-3870D23C59DC}"/>
              </a:ext>
            </a:extLst>
          </p:cNvPr>
          <p:cNvSpPr>
            <a:spLocks noGrp="1"/>
          </p:cNvSpPr>
          <p:nvPr>
            <p:ph type="title"/>
          </p:nvPr>
        </p:nvSpPr>
        <p:spPr>
          <a:xfrm>
            <a:off x="6096000" y="574308"/>
            <a:ext cx="5763224" cy="1735963"/>
          </a:xfrm>
        </p:spPr>
        <p:txBody>
          <a:bodyPr vert="horz" lIns="91440" tIns="45720" rIns="91440" bIns="45720" rtlCol="0" anchor="b">
            <a:normAutofit fontScale="90000"/>
          </a:bodyPr>
          <a:lstStyle/>
          <a:p>
            <a:pPr algn="r">
              <a:lnSpc>
                <a:spcPct val="90000"/>
              </a:lnSpc>
            </a:pPr>
            <a:r>
              <a:rPr lang="en-US" sz="6000" dirty="0"/>
              <a:t>Cognitive Theory of Development</a:t>
            </a:r>
          </a:p>
        </p:txBody>
      </p:sp>
      <p:sp>
        <p:nvSpPr>
          <p:cNvPr id="3" name="Content Placeholder 2">
            <a:extLst>
              <a:ext uri="{FF2B5EF4-FFF2-40B4-BE49-F238E27FC236}">
                <a16:creationId xmlns:a16="http://schemas.microsoft.com/office/drawing/2014/main" id="{9C3B9240-745D-4287-9735-662E1A0378C0}"/>
              </a:ext>
            </a:extLst>
          </p:cNvPr>
          <p:cNvSpPr>
            <a:spLocks noGrp="1"/>
          </p:cNvSpPr>
          <p:nvPr>
            <p:ph idx="1"/>
          </p:nvPr>
        </p:nvSpPr>
        <p:spPr>
          <a:xfrm>
            <a:off x="9361283" y="3667493"/>
            <a:ext cx="1455978" cy="557626"/>
          </a:xfrm>
        </p:spPr>
        <p:txBody>
          <a:bodyPr vert="horz" lIns="91440" tIns="45720" rIns="91440" bIns="45720" rtlCol="0" anchor="t">
            <a:normAutofit/>
          </a:bodyPr>
          <a:lstStyle/>
          <a:p>
            <a:pPr marL="0" indent="0" algn="r">
              <a:buNone/>
            </a:pPr>
            <a:r>
              <a:rPr lang="en-US" sz="2100"/>
              <a:t>Jean Piaget</a:t>
            </a:r>
          </a:p>
        </p:txBody>
      </p:sp>
      <p:graphicFrame>
        <p:nvGraphicFramePr>
          <p:cNvPr id="4" name="Content Placeholder 3">
            <a:extLst>
              <a:ext uri="{FF2B5EF4-FFF2-40B4-BE49-F238E27FC236}">
                <a16:creationId xmlns:a16="http://schemas.microsoft.com/office/drawing/2014/main" id="{050C5150-18AC-4426-BB85-8AF45993ED9C}"/>
              </a:ext>
            </a:extLst>
          </p:cNvPr>
          <p:cNvGraphicFramePr>
            <a:graphicFrameLocks/>
          </p:cNvGraphicFramePr>
          <p:nvPr>
            <p:extLst>
              <p:ext uri="{D42A27DB-BD31-4B8C-83A1-F6EECF244321}">
                <p14:modId xmlns:p14="http://schemas.microsoft.com/office/powerpoint/2010/main" val="624643670"/>
              </p:ext>
            </p:extLst>
          </p:nvPr>
        </p:nvGraphicFramePr>
        <p:xfrm>
          <a:off x="706841" y="2310271"/>
          <a:ext cx="7178727" cy="4142685"/>
        </p:xfrm>
        <a:graphic>
          <a:graphicData uri="http://schemas.openxmlformats.org/drawingml/2006/table">
            <a:tbl>
              <a:tblPr firstRow="1" bandRow="1">
                <a:tableStyleId>{5C22544A-7EE6-4342-B048-85BDC9FD1C3A}</a:tableStyleId>
              </a:tblPr>
              <a:tblGrid>
                <a:gridCol w="914240">
                  <a:extLst>
                    <a:ext uri="{9D8B030D-6E8A-4147-A177-3AD203B41FA5}">
                      <a16:colId xmlns:a16="http://schemas.microsoft.com/office/drawing/2014/main" val="13242109"/>
                    </a:ext>
                  </a:extLst>
                </a:gridCol>
                <a:gridCol w="1538188">
                  <a:extLst>
                    <a:ext uri="{9D8B030D-6E8A-4147-A177-3AD203B41FA5}">
                      <a16:colId xmlns:a16="http://schemas.microsoft.com/office/drawing/2014/main" val="3248351043"/>
                    </a:ext>
                  </a:extLst>
                </a:gridCol>
                <a:gridCol w="3040165">
                  <a:extLst>
                    <a:ext uri="{9D8B030D-6E8A-4147-A177-3AD203B41FA5}">
                      <a16:colId xmlns:a16="http://schemas.microsoft.com/office/drawing/2014/main" val="1568320638"/>
                    </a:ext>
                  </a:extLst>
                </a:gridCol>
                <a:gridCol w="1686134">
                  <a:extLst>
                    <a:ext uri="{9D8B030D-6E8A-4147-A177-3AD203B41FA5}">
                      <a16:colId xmlns:a16="http://schemas.microsoft.com/office/drawing/2014/main" val="2892428097"/>
                    </a:ext>
                  </a:extLst>
                </a:gridCol>
              </a:tblGrid>
              <a:tr h="618279">
                <a:tc>
                  <a:txBody>
                    <a:bodyPr/>
                    <a:lstStyle/>
                    <a:p>
                      <a:pPr algn="l" fontAlgn="b"/>
                      <a:r>
                        <a:rPr lang="en-US" sz="1400" b="1">
                          <a:solidFill>
                            <a:schemeClr val="tx1">
                              <a:lumMod val="95000"/>
                              <a:lumOff val="5000"/>
                            </a:schemeClr>
                          </a:solidFill>
                          <a:effectLst/>
                        </a:rPr>
                        <a:t>Age (years)</a:t>
                      </a:r>
                    </a:p>
                  </a:txBody>
                  <a:tcPr marL="73570" marR="73570" marT="36784" marB="36784" anchor="b"/>
                </a:tc>
                <a:tc>
                  <a:txBody>
                    <a:bodyPr/>
                    <a:lstStyle/>
                    <a:p>
                      <a:pPr algn="l" fontAlgn="b"/>
                      <a:r>
                        <a:rPr lang="en-US" sz="1400" b="1">
                          <a:solidFill>
                            <a:schemeClr val="tx1">
                              <a:lumMod val="95000"/>
                              <a:lumOff val="5000"/>
                            </a:schemeClr>
                          </a:solidFill>
                          <a:effectLst/>
                        </a:rPr>
                        <a:t>Stage</a:t>
                      </a:r>
                    </a:p>
                  </a:txBody>
                  <a:tcPr marL="73570" marR="73570" marT="36784" marB="36784" anchor="b"/>
                </a:tc>
                <a:tc>
                  <a:txBody>
                    <a:bodyPr/>
                    <a:lstStyle/>
                    <a:p>
                      <a:pPr algn="l" fontAlgn="b"/>
                      <a:r>
                        <a:rPr lang="en-US" sz="1400" b="1">
                          <a:solidFill>
                            <a:schemeClr val="tx1">
                              <a:lumMod val="95000"/>
                              <a:lumOff val="5000"/>
                            </a:schemeClr>
                          </a:solidFill>
                          <a:effectLst/>
                        </a:rPr>
                        <a:t>Description</a:t>
                      </a:r>
                    </a:p>
                  </a:txBody>
                  <a:tcPr marL="73570" marR="73570" marT="36784" marB="36784" anchor="b"/>
                </a:tc>
                <a:tc>
                  <a:txBody>
                    <a:bodyPr/>
                    <a:lstStyle/>
                    <a:p>
                      <a:pPr algn="l" fontAlgn="b"/>
                      <a:r>
                        <a:rPr lang="en-US" sz="1400" b="1" dirty="0">
                          <a:solidFill>
                            <a:schemeClr val="tx1">
                              <a:lumMod val="95000"/>
                              <a:lumOff val="5000"/>
                            </a:schemeClr>
                          </a:solidFill>
                          <a:effectLst/>
                        </a:rPr>
                        <a:t>Developmental issues</a:t>
                      </a:r>
                    </a:p>
                  </a:txBody>
                  <a:tcPr marL="73570" marR="73570" marT="36784" marB="36784" anchor="b"/>
                </a:tc>
                <a:extLst>
                  <a:ext uri="{0D108BD9-81ED-4DB2-BD59-A6C34878D82A}">
                    <a16:rowId xmlns:a16="http://schemas.microsoft.com/office/drawing/2014/main" val="263134415"/>
                  </a:ext>
                </a:extLst>
              </a:tr>
              <a:tr h="865800">
                <a:tc>
                  <a:txBody>
                    <a:bodyPr/>
                    <a:lstStyle/>
                    <a:p>
                      <a:pPr fontAlgn="ctr"/>
                      <a:r>
                        <a:rPr lang="en-US" sz="1400">
                          <a:effectLst/>
                        </a:rPr>
                        <a:t>0–2</a:t>
                      </a:r>
                    </a:p>
                  </a:txBody>
                  <a:tcPr marL="73570" marR="73570" marT="36784" marB="36784" anchor="ctr"/>
                </a:tc>
                <a:tc>
                  <a:txBody>
                    <a:bodyPr/>
                    <a:lstStyle/>
                    <a:p>
                      <a:pPr fontAlgn="ctr"/>
                      <a:r>
                        <a:rPr lang="en-US" sz="1400">
                          <a:effectLst/>
                        </a:rPr>
                        <a:t>Sensorimotor</a:t>
                      </a:r>
                    </a:p>
                  </a:txBody>
                  <a:tcPr marL="73570" marR="73570" marT="36784" marB="36784" anchor="ctr"/>
                </a:tc>
                <a:tc>
                  <a:txBody>
                    <a:bodyPr/>
                    <a:lstStyle/>
                    <a:p>
                      <a:pPr fontAlgn="ctr"/>
                      <a:r>
                        <a:rPr lang="en-US" sz="1400">
                          <a:effectLst/>
                        </a:rPr>
                        <a:t>World experienced through senses and actions</a:t>
                      </a:r>
                    </a:p>
                  </a:txBody>
                  <a:tcPr marL="73570" marR="73570" marT="36784" marB="36784" anchor="ctr"/>
                </a:tc>
                <a:tc>
                  <a:txBody>
                    <a:bodyPr/>
                    <a:lstStyle/>
                    <a:p>
                      <a:pPr fontAlgn="ctr"/>
                      <a:r>
                        <a:rPr lang="en-US" sz="1400">
                          <a:effectLst/>
                        </a:rPr>
                        <a:t>Object permanence</a:t>
                      </a:r>
                      <a:br>
                        <a:rPr lang="en-US" sz="1400">
                          <a:effectLst/>
                        </a:rPr>
                      </a:br>
                      <a:r>
                        <a:rPr lang="en-US" sz="1400">
                          <a:effectLst/>
                        </a:rPr>
                        <a:t>Stranger anxiety</a:t>
                      </a:r>
                    </a:p>
                  </a:txBody>
                  <a:tcPr marL="73570" marR="73570" marT="36784" marB="36784" anchor="ctr"/>
                </a:tc>
                <a:extLst>
                  <a:ext uri="{0D108BD9-81ED-4DB2-BD59-A6C34878D82A}">
                    <a16:rowId xmlns:a16="http://schemas.microsoft.com/office/drawing/2014/main" val="34446766"/>
                  </a:ext>
                </a:extLst>
              </a:tr>
              <a:tr h="1113319">
                <a:tc>
                  <a:txBody>
                    <a:bodyPr/>
                    <a:lstStyle/>
                    <a:p>
                      <a:pPr fontAlgn="ctr"/>
                      <a:r>
                        <a:rPr lang="en-US" sz="1400">
                          <a:effectLst/>
                        </a:rPr>
                        <a:t>2–6</a:t>
                      </a:r>
                    </a:p>
                  </a:txBody>
                  <a:tcPr marL="73570" marR="73570" marT="36784" marB="36784" anchor="ctr"/>
                </a:tc>
                <a:tc>
                  <a:txBody>
                    <a:bodyPr/>
                    <a:lstStyle/>
                    <a:p>
                      <a:pPr fontAlgn="ctr"/>
                      <a:r>
                        <a:rPr lang="en-US" sz="1400">
                          <a:effectLst/>
                        </a:rPr>
                        <a:t>Preoperational</a:t>
                      </a:r>
                    </a:p>
                  </a:txBody>
                  <a:tcPr marL="73570" marR="73570" marT="36784" marB="36784" anchor="ctr"/>
                </a:tc>
                <a:tc>
                  <a:txBody>
                    <a:bodyPr/>
                    <a:lstStyle/>
                    <a:p>
                      <a:pPr fontAlgn="ctr"/>
                      <a:r>
                        <a:rPr lang="en-US" sz="1400" dirty="0">
                          <a:effectLst/>
                        </a:rPr>
                        <a:t>Use words and images to represent things, but lack logical reasoning</a:t>
                      </a:r>
                    </a:p>
                  </a:txBody>
                  <a:tcPr marL="73570" marR="73570" marT="36784" marB="36784" anchor="ctr"/>
                </a:tc>
                <a:tc>
                  <a:txBody>
                    <a:bodyPr/>
                    <a:lstStyle/>
                    <a:p>
                      <a:pPr fontAlgn="ctr"/>
                      <a:r>
                        <a:rPr lang="en-US" sz="1400">
                          <a:effectLst/>
                        </a:rPr>
                        <a:t>Pretend play</a:t>
                      </a:r>
                      <a:br>
                        <a:rPr lang="en-US" sz="1400">
                          <a:effectLst/>
                        </a:rPr>
                      </a:br>
                      <a:r>
                        <a:rPr lang="en-US" sz="1400">
                          <a:effectLst/>
                        </a:rPr>
                        <a:t>Egocentrism</a:t>
                      </a:r>
                      <a:br>
                        <a:rPr lang="en-US" sz="1400">
                          <a:effectLst/>
                        </a:rPr>
                      </a:br>
                      <a:r>
                        <a:rPr lang="en-US" sz="1400">
                          <a:effectLst/>
                        </a:rPr>
                        <a:t>Language development</a:t>
                      </a:r>
                    </a:p>
                  </a:txBody>
                  <a:tcPr marL="73570" marR="73570" marT="36784" marB="36784" anchor="ctr"/>
                </a:tc>
                <a:extLst>
                  <a:ext uri="{0D108BD9-81ED-4DB2-BD59-A6C34878D82A}">
                    <a16:rowId xmlns:a16="http://schemas.microsoft.com/office/drawing/2014/main" val="3602372651"/>
                  </a:ext>
                </a:extLst>
              </a:tr>
              <a:tr h="865800">
                <a:tc>
                  <a:txBody>
                    <a:bodyPr/>
                    <a:lstStyle/>
                    <a:p>
                      <a:pPr fontAlgn="ctr"/>
                      <a:r>
                        <a:rPr lang="en-US" sz="1400">
                          <a:effectLst/>
                        </a:rPr>
                        <a:t>7–11</a:t>
                      </a:r>
                    </a:p>
                  </a:txBody>
                  <a:tcPr marL="73570" marR="73570" marT="36784" marB="36784" anchor="ctr"/>
                </a:tc>
                <a:tc>
                  <a:txBody>
                    <a:bodyPr/>
                    <a:lstStyle/>
                    <a:p>
                      <a:pPr fontAlgn="ctr"/>
                      <a:r>
                        <a:rPr lang="en-US" sz="1400">
                          <a:effectLst/>
                        </a:rPr>
                        <a:t>Concrete operational</a:t>
                      </a:r>
                    </a:p>
                  </a:txBody>
                  <a:tcPr marL="73570" marR="73570" marT="36784" marB="36784" anchor="ctr"/>
                </a:tc>
                <a:tc>
                  <a:txBody>
                    <a:bodyPr/>
                    <a:lstStyle/>
                    <a:p>
                      <a:pPr fontAlgn="ctr"/>
                      <a:r>
                        <a:rPr lang="en-US" sz="1400" dirty="0">
                          <a:effectLst/>
                        </a:rPr>
                        <a:t>Understand concrete events and analogies logically; perform arithmetical operations</a:t>
                      </a:r>
                    </a:p>
                  </a:txBody>
                  <a:tcPr marL="73570" marR="73570" marT="36784" marB="36784" anchor="ctr"/>
                </a:tc>
                <a:tc>
                  <a:txBody>
                    <a:bodyPr/>
                    <a:lstStyle/>
                    <a:p>
                      <a:pPr fontAlgn="ctr"/>
                      <a:r>
                        <a:rPr lang="en-US" sz="1400" dirty="0">
                          <a:effectLst/>
                        </a:rPr>
                        <a:t>Conservation</a:t>
                      </a:r>
                    </a:p>
                    <a:p>
                      <a:pPr fontAlgn="ctr"/>
                      <a:r>
                        <a:rPr lang="en-US" sz="1400" dirty="0">
                          <a:effectLst/>
                        </a:rPr>
                        <a:t>Reversibility</a:t>
                      </a:r>
                      <a:br>
                        <a:rPr lang="en-US" sz="1400" dirty="0">
                          <a:effectLst/>
                        </a:rPr>
                      </a:br>
                      <a:r>
                        <a:rPr lang="en-US" sz="1400" dirty="0">
                          <a:effectLst/>
                        </a:rPr>
                        <a:t>Mathematical transformations</a:t>
                      </a:r>
                    </a:p>
                  </a:txBody>
                  <a:tcPr marL="73570" marR="73570" marT="36784" marB="36784" anchor="ctr"/>
                </a:tc>
                <a:extLst>
                  <a:ext uri="{0D108BD9-81ED-4DB2-BD59-A6C34878D82A}">
                    <a16:rowId xmlns:a16="http://schemas.microsoft.com/office/drawing/2014/main" val="3049859867"/>
                  </a:ext>
                </a:extLst>
              </a:tr>
              <a:tr h="618279">
                <a:tc>
                  <a:txBody>
                    <a:bodyPr/>
                    <a:lstStyle/>
                    <a:p>
                      <a:pPr fontAlgn="ctr"/>
                      <a:r>
                        <a:rPr lang="en-US" sz="1400">
                          <a:effectLst/>
                        </a:rPr>
                        <a:t>12–</a:t>
                      </a:r>
                    </a:p>
                  </a:txBody>
                  <a:tcPr marL="73570" marR="73570" marT="36784" marB="36784" anchor="ctr"/>
                </a:tc>
                <a:tc>
                  <a:txBody>
                    <a:bodyPr/>
                    <a:lstStyle/>
                    <a:p>
                      <a:pPr fontAlgn="ctr"/>
                      <a:r>
                        <a:rPr lang="en-US" sz="1400" dirty="0">
                          <a:effectLst/>
                        </a:rPr>
                        <a:t>Formal operational</a:t>
                      </a:r>
                    </a:p>
                  </a:txBody>
                  <a:tcPr marL="73570" marR="73570" marT="36784" marB="36784" anchor="ctr"/>
                </a:tc>
                <a:tc>
                  <a:txBody>
                    <a:bodyPr/>
                    <a:lstStyle/>
                    <a:p>
                      <a:pPr fontAlgn="ctr"/>
                      <a:r>
                        <a:rPr lang="en-US" sz="1400" dirty="0">
                          <a:effectLst/>
                        </a:rPr>
                        <a:t>Formal operations</a:t>
                      </a:r>
                      <a:br>
                        <a:rPr lang="en-US" sz="1400" dirty="0">
                          <a:effectLst/>
                        </a:rPr>
                      </a:br>
                      <a:r>
                        <a:rPr lang="en-US" sz="1400" dirty="0">
                          <a:effectLst/>
                        </a:rPr>
                        <a:t>Utilize abstract reasoning</a:t>
                      </a:r>
                    </a:p>
                  </a:txBody>
                  <a:tcPr marL="73570" marR="73570" marT="36784" marB="36784" anchor="ctr"/>
                </a:tc>
                <a:tc>
                  <a:txBody>
                    <a:bodyPr/>
                    <a:lstStyle/>
                    <a:p>
                      <a:pPr fontAlgn="ctr"/>
                      <a:r>
                        <a:rPr lang="en-US" sz="1400" dirty="0">
                          <a:effectLst/>
                        </a:rPr>
                        <a:t>Abstract logic</a:t>
                      </a:r>
                      <a:br>
                        <a:rPr lang="en-US" sz="1400" dirty="0">
                          <a:effectLst/>
                        </a:rPr>
                      </a:br>
                      <a:r>
                        <a:rPr lang="en-US" sz="1400" dirty="0">
                          <a:effectLst/>
                        </a:rPr>
                        <a:t>Moral reasoning</a:t>
                      </a:r>
                    </a:p>
                  </a:txBody>
                  <a:tcPr marL="73570" marR="73570" marT="36784" marB="36784" anchor="ctr"/>
                </a:tc>
                <a:extLst>
                  <a:ext uri="{0D108BD9-81ED-4DB2-BD59-A6C34878D82A}">
                    <a16:rowId xmlns:a16="http://schemas.microsoft.com/office/drawing/2014/main" val="1788111691"/>
                  </a:ext>
                </a:extLst>
              </a:tr>
            </a:tbl>
          </a:graphicData>
        </a:graphic>
      </p:graphicFrame>
    </p:spTree>
    <p:extLst>
      <p:ext uri="{BB962C8B-B14F-4D97-AF65-F5344CB8AC3E}">
        <p14:creationId xmlns:p14="http://schemas.microsoft.com/office/powerpoint/2010/main" val="3440232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D503-FF16-4247-B7C4-3870D23C59DC}"/>
              </a:ext>
            </a:extLst>
          </p:cNvPr>
          <p:cNvSpPr>
            <a:spLocks noGrp="1"/>
          </p:cNvSpPr>
          <p:nvPr>
            <p:ph type="title"/>
          </p:nvPr>
        </p:nvSpPr>
        <p:spPr>
          <a:xfrm>
            <a:off x="7034544" y="749629"/>
            <a:ext cx="4570369" cy="2616199"/>
          </a:xfrm>
        </p:spPr>
        <p:txBody>
          <a:bodyPr vert="horz" lIns="91440" tIns="45720" rIns="91440" bIns="45720" rtlCol="0" anchor="b">
            <a:normAutofit/>
          </a:bodyPr>
          <a:lstStyle/>
          <a:p>
            <a:pPr algn="r">
              <a:lnSpc>
                <a:spcPct val="90000"/>
              </a:lnSpc>
            </a:pPr>
            <a:r>
              <a:rPr lang="en-US" sz="6000" dirty="0"/>
              <a:t>Sociocultural Theory of Development</a:t>
            </a:r>
          </a:p>
        </p:txBody>
      </p:sp>
      <p:sp>
        <p:nvSpPr>
          <p:cNvPr id="3" name="Content Placeholder 2">
            <a:extLst>
              <a:ext uri="{FF2B5EF4-FFF2-40B4-BE49-F238E27FC236}">
                <a16:creationId xmlns:a16="http://schemas.microsoft.com/office/drawing/2014/main" id="{9C3B9240-745D-4287-9735-662E1A0378C0}"/>
              </a:ext>
            </a:extLst>
          </p:cNvPr>
          <p:cNvSpPr>
            <a:spLocks noGrp="1"/>
          </p:cNvSpPr>
          <p:nvPr>
            <p:ph idx="1"/>
          </p:nvPr>
        </p:nvSpPr>
        <p:spPr>
          <a:xfrm>
            <a:off x="9397496" y="3461107"/>
            <a:ext cx="1736636" cy="666267"/>
          </a:xfrm>
        </p:spPr>
        <p:txBody>
          <a:bodyPr vert="horz" lIns="91440" tIns="45720" rIns="91440" bIns="45720" rtlCol="0" anchor="t">
            <a:normAutofit/>
          </a:bodyPr>
          <a:lstStyle/>
          <a:p>
            <a:pPr marL="0" indent="0" algn="r">
              <a:buNone/>
            </a:pPr>
            <a:r>
              <a:rPr lang="en-US" sz="2100"/>
              <a:t>Lev Vygotsky</a:t>
            </a:r>
          </a:p>
        </p:txBody>
      </p:sp>
      <p:pic>
        <p:nvPicPr>
          <p:cNvPr id="4" name="Picture 3">
            <a:extLst>
              <a:ext uri="{FF2B5EF4-FFF2-40B4-BE49-F238E27FC236}">
                <a16:creationId xmlns:a16="http://schemas.microsoft.com/office/drawing/2014/main" id="{CB90CE06-D5E5-84DA-FEE4-D30C194950A2}"/>
              </a:ext>
            </a:extLst>
          </p:cNvPr>
          <p:cNvPicPr>
            <a:picLocks noChangeAspect="1"/>
          </p:cNvPicPr>
          <p:nvPr/>
        </p:nvPicPr>
        <p:blipFill>
          <a:blip r:embed="rId3"/>
          <a:stretch>
            <a:fillRect/>
          </a:stretch>
        </p:blipFill>
        <p:spPr>
          <a:xfrm>
            <a:off x="911760" y="2057729"/>
            <a:ext cx="5715000" cy="4010025"/>
          </a:xfrm>
          <a:prstGeom prst="rect">
            <a:avLst/>
          </a:prstGeom>
        </p:spPr>
      </p:pic>
    </p:spTree>
    <p:extLst>
      <p:ext uri="{BB962C8B-B14F-4D97-AF65-F5344CB8AC3E}">
        <p14:creationId xmlns:p14="http://schemas.microsoft.com/office/powerpoint/2010/main" val="4547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D503-FF16-4247-B7C4-3870D23C59DC}"/>
              </a:ext>
            </a:extLst>
          </p:cNvPr>
          <p:cNvSpPr>
            <a:spLocks noGrp="1"/>
          </p:cNvSpPr>
          <p:nvPr>
            <p:ph type="title"/>
          </p:nvPr>
        </p:nvSpPr>
        <p:spPr>
          <a:xfrm>
            <a:off x="6346479" y="959667"/>
            <a:ext cx="5339915" cy="2022612"/>
          </a:xfrm>
        </p:spPr>
        <p:txBody>
          <a:bodyPr vert="horz" lIns="91440" tIns="45720" rIns="91440" bIns="45720" rtlCol="0" anchor="b">
            <a:normAutofit/>
          </a:bodyPr>
          <a:lstStyle/>
          <a:p>
            <a:pPr algn="r">
              <a:lnSpc>
                <a:spcPct val="90000"/>
              </a:lnSpc>
            </a:pPr>
            <a:r>
              <a:rPr lang="en-US" sz="6000" dirty="0"/>
              <a:t>Moral Theory of Development</a:t>
            </a:r>
          </a:p>
        </p:txBody>
      </p:sp>
      <p:sp>
        <p:nvSpPr>
          <p:cNvPr id="3" name="Content Placeholder 2">
            <a:extLst>
              <a:ext uri="{FF2B5EF4-FFF2-40B4-BE49-F238E27FC236}">
                <a16:creationId xmlns:a16="http://schemas.microsoft.com/office/drawing/2014/main" id="{9C3B9240-745D-4287-9735-662E1A0378C0}"/>
              </a:ext>
            </a:extLst>
          </p:cNvPr>
          <p:cNvSpPr>
            <a:spLocks noGrp="1"/>
          </p:cNvSpPr>
          <p:nvPr>
            <p:ph idx="1"/>
          </p:nvPr>
        </p:nvSpPr>
        <p:spPr>
          <a:xfrm>
            <a:off x="8745647" y="3353471"/>
            <a:ext cx="2406592" cy="602893"/>
          </a:xfrm>
        </p:spPr>
        <p:txBody>
          <a:bodyPr vert="horz" lIns="91440" tIns="45720" rIns="91440" bIns="45720" rtlCol="0" anchor="t">
            <a:normAutofit/>
          </a:bodyPr>
          <a:lstStyle/>
          <a:p>
            <a:pPr marL="0" indent="0" algn="r">
              <a:buNone/>
            </a:pPr>
            <a:r>
              <a:rPr lang="en-US" sz="2100"/>
              <a:t>Lawrence Kohlberg</a:t>
            </a:r>
          </a:p>
        </p:txBody>
      </p:sp>
      <p:pic>
        <p:nvPicPr>
          <p:cNvPr id="8194" name="Picture 2" descr="Nine boxes are arranged in rows and columns of three. The top left box contains “Level 1, Pre-conventional Morality.” A line connects this box with another box to the right containing “Stage 1, Obedience and punishment: behavior driven by avoiding punishment.” To the right is another box connected by a line containing “Stage 2, Individual interest: behavior driven by self-interest and rewards.” The middle left box contains “Level 2, Conventional Morality.” A line connects this box with another box to the right containing “Stage 3, Interpersonal: behavior driven by social approval.” To the right is another box connected by a line containing “Stage 4, Authority: behavior driven by obeying authority and conforming to social order.” The lower left box contains “Level 3, Post-conventional Morality.” A line connects this box with another box to the right containing “Stage 5, Social contract: behavior driven by balance of social order and individual rights.” To the right is another box connected by a line containing “Stage 6, Universal ethics: behavior driven by internal moral principles.”">
            <a:extLst>
              <a:ext uri="{FF2B5EF4-FFF2-40B4-BE49-F238E27FC236}">
                <a16:creationId xmlns:a16="http://schemas.microsoft.com/office/drawing/2014/main" id="{8F0A02F3-A6BD-4981-AE89-A6410E969C2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3239" y="1879504"/>
            <a:ext cx="5302283" cy="454670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A1CF7587-C964-4E49-AB55-78F62B90274F}"/>
              </a:ext>
            </a:extLst>
          </p:cNvPr>
          <p:cNvSpPr txBox="1">
            <a:spLocks/>
          </p:cNvSpPr>
          <p:nvPr/>
        </p:nvSpPr>
        <p:spPr>
          <a:xfrm>
            <a:off x="407404" y="1140736"/>
            <a:ext cx="5156545" cy="589385"/>
          </a:xfrm>
          <a:prstGeom prst="rect">
            <a:avLst/>
          </a:prstGeom>
          <a:solidFill>
            <a:schemeClr val="bg1">
              <a:lumMod val="95000"/>
            </a:schemeClr>
          </a:solidFill>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a:lstStyle>
          <a:p>
            <a:pPr algn="r"/>
            <a:r>
              <a:rPr lang="en-US" sz="2400"/>
              <a:t>Kohlberg’s Stages of Moral Reasoning</a:t>
            </a:r>
            <a:endParaRPr lang="en-US" sz="2400" dirty="0"/>
          </a:p>
        </p:txBody>
      </p:sp>
    </p:spTree>
    <p:extLst>
      <p:ext uri="{BB962C8B-B14F-4D97-AF65-F5344CB8AC3E}">
        <p14:creationId xmlns:p14="http://schemas.microsoft.com/office/powerpoint/2010/main" val="3347889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Jigsaw piece bridging the gap">
            <a:extLst>
              <a:ext uri="{FF2B5EF4-FFF2-40B4-BE49-F238E27FC236}">
                <a16:creationId xmlns:a16="http://schemas.microsoft.com/office/drawing/2014/main" id="{5BB68925-E1FB-4572-A0F5-FBD3F266309D}"/>
              </a:ext>
            </a:extLst>
          </p:cNvPr>
          <p:cNvPicPr>
            <a:picLocks noChangeAspect="1"/>
          </p:cNvPicPr>
          <p:nvPr/>
        </p:nvPicPr>
        <p:blipFill rotWithShape="1">
          <a:blip r:embed="rId3"/>
          <a:srcRect t="21274" b="3727"/>
          <a:stretch/>
        </p:blipFill>
        <p:spPr>
          <a:xfrm>
            <a:off x="20" y="10"/>
            <a:ext cx="12191980" cy="6857990"/>
          </a:xfrm>
          <a:prstGeom prst="rect">
            <a:avLst/>
          </a:prstGeom>
        </p:spPr>
      </p:pic>
      <p:sp>
        <p:nvSpPr>
          <p:cNvPr id="2" name="Title 1">
            <a:extLst>
              <a:ext uri="{FF2B5EF4-FFF2-40B4-BE49-F238E27FC236}">
                <a16:creationId xmlns:a16="http://schemas.microsoft.com/office/drawing/2014/main" id="{4D2F4A07-44E6-4138-9B82-BCC0721DA0DD}"/>
              </a:ext>
              <a:ext uri="{C183D7F6-B498-43B3-948B-1728B52AA6E4}">
                <adec:decorative xmlns:adec="http://schemas.microsoft.com/office/drawing/2017/decorative" val="1"/>
              </a:ext>
            </a:extLst>
          </p:cNvPr>
          <p:cNvSpPr>
            <a:spLocks noGrp="1"/>
          </p:cNvSpPr>
          <p:nvPr>
            <p:ph type="title"/>
          </p:nvPr>
        </p:nvSpPr>
        <p:spPr>
          <a:xfrm>
            <a:off x="4830184" y="3531612"/>
            <a:ext cx="6672838" cy="1414311"/>
          </a:xfrm>
        </p:spPr>
        <p:txBody>
          <a:bodyPr vert="horz" lIns="91440" tIns="45720" rIns="91440" bIns="45720" rtlCol="0" anchor="b">
            <a:normAutofit/>
          </a:bodyPr>
          <a:lstStyle/>
          <a:p>
            <a:pPr algn="r"/>
            <a:r>
              <a:rPr lang="en-US" sz="4800"/>
              <a:t>Stages of Development</a:t>
            </a:r>
          </a:p>
        </p:txBody>
      </p:sp>
    </p:spTree>
    <p:extLst>
      <p:ext uri="{BB962C8B-B14F-4D97-AF65-F5344CB8AC3E}">
        <p14:creationId xmlns:p14="http://schemas.microsoft.com/office/powerpoint/2010/main" val="618706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Miracle of Life - 9 months in 4 minutes">
            <a:hlinkClick r:id="" action="ppaction://media"/>
            <a:extLst>
              <a:ext uri="{FF2B5EF4-FFF2-40B4-BE49-F238E27FC236}">
                <a16:creationId xmlns:a16="http://schemas.microsoft.com/office/drawing/2014/main" id="{043DC1DA-A183-411D-942E-D9D20FC26C3E}"/>
              </a:ext>
            </a:extLst>
          </p:cNvPr>
          <p:cNvPicPr>
            <a:picLocks noRot="1" noChangeAspect="1"/>
          </p:cNvPicPr>
          <p:nvPr>
            <a:videoFile r:link="rId1"/>
          </p:nvPr>
        </p:nvPicPr>
        <p:blipFill>
          <a:blip r:embed="rId4"/>
          <a:stretch>
            <a:fillRect/>
          </a:stretch>
        </p:blipFill>
        <p:spPr>
          <a:xfrm>
            <a:off x="1422556" y="875770"/>
            <a:ext cx="9192435" cy="5193726"/>
          </a:xfrm>
          <a:prstGeom prst="rect">
            <a:avLst/>
          </a:prstGeom>
        </p:spPr>
      </p:pic>
      <p:sp>
        <p:nvSpPr>
          <p:cNvPr id="2" name="TextBox 1">
            <a:extLst>
              <a:ext uri="{FF2B5EF4-FFF2-40B4-BE49-F238E27FC236}">
                <a16:creationId xmlns:a16="http://schemas.microsoft.com/office/drawing/2014/main" id="{83B9410E-F465-0920-1E85-9AB3AF7A41C1}"/>
              </a:ext>
            </a:extLst>
          </p:cNvPr>
          <p:cNvSpPr txBox="1"/>
          <p:nvPr/>
        </p:nvSpPr>
        <p:spPr>
          <a:xfrm>
            <a:off x="6096000" y="6292158"/>
            <a:ext cx="5513112" cy="369332"/>
          </a:xfrm>
          <a:prstGeom prst="rect">
            <a:avLst/>
          </a:prstGeom>
          <a:noFill/>
        </p:spPr>
        <p:txBody>
          <a:bodyPr wrap="none" rtlCol="0">
            <a:spAutoFit/>
          </a:bodyPr>
          <a:lstStyle/>
          <a:p>
            <a:r>
              <a:rPr lang="en-US" dirty="0"/>
              <a:t>https://www.youtube.com/watch?v=GE_lI86boUU&amp;t=4s</a:t>
            </a:r>
          </a:p>
        </p:txBody>
      </p:sp>
    </p:spTree>
    <p:extLst>
      <p:ext uri="{BB962C8B-B14F-4D97-AF65-F5344CB8AC3E}">
        <p14:creationId xmlns:p14="http://schemas.microsoft.com/office/powerpoint/2010/main" val="289414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3FDB43-681E-3292-0670-2AD08DFBE4E6}"/>
              </a:ext>
            </a:extLst>
          </p:cNvPr>
          <p:cNvSpPr>
            <a:spLocks noGrp="1"/>
          </p:cNvSpPr>
          <p:nvPr>
            <p:ph type="title"/>
          </p:nvPr>
        </p:nvSpPr>
        <p:spPr/>
        <p:txBody>
          <a:bodyPr/>
          <a:lstStyle/>
          <a:p>
            <a:r>
              <a:rPr lang="en-US" dirty="0"/>
              <a:t>Prenatal Development Stages</a:t>
            </a:r>
          </a:p>
        </p:txBody>
      </p:sp>
      <p:sp>
        <p:nvSpPr>
          <p:cNvPr id="4" name="Slide Number Placeholder 3">
            <a:extLst>
              <a:ext uri="{FF2B5EF4-FFF2-40B4-BE49-F238E27FC236}">
                <a16:creationId xmlns:a16="http://schemas.microsoft.com/office/drawing/2014/main" id="{CF8A7269-B752-C3AF-9615-8A8EA25A4FEB}"/>
              </a:ext>
            </a:extLst>
          </p:cNvPr>
          <p:cNvSpPr>
            <a:spLocks noGrp="1"/>
          </p:cNvSpPr>
          <p:nvPr>
            <p:ph type="sldNum" sz="quarter" idx="12"/>
          </p:nvPr>
        </p:nvSpPr>
        <p:spPr/>
        <p:txBody>
          <a:bodyPr/>
          <a:lstStyle/>
          <a:p>
            <a:fld id="{CBD12358-51D2-46B3-9BDE-DF29528B9454}" type="slidenum">
              <a:rPr lang="en-US" smtClean="0"/>
              <a:t>15</a:t>
            </a:fld>
            <a:endParaRPr lang="en-US" dirty="0"/>
          </a:p>
        </p:txBody>
      </p:sp>
      <p:pic>
        <p:nvPicPr>
          <p:cNvPr id="4102" name="Picture 6" descr="Diagram illustrating embryonic and fetal development stages with a focus on organ sensitivity to teratogens over time. Color-coded bars highlight critical periods for central nervous system, heart, limbs, eyes, teeth, palate, external genitals, and ear development, with gray indicating high sensitivity and pink indicating moderate sensitivity to teratogen exposure.">
            <a:extLst>
              <a:ext uri="{FF2B5EF4-FFF2-40B4-BE49-F238E27FC236}">
                <a16:creationId xmlns:a16="http://schemas.microsoft.com/office/drawing/2014/main" id="{51C554CA-1B4B-BEC2-5A51-080FAC307FCA}"/>
              </a:ext>
            </a:extLst>
          </p:cNvPr>
          <p:cNvPicPr>
            <a:picLocks noGrp="1" noChangeAspect="1" noChangeArrowheads="1"/>
          </p:cNvPicPr>
          <p:nvPr>
            <p:ph idx="13"/>
          </p:nvPr>
        </p:nvPicPr>
        <p:blipFill>
          <a:blip r:embed="rId3">
            <a:extLst>
              <a:ext uri="{28A0092B-C50C-407E-A947-70E740481C1C}">
                <a14:useLocalDpi xmlns:a14="http://schemas.microsoft.com/office/drawing/2010/main" val="0"/>
              </a:ext>
            </a:extLst>
          </a:blip>
          <a:srcRect/>
          <a:stretch>
            <a:fillRect/>
          </a:stretch>
        </p:blipFill>
        <p:spPr bwMode="auto">
          <a:xfrm>
            <a:off x="2978590" y="1657973"/>
            <a:ext cx="8520445" cy="505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3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5007-F506-4AE2-ABCF-391CCF7A13D1}"/>
              </a:ext>
            </a:extLst>
          </p:cNvPr>
          <p:cNvSpPr>
            <a:spLocks noGrp="1"/>
          </p:cNvSpPr>
          <p:nvPr>
            <p:ph type="title"/>
          </p:nvPr>
        </p:nvSpPr>
        <p:spPr>
          <a:xfrm>
            <a:off x="1484311" y="496957"/>
            <a:ext cx="10018713" cy="1752599"/>
          </a:xfrm>
        </p:spPr>
        <p:txBody>
          <a:bodyPr/>
          <a:lstStyle/>
          <a:p>
            <a:r>
              <a:rPr lang="en-US" dirty="0"/>
              <a:t>Newborn Reflexes</a:t>
            </a:r>
          </a:p>
        </p:txBody>
      </p:sp>
      <p:pic>
        <p:nvPicPr>
          <p:cNvPr id="4" name="Online Media 3" title="Newborn Reflexes:  The Power of Your Newborn">
            <a:hlinkClick r:id="" action="ppaction://media"/>
            <a:extLst>
              <a:ext uri="{FF2B5EF4-FFF2-40B4-BE49-F238E27FC236}">
                <a16:creationId xmlns:a16="http://schemas.microsoft.com/office/drawing/2014/main" id="{F867D150-FAE9-415E-9163-9C6F96CC7964}"/>
              </a:ext>
            </a:extLst>
          </p:cNvPr>
          <p:cNvPicPr>
            <a:picLocks noGrp="1" noRot="1" noChangeAspect="1"/>
          </p:cNvPicPr>
          <p:nvPr>
            <p:ph idx="1"/>
            <a:videoFile r:link="rId1"/>
          </p:nvPr>
        </p:nvPicPr>
        <p:blipFill>
          <a:blip r:embed="rId4"/>
          <a:stretch>
            <a:fillRect/>
          </a:stretch>
        </p:blipFill>
        <p:spPr>
          <a:xfrm>
            <a:off x="466207" y="1890015"/>
            <a:ext cx="7576419" cy="4280905"/>
          </a:xfrm>
          <a:prstGeom prst="rect">
            <a:avLst/>
          </a:prstGeom>
        </p:spPr>
      </p:pic>
      <p:sp>
        <p:nvSpPr>
          <p:cNvPr id="3" name="TextBox 2">
            <a:extLst>
              <a:ext uri="{FF2B5EF4-FFF2-40B4-BE49-F238E27FC236}">
                <a16:creationId xmlns:a16="http://schemas.microsoft.com/office/drawing/2014/main" id="{93F46CD6-8F06-2EFC-9D67-E9C60BB600DD}"/>
              </a:ext>
            </a:extLst>
          </p:cNvPr>
          <p:cNvSpPr txBox="1"/>
          <p:nvPr/>
        </p:nvSpPr>
        <p:spPr>
          <a:xfrm>
            <a:off x="4888871" y="6264999"/>
            <a:ext cx="5658416" cy="369332"/>
          </a:xfrm>
          <a:prstGeom prst="rect">
            <a:avLst/>
          </a:prstGeom>
          <a:noFill/>
        </p:spPr>
        <p:txBody>
          <a:bodyPr wrap="square" rtlCol="0">
            <a:spAutoFit/>
          </a:bodyPr>
          <a:lstStyle/>
          <a:p>
            <a:r>
              <a:rPr lang="en-US" dirty="0"/>
              <a:t>https://www.youtube.com/watch?v=0vrdkzOnGgo</a:t>
            </a:r>
          </a:p>
        </p:txBody>
      </p:sp>
      <p:sp>
        <p:nvSpPr>
          <p:cNvPr id="5" name="TextBox 4">
            <a:extLst>
              <a:ext uri="{FF2B5EF4-FFF2-40B4-BE49-F238E27FC236}">
                <a16:creationId xmlns:a16="http://schemas.microsoft.com/office/drawing/2014/main" id="{43A43737-A290-76C8-8762-816D9511F68E}"/>
              </a:ext>
            </a:extLst>
          </p:cNvPr>
          <p:cNvSpPr txBox="1"/>
          <p:nvPr/>
        </p:nvSpPr>
        <p:spPr>
          <a:xfrm>
            <a:off x="8211492" y="2249556"/>
            <a:ext cx="2163778"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Root</a:t>
            </a:r>
          </a:p>
          <a:p>
            <a:pPr marL="285750" indent="-285750">
              <a:buFont typeface="Arial" panose="020B0604020202020204" pitchFamily="34" charset="0"/>
              <a:buChar char="•"/>
            </a:pPr>
            <a:r>
              <a:rPr lang="en-US" sz="2800" dirty="0"/>
              <a:t>Suck</a:t>
            </a:r>
          </a:p>
          <a:p>
            <a:pPr marL="285750" indent="-285750">
              <a:buFont typeface="Arial" panose="020B0604020202020204" pitchFamily="34" charset="0"/>
              <a:buChar char="•"/>
            </a:pPr>
            <a:r>
              <a:rPr lang="en-US" sz="2800" dirty="0"/>
              <a:t>Tonic Neck</a:t>
            </a:r>
          </a:p>
          <a:p>
            <a:pPr marL="285750" indent="-285750">
              <a:buFont typeface="Arial" panose="020B0604020202020204" pitchFamily="34" charset="0"/>
              <a:buChar char="•"/>
            </a:pPr>
            <a:r>
              <a:rPr lang="en-US" sz="2800" dirty="0"/>
              <a:t>Grasp</a:t>
            </a:r>
          </a:p>
          <a:p>
            <a:pPr marL="285750" indent="-285750">
              <a:buFont typeface="Arial" panose="020B0604020202020204" pitchFamily="34" charset="0"/>
              <a:buChar char="•"/>
            </a:pPr>
            <a:r>
              <a:rPr lang="en-US" sz="2800" dirty="0"/>
              <a:t>Step</a:t>
            </a:r>
          </a:p>
          <a:p>
            <a:pPr marL="285750" indent="-285750">
              <a:buFont typeface="Arial" panose="020B0604020202020204" pitchFamily="34" charset="0"/>
              <a:buChar char="•"/>
            </a:pPr>
            <a:r>
              <a:rPr lang="en-US" sz="2800" dirty="0"/>
              <a:t>Moro</a:t>
            </a:r>
          </a:p>
        </p:txBody>
      </p:sp>
    </p:spTree>
    <p:extLst>
      <p:ext uri="{BB962C8B-B14F-4D97-AF65-F5344CB8AC3E}">
        <p14:creationId xmlns:p14="http://schemas.microsoft.com/office/powerpoint/2010/main" val="219139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278AF-A9ED-474C-9673-61AAE25380BA}"/>
              </a:ext>
            </a:extLst>
          </p:cNvPr>
          <p:cNvSpPr>
            <a:spLocks noGrp="1"/>
          </p:cNvSpPr>
          <p:nvPr>
            <p:ph type="title"/>
          </p:nvPr>
        </p:nvSpPr>
        <p:spPr>
          <a:xfrm>
            <a:off x="8041742" y="648930"/>
            <a:ext cx="3461281" cy="3347337"/>
          </a:xfrm>
        </p:spPr>
        <p:txBody>
          <a:bodyPr vert="horz" lIns="91440" tIns="45720" rIns="91440" bIns="45720" rtlCol="0" anchor="b">
            <a:normAutofit/>
          </a:bodyPr>
          <a:lstStyle/>
          <a:p>
            <a:pPr algn="r"/>
            <a:r>
              <a:rPr lang="en-US" sz="3700"/>
              <a:t>Developmental Milestones, Ages 2-5 Years</a:t>
            </a:r>
          </a:p>
        </p:txBody>
      </p:sp>
      <p:graphicFrame>
        <p:nvGraphicFramePr>
          <p:cNvPr id="7" name="Content Placeholder 3">
            <a:extLst>
              <a:ext uri="{FF2B5EF4-FFF2-40B4-BE49-F238E27FC236}">
                <a16:creationId xmlns:a16="http://schemas.microsoft.com/office/drawing/2014/main" id="{85D1F557-4FFD-4666-BFCE-6ACE9637B6AC}"/>
              </a:ext>
            </a:extLst>
          </p:cNvPr>
          <p:cNvGraphicFramePr>
            <a:graphicFrameLocks/>
          </p:cNvGraphicFramePr>
          <p:nvPr/>
        </p:nvGraphicFramePr>
        <p:xfrm>
          <a:off x="977550" y="1191862"/>
          <a:ext cx="6202780" cy="4186517"/>
        </p:xfrm>
        <a:graphic>
          <a:graphicData uri="http://schemas.openxmlformats.org/drawingml/2006/table">
            <a:tbl>
              <a:tblPr firstRow="1" bandRow="1">
                <a:solidFill>
                  <a:srgbClr val="F2F2F2">
                    <a:alpha val="45098"/>
                  </a:srgbClr>
                </a:solidFill>
              </a:tblPr>
              <a:tblGrid>
                <a:gridCol w="731065">
                  <a:extLst>
                    <a:ext uri="{9D8B030D-6E8A-4147-A177-3AD203B41FA5}">
                      <a16:colId xmlns:a16="http://schemas.microsoft.com/office/drawing/2014/main" val="1455684161"/>
                    </a:ext>
                  </a:extLst>
                </a:gridCol>
                <a:gridCol w="1010824">
                  <a:extLst>
                    <a:ext uri="{9D8B030D-6E8A-4147-A177-3AD203B41FA5}">
                      <a16:colId xmlns:a16="http://schemas.microsoft.com/office/drawing/2014/main" val="3678879765"/>
                    </a:ext>
                  </a:extLst>
                </a:gridCol>
                <a:gridCol w="1657562">
                  <a:extLst>
                    <a:ext uri="{9D8B030D-6E8A-4147-A177-3AD203B41FA5}">
                      <a16:colId xmlns:a16="http://schemas.microsoft.com/office/drawing/2014/main" val="4044124516"/>
                    </a:ext>
                  </a:extLst>
                </a:gridCol>
                <a:gridCol w="1310331">
                  <a:extLst>
                    <a:ext uri="{9D8B030D-6E8A-4147-A177-3AD203B41FA5}">
                      <a16:colId xmlns:a16="http://schemas.microsoft.com/office/drawing/2014/main" val="2960196144"/>
                    </a:ext>
                  </a:extLst>
                </a:gridCol>
                <a:gridCol w="1492998">
                  <a:extLst>
                    <a:ext uri="{9D8B030D-6E8A-4147-A177-3AD203B41FA5}">
                      <a16:colId xmlns:a16="http://schemas.microsoft.com/office/drawing/2014/main" val="3016579878"/>
                    </a:ext>
                  </a:extLst>
                </a:gridCol>
              </a:tblGrid>
              <a:tr h="584533">
                <a:tc>
                  <a:txBody>
                    <a:bodyPr/>
                    <a:lstStyle/>
                    <a:p>
                      <a:pPr algn="l" fontAlgn="b"/>
                      <a:r>
                        <a:rPr lang="en-US" sz="1500" b="0" cap="none" spc="0">
                          <a:solidFill>
                            <a:schemeClr val="bg1"/>
                          </a:solidFill>
                          <a:effectLst/>
                        </a:rPr>
                        <a:t>Age (years)</a:t>
                      </a:r>
                    </a:p>
                  </a:txBody>
                  <a:tcPr marL="18960" marR="18960" marT="94789" marB="9479" anchor="ctr">
                    <a:lnL w="12700" cmpd="sng">
                      <a:noFill/>
                    </a:lnL>
                    <a:lnR w="12700" cmpd="sng">
                      <a:noFill/>
                    </a:lnR>
                    <a:lnT w="19050" cap="flat" cmpd="sng" algn="ctr">
                      <a:noFill/>
                      <a:prstDash val="solid"/>
                    </a:lnT>
                    <a:lnB w="38100" cmpd="sng">
                      <a:noFill/>
                    </a:lnB>
                    <a:solidFill>
                      <a:schemeClr val="tx1"/>
                    </a:solidFill>
                  </a:tcPr>
                </a:tc>
                <a:tc>
                  <a:txBody>
                    <a:bodyPr/>
                    <a:lstStyle/>
                    <a:p>
                      <a:pPr algn="l" fontAlgn="b"/>
                      <a:r>
                        <a:rPr lang="en-US" sz="1500" b="0" cap="none" spc="0">
                          <a:solidFill>
                            <a:schemeClr val="bg1"/>
                          </a:solidFill>
                          <a:effectLst/>
                        </a:rPr>
                        <a:t>Physical</a:t>
                      </a:r>
                    </a:p>
                  </a:txBody>
                  <a:tcPr marL="18960" marR="18960" marT="94789" marB="9479" anchor="ctr">
                    <a:lnL w="12700" cmpd="sng">
                      <a:noFill/>
                    </a:lnL>
                    <a:lnR w="12700" cmpd="sng">
                      <a:noFill/>
                    </a:lnR>
                    <a:lnT w="19050" cap="flat" cmpd="sng" algn="ctr">
                      <a:noFill/>
                      <a:prstDash val="solid"/>
                    </a:lnT>
                    <a:lnB w="38100" cmpd="sng">
                      <a:noFill/>
                    </a:lnB>
                    <a:solidFill>
                      <a:schemeClr val="tx1"/>
                    </a:solidFill>
                  </a:tcPr>
                </a:tc>
                <a:tc>
                  <a:txBody>
                    <a:bodyPr/>
                    <a:lstStyle/>
                    <a:p>
                      <a:pPr algn="l" fontAlgn="b"/>
                      <a:r>
                        <a:rPr lang="en-US" sz="1500" b="0" cap="none" spc="0">
                          <a:solidFill>
                            <a:schemeClr val="bg1"/>
                          </a:solidFill>
                          <a:effectLst/>
                        </a:rPr>
                        <a:t>Personal/Social</a:t>
                      </a:r>
                    </a:p>
                  </a:txBody>
                  <a:tcPr marL="18960" marR="18960" marT="94789" marB="9479" anchor="ctr">
                    <a:lnL w="12700" cmpd="sng">
                      <a:noFill/>
                    </a:lnL>
                    <a:lnR w="12700" cmpd="sng">
                      <a:noFill/>
                    </a:lnR>
                    <a:lnT w="19050" cap="flat" cmpd="sng" algn="ctr">
                      <a:noFill/>
                      <a:prstDash val="solid"/>
                    </a:lnT>
                    <a:lnB w="38100" cmpd="sng">
                      <a:noFill/>
                    </a:lnB>
                    <a:solidFill>
                      <a:schemeClr val="tx1"/>
                    </a:solidFill>
                  </a:tcPr>
                </a:tc>
                <a:tc>
                  <a:txBody>
                    <a:bodyPr/>
                    <a:lstStyle/>
                    <a:p>
                      <a:pPr algn="l" fontAlgn="b"/>
                      <a:r>
                        <a:rPr lang="en-US" sz="1500" b="0" cap="none" spc="0">
                          <a:solidFill>
                            <a:schemeClr val="bg1"/>
                          </a:solidFill>
                          <a:effectLst/>
                        </a:rPr>
                        <a:t>Language</a:t>
                      </a:r>
                    </a:p>
                  </a:txBody>
                  <a:tcPr marL="18960" marR="18960" marT="94789" marB="9479" anchor="ctr">
                    <a:lnL w="12700" cmpd="sng">
                      <a:noFill/>
                    </a:lnL>
                    <a:lnR w="12700" cmpd="sng">
                      <a:noFill/>
                    </a:lnR>
                    <a:lnT w="19050" cap="flat" cmpd="sng" algn="ctr">
                      <a:noFill/>
                      <a:prstDash val="solid"/>
                    </a:lnT>
                    <a:lnB w="38100" cmpd="sng">
                      <a:noFill/>
                    </a:lnB>
                    <a:solidFill>
                      <a:schemeClr val="tx1"/>
                    </a:solidFill>
                  </a:tcPr>
                </a:tc>
                <a:tc>
                  <a:txBody>
                    <a:bodyPr/>
                    <a:lstStyle/>
                    <a:p>
                      <a:pPr algn="l" fontAlgn="b"/>
                      <a:r>
                        <a:rPr lang="en-US" sz="1500" b="0" cap="none" spc="0">
                          <a:solidFill>
                            <a:schemeClr val="bg1"/>
                          </a:solidFill>
                          <a:effectLst/>
                        </a:rPr>
                        <a:t>Cognitive</a:t>
                      </a:r>
                    </a:p>
                  </a:txBody>
                  <a:tcPr marL="18960" marR="18960" marT="94789" marB="9479"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880359345"/>
                  </a:ext>
                </a:extLst>
              </a:tr>
              <a:tr h="1090074">
                <a:tc>
                  <a:txBody>
                    <a:bodyPr/>
                    <a:lstStyle/>
                    <a:p>
                      <a:pPr fontAlgn="ctr"/>
                      <a:r>
                        <a:rPr lang="en-US" sz="1200" cap="none" spc="0">
                          <a:solidFill>
                            <a:schemeClr val="tx1"/>
                          </a:solidFill>
                          <a:effectLst/>
                        </a:rPr>
                        <a:t>2</a:t>
                      </a:r>
                    </a:p>
                  </a:txBody>
                  <a:tcPr marL="18960" marR="18960" marT="94789" marB="947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Kicks a ball; walks up and down stairs</a:t>
                      </a:r>
                    </a:p>
                  </a:txBody>
                  <a:tcPr marL="18960" marR="18960" marT="94789" marB="947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Plays alongside other children; copies adults</a:t>
                      </a:r>
                    </a:p>
                  </a:txBody>
                  <a:tcPr marL="18960" marR="18960" marT="94789" marB="947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Points to objects when named; puts 2–4 words together in a sentence</a:t>
                      </a:r>
                    </a:p>
                  </a:txBody>
                  <a:tcPr marL="18960" marR="18960" marT="94789" marB="947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Sorts shapes and colors; follows 2-step instructions</a:t>
                      </a:r>
                    </a:p>
                  </a:txBody>
                  <a:tcPr marL="18960" marR="18960" marT="94789" marB="9479"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3303839524"/>
                  </a:ext>
                </a:extLst>
              </a:tr>
              <a:tr h="900496">
                <a:tc>
                  <a:txBody>
                    <a:bodyPr/>
                    <a:lstStyle/>
                    <a:p>
                      <a:pPr fontAlgn="ctr"/>
                      <a:r>
                        <a:rPr lang="en-US" sz="1200" cap="none" spc="0">
                          <a:solidFill>
                            <a:schemeClr val="tx1"/>
                          </a:solidFill>
                          <a:effectLst/>
                        </a:rPr>
                        <a:t>3</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Climbs and runs; pedals tricycle</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Takes turns; expresses many emotions; dresses self</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Names familiar things; uses pronouns</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Plays make believe; works toys with parts (levers, handles)</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89838284"/>
                  </a:ext>
                </a:extLst>
              </a:tr>
              <a:tr h="710918">
                <a:tc>
                  <a:txBody>
                    <a:bodyPr/>
                    <a:lstStyle/>
                    <a:p>
                      <a:pPr fontAlgn="ctr"/>
                      <a:r>
                        <a:rPr lang="en-US" sz="1200" cap="none" spc="0">
                          <a:solidFill>
                            <a:schemeClr val="tx1"/>
                          </a:solidFill>
                          <a:effectLst/>
                        </a:rPr>
                        <a:t>4</a:t>
                      </a:r>
                    </a:p>
                  </a:txBody>
                  <a:tcPr marL="18960" marR="18960" marT="94789" marB="947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Catches balls; uses scissors</a:t>
                      </a:r>
                    </a:p>
                  </a:txBody>
                  <a:tcPr marL="18960" marR="18960" marT="94789" marB="947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Prefers social play to solo play; knows likes and interests</a:t>
                      </a:r>
                    </a:p>
                  </a:txBody>
                  <a:tcPr marL="18960" marR="18960" marT="94789" marB="947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Knows songs and rhymes by memory</a:t>
                      </a:r>
                    </a:p>
                  </a:txBody>
                  <a:tcPr marL="18960" marR="18960" marT="94789" marB="947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fontAlgn="ctr"/>
                      <a:r>
                        <a:rPr lang="en-US" sz="1200" cap="none" spc="0">
                          <a:solidFill>
                            <a:schemeClr val="tx1"/>
                          </a:solidFill>
                          <a:effectLst/>
                        </a:rPr>
                        <a:t>Names colors and numbers; begins writing letters</a:t>
                      </a:r>
                    </a:p>
                  </a:txBody>
                  <a:tcPr marL="18960" marR="18960" marT="94789" marB="9479"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777132349"/>
                  </a:ext>
                </a:extLst>
              </a:tr>
              <a:tr h="900496">
                <a:tc>
                  <a:txBody>
                    <a:bodyPr/>
                    <a:lstStyle/>
                    <a:p>
                      <a:pPr fontAlgn="ctr"/>
                      <a:r>
                        <a:rPr lang="en-US" sz="1200" cap="none" spc="0">
                          <a:solidFill>
                            <a:schemeClr val="tx1"/>
                          </a:solidFill>
                          <a:effectLst/>
                        </a:rPr>
                        <a:t>5</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Hops and swings; uses fork and spoon</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Distinguishes real from pretend; likes to please friends</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Speaks clearly; uses full sentences</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ctr"/>
                      <a:r>
                        <a:rPr lang="en-US" sz="1200" cap="none" spc="0">
                          <a:solidFill>
                            <a:schemeClr val="tx1"/>
                          </a:solidFill>
                          <a:effectLst/>
                        </a:rPr>
                        <a:t>Counts to 10 or higher; prints some letters and copies basic shapes</a:t>
                      </a:r>
                    </a:p>
                  </a:txBody>
                  <a:tcPr marL="18960" marR="18960" marT="94789" marB="947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4293313731"/>
                  </a:ext>
                </a:extLst>
              </a:tr>
            </a:tbl>
          </a:graphicData>
        </a:graphic>
      </p:graphicFrame>
    </p:spTree>
    <p:extLst>
      <p:ext uri="{BB962C8B-B14F-4D97-AF65-F5344CB8AC3E}">
        <p14:creationId xmlns:p14="http://schemas.microsoft.com/office/powerpoint/2010/main" val="4008595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F915-4E12-4D0A-8D92-AF071B0ABE41}"/>
              </a:ext>
            </a:extLst>
          </p:cNvPr>
          <p:cNvSpPr>
            <a:spLocks noGrp="1"/>
          </p:cNvSpPr>
          <p:nvPr>
            <p:ph type="title"/>
          </p:nvPr>
        </p:nvSpPr>
        <p:spPr>
          <a:xfrm>
            <a:off x="8483098" y="1074392"/>
            <a:ext cx="3131728" cy="4377961"/>
          </a:xfrm>
        </p:spPr>
        <p:txBody>
          <a:bodyPr>
            <a:normAutofit/>
          </a:bodyPr>
          <a:lstStyle/>
          <a:p>
            <a:r>
              <a:rPr lang="en-US" sz="4000" b="1" dirty="0">
                <a:solidFill>
                  <a:srgbClr val="000000"/>
                </a:solidFill>
              </a:rPr>
              <a:t>Attachments</a:t>
            </a:r>
            <a:br>
              <a:rPr lang="en-US" sz="3100" dirty="0">
                <a:solidFill>
                  <a:srgbClr val="000000"/>
                </a:solidFill>
              </a:rPr>
            </a:br>
            <a:br>
              <a:rPr lang="en-US" sz="3100" dirty="0">
                <a:solidFill>
                  <a:srgbClr val="000000"/>
                </a:solidFill>
              </a:rPr>
            </a:br>
            <a:r>
              <a:rPr lang="en-US" sz="3100" dirty="0">
                <a:solidFill>
                  <a:srgbClr val="000000"/>
                </a:solidFill>
              </a:rPr>
              <a:t>Mary Ainsworth and the Strange Situation</a:t>
            </a:r>
          </a:p>
        </p:txBody>
      </p:sp>
      <p:graphicFrame>
        <p:nvGraphicFramePr>
          <p:cNvPr id="5" name="Content Placeholder 2" descr="Attachment style table">
            <a:extLst>
              <a:ext uri="{FF2B5EF4-FFF2-40B4-BE49-F238E27FC236}">
                <a16:creationId xmlns:a16="http://schemas.microsoft.com/office/drawing/2014/main" id="{F019C46F-71B3-4C6D-8DAC-0BCECBA8589E}"/>
              </a:ext>
            </a:extLst>
          </p:cNvPr>
          <p:cNvGraphicFramePr>
            <a:graphicFrameLocks noGrp="1"/>
          </p:cNvGraphicFramePr>
          <p:nvPr>
            <p:ph idx="1"/>
            <p:extLst>
              <p:ext uri="{D42A27DB-BD31-4B8C-83A1-F6EECF244321}">
                <p14:modId xmlns:p14="http://schemas.microsoft.com/office/powerpoint/2010/main" val="477267817"/>
              </p:ext>
            </p:extLst>
          </p:nvPr>
        </p:nvGraphicFramePr>
        <p:xfrm>
          <a:off x="643467" y="643468"/>
          <a:ext cx="6749521" cy="52398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1759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10490-7AFF-4AE2-8A82-8E26B7C44732}"/>
              </a:ext>
            </a:extLst>
          </p:cNvPr>
          <p:cNvSpPr>
            <a:spLocks noGrp="1"/>
          </p:cNvSpPr>
          <p:nvPr>
            <p:ph type="title"/>
          </p:nvPr>
        </p:nvSpPr>
        <p:spPr>
          <a:xfrm>
            <a:off x="768095" y="667512"/>
            <a:ext cx="6936403" cy="1360464"/>
          </a:xfrm>
        </p:spPr>
        <p:txBody>
          <a:bodyPr/>
          <a:lstStyle/>
          <a:p>
            <a:r>
              <a:rPr lang="en-US" dirty="0"/>
              <a:t>Parenting Styles</a:t>
            </a:r>
          </a:p>
        </p:txBody>
      </p:sp>
      <p:graphicFrame>
        <p:nvGraphicFramePr>
          <p:cNvPr id="5" name="Content Placeholder 2">
            <a:extLst>
              <a:ext uri="{FF2B5EF4-FFF2-40B4-BE49-F238E27FC236}">
                <a16:creationId xmlns:a16="http://schemas.microsoft.com/office/drawing/2014/main" id="{B963C989-BA84-40EF-8170-72FA43C9B0FE}"/>
              </a:ext>
            </a:extLst>
          </p:cNvPr>
          <p:cNvGraphicFramePr>
            <a:graphicFrameLocks noGrp="1"/>
          </p:cNvGraphicFramePr>
          <p:nvPr>
            <p:ph idx="1"/>
            <p:extLst>
              <p:ext uri="{D42A27DB-BD31-4B8C-83A1-F6EECF244321}">
                <p14:modId xmlns:p14="http://schemas.microsoft.com/office/powerpoint/2010/main" val="3520015551"/>
              </p:ext>
            </p:extLst>
          </p:nvPr>
        </p:nvGraphicFramePr>
        <p:xfrm>
          <a:off x="1405192" y="2027976"/>
          <a:ext cx="10018713" cy="3124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5CFB6287-B1B0-B5F8-CE4A-91053FC0A8EB}"/>
              </a:ext>
            </a:extLst>
          </p:cNvPr>
          <p:cNvSpPr txBox="1"/>
          <p:nvPr/>
        </p:nvSpPr>
        <p:spPr>
          <a:xfrm>
            <a:off x="3571760" y="4962054"/>
            <a:ext cx="5685576" cy="646331"/>
          </a:xfrm>
          <a:prstGeom prst="rect">
            <a:avLst/>
          </a:prstGeom>
          <a:noFill/>
        </p:spPr>
        <p:txBody>
          <a:bodyPr wrap="square" rtlCol="0">
            <a:spAutoFit/>
          </a:bodyPr>
          <a:lstStyle/>
          <a:p>
            <a:r>
              <a:rPr lang="en-US" dirty="0"/>
              <a:t>Something to consider: How do each of these impact a child’s developing sense of self?</a:t>
            </a:r>
          </a:p>
        </p:txBody>
      </p:sp>
    </p:spTree>
    <p:extLst>
      <p:ext uri="{BB962C8B-B14F-4D97-AF65-F5344CB8AC3E}">
        <p14:creationId xmlns:p14="http://schemas.microsoft.com/office/powerpoint/2010/main" val="525028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3F7AA-5AA9-47CB-960F-B67D6317A0E0}"/>
              </a:ext>
            </a:extLst>
          </p:cNvPr>
          <p:cNvSpPr>
            <a:spLocks noGrp="1"/>
          </p:cNvSpPr>
          <p:nvPr>
            <p:ph type="title"/>
          </p:nvPr>
        </p:nvSpPr>
        <p:spPr>
          <a:xfrm>
            <a:off x="768095" y="667512"/>
            <a:ext cx="8158621" cy="1061700"/>
          </a:xfrm>
        </p:spPr>
        <p:txBody>
          <a:bodyPr/>
          <a:lstStyle/>
          <a:p>
            <a:r>
              <a:rPr lang="en-US"/>
              <a:t>Adolescence</a:t>
            </a:r>
            <a:endParaRPr lang="en-US" dirty="0"/>
          </a:p>
        </p:txBody>
      </p:sp>
      <p:pic>
        <p:nvPicPr>
          <p:cNvPr id="4" name="Content Placeholder 3" descr="Table displaying psychosocial processes and substage characteristics of adolescent development. It categorizes early, middle, and late adolescence into emotionally, cognitively, and socially related traits, highlighting key changes like body image adjustment, abstract thinking emergence, and increased impulse control.&#10;&#10;AI-generated content may be incorrect.">
            <a:extLst>
              <a:ext uri="{FF2B5EF4-FFF2-40B4-BE49-F238E27FC236}">
                <a16:creationId xmlns:a16="http://schemas.microsoft.com/office/drawing/2014/main" id="{73931C9A-3954-4C31-B11B-DD5AE9C52991}"/>
              </a:ext>
            </a:extLst>
          </p:cNvPr>
          <p:cNvPicPr>
            <a:picLocks noGrp="1" noChangeAspect="1"/>
          </p:cNvPicPr>
          <p:nvPr>
            <p:ph idx="1"/>
          </p:nvPr>
        </p:nvPicPr>
        <p:blipFill>
          <a:blip r:embed="rId3"/>
          <a:stretch>
            <a:fillRect/>
          </a:stretch>
        </p:blipFill>
        <p:spPr>
          <a:xfrm>
            <a:off x="1787511" y="2005818"/>
            <a:ext cx="8920178" cy="4223270"/>
          </a:xfrm>
          <a:prstGeom prst="rect">
            <a:avLst/>
          </a:prstGeom>
        </p:spPr>
      </p:pic>
    </p:spTree>
    <p:extLst>
      <p:ext uri="{BB962C8B-B14F-4D97-AF65-F5344CB8AC3E}">
        <p14:creationId xmlns:p14="http://schemas.microsoft.com/office/powerpoint/2010/main" val="3485441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AFD521-4D8C-40F4-8224-B75EC0ACB90D}"/>
              </a:ext>
            </a:extLst>
          </p:cNvPr>
          <p:cNvSpPr>
            <a:spLocks noGrp="1"/>
          </p:cNvSpPr>
          <p:nvPr>
            <p:ph type="title"/>
          </p:nvPr>
        </p:nvSpPr>
        <p:spPr>
          <a:xfrm>
            <a:off x="729347" y="3822895"/>
            <a:ext cx="5915295" cy="1752599"/>
          </a:xfrm>
        </p:spPr>
        <p:txBody>
          <a:bodyPr/>
          <a:lstStyle/>
          <a:p>
            <a:r>
              <a:rPr lang="en-US" dirty="0"/>
              <a:t>Emerging Adulthood</a:t>
            </a:r>
          </a:p>
        </p:txBody>
      </p:sp>
      <p:pic>
        <p:nvPicPr>
          <p:cNvPr id="4" name="Content Placeholder 3" descr="Line graph showing inflation-adjusted GDP growth per person for generations from age 18 to 33, with each generation represented by distinct colored lines and labels. Notable trends include G.I. generation exhibiting highest growth nearing 60%, Millennials showing lowest growth under 20%, and other generations like Boomers and Silent displaying moderate increases between 20% and 40%.&#10;&#10;AI-generated content may be incorrect.">
            <a:extLst>
              <a:ext uri="{FF2B5EF4-FFF2-40B4-BE49-F238E27FC236}">
                <a16:creationId xmlns:a16="http://schemas.microsoft.com/office/drawing/2014/main" id="{266197B2-6487-4E8B-B9F1-AD4C60496561}"/>
              </a:ext>
            </a:extLst>
          </p:cNvPr>
          <p:cNvPicPr>
            <a:picLocks noGrp="1" noChangeAspect="1"/>
          </p:cNvPicPr>
          <p:nvPr>
            <p:ph idx="4294967295"/>
          </p:nvPr>
        </p:nvPicPr>
        <p:blipFill>
          <a:blip r:embed="rId3"/>
          <a:stretch>
            <a:fillRect/>
          </a:stretch>
        </p:blipFill>
        <p:spPr>
          <a:xfrm>
            <a:off x="7181800" y="249660"/>
            <a:ext cx="4409978" cy="6485365"/>
          </a:xfrm>
          <a:prstGeom prst="rect">
            <a:avLst/>
          </a:prstGeom>
        </p:spPr>
      </p:pic>
    </p:spTree>
    <p:extLst>
      <p:ext uri="{BB962C8B-B14F-4D97-AF65-F5344CB8AC3E}">
        <p14:creationId xmlns:p14="http://schemas.microsoft.com/office/powerpoint/2010/main" val="4139659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wo people holding each other's hands">
            <a:extLst>
              <a:ext uri="{FF2B5EF4-FFF2-40B4-BE49-F238E27FC236}">
                <a16:creationId xmlns:a16="http://schemas.microsoft.com/office/drawing/2014/main" id="{7B456A1B-493E-4014-8E4F-925BE06884BC}"/>
              </a:ext>
            </a:extLst>
          </p:cNvPr>
          <p:cNvPicPr>
            <a:picLocks noChangeAspect="1"/>
          </p:cNvPicPr>
          <p:nvPr/>
        </p:nvPicPr>
        <p:blipFill rotWithShape="1">
          <a:blip r:embed="rId3">
            <a:duotone>
              <a:schemeClr val="bg2">
                <a:shade val="45000"/>
                <a:satMod val="135000"/>
              </a:schemeClr>
              <a:prstClr val="white"/>
            </a:duotone>
            <a:alphaModFix amt="35000"/>
          </a:blip>
          <a:srcRect t="7664" b="8067"/>
          <a:stretch/>
        </p:blipFill>
        <p:spPr>
          <a:xfrm>
            <a:off x="20" y="-159508"/>
            <a:ext cx="12191980" cy="6857990"/>
          </a:xfrm>
          <a:prstGeom prst="rect">
            <a:avLst/>
          </a:prstGeom>
        </p:spPr>
      </p:pic>
      <p:sp>
        <p:nvSpPr>
          <p:cNvPr id="2" name="Title 1">
            <a:extLst>
              <a:ext uri="{FF2B5EF4-FFF2-40B4-BE49-F238E27FC236}">
                <a16:creationId xmlns:a16="http://schemas.microsoft.com/office/drawing/2014/main" id="{4F89E40B-34AA-4715-A851-DBA2F71719F5}"/>
              </a:ext>
            </a:extLst>
          </p:cNvPr>
          <p:cNvSpPr>
            <a:spLocks noGrp="1"/>
          </p:cNvSpPr>
          <p:nvPr>
            <p:ph type="title"/>
          </p:nvPr>
        </p:nvSpPr>
        <p:spPr>
          <a:xfrm>
            <a:off x="7775185" y="894616"/>
            <a:ext cx="3532593" cy="1350643"/>
          </a:xfrm>
        </p:spPr>
        <p:txBody>
          <a:bodyPr vert="horz" lIns="91440" tIns="45720" rIns="91440" bIns="45720" rtlCol="0" anchor="b">
            <a:normAutofit fontScale="90000"/>
          </a:bodyPr>
          <a:lstStyle/>
          <a:p>
            <a:pPr algn="r"/>
            <a:r>
              <a:rPr lang="en-US" sz="6000" dirty="0"/>
              <a:t>Adulthood</a:t>
            </a:r>
          </a:p>
        </p:txBody>
      </p:sp>
      <p:sp>
        <p:nvSpPr>
          <p:cNvPr id="5" name="TextBox 4">
            <a:extLst>
              <a:ext uri="{FF2B5EF4-FFF2-40B4-BE49-F238E27FC236}">
                <a16:creationId xmlns:a16="http://schemas.microsoft.com/office/drawing/2014/main" id="{2EB1CC3D-FD38-4C52-8F03-B53BB07BD7F2}"/>
              </a:ext>
            </a:extLst>
          </p:cNvPr>
          <p:cNvSpPr txBox="1"/>
          <p:nvPr/>
        </p:nvSpPr>
        <p:spPr>
          <a:xfrm>
            <a:off x="7604910" y="3343244"/>
            <a:ext cx="3702867" cy="70788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spcBef>
                <a:spcPts val="600"/>
              </a:spcBef>
              <a:spcAft>
                <a:spcPts val="600"/>
              </a:spcAft>
            </a:pPr>
            <a:r>
              <a:rPr lang="en-US" sz="2000" dirty="0"/>
              <a:t>Socioemotional Selectivity Theory</a:t>
            </a:r>
          </a:p>
        </p:txBody>
      </p:sp>
      <p:pic>
        <p:nvPicPr>
          <p:cNvPr id="6" name="Picture 5" descr="Illustration compares three life stages—youth, middle age, and old age—using cartoon figures and bar indicators for time, money, and energy. Youth shows high time and energy but low money, middle age shows high money and energy but low time, and old age shows high time and money but low energy.&#10;&#10;AI-generated content may be incorrect.">
            <a:extLst>
              <a:ext uri="{FF2B5EF4-FFF2-40B4-BE49-F238E27FC236}">
                <a16:creationId xmlns:a16="http://schemas.microsoft.com/office/drawing/2014/main" id="{EF44C48B-41E6-42C1-82C8-DB057B1BE185}"/>
              </a:ext>
            </a:extLst>
          </p:cNvPr>
          <p:cNvPicPr>
            <a:picLocks noChangeAspect="1"/>
          </p:cNvPicPr>
          <p:nvPr/>
        </p:nvPicPr>
        <p:blipFill>
          <a:blip r:embed="rId4"/>
          <a:stretch>
            <a:fillRect/>
          </a:stretch>
        </p:blipFill>
        <p:spPr>
          <a:xfrm>
            <a:off x="439970" y="1642139"/>
            <a:ext cx="6386869" cy="4419713"/>
          </a:xfrm>
          <a:prstGeom prst="rect">
            <a:avLst/>
          </a:prstGeom>
        </p:spPr>
      </p:pic>
    </p:spTree>
    <p:extLst>
      <p:ext uri="{BB962C8B-B14F-4D97-AF65-F5344CB8AC3E}">
        <p14:creationId xmlns:p14="http://schemas.microsoft.com/office/powerpoint/2010/main" val="248664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FE5F-6237-43AD-8175-25AA88E8B4CB}"/>
              </a:ext>
            </a:extLst>
          </p:cNvPr>
          <p:cNvSpPr>
            <a:spLocks noGrp="1"/>
          </p:cNvSpPr>
          <p:nvPr>
            <p:ph type="title"/>
          </p:nvPr>
        </p:nvSpPr>
        <p:spPr>
          <a:xfrm>
            <a:off x="535021" y="685800"/>
            <a:ext cx="2639962" cy="5105400"/>
          </a:xfrm>
        </p:spPr>
        <p:txBody>
          <a:bodyPr>
            <a:normAutofit/>
          </a:bodyPr>
          <a:lstStyle/>
          <a:p>
            <a:r>
              <a:rPr lang="en-US" dirty="0">
                <a:solidFill>
                  <a:schemeClr val="tx1">
                    <a:lumMod val="95000"/>
                    <a:lumOff val="5000"/>
                  </a:schemeClr>
                </a:solidFill>
              </a:rPr>
              <a:t>The Legalities of Aging</a:t>
            </a:r>
          </a:p>
        </p:txBody>
      </p:sp>
      <p:graphicFrame>
        <p:nvGraphicFramePr>
          <p:cNvPr id="5" name="Content Placeholder 2">
            <a:extLst>
              <a:ext uri="{FF2B5EF4-FFF2-40B4-BE49-F238E27FC236}">
                <a16:creationId xmlns:a16="http://schemas.microsoft.com/office/drawing/2014/main" id="{05FCDEE4-973D-409C-9444-067092DDE24F}"/>
              </a:ext>
            </a:extLst>
          </p:cNvPr>
          <p:cNvGraphicFramePr>
            <a:graphicFrameLocks noGrp="1"/>
          </p:cNvGraphicFramePr>
          <p:nvPr>
            <p:ph idx="1"/>
            <p:extLst>
              <p:ext uri="{D42A27DB-BD31-4B8C-83A1-F6EECF244321}">
                <p14:modId xmlns:p14="http://schemas.microsoft.com/office/powerpoint/2010/main" val="1141732999"/>
              </p:ext>
            </p:extLst>
          </p:nvPr>
        </p:nvGraphicFramePr>
        <p:xfrm>
          <a:off x="3905627"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3898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D49AA-BF25-D893-3B6A-DFF9C11296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2261DE-EF83-C1E0-BD84-65F0035232CD}"/>
              </a:ext>
            </a:extLst>
          </p:cNvPr>
          <p:cNvSpPr>
            <a:spLocks noGrp="1"/>
          </p:cNvSpPr>
          <p:nvPr>
            <p:ph type="title"/>
          </p:nvPr>
        </p:nvSpPr>
        <p:spPr>
          <a:xfrm>
            <a:off x="914400" y="556970"/>
            <a:ext cx="10360152" cy="597529"/>
          </a:xfrm>
        </p:spPr>
        <p:txBody>
          <a:bodyPr/>
          <a:lstStyle/>
          <a:p>
            <a:r>
              <a:rPr lang="en-US" dirty="0"/>
              <a:t>Grief and Processing</a:t>
            </a:r>
          </a:p>
        </p:txBody>
      </p:sp>
      <p:pic>
        <p:nvPicPr>
          <p:cNvPr id="11" name="Content Placeholder 10" descr="Diagram showing a large blue circle centered within a square with a red vertical label reading &quot;PAIN&quot; on the right side. The blue circle shrinks, so hits the pain button less often&#10;">
            <a:extLst>
              <a:ext uri="{FF2B5EF4-FFF2-40B4-BE49-F238E27FC236}">
                <a16:creationId xmlns:a16="http://schemas.microsoft.com/office/drawing/2014/main" id="{F0CFA831-6A05-E44A-7E1C-9C813AFE4117}"/>
              </a:ext>
            </a:extLst>
          </p:cNvPr>
          <p:cNvPicPr>
            <a:picLocks noGrp="1" noChangeAspect="1"/>
          </p:cNvPicPr>
          <p:nvPr>
            <p:ph sz="quarter" idx="12"/>
          </p:nvPr>
        </p:nvPicPr>
        <p:blipFill>
          <a:blip r:embed="rId3"/>
          <a:stretch>
            <a:fillRect/>
          </a:stretch>
        </p:blipFill>
        <p:spPr>
          <a:xfrm>
            <a:off x="6707187" y="1451824"/>
            <a:ext cx="4464789" cy="4464789"/>
          </a:xfrm>
        </p:spPr>
      </p:pic>
      <p:sp>
        <p:nvSpPr>
          <p:cNvPr id="6" name="Slide Number Placeholder 5">
            <a:extLst>
              <a:ext uri="{FF2B5EF4-FFF2-40B4-BE49-F238E27FC236}">
                <a16:creationId xmlns:a16="http://schemas.microsoft.com/office/drawing/2014/main" id="{A7765186-6628-E292-10D4-D0C89D45C1DE}"/>
              </a:ext>
            </a:extLst>
          </p:cNvPr>
          <p:cNvSpPr>
            <a:spLocks noGrp="1"/>
          </p:cNvSpPr>
          <p:nvPr>
            <p:ph type="sldNum" sz="quarter" idx="4"/>
          </p:nvPr>
        </p:nvSpPr>
        <p:spPr/>
        <p:txBody>
          <a:bodyPr/>
          <a:lstStyle/>
          <a:p>
            <a:fld id="{58FB4751-880F-D840-AAA9-3A15815CC996}" type="slidenum">
              <a:rPr lang="en-US" smtClean="0"/>
              <a:pPr/>
              <a:t>24</a:t>
            </a:fld>
            <a:endParaRPr lang="en-US" dirty="0"/>
          </a:p>
        </p:txBody>
      </p:sp>
      <p:pic>
        <p:nvPicPr>
          <p:cNvPr id="3" name="Picture 2" descr="Diagram illustrating Kübler-Ross Model's five stages of grief, arranged sequentially from denial to acceptance along a timeline. Each stage is represented by a colored circle with an emoticon and key emotions or behaviors: denial (teal, fear), anger (red, anxiety), bargaining (orange, helplessness), depression (blue, telling one's story), and acceptance (green, moving on).">
            <a:extLst>
              <a:ext uri="{FF2B5EF4-FFF2-40B4-BE49-F238E27FC236}">
                <a16:creationId xmlns:a16="http://schemas.microsoft.com/office/drawing/2014/main" id="{3B210C39-D9CF-4E28-09E1-CE84D00EFD9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76785" y="1455879"/>
            <a:ext cx="6039534" cy="4537515"/>
          </a:xfrm>
          <a:prstGeom prst="rect">
            <a:avLst/>
          </a:prstGeom>
        </p:spPr>
      </p:pic>
      <p:sp>
        <p:nvSpPr>
          <p:cNvPr id="12" name="TextBox 11">
            <a:extLst>
              <a:ext uri="{FF2B5EF4-FFF2-40B4-BE49-F238E27FC236}">
                <a16:creationId xmlns:a16="http://schemas.microsoft.com/office/drawing/2014/main" id="{854B090E-2D7F-D924-D2DB-D76FB471BE46}"/>
              </a:ext>
            </a:extLst>
          </p:cNvPr>
          <p:cNvSpPr txBox="1"/>
          <p:nvPr/>
        </p:nvSpPr>
        <p:spPr>
          <a:xfrm>
            <a:off x="624689" y="6147303"/>
            <a:ext cx="4381841" cy="461665"/>
          </a:xfrm>
          <a:prstGeom prst="rect">
            <a:avLst/>
          </a:prstGeom>
          <a:noFill/>
        </p:spPr>
        <p:txBody>
          <a:bodyPr wrap="none" rtlCol="0">
            <a:spAutoFit/>
          </a:bodyPr>
          <a:lstStyle/>
          <a:p>
            <a:r>
              <a:rPr lang="en-US" sz="2400" b="1" dirty="0"/>
              <a:t>The Kubler-Ross Five-Stage Theory</a:t>
            </a:r>
            <a:endParaRPr lang="en-US" b="1" dirty="0"/>
          </a:p>
        </p:txBody>
      </p:sp>
      <p:sp>
        <p:nvSpPr>
          <p:cNvPr id="15" name="TextBox 14">
            <a:extLst>
              <a:ext uri="{FF2B5EF4-FFF2-40B4-BE49-F238E27FC236}">
                <a16:creationId xmlns:a16="http://schemas.microsoft.com/office/drawing/2014/main" id="{B727894B-8C3F-DA6F-4F4F-02B382B87655}"/>
              </a:ext>
            </a:extLst>
          </p:cNvPr>
          <p:cNvSpPr txBox="1"/>
          <p:nvPr/>
        </p:nvSpPr>
        <p:spPr>
          <a:xfrm>
            <a:off x="6707187" y="6120081"/>
            <a:ext cx="3550587" cy="461665"/>
          </a:xfrm>
          <a:prstGeom prst="rect">
            <a:avLst/>
          </a:prstGeom>
          <a:noFill/>
        </p:spPr>
        <p:txBody>
          <a:bodyPr wrap="none" rtlCol="0">
            <a:spAutoFit/>
          </a:bodyPr>
          <a:lstStyle/>
          <a:p>
            <a:r>
              <a:rPr lang="en-US" sz="2400" b="1" dirty="0"/>
              <a:t>The Ball-in-the-Box Analogy</a:t>
            </a:r>
            <a:endParaRPr lang="en-US" b="1" dirty="0"/>
          </a:p>
        </p:txBody>
      </p:sp>
    </p:spTree>
    <p:extLst>
      <p:ext uri="{BB962C8B-B14F-4D97-AF65-F5344CB8AC3E}">
        <p14:creationId xmlns:p14="http://schemas.microsoft.com/office/powerpoint/2010/main" val="341695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90BA-E351-E4F3-A685-7CAE91ED18BA}"/>
              </a:ext>
            </a:extLst>
          </p:cNvPr>
          <p:cNvSpPr>
            <a:spLocks noGrp="1"/>
          </p:cNvSpPr>
          <p:nvPr>
            <p:ph type="title"/>
          </p:nvPr>
        </p:nvSpPr>
        <p:spPr/>
        <p:txBody>
          <a:bodyPr/>
          <a:lstStyle/>
          <a:p>
            <a:r>
              <a:rPr lang="en-US" dirty="0"/>
              <a:t>Next time on PSY 203…</a:t>
            </a:r>
          </a:p>
        </p:txBody>
      </p:sp>
      <p:sp>
        <p:nvSpPr>
          <p:cNvPr id="6" name="Content Placeholder 5">
            <a:extLst>
              <a:ext uri="{FF2B5EF4-FFF2-40B4-BE49-F238E27FC236}">
                <a16:creationId xmlns:a16="http://schemas.microsoft.com/office/drawing/2014/main" id="{694F2E81-9C7C-B5C9-1DD9-4F07341C51FB}"/>
              </a:ext>
            </a:extLst>
          </p:cNvPr>
          <p:cNvSpPr>
            <a:spLocks noGrp="1"/>
          </p:cNvSpPr>
          <p:nvPr>
            <p:ph idx="1"/>
          </p:nvPr>
        </p:nvSpPr>
        <p:spPr/>
        <p:txBody>
          <a:bodyPr/>
          <a:lstStyle/>
          <a:p>
            <a:pPr marL="0" indent="0">
              <a:buNone/>
            </a:pPr>
            <a:r>
              <a:rPr lang="en-US" dirty="0"/>
              <a:t>BEFORE NEXT CLASS:</a:t>
            </a:r>
          </a:p>
          <a:p>
            <a:r>
              <a:rPr lang="en-US" dirty="0"/>
              <a:t>Read Chapter 11 &amp; take the quiz</a:t>
            </a:r>
          </a:p>
          <a:p>
            <a:pPr lvl="1"/>
            <a:r>
              <a:rPr lang="en-US" dirty="0"/>
              <a:t>NOTE: We are skipping Chapter 10 for now</a:t>
            </a:r>
          </a:p>
          <a:p>
            <a:r>
              <a:rPr lang="en-US" dirty="0"/>
              <a:t>Complete Exam 2 Reflection</a:t>
            </a:r>
          </a:p>
          <a:p>
            <a:pPr lvl="1"/>
            <a:r>
              <a:rPr lang="en-US" dirty="0"/>
              <a:t>Due tonight at 11:59 pm</a:t>
            </a:r>
          </a:p>
        </p:txBody>
      </p:sp>
      <p:sp>
        <p:nvSpPr>
          <p:cNvPr id="7" name="Content Placeholder 6">
            <a:extLst>
              <a:ext uri="{FF2B5EF4-FFF2-40B4-BE49-F238E27FC236}">
                <a16:creationId xmlns:a16="http://schemas.microsoft.com/office/drawing/2014/main" id="{D5A1EB2A-BB63-6729-EE0B-292C510190F7}"/>
              </a:ext>
            </a:extLst>
          </p:cNvPr>
          <p:cNvSpPr>
            <a:spLocks noGrp="1"/>
          </p:cNvSpPr>
          <p:nvPr>
            <p:ph idx="13"/>
          </p:nvPr>
        </p:nvSpPr>
        <p:spPr/>
        <p:txBody>
          <a:bodyPr/>
          <a:lstStyle/>
          <a:p>
            <a:pPr marL="0" indent="0">
              <a:buNone/>
            </a:pPr>
            <a:r>
              <a:rPr lang="en-US" dirty="0"/>
              <a:t>NEXT CLASS:</a:t>
            </a:r>
          </a:p>
          <a:p>
            <a:r>
              <a:rPr lang="en-US" dirty="0"/>
              <a:t>Chapter 11- Personality</a:t>
            </a:r>
          </a:p>
          <a:p>
            <a:pPr lvl="1"/>
            <a:r>
              <a:rPr lang="en-US" dirty="0"/>
              <a:t>NOTE: We are skipping Chapter 10 for now</a:t>
            </a:r>
          </a:p>
        </p:txBody>
      </p:sp>
      <p:sp>
        <p:nvSpPr>
          <p:cNvPr id="4" name="Slide Number Placeholder 3">
            <a:extLst>
              <a:ext uri="{FF2B5EF4-FFF2-40B4-BE49-F238E27FC236}">
                <a16:creationId xmlns:a16="http://schemas.microsoft.com/office/drawing/2014/main" id="{35828B26-5C4D-2E5A-3769-813B239AAC6F}"/>
              </a:ext>
            </a:extLst>
          </p:cNvPr>
          <p:cNvSpPr>
            <a:spLocks noGrp="1"/>
          </p:cNvSpPr>
          <p:nvPr>
            <p:ph type="sldNum" sz="quarter" idx="12"/>
          </p:nvPr>
        </p:nvSpPr>
        <p:spPr/>
        <p:txBody>
          <a:bodyPr/>
          <a:lstStyle/>
          <a:p>
            <a:fld id="{CBD12358-51D2-46B3-9BDE-DF29528B9454}" type="slidenum">
              <a:rPr lang="en-US" smtClean="0"/>
              <a:t>25</a:t>
            </a:fld>
            <a:endParaRPr lang="en-US" dirty="0"/>
          </a:p>
        </p:txBody>
      </p:sp>
    </p:spTree>
    <p:extLst>
      <p:ext uri="{BB962C8B-B14F-4D97-AF65-F5344CB8AC3E}">
        <p14:creationId xmlns:p14="http://schemas.microsoft.com/office/powerpoint/2010/main" val="1226345955"/>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Props1.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3.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545</TotalTime>
  <Words>739</Words>
  <Application>Microsoft Office PowerPoint</Application>
  <PresentationFormat>Widescreen</PresentationFormat>
  <Paragraphs>180</Paragraphs>
  <Slides>25</Slides>
  <Notes>25</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Courier New</vt:lpstr>
      <vt:lpstr>Sagona Book</vt:lpstr>
      <vt:lpstr>Segoe UI Light</vt:lpstr>
      <vt:lpstr>Custom</vt:lpstr>
      <vt:lpstr>Lifespan Development</vt:lpstr>
      <vt:lpstr>Agenda</vt:lpstr>
      <vt:lpstr>Developmental Domains</vt:lpstr>
      <vt:lpstr>Developmental Milestones</vt:lpstr>
      <vt:lpstr>How do we develop?</vt:lpstr>
      <vt:lpstr>Questions, Questions, Questions</vt:lpstr>
      <vt:lpstr>Theory Time!</vt:lpstr>
      <vt:lpstr>Psychosexual Theory of Development</vt:lpstr>
      <vt:lpstr>Psychosocial Theory of Development</vt:lpstr>
      <vt:lpstr>Cognitive Theory of Development</vt:lpstr>
      <vt:lpstr>Sociocultural Theory of Development</vt:lpstr>
      <vt:lpstr>Moral Theory of Development</vt:lpstr>
      <vt:lpstr>Stages of Development</vt:lpstr>
      <vt:lpstr>PowerPoint Presentation</vt:lpstr>
      <vt:lpstr>Prenatal Development Stages</vt:lpstr>
      <vt:lpstr>Newborn Reflexes</vt:lpstr>
      <vt:lpstr>Developmental Milestones, Ages 2-5 Years</vt:lpstr>
      <vt:lpstr>Attachments  Mary Ainsworth and the Strange Situation</vt:lpstr>
      <vt:lpstr>Parenting Styles</vt:lpstr>
      <vt:lpstr>Adolescence</vt:lpstr>
      <vt:lpstr>Emerging Adulthood</vt:lpstr>
      <vt:lpstr>Adulthood</vt:lpstr>
      <vt:lpstr>The Legalities of Aging</vt:lpstr>
      <vt:lpstr>Grief and Processing</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12</cp:revision>
  <dcterms:created xsi:type="dcterms:W3CDTF">2025-10-16T09:38:32Z</dcterms:created>
  <dcterms:modified xsi:type="dcterms:W3CDTF">2026-03-05T19:32:57Z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