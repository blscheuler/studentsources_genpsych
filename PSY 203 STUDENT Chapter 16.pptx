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26"/>
  </p:notesMasterIdLst>
  <p:sldIdLst>
    <p:sldId id="256" r:id="rId2"/>
    <p:sldId id="278" r:id="rId3"/>
    <p:sldId id="350" r:id="rId4"/>
    <p:sldId id="259" r:id="rId5"/>
    <p:sldId id="352" r:id="rId6"/>
    <p:sldId id="353" r:id="rId7"/>
    <p:sldId id="358" r:id="rId8"/>
    <p:sldId id="354" r:id="rId9"/>
    <p:sldId id="355" r:id="rId10"/>
    <p:sldId id="356" r:id="rId11"/>
    <p:sldId id="357" r:id="rId12"/>
    <p:sldId id="359" r:id="rId13"/>
    <p:sldId id="360" r:id="rId14"/>
    <p:sldId id="361" r:id="rId15"/>
    <p:sldId id="365" r:id="rId16"/>
    <p:sldId id="362" r:id="rId17"/>
    <p:sldId id="363" r:id="rId18"/>
    <p:sldId id="367" r:id="rId19"/>
    <p:sldId id="364" r:id="rId20"/>
    <p:sldId id="366" r:id="rId21"/>
    <p:sldId id="368" r:id="rId22"/>
    <p:sldId id="369" r:id="rId23"/>
    <p:sldId id="370" r:id="rId24"/>
    <p:sldId id="34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7C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4" autoAdjust="0"/>
    <p:restoredTop sz="75021" autoAdjust="0"/>
  </p:normalViewPr>
  <p:slideViewPr>
    <p:cSldViewPr snapToGrid="0">
      <p:cViewPr varScale="1">
        <p:scale>
          <a:sx n="81" d="100"/>
          <a:sy n="81" d="100"/>
        </p:scale>
        <p:origin x="31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56905-DDDD-43F4-AB6F-9596C2119C5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7C3A1-86B3-4ECD-B065-964C7D45B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2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9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90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47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475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4F996-BEFA-2950-882D-844D75C12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ED0E6-95FB-6992-359B-8362020E7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296011-BAFB-461C-8239-721FD706D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CC69B-FD0B-F6ED-66BF-30524CA7C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703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292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CC6F1-C92D-916F-69AC-3812598C5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8F9A4-A5E4-86EC-1AAF-3F54F21F2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02EF6-0FCB-E4A3-9C26-7A5AC8F5E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4CCA6-E175-B1CE-4052-42A0D0E130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28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F2942-D413-E483-77C0-C129EEFB3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63FA48-7615-7CDE-C6D9-E52376517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F92AD8-A929-C697-93AC-04E618253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D594F-34BE-8D01-619F-DA75311E9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224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98A5D-12BF-C74F-56D7-7A9F4751B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DB6CDC-0797-C7A9-2295-CD8FC7B773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2A02C-FDEC-DD81-E398-9503B3E22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3C795-F072-8682-E7A5-EBF9EB0BC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4903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6577B-E45B-EC62-B88C-1FBF34F88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8BDC01-D7DE-C93B-D406-B4A8976BC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B1565-9FB4-3C24-9A33-B180A032A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7DA07-C10D-62CA-2722-0810CD86A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369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9AA3B-F4D7-80A6-48D4-F401C8774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0C070-A85D-E2BA-99C7-89BE25789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44FCA-C5B5-F4AB-B498-414A9707B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0D3FD-DE7F-17E3-4046-762D3EBD39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978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905C0-E426-23F2-237D-BCB133CC3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873AE6-693D-C6BF-7DE2-1320A2A6F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6C7C20-0CAB-7A65-F2B5-5E89563D6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D9134-CB48-C596-DB91-37FDD40269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7101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94E90-DE37-BF4A-7F00-CF6E8DDEF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F218C6-DEC7-AC07-DBE2-263C46301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516F6-378D-74F3-7BAC-88BFE6395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DFC2D-32EB-B820-B65E-5C7BD3767E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8033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3CDDC-A62E-F4BA-34F8-D16B155E1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476700-0A3E-BD04-0052-2861B9005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98749D-38F7-9FA4-4C49-DC95A524F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E8B08-9670-6023-AD32-C44BAEB21D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6874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CD66C-B4DA-F58B-778F-B2BA05AC9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42181A-84B1-15BA-718C-1D23798E9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E4700-0E0B-FBD1-5291-E97700FC0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80B83-462D-CCE2-B92E-2A1313D525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0959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9F904-F2E5-4855-4FBE-36710FC17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69AD05-702D-27B1-6AD9-910C73510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E8B4F5-E74E-5D98-A400-5D91E266D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26FE8-92AB-B118-E1AA-10F7B1052C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786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7A33C-6543-66BB-B753-B8CFF49D4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CB51BD-D2A5-AD4A-201E-4D34A0008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8D866-0808-7B42-CF11-3EBD98F99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54A86-09A1-0DD7-241E-1F5B9BE2C2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4557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8E0BE-22D1-E182-DDE6-5AFEA2F8C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84712A-DD41-9351-363F-415BF5852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50A633-E9F2-65F8-60A7-8AB62800E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4ABA6-4D67-00ED-8F86-FFC2B94FA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8955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055D2-8275-043C-78F7-77BF4EBBF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EB20A-52B4-862A-4B49-E5A99CEBE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22D35-6817-AD7D-1068-359B69232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F9124-94F9-FAA3-0E07-5D5EC0F9FC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5217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8AF27-8487-E92F-1700-182C33086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0260EB-E48E-26F4-6759-05907B32E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C2B13-EE8E-F460-AC4A-8EA59A8FB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061F0-32D6-7FD6-3438-180308E53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654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B469D-D0CF-ECDA-514E-B38935497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487210-B179-7E58-D939-6526D95AF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343664-E04A-E605-7120-5CDB2D596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C0E0C-4B62-07C4-649D-078CCA1B61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63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98268-2CBF-3837-5B9B-F886EAD7D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F7071-9B0D-AB92-1799-CA5904484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FED30-3F4D-4A9D-420B-7045B82BD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F0C9B-14CC-6117-68D7-CB7894FEB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995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DC490-5B79-9EBB-C72B-A61A8EF7C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E7FDAA-F666-37F1-F0B7-F94317E3B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4F1A5F-C12A-E1EB-F7F1-BC1285839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8A78-BF6E-DC28-6AE9-EF8A8F243B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8291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83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>
                <a:latin typeface="Constantia" panose="0203060205030603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CD86-2BE2-4C0E-B7FA-95523CDE3401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Constantia" panose="020306020503060303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E4085-8636-4A71-A455-75A8ABB75842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264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>
                <a:latin typeface="Constantia" panose="0203060205030603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979C0-2B68-47B7-8A50-33811AE89FCA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41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Constantia" panose="0203060205030603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1962-7ADC-436C-86BB-B35F00EE2BE7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37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latin typeface="Constantia" panose="02030602050306030303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latin typeface="Constantia" panose="0203060205030603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0D0B-D545-485F-856F-F5BA76E8B59F}" type="datetime1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314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208229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>
                <a:latin typeface="Constantia" panose="020306020503060303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B128C-F451-4B48-B85E-1C4F945EEEE4}" type="datetime1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80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BA4AA-E1F6-4C06-8C3F-95793F9F0D5A}" type="datetime1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981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29832-94E7-4806-9381-54C42835FEF3}" type="datetime1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309DF-CC9E-4044-A401-FD519E492741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75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Constantia" panose="02030602050306030303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7EF23-A67C-4BC0-BA04-BB463D92DC6B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21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onstantia" panose="0203060205030603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ECE1D-613E-49A7-BDF4-2683C6085771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308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Constantia" panose="020306020503060303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0348D-8E32-4EAC-8B2C-24E4646D9850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37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5005D-F6D9-4706-8183-FE3C38BC13B5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842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2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Constantia" panose="0203060205030603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twloha.com/find-help/help-by-topic/self-injury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etteraddictioncare.com/meetings/nebraska/kearney/" TargetMode="External"/><Relationship Id="rId5" Type="http://schemas.openxmlformats.org/officeDocument/2006/relationships/hyperlink" Target="https://studentreportinglabs.org/mentalhealthresources/" TargetMode="External"/><Relationship Id="rId4" Type="http://schemas.openxmlformats.org/officeDocument/2006/relationships/hyperlink" Target="https://www.samhsa.gov/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0CCBA-6C2C-4420-F570-EB773FCC4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6745" y="1216242"/>
            <a:ext cx="6478510" cy="3034120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Therapy &amp; Treatment </a:t>
            </a:r>
            <a:endParaRPr lang="en-US" sz="7200" dirty="0">
              <a:latin typeface="Constantia" panose="0203060205030603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1E3762-1D12-CAD6-EA41-B498CA68F4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16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B0AFE-A354-EE4B-A432-E572D3181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83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DA452C9-97F2-AF6B-A137-270B04C80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2360" y="753066"/>
            <a:ext cx="4288100" cy="3610704"/>
          </a:xfrm>
        </p:spPr>
        <p:txBody>
          <a:bodyPr>
            <a:normAutofit/>
          </a:bodyPr>
          <a:lstStyle/>
          <a:p>
            <a:r>
              <a:rPr lang="en-US" sz="8800" dirty="0">
                <a:latin typeface="Constantia" panose="02030602050306030303" pitchFamily="18" charset="0"/>
              </a:rPr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96DA0-B161-6B42-A870-EEFA90597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467369-AD1A-715A-8F30-68981B26BB4C}"/>
              </a:ext>
            </a:extLst>
          </p:cNvPr>
          <p:cNvSpPr txBox="1"/>
          <p:nvPr/>
        </p:nvSpPr>
        <p:spPr>
          <a:xfrm>
            <a:off x="686994" y="1874728"/>
            <a:ext cx="560409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Mental Health: Past &amp; Present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Types of Treatment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Treatment Modalities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Substance Use Therapy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Sociocultural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31845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782487-5994-6ED3-6D4E-779EC56AD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Mental Health: Past &amp; Present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E0345-C745-1AC3-ECA1-86C7D0EC2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203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196CD-72CB-41AB-A669-E71CA1E13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8163"/>
            <a:ext cx="10515600" cy="1244918"/>
          </a:xfrm>
        </p:spPr>
        <p:txBody>
          <a:bodyPr/>
          <a:lstStyle/>
          <a:p>
            <a:r>
              <a:rPr lang="en-US" dirty="0"/>
              <a:t>The Ghost of Mental </a:t>
            </a:r>
            <a:br>
              <a:rPr lang="en-US" dirty="0"/>
            </a:br>
            <a:r>
              <a:rPr lang="en-US" dirty="0"/>
              <a:t>Health Past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EF873-D3E6-421E-AB95-BCCE39F3D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5257800" cy="448119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17</a:t>
            </a:r>
            <a:r>
              <a:rPr lang="en-US" b="1" baseline="30000" dirty="0"/>
              <a:t>th</a:t>
            </a:r>
            <a:r>
              <a:rPr lang="en-US" b="1" dirty="0"/>
              <a:t> Century and Before:</a:t>
            </a:r>
          </a:p>
          <a:p>
            <a:r>
              <a:rPr lang="en-US" dirty="0"/>
              <a:t>Exorcisms</a:t>
            </a:r>
          </a:p>
          <a:p>
            <a:r>
              <a:rPr lang="en-US" dirty="0"/>
              <a:t>Trephining (drilling a hole into the head to release spirits)</a:t>
            </a:r>
          </a:p>
          <a:p>
            <a:pPr marL="0" indent="0">
              <a:buNone/>
            </a:pPr>
            <a:r>
              <a:rPr lang="en-US" b="1" dirty="0"/>
              <a:t>18</a:t>
            </a:r>
            <a:r>
              <a:rPr lang="en-US" b="1" baseline="30000" dirty="0"/>
              <a:t>th</a:t>
            </a:r>
            <a:r>
              <a:rPr lang="en-US" b="1" dirty="0"/>
              <a:t> Century:</a:t>
            </a:r>
          </a:p>
          <a:p>
            <a:r>
              <a:rPr lang="en-US" dirty="0"/>
              <a:t>Asylums</a:t>
            </a:r>
          </a:p>
          <a:p>
            <a:pPr lvl="1"/>
            <a:r>
              <a:rPr lang="en-US" dirty="0"/>
              <a:t>Often cruel/ inhumane</a:t>
            </a:r>
          </a:p>
          <a:p>
            <a:pPr lvl="1"/>
            <a:r>
              <a:rPr lang="en-US" dirty="0"/>
              <a:t>Used extreme treatments like electroconvulsive therapy and long submersions in cold water</a:t>
            </a:r>
          </a:p>
          <a:p>
            <a:pPr lvl="1"/>
            <a:r>
              <a:rPr lang="en-US" dirty="0"/>
              <a:t>Deinstitutionalized between 1950s and 1990s 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A217C-9076-EAB0-B43C-4FF0DBAEA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4</a:t>
            </a:fld>
            <a:endParaRPr lang="en-US" dirty="0"/>
          </a:p>
        </p:txBody>
      </p:sp>
      <p:pic>
        <p:nvPicPr>
          <p:cNvPr id="1026" name="Picture 2" descr="Amy Bruni on X">
            <a:extLst>
              <a:ext uri="{FF2B5EF4-FFF2-40B4-BE49-F238E27FC236}">
                <a16:creationId xmlns:a16="http://schemas.microsoft.com/office/drawing/2014/main" id="{0F9F353D-F911-E9B4-36A1-4BE4D193F18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220" y="529208"/>
            <a:ext cx="4169597" cy="5963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9571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969D7-C476-3DD2-0C26-F5AC91B08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0B88-AAAB-D3EB-A291-CBE462895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Ghost of Mental Health Present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52C36-C3F0-C6D4-128D-7DFFB4C4A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Now, treatments for mental health rely on combinations of medications and therapy</a:t>
            </a:r>
          </a:p>
          <a:p>
            <a:r>
              <a:rPr lang="en-US" dirty="0"/>
              <a:t>While we treat people more humanely than in the past, we have yet to figure out a perfect system.</a:t>
            </a:r>
          </a:p>
          <a:p>
            <a:pPr lvl="1"/>
            <a:r>
              <a:rPr lang="en-US" dirty="0"/>
              <a:t>Mental health care requires health insurance or private pay</a:t>
            </a:r>
          </a:p>
          <a:p>
            <a:pPr lvl="2"/>
            <a:r>
              <a:rPr lang="en-US" dirty="0"/>
              <a:t>10% of Americans are in medical debt (that totals to hundreds of billions of dollars)</a:t>
            </a:r>
          </a:p>
          <a:p>
            <a:pPr lvl="1"/>
            <a:r>
              <a:rPr lang="en-US" dirty="0"/>
              <a:t>In correction facilities, the proportion of individuals with mental illness is 2 to 4 times the general population</a:t>
            </a:r>
          </a:p>
          <a:p>
            <a:pPr lvl="1"/>
            <a:r>
              <a:rPr lang="en-US" dirty="0"/>
              <a:t>Roughly 2/3 of currently unhoused individuals have a mental health disorder (note: study included US, Canada, and Germany)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6A055-13C3-B064-E789-18E34DC42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54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C5728-6477-DB2C-626C-DD619A85A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Receiving Treatment in the Present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9B09D-7CB5-6CA4-5659-9526AA8D6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Involuntary treatment</a:t>
            </a:r>
            <a:r>
              <a:rPr lang="en-US" dirty="0"/>
              <a:t> – therapy that is not the individuals choice.</a:t>
            </a:r>
          </a:p>
          <a:p>
            <a:pPr lvl="1"/>
            <a:r>
              <a:rPr lang="en-US" dirty="0"/>
              <a:t>E.g. weekly counseling sessions might be a condition of parole.</a:t>
            </a:r>
          </a:p>
          <a:p>
            <a:r>
              <a:rPr lang="en-US" b="1" dirty="0"/>
              <a:t>Voluntary treatment</a:t>
            </a:r>
            <a:r>
              <a:rPr lang="en-US" dirty="0"/>
              <a:t> – the person chooses to attend therapy to obtain relief from symptoms.</a:t>
            </a:r>
          </a:p>
          <a:p>
            <a:r>
              <a:rPr lang="en-US" dirty="0"/>
              <a:t>Sources of psychological treatment include… </a:t>
            </a:r>
          </a:p>
          <a:p>
            <a:pPr lvl="1"/>
            <a:r>
              <a:rPr lang="en-US" dirty="0"/>
              <a:t>community mental health centers, private or community practitioners, school counselors, school psychologists or school social workers, group therapy.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0435F-4395-4634-C8BA-5B9FE3379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397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28FB0-8575-23E9-946C-29D5A8F3D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D3569DE-6264-AF91-E3B2-4F6F817D6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Therapy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A4317-85D7-ED29-5A91-9D26D3B19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472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AF4BD-147F-46D8-6659-4D20C668F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B768A-31EA-6AAD-46EC-1659F7609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Play Therapy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8BEBE-07A3-733D-E5E7-1F4805658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6088380" cy="416052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form of therapy used with children to help prevent/ resolve emotional conflicts, using toys as a medium</a:t>
            </a:r>
          </a:p>
          <a:p>
            <a:r>
              <a:rPr lang="en-US" b="1" dirty="0"/>
              <a:t>Nondirective play therapy </a:t>
            </a:r>
            <a:r>
              <a:rPr lang="en-US" dirty="0"/>
              <a:t>– children are encouraged to work through problems by playing freely while therapist observes.</a:t>
            </a:r>
          </a:p>
          <a:p>
            <a:r>
              <a:rPr lang="en-US" b="1" dirty="0"/>
              <a:t>Directive play therapy </a:t>
            </a:r>
            <a:r>
              <a:rPr lang="en-US" dirty="0"/>
              <a:t>– therapist provides structure/guidance by suggesting topics, asking questions, and playing with the child.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73C72-3E98-6E1D-8A59-60317A864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Google Shape;179;p22" descr="This photograph shows a person playing with objects in a small box filled with sand. The person is organizing these objects and small play figures in a form of treatment called sandplay.">
            <a:extLst>
              <a:ext uri="{FF2B5EF4-FFF2-40B4-BE49-F238E27FC236}">
                <a16:creationId xmlns:a16="http://schemas.microsoft.com/office/drawing/2014/main" id="{6A1C6F91-8CDF-D371-921A-7C0791C4F0F3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 rotWithShape="1">
          <a:blip r:embed="rId3">
            <a:alphaModFix/>
          </a:blip>
          <a:srcRect l="-1927" r="-718"/>
          <a:stretch>
            <a:fillRect/>
          </a:stretch>
        </p:blipFill>
        <p:spPr>
          <a:xfrm>
            <a:off x="7178040" y="2323703"/>
            <a:ext cx="4663440" cy="35364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0667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8402F-4D27-5A05-E24F-7FA504887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E936-9E2C-8E25-3ACD-258A8A2B8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 Therapy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7532E-A40D-4EA4-3759-EDD3176933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79"/>
            <a:ext cx="6406704" cy="470979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Principles of learning are applied to change undesirable behaviors. </a:t>
            </a:r>
          </a:p>
          <a:p>
            <a:r>
              <a:rPr lang="en-US" b="1" dirty="0"/>
              <a:t>Aversive conditioning</a:t>
            </a:r>
            <a:r>
              <a:rPr lang="en-US" dirty="0"/>
              <a:t> – uses an unpleasant stimulus to stop an undesirable behavior.</a:t>
            </a:r>
          </a:p>
          <a:p>
            <a:pPr lvl="1"/>
            <a:r>
              <a:rPr lang="en-US" dirty="0"/>
              <a:t>Antabuse (a medication that causes vomiting when combined with alcohol) to stop a person from drinking</a:t>
            </a:r>
          </a:p>
          <a:p>
            <a:r>
              <a:rPr lang="en-US" dirty="0"/>
              <a:t> </a:t>
            </a:r>
            <a:r>
              <a:rPr lang="en-US" b="1" dirty="0"/>
              <a:t>Exposure therapy </a:t>
            </a:r>
            <a:r>
              <a:rPr lang="en-US" dirty="0"/>
              <a:t>– client is repeatedly exposed to the source of their anxiety, in gradual steps, in a process known as </a:t>
            </a:r>
            <a:r>
              <a:rPr lang="en-US" b="1" dirty="0"/>
              <a:t>systematic desensitization </a:t>
            </a:r>
          </a:p>
          <a:p>
            <a:r>
              <a:rPr lang="en-US" dirty="0"/>
              <a:t>Can also reward good behavior, using tokens or privileges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8C650-B034-84BB-250F-1592C56C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Content Placeholder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85654E78-58EF-5834-BCC0-6A05BD5F30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44373"/>
          <a:stretch>
            <a:fillRect/>
          </a:stretch>
        </p:blipFill>
        <p:spPr>
          <a:xfrm>
            <a:off x="7382064" y="2755470"/>
            <a:ext cx="4489262" cy="2536097"/>
          </a:xfrm>
          <a:prstGeom prst="rect">
            <a:avLst/>
          </a:prstGeom>
        </p:spPr>
      </p:pic>
      <p:sp>
        <p:nvSpPr>
          <p:cNvPr id="7" name="Arrow: Bent-Up 6">
            <a:extLst>
              <a:ext uri="{FF2B5EF4-FFF2-40B4-BE49-F238E27FC236}">
                <a16:creationId xmlns:a16="http://schemas.microsoft.com/office/drawing/2014/main" id="{357BCB5B-C335-0352-4E23-D81C914848FE}"/>
              </a:ext>
            </a:extLst>
          </p:cNvPr>
          <p:cNvSpPr/>
          <p:nvPr/>
        </p:nvSpPr>
        <p:spPr>
          <a:xfrm>
            <a:off x="7481653" y="4991309"/>
            <a:ext cx="1426958" cy="1110727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026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116B4-21F3-DE83-FBC0-D50A127F1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C1E23-831B-82F9-861D-67463368F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Cognitive Therapy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03408-D014-F566-67CC-8B8F581A1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Based on the idea that how you think determines how you feel and act</a:t>
            </a:r>
          </a:p>
          <a:p>
            <a:r>
              <a:rPr lang="en-US" dirty="0"/>
              <a:t>To feel better, we want to reframe positives, and avoid cognitive distortions </a:t>
            </a:r>
          </a:p>
          <a:p>
            <a:r>
              <a:rPr lang="en-US" dirty="0"/>
              <a:t>Cognitive distortions include:</a:t>
            </a:r>
          </a:p>
          <a:p>
            <a:pPr lvl="1"/>
            <a:r>
              <a:rPr lang="en-US" dirty="0"/>
              <a:t>Overgeneralizing</a:t>
            </a:r>
          </a:p>
          <a:p>
            <a:pPr lvl="1"/>
            <a:r>
              <a:rPr lang="en-US" dirty="0"/>
              <a:t>Polarized (black &amp; white) thinking</a:t>
            </a:r>
          </a:p>
          <a:p>
            <a:pPr lvl="1"/>
            <a:r>
              <a:rPr lang="en-US" dirty="0"/>
              <a:t>Jumping to conclusions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BB180-3374-5554-76F9-BD4913BA1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041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E2BB9-E60F-F943-99E8-DCCAD9B9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9FC8-7B21-9C7B-C533-9F274774A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Cognitive Therapy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C8D0A-F673-C86D-D12E-52F6F0646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90" y="1862455"/>
            <a:ext cx="10515600" cy="51435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/>
              <a:t>Which do you believe will lead to better mental health?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ACC40-B883-A042-5889-3564CD30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Google Shape;229;p28" descr="This graphic depicts two three-box flowcharts showing reactions to failing a test. The first flowchart flows from “Failed test” to “Internal beliefs: I’m worthless and stupid” to “Depression.” The second flowchart flows from “Failed test” to “Internal beliefs: I’m smart, but I didn’t study for this test. I can do better.” to “No depression.”">
            <a:extLst>
              <a:ext uri="{FF2B5EF4-FFF2-40B4-BE49-F238E27FC236}">
                <a16:creationId xmlns:a16="http://schemas.microsoft.com/office/drawing/2014/main" id="{31AE4706-B4EF-70DE-378F-E9A58E2C035E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5442" y="2701570"/>
            <a:ext cx="8643895" cy="35592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5237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F9946-F80F-29DB-8FE3-A9F453968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DD76D-405C-7992-A74B-AFAB97554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Cognitive-Behavioral Therapy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C7E96-00A8-FFB2-F44E-A23C7EA40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Cognitive-behavioral therapy (CBT)</a:t>
            </a:r>
            <a:r>
              <a:rPr lang="en-US" dirty="0"/>
              <a:t> – works to change cognitive distortions and self-defeating behaviors. </a:t>
            </a:r>
          </a:p>
          <a:p>
            <a:pPr lvl="1"/>
            <a:r>
              <a:rPr lang="en-US" dirty="0"/>
              <a:t>Aims to change both how people think and how they act</a:t>
            </a:r>
          </a:p>
          <a:p>
            <a:r>
              <a:rPr lang="en-US" dirty="0"/>
              <a:t>Uses the ABC model to reveal cognitive distortions:</a:t>
            </a:r>
          </a:p>
          <a:p>
            <a:pPr lvl="1"/>
            <a:r>
              <a:rPr lang="en-US" dirty="0"/>
              <a:t>Action – activating event.</a:t>
            </a:r>
          </a:p>
          <a:p>
            <a:pPr lvl="1"/>
            <a:r>
              <a:rPr lang="en-US" dirty="0"/>
              <a:t>Belief about the event.</a:t>
            </a:r>
          </a:p>
          <a:p>
            <a:pPr lvl="1"/>
            <a:r>
              <a:rPr lang="en-US" dirty="0"/>
              <a:t>Consequences of the belief.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D2CDF-B33F-3200-F61E-9B5813D6F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246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5B64-216B-394D-CBDD-D3C9EF442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2694B-E048-7953-3D49-E14405C17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Humanistic Therapy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1743C-B8D3-BC0B-71AB-5A588A7D1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goal is to increases self-awareness and acceptance through focus on conscious thoughts.</a:t>
            </a:r>
          </a:p>
          <a:p>
            <a:r>
              <a:rPr lang="en-US" dirty="0"/>
              <a:t>Techniques include: </a:t>
            </a:r>
          </a:p>
          <a:p>
            <a:pPr lvl="1"/>
            <a:r>
              <a:rPr lang="en-US" dirty="0"/>
              <a:t>Active listening</a:t>
            </a:r>
          </a:p>
          <a:p>
            <a:pPr lvl="1"/>
            <a:r>
              <a:rPr lang="en-US" dirty="0"/>
              <a:t>Unconditional positive regard</a:t>
            </a:r>
          </a:p>
          <a:p>
            <a:pPr lvl="1"/>
            <a:r>
              <a:rPr lang="en-US" dirty="0"/>
              <a:t>Genuineness, empathy, and acceptance towards clients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766F8-5FD1-D064-D1AB-7A83EDA59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982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9F97B-B421-BC33-B8F4-CA2C8665D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32EF4-E32C-4CF7-72B3-E585E1F30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Biomedical Therapies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D1E94-6C7C-65FF-9403-DE6F9F06A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463"/>
            <a:ext cx="10515600" cy="4569737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Psychotropic medications </a:t>
            </a:r>
            <a:r>
              <a:rPr lang="en-US" dirty="0"/>
              <a:t>– medications used to treat psychological disorders</a:t>
            </a:r>
          </a:p>
          <a:p>
            <a:pPr lvl="1"/>
            <a:r>
              <a:rPr lang="en-US" dirty="0"/>
              <a:t>Treat the symptoms of psychological disorders but do not cure the disorder.</a:t>
            </a:r>
          </a:p>
          <a:p>
            <a:r>
              <a:rPr lang="en-US" b="1" dirty="0"/>
              <a:t>Antipsychotics</a:t>
            </a:r>
            <a:r>
              <a:rPr lang="en-US" dirty="0"/>
              <a:t> – treat “positive” psychotic symptoms such as hallucinations, delusions, and paranoia by blocking dopamine</a:t>
            </a:r>
          </a:p>
          <a:p>
            <a:r>
              <a:rPr lang="en-US" b="1" dirty="0"/>
              <a:t>Atypical antipsychotics </a:t>
            </a:r>
            <a:r>
              <a:rPr lang="en-US" dirty="0"/>
              <a:t>– treat the “negative” symptoms of schizophrenia such as withdrawal and apathy, by targeting both dopamine and serotonin receptors</a:t>
            </a:r>
          </a:p>
          <a:p>
            <a:r>
              <a:rPr lang="en-US" b="1" dirty="0"/>
              <a:t>Anti-depressants</a:t>
            </a:r>
            <a:r>
              <a:rPr lang="en-US" dirty="0"/>
              <a:t> – alter levels of serotonin and norepinephrine.</a:t>
            </a:r>
          </a:p>
          <a:p>
            <a:r>
              <a:rPr lang="en-US" b="1" dirty="0"/>
              <a:t>Anti-anxiety agents</a:t>
            </a:r>
            <a:r>
              <a:rPr lang="en-US" dirty="0"/>
              <a:t> – depress central nervous system activation</a:t>
            </a:r>
          </a:p>
          <a:p>
            <a:r>
              <a:rPr lang="en-US" b="1" dirty="0"/>
              <a:t>Mood stabilizers </a:t>
            </a:r>
            <a:r>
              <a:rPr lang="en-US" dirty="0"/>
              <a:t>– treat episodes of mania as well as depression</a:t>
            </a:r>
          </a:p>
          <a:p>
            <a:r>
              <a:rPr lang="en-US" b="1" dirty="0"/>
              <a:t>Stimulants</a:t>
            </a:r>
            <a:r>
              <a:rPr lang="en-US" dirty="0"/>
              <a:t> – improve ability to focus on a task and maintain attention Electroconvulsive therapy – induces seizures to help alleviate severe depression</a:t>
            </a:r>
          </a:p>
          <a:p>
            <a:r>
              <a:rPr lang="en-US" b="1" dirty="0"/>
              <a:t>Transcranial magnetic stimulation </a:t>
            </a:r>
            <a:r>
              <a:rPr lang="en-US" dirty="0"/>
              <a:t>– magnetic fields stimulate nerve cells to improve depression symptom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1E72B-7DFA-0651-112A-536FD212B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458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83BE8-A184-5B54-1E6B-5CF8DDC01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B0B8FE-8050-C8F6-407C-4446C9A4E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 Modalities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BFF55-5924-9C91-D35C-83A53EF1A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299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707B3-F02F-5288-DB08-781FBBA80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3E941-0D49-8D91-186C-BE4DC536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(Typical) Process of Starting Therapy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81234-09B8-0349-2FC9-44F136B08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1: Seek treatment</a:t>
            </a:r>
          </a:p>
          <a:p>
            <a:r>
              <a:rPr lang="en-US" dirty="0"/>
              <a:t>Step 2: Intake appointment</a:t>
            </a:r>
          </a:p>
          <a:p>
            <a:pPr lvl="1"/>
            <a:r>
              <a:rPr lang="en-US" dirty="0"/>
              <a:t>Gather client information/ insurance, explain the process, and disclose concerns</a:t>
            </a:r>
          </a:p>
          <a:p>
            <a:r>
              <a:rPr lang="en-US" dirty="0"/>
              <a:t>Step 3: Create a treatment plan</a:t>
            </a:r>
          </a:p>
          <a:p>
            <a:pPr lvl="1"/>
            <a:r>
              <a:rPr lang="en-US" dirty="0"/>
              <a:t>How often do you need to meet? </a:t>
            </a:r>
          </a:p>
          <a:p>
            <a:pPr lvl="1"/>
            <a:r>
              <a:rPr lang="en-US" dirty="0"/>
              <a:t>Is it better to seek treatment individually or with other people? </a:t>
            </a:r>
          </a:p>
          <a:p>
            <a:pPr lvl="1"/>
            <a:r>
              <a:rPr lang="en-US" dirty="0"/>
              <a:t>What are specific goals for the treatment?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216D1-729D-DB48-EE00-6137CD27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472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0EC62-53AE-D8D4-44ED-BEB03646E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B20FE-A27C-9E14-E93A-6596788CB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Therapy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84888-583A-819E-D47D-635FEAC2E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Individual therapy</a:t>
            </a:r>
          </a:p>
          <a:p>
            <a:r>
              <a:rPr lang="en-US"/>
              <a:t>Group therapy</a:t>
            </a:r>
          </a:p>
          <a:p>
            <a:r>
              <a:rPr lang="en-US"/>
              <a:t>Family therapy</a:t>
            </a:r>
          </a:p>
          <a:p>
            <a:r>
              <a:rPr lang="en-US"/>
              <a:t>Couples therapy</a:t>
            </a:r>
          </a:p>
          <a:p>
            <a:pPr marL="0" indent="0">
              <a:buNone/>
            </a:pPr>
            <a:endParaRPr lang="en-US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C6C27-960D-7E71-CBC7-A18AFCA6C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17</a:t>
            </a:fld>
            <a:endParaRPr lang="en-US" dirty="0"/>
          </a:p>
        </p:txBody>
      </p:sp>
      <p:pic>
        <p:nvPicPr>
          <p:cNvPr id="5" name="Google Shape;265;p33" descr="Two photographs are shown. Photograph A depicts two people in conversation. Photograph B depicts a large group of people sitting in a circle on the beach.">
            <a:extLst>
              <a:ext uri="{FF2B5EF4-FFF2-40B4-BE49-F238E27FC236}">
                <a16:creationId xmlns:a16="http://schemas.microsoft.com/office/drawing/2014/main" id="{FA6EC4B4-35A6-9686-E28B-20539206FBE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 l="53112" t="-2032" b="12840"/>
          <a:stretch>
            <a:fillRect/>
          </a:stretch>
        </p:blipFill>
        <p:spPr>
          <a:xfrm>
            <a:off x="6960870" y="3931919"/>
            <a:ext cx="3646170" cy="2560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65;p33" descr="Two photographs are shown. Photograph A depicts two people in conversation. Photograph B depicts a large group of people sitting in a circle on the beach.">
            <a:extLst>
              <a:ext uri="{FF2B5EF4-FFF2-40B4-BE49-F238E27FC236}">
                <a16:creationId xmlns:a16="http://schemas.microsoft.com/office/drawing/2014/main" id="{EDA0BFA0-CA5E-C13C-6898-BD6262610459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 t="-2032" r="53112" b="12840"/>
          <a:stretch>
            <a:fillRect/>
          </a:stretch>
        </p:blipFill>
        <p:spPr>
          <a:xfrm>
            <a:off x="7062076" y="1188720"/>
            <a:ext cx="3544964" cy="2743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330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41C5C-B794-5B1F-B76C-9A8A1DBC7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DAFBD7-9749-DC5E-632F-AD5A4BA0E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Substance Use Therapy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BFB86-D992-1D26-17A0-1B30F4BB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003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3E31D-5C27-CF18-CED0-D5C226806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13EE8-B302-2D7F-DFE5-AE2DE8088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Substance Use and Addiction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08C07-DE78-2D0A-210C-18CD7581D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463"/>
            <a:ext cx="10515600" cy="475388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What may begin as recreational use of a substance can develop into an addiction</a:t>
            </a:r>
          </a:p>
          <a:p>
            <a:r>
              <a:rPr lang="en-US" b="1" dirty="0"/>
              <a:t>Addiction</a:t>
            </a:r>
            <a:r>
              <a:rPr lang="en-US" dirty="0"/>
              <a:t> – when a person has become physically or psychologically reliant on a substance</a:t>
            </a:r>
          </a:p>
          <a:p>
            <a:r>
              <a:rPr lang="en-US" b="1" dirty="0"/>
              <a:t>Physical dependence </a:t>
            </a:r>
            <a:r>
              <a:rPr lang="en-US" dirty="0"/>
              <a:t>– changes in bodily functions that can cause withdrawal symptoms upon cessation of use</a:t>
            </a:r>
          </a:p>
          <a:p>
            <a:r>
              <a:rPr lang="en-US" b="1" dirty="0"/>
              <a:t>Psychological dependence</a:t>
            </a:r>
            <a:r>
              <a:rPr lang="en-US" dirty="0"/>
              <a:t> – user is emotionally reliant on drug, and stopping may cause severe psychological distress</a:t>
            </a:r>
          </a:p>
          <a:p>
            <a:r>
              <a:rPr lang="en-US" b="1" dirty="0"/>
              <a:t>Withdrawal </a:t>
            </a:r>
            <a:r>
              <a:rPr lang="en-US" dirty="0"/>
              <a:t>– experiencing a variety of symptoms (ranging from agitation to possible death) when a person stops using a drug</a:t>
            </a:r>
          </a:p>
          <a:p>
            <a:r>
              <a:rPr lang="en-US" b="1" dirty="0"/>
              <a:t>Tolerance</a:t>
            </a:r>
            <a:r>
              <a:rPr lang="en-US" dirty="0"/>
              <a:t> – when a person needs more of a drug to receive the desired effect due to extended use</a:t>
            </a:r>
          </a:p>
          <a:p>
            <a:r>
              <a:rPr lang="en-US" b="1" dirty="0"/>
              <a:t>Detoxification</a:t>
            </a:r>
            <a:r>
              <a:rPr lang="en-US" dirty="0"/>
              <a:t> – the process of slowly reducing substance use, to prevent severe withdrawal symptoms 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F39A0-DA9D-B60D-9B26-07C2B815C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762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E5030-3B2E-6372-9C30-B36F4B985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80D2B-E324-EB5D-7526-06152F244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Substance Use Therapy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84ED2-EF62-E40E-32B5-3F8FCF0B4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Goal is to help an addicted person stop compulsive drug-seeking behaviors and reduce the chance of relapse</a:t>
            </a:r>
          </a:p>
          <a:p>
            <a:pPr lvl="1"/>
            <a:r>
              <a:rPr lang="en-US" dirty="0"/>
              <a:t>About 40%-60% of individuals relapse</a:t>
            </a:r>
          </a:p>
          <a:p>
            <a:r>
              <a:rPr lang="en-US" dirty="0"/>
              <a:t>May require treating comorbid mental health conditions</a:t>
            </a:r>
          </a:p>
          <a:p>
            <a:r>
              <a:rPr lang="en-US" dirty="0"/>
              <a:t>Therapy is most effective when its at least 3 months long</a:t>
            </a:r>
          </a:p>
          <a:p>
            <a:r>
              <a:rPr lang="en-US" dirty="0"/>
              <a:t>Can include a combination of individual, group, and family therapy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144DD-A810-5F22-1713-459B6784A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259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F4AAB-E035-8CAF-AB25-5AB545DD4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87748-3781-9F5F-B2C5-D52F3FB70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Sociocultural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DEA9B-83BB-FA1A-70E9-6155F004B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80218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How do your cultural and religious beliefs affect your attitude toward mental health treatment? </a:t>
            </a:r>
          </a:p>
          <a:p>
            <a:r>
              <a:rPr lang="en-US" b="1" dirty="0"/>
              <a:t>Cultural competence </a:t>
            </a:r>
            <a:r>
              <a:rPr lang="en-US" dirty="0"/>
              <a:t>– mental health professionals must understand and address issues of race, culture, and ethnicity and use strategies to effectively address needs of various populations.</a:t>
            </a:r>
          </a:p>
          <a:p>
            <a:r>
              <a:rPr lang="en-US" dirty="0"/>
              <a:t>Multicultural counseling and therapy:</a:t>
            </a:r>
          </a:p>
          <a:p>
            <a:pPr lvl="1"/>
            <a:r>
              <a:rPr lang="en-US" dirty="0"/>
              <a:t>Integrates the impact of cultural and social norms.</a:t>
            </a:r>
          </a:p>
          <a:p>
            <a:pPr lvl="1"/>
            <a:r>
              <a:rPr lang="en-US" dirty="0"/>
              <a:t>Aims to work with clients and define goals consistent with their life experiences and cultural values.</a:t>
            </a:r>
          </a:p>
          <a:p>
            <a:pPr lvl="1"/>
            <a:r>
              <a:rPr lang="en-US" dirty="0"/>
              <a:t>Strives to recognize client identities to include individual, group, and universal dimensions.</a:t>
            </a:r>
          </a:p>
          <a:p>
            <a:pPr lvl="1"/>
            <a:r>
              <a:rPr lang="en-US" dirty="0"/>
              <a:t>Advocates the use of universal and culture-specific strategies and roles in the healing process.</a:t>
            </a:r>
          </a:p>
          <a:p>
            <a:pPr lvl="1"/>
            <a:r>
              <a:rPr lang="en-US" dirty="0"/>
              <a:t>Balances the importance of individualism and collectivism in the assessment, diagnosis, and treatment of clients.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90DA0-CC3F-FEB2-879C-67306FCFB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03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7222E-3239-0B96-533E-2953895D9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06C51-2E6C-D268-14FE-24B2AEE90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80" y="1222375"/>
            <a:ext cx="2876550" cy="2766695"/>
          </a:xfrm>
        </p:spPr>
        <p:txBody>
          <a:bodyPr/>
          <a:lstStyle/>
          <a:p>
            <a:r>
              <a:rPr lang="en-US" dirty="0"/>
              <a:t>Mental Health Resources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C73FD-CA54-1B30-59E2-0218DAC9B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DA098C-28D2-2A56-19F0-EA3228C71F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1" t="17534" r="34176" b="8833"/>
          <a:stretch>
            <a:fillRect/>
          </a:stretch>
        </p:blipFill>
        <p:spPr>
          <a:xfrm>
            <a:off x="4572001" y="788669"/>
            <a:ext cx="6412230" cy="565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505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36A1-401A-917E-E394-CC6978111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03BE0-2E89-AA20-CCF2-C3C7FFD06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9E154-BDD8-1EF5-2F27-D32E6BBE9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To Write Love on Her Arms</a:t>
            </a:r>
          </a:p>
          <a:p>
            <a:pPr lvl="1"/>
            <a:r>
              <a:rPr lang="en-US" dirty="0">
                <a:hlinkClick r:id="rId3"/>
              </a:rPr>
              <a:t>https://twloha.com/find-help/help-by-topic/self-injury/</a:t>
            </a:r>
            <a:r>
              <a:rPr lang="en-US" dirty="0"/>
              <a:t> </a:t>
            </a:r>
          </a:p>
          <a:p>
            <a:r>
              <a:rPr lang="en-US" dirty="0"/>
              <a:t>Substance Abuse and Mental Health Services Administration</a:t>
            </a:r>
          </a:p>
          <a:p>
            <a:pPr lvl="1"/>
            <a:r>
              <a:rPr lang="en-US" dirty="0">
                <a:hlinkClick r:id="rId4"/>
              </a:rPr>
              <a:t>https://www.samhsa.gov/</a:t>
            </a:r>
            <a:r>
              <a:rPr lang="en-US" dirty="0"/>
              <a:t> </a:t>
            </a:r>
          </a:p>
          <a:p>
            <a:r>
              <a:rPr lang="en-US" dirty="0"/>
              <a:t>Student Reporting Labs (provides lists on resources and info)</a:t>
            </a:r>
          </a:p>
          <a:p>
            <a:pPr lvl="1"/>
            <a:r>
              <a:rPr lang="en-US" dirty="0">
                <a:hlinkClick r:id="rId5"/>
              </a:rPr>
              <a:t>https://studentreportinglabs.org/mentalhealthresources/</a:t>
            </a:r>
            <a:r>
              <a:rPr lang="en-US" dirty="0"/>
              <a:t> </a:t>
            </a:r>
          </a:p>
          <a:p>
            <a:r>
              <a:rPr lang="en-US" dirty="0"/>
              <a:t>Alcoholics Anonymous (AA) and Narcotics Anonymous (NA) meetings in Kearney</a:t>
            </a:r>
          </a:p>
          <a:p>
            <a:pPr lvl="1"/>
            <a:r>
              <a:rPr lang="en-US" dirty="0">
                <a:hlinkClick r:id="rId6"/>
              </a:rPr>
              <a:t>https://betteraddictioncare.com/meetings/nebraska/kearney/</a:t>
            </a: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45850-8138-BA57-9B3A-B356993E4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558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7EF60D8-5909-700B-C971-490F5961B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tantia" panose="02030602050306030303" pitchFamily="18" charset="0"/>
              </a:rPr>
              <a:t>Next time on PSY 203…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2B8E05-273B-DC86-27E7-90258A740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NEXT CLASS: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CE1FC58-900D-705F-5675-DBB0D6E46B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Complete Ch 15 homework assignment</a:t>
            </a:r>
          </a:p>
          <a:p>
            <a:pPr lvl="1"/>
            <a:r>
              <a:rPr lang="en-US" dirty="0"/>
              <a:t>Due next Tuesday</a:t>
            </a:r>
          </a:p>
          <a:p>
            <a:pPr lvl="1"/>
            <a:r>
              <a:rPr lang="en-US" dirty="0"/>
              <a:t>Email Dr. S ASAP if you have questions</a:t>
            </a:r>
          </a:p>
          <a:p>
            <a:r>
              <a:rPr lang="en-US" dirty="0"/>
              <a:t>Watch for announcements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16777B8-FBCE-35BB-3108-AFFFE83D5F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NEXT CLASS: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4E9B5D-D43B-16D8-C996-08F04712248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Bubble 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64CDD-7DEC-B99B-8D9C-8BD6C327F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346957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</TotalTime>
  <Words>1208</Words>
  <Application>Microsoft Office PowerPoint</Application>
  <PresentationFormat>Widescreen</PresentationFormat>
  <Paragraphs>154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Century Gothic</vt:lpstr>
      <vt:lpstr>Constantia</vt:lpstr>
      <vt:lpstr>BrushVTI</vt:lpstr>
      <vt:lpstr>Therapy &amp; Treatment </vt:lpstr>
      <vt:lpstr>Agenda</vt:lpstr>
      <vt:lpstr>Mental Health: Past &amp; Present</vt:lpstr>
      <vt:lpstr>The Ghost of Mental  Health Past</vt:lpstr>
      <vt:lpstr>The Ghost of Mental Health Present</vt:lpstr>
      <vt:lpstr>Receiving Treatment in the Present</vt:lpstr>
      <vt:lpstr>Types of Therapy</vt:lpstr>
      <vt:lpstr>Play Therapy</vt:lpstr>
      <vt:lpstr>Behavior Therapy</vt:lpstr>
      <vt:lpstr>Cognitive Therapy</vt:lpstr>
      <vt:lpstr>Cognitive Therapy Example</vt:lpstr>
      <vt:lpstr>Cognitive-Behavioral Therapy</vt:lpstr>
      <vt:lpstr>Humanistic Therapy</vt:lpstr>
      <vt:lpstr>Biomedical Therapies</vt:lpstr>
      <vt:lpstr>Treatment Modalities</vt:lpstr>
      <vt:lpstr>The (Typical) Process of Starting Therapy</vt:lpstr>
      <vt:lpstr>Types of Therapy</vt:lpstr>
      <vt:lpstr>Substance Use Therapy</vt:lpstr>
      <vt:lpstr>Substance Use and Addiction</vt:lpstr>
      <vt:lpstr>Substance Use Therapy</vt:lpstr>
      <vt:lpstr>The Sociocultural Model</vt:lpstr>
      <vt:lpstr>Mental Health Resources </vt:lpstr>
      <vt:lpstr>Specific Resources</vt:lpstr>
      <vt:lpstr>Next time on PSY 203…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Scheuler, Bryanna</dc:creator>
  <cp:lastModifiedBy>Bryanna Scheuler</cp:lastModifiedBy>
  <cp:revision>18</cp:revision>
  <dcterms:created xsi:type="dcterms:W3CDTF">2025-11-11T11:11:12Z</dcterms:created>
  <dcterms:modified xsi:type="dcterms:W3CDTF">2026-04-16T18:57:25Z</dcterms:modified>
</cp:coreProperties>
</file>