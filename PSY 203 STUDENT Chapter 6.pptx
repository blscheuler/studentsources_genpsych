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2" r:id="rId1"/>
  </p:sldMasterIdLst>
  <p:notesMasterIdLst>
    <p:notesMasterId r:id="rId31"/>
  </p:notesMasterIdLst>
  <p:sldIdLst>
    <p:sldId id="256" r:id="rId2"/>
    <p:sldId id="293" r:id="rId3"/>
    <p:sldId id="264" r:id="rId4"/>
    <p:sldId id="257" r:id="rId5"/>
    <p:sldId id="276" r:id="rId6"/>
    <p:sldId id="275" r:id="rId7"/>
    <p:sldId id="291" r:id="rId8"/>
    <p:sldId id="266" r:id="rId9"/>
    <p:sldId id="267" r:id="rId10"/>
    <p:sldId id="268" r:id="rId11"/>
    <p:sldId id="290" r:id="rId12"/>
    <p:sldId id="270" r:id="rId13"/>
    <p:sldId id="272" r:id="rId14"/>
    <p:sldId id="271" r:id="rId15"/>
    <p:sldId id="273" r:id="rId16"/>
    <p:sldId id="274" r:id="rId17"/>
    <p:sldId id="296" r:id="rId18"/>
    <p:sldId id="297" r:id="rId19"/>
    <p:sldId id="295" r:id="rId20"/>
    <p:sldId id="259" r:id="rId21"/>
    <p:sldId id="298" r:id="rId22"/>
    <p:sldId id="299" r:id="rId23"/>
    <p:sldId id="301" r:id="rId24"/>
    <p:sldId id="302" r:id="rId25"/>
    <p:sldId id="294" r:id="rId26"/>
    <p:sldId id="261" r:id="rId27"/>
    <p:sldId id="303" r:id="rId28"/>
    <p:sldId id="262" r:id="rId29"/>
    <p:sldId id="305"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2CA1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75993" autoAdjust="0"/>
  </p:normalViewPr>
  <p:slideViewPr>
    <p:cSldViewPr snapToGrid="0">
      <p:cViewPr varScale="1">
        <p:scale>
          <a:sx n="82" d="100"/>
          <a:sy n="82" d="100"/>
        </p:scale>
        <p:origin x="3354"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75EEF31-87B7-4BE1-9C33-E5DA68964526}" type="doc">
      <dgm:prSet loTypeId="urn:microsoft.com/office/officeart/2005/8/layout/list1" loCatId="list" qsTypeId="urn:microsoft.com/office/officeart/2005/8/quickstyle/simple1" qsCatId="simple" csTypeId="urn:microsoft.com/office/officeart/2005/8/colors/colorful1" csCatId="colorful" phldr="1"/>
      <dgm:spPr/>
      <dgm:t>
        <a:bodyPr/>
        <a:lstStyle/>
        <a:p>
          <a:endParaRPr lang="en-US"/>
        </a:p>
      </dgm:t>
    </dgm:pt>
    <dgm:pt modelId="{7F3D5B46-9ECE-4428-856C-3ECE11F73223}">
      <dgm:prSet/>
      <dgm:spPr/>
      <dgm:t>
        <a:bodyPr/>
        <a:lstStyle/>
        <a:p>
          <a:r>
            <a:rPr lang="en-US"/>
            <a:t>Reflexes versus instincts</a:t>
          </a:r>
        </a:p>
      </dgm:t>
    </dgm:pt>
    <dgm:pt modelId="{A6B656EF-0DCB-4E84-BB53-2A388860A0FC}" type="parTrans" cxnId="{F83F5C82-0C6D-4BE4-BD1C-C1AD07117417}">
      <dgm:prSet/>
      <dgm:spPr/>
      <dgm:t>
        <a:bodyPr/>
        <a:lstStyle/>
        <a:p>
          <a:endParaRPr lang="en-US"/>
        </a:p>
      </dgm:t>
    </dgm:pt>
    <dgm:pt modelId="{0AA34252-090D-4D09-A252-0818B6977E64}" type="sibTrans" cxnId="{F83F5C82-0C6D-4BE4-BD1C-C1AD07117417}">
      <dgm:prSet/>
      <dgm:spPr/>
      <dgm:t>
        <a:bodyPr/>
        <a:lstStyle/>
        <a:p>
          <a:endParaRPr lang="en-US"/>
        </a:p>
      </dgm:t>
    </dgm:pt>
    <dgm:pt modelId="{5520BDD4-DA3C-4135-90A3-626BE08EE269}">
      <dgm:prSet/>
      <dgm:spPr/>
      <dgm:t>
        <a:bodyPr/>
        <a:lstStyle/>
        <a:p>
          <a:r>
            <a:rPr lang="en-US" dirty="0"/>
            <a:t>Observational learning</a:t>
          </a:r>
        </a:p>
      </dgm:t>
    </dgm:pt>
    <dgm:pt modelId="{59A9ECA4-3E68-4D09-955B-79E79046B913}" type="parTrans" cxnId="{B1232EAB-A523-492F-AE03-A12CAEB9167F}">
      <dgm:prSet/>
      <dgm:spPr/>
      <dgm:t>
        <a:bodyPr/>
        <a:lstStyle/>
        <a:p>
          <a:endParaRPr lang="en-US"/>
        </a:p>
      </dgm:t>
    </dgm:pt>
    <dgm:pt modelId="{B62D68AF-7647-4893-9C2F-D77D83624708}" type="sibTrans" cxnId="{B1232EAB-A523-492F-AE03-A12CAEB9167F}">
      <dgm:prSet/>
      <dgm:spPr/>
      <dgm:t>
        <a:bodyPr/>
        <a:lstStyle/>
        <a:p>
          <a:endParaRPr lang="en-US"/>
        </a:p>
      </dgm:t>
    </dgm:pt>
    <dgm:pt modelId="{8A678924-ADBE-417A-AA09-0106EA2D800F}">
      <dgm:prSet/>
      <dgm:spPr/>
      <dgm:t>
        <a:bodyPr/>
        <a:lstStyle/>
        <a:p>
          <a:r>
            <a:rPr lang="en-US"/>
            <a:t>The ABC’s of learning:</a:t>
          </a:r>
        </a:p>
      </dgm:t>
    </dgm:pt>
    <dgm:pt modelId="{5EF79963-44DD-4691-BD77-0085868EBF06}" type="parTrans" cxnId="{446D9DF9-3C95-4ED9-9E39-4462165545A4}">
      <dgm:prSet/>
      <dgm:spPr/>
      <dgm:t>
        <a:bodyPr/>
        <a:lstStyle/>
        <a:p>
          <a:endParaRPr lang="en-US"/>
        </a:p>
      </dgm:t>
    </dgm:pt>
    <dgm:pt modelId="{79D206B1-AA0D-4566-8344-9AA79C952894}" type="sibTrans" cxnId="{446D9DF9-3C95-4ED9-9E39-4462165545A4}">
      <dgm:prSet/>
      <dgm:spPr/>
      <dgm:t>
        <a:bodyPr/>
        <a:lstStyle/>
        <a:p>
          <a:endParaRPr lang="en-US"/>
        </a:p>
      </dgm:t>
    </dgm:pt>
    <dgm:pt modelId="{1EAAF637-A462-4E03-83C0-E138E50608FA}">
      <dgm:prSet/>
      <dgm:spPr/>
      <dgm:t>
        <a:bodyPr/>
        <a:lstStyle/>
        <a:p>
          <a:r>
            <a:rPr lang="en-US" dirty="0"/>
            <a:t>Antecedent – Behavior –  Consequence</a:t>
          </a:r>
        </a:p>
      </dgm:t>
    </dgm:pt>
    <dgm:pt modelId="{F183B098-3263-400B-9419-E96C1CFD6218}" type="parTrans" cxnId="{BE921837-0CAA-4312-BB79-8500816169F8}">
      <dgm:prSet/>
      <dgm:spPr/>
      <dgm:t>
        <a:bodyPr/>
        <a:lstStyle/>
        <a:p>
          <a:endParaRPr lang="en-US"/>
        </a:p>
      </dgm:t>
    </dgm:pt>
    <dgm:pt modelId="{93B37FDA-18C1-422E-B483-7F5A76A12B1E}" type="sibTrans" cxnId="{BE921837-0CAA-4312-BB79-8500816169F8}">
      <dgm:prSet/>
      <dgm:spPr/>
      <dgm:t>
        <a:bodyPr/>
        <a:lstStyle/>
        <a:p>
          <a:endParaRPr lang="en-US"/>
        </a:p>
      </dgm:t>
    </dgm:pt>
    <dgm:pt modelId="{BF479DDF-4C72-44BE-B107-00C6ECB738B6}">
      <dgm:prSet/>
      <dgm:spPr/>
      <dgm:t>
        <a:bodyPr/>
        <a:lstStyle/>
        <a:p>
          <a:r>
            <a:rPr lang="en-US"/>
            <a:t>Associative learning</a:t>
          </a:r>
          <a:endParaRPr lang="en-US" dirty="0"/>
        </a:p>
      </dgm:t>
    </dgm:pt>
    <dgm:pt modelId="{298572D4-013D-4C6A-907E-4ADE62B188F1}" type="parTrans" cxnId="{801DAFED-A16F-4CC2-8DB0-EB515290CE87}">
      <dgm:prSet/>
      <dgm:spPr/>
      <dgm:t>
        <a:bodyPr/>
        <a:lstStyle/>
        <a:p>
          <a:endParaRPr lang="en-US"/>
        </a:p>
      </dgm:t>
    </dgm:pt>
    <dgm:pt modelId="{97F09761-8965-41E8-B619-95C98CF7916C}" type="sibTrans" cxnId="{801DAFED-A16F-4CC2-8DB0-EB515290CE87}">
      <dgm:prSet/>
      <dgm:spPr/>
      <dgm:t>
        <a:bodyPr/>
        <a:lstStyle/>
        <a:p>
          <a:endParaRPr lang="en-US"/>
        </a:p>
      </dgm:t>
    </dgm:pt>
    <dgm:pt modelId="{B57553CE-7312-4FAF-A38A-6EA834F96465}" type="pres">
      <dgm:prSet presAssocID="{975EEF31-87B7-4BE1-9C33-E5DA68964526}" presName="linear" presStyleCnt="0">
        <dgm:presLayoutVars>
          <dgm:dir/>
          <dgm:animLvl val="lvl"/>
          <dgm:resizeHandles val="exact"/>
        </dgm:presLayoutVars>
      </dgm:prSet>
      <dgm:spPr/>
    </dgm:pt>
    <dgm:pt modelId="{F8C59617-290B-47A4-9129-633DEDC5F638}" type="pres">
      <dgm:prSet presAssocID="{7F3D5B46-9ECE-4428-856C-3ECE11F73223}" presName="parentLin" presStyleCnt="0"/>
      <dgm:spPr/>
    </dgm:pt>
    <dgm:pt modelId="{C9114750-B220-41A8-978C-52E5057A7DFB}" type="pres">
      <dgm:prSet presAssocID="{7F3D5B46-9ECE-4428-856C-3ECE11F73223}" presName="parentLeftMargin" presStyleLbl="node1" presStyleIdx="0" presStyleCnt="4"/>
      <dgm:spPr/>
    </dgm:pt>
    <dgm:pt modelId="{24258B9D-C5A8-45FA-9EAD-29673B9A5100}" type="pres">
      <dgm:prSet presAssocID="{7F3D5B46-9ECE-4428-856C-3ECE11F73223}" presName="parentText" presStyleLbl="node1" presStyleIdx="0" presStyleCnt="4">
        <dgm:presLayoutVars>
          <dgm:chMax val="0"/>
          <dgm:bulletEnabled val="1"/>
        </dgm:presLayoutVars>
      </dgm:prSet>
      <dgm:spPr/>
    </dgm:pt>
    <dgm:pt modelId="{B51807E9-0D12-42F2-8760-5F6CF60FA009}" type="pres">
      <dgm:prSet presAssocID="{7F3D5B46-9ECE-4428-856C-3ECE11F73223}" presName="negativeSpace" presStyleCnt="0"/>
      <dgm:spPr/>
    </dgm:pt>
    <dgm:pt modelId="{C29AA17E-21ED-4F48-8BDA-7E1F38F5FF4E}" type="pres">
      <dgm:prSet presAssocID="{7F3D5B46-9ECE-4428-856C-3ECE11F73223}" presName="childText" presStyleLbl="conFgAcc1" presStyleIdx="0" presStyleCnt="4">
        <dgm:presLayoutVars>
          <dgm:bulletEnabled val="1"/>
        </dgm:presLayoutVars>
      </dgm:prSet>
      <dgm:spPr/>
    </dgm:pt>
    <dgm:pt modelId="{E705EE4B-1075-4E21-9DD3-1515EE8E74FF}" type="pres">
      <dgm:prSet presAssocID="{0AA34252-090D-4D09-A252-0818B6977E64}" presName="spaceBetweenRectangles" presStyleCnt="0"/>
      <dgm:spPr/>
    </dgm:pt>
    <dgm:pt modelId="{AA32A134-0700-47A4-B0AF-2EE206248C11}" type="pres">
      <dgm:prSet presAssocID="{5520BDD4-DA3C-4135-90A3-626BE08EE269}" presName="parentLin" presStyleCnt="0"/>
      <dgm:spPr/>
    </dgm:pt>
    <dgm:pt modelId="{272F520B-8DC1-45B3-8B71-76E30F1533BA}" type="pres">
      <dgm:prSet presAssocID="{5520BDD4-DA3C-4135-90A3-626BE08EE269}" presName="parentLeftMargin" presStyleLbl="node1" presStyleIdx="0" presStyleCnt="4"/>
      <dgm:spPr/>
    </dgm:pt>
    <dgm:pt modelId="{ACA47203-9AFF-4DC2-83CD-4A2941DA94C0}" type="pres">
      <dgm:prSet presAssocID="{5520BDD4-DA3C-4135-90A3-626BE08EE269}" presName="parentText" presStyleLbl="node1" presStyleIdx="1" presStyleCnt="4">
        <dgm:presLayoutVars>
          <dgm:chMax val="0"/>
          <dgm:bulletEnabled val="1"/>
        </dgm:presLayoutVars>
      </dgm:prSet>
      <dgm:spPr/>
    </dgm:pt>
    <dgm:pt modelId="{6B290A54-50DB-4272-82A0-EACC3FD02CB7}" type="pres">
      <dgm:prSet presAssocID="{5520BDD4-DA3C-4135-90A3-626BE08EE269}" presName="negativeSpace" presStyleCnt="0"/>
      <dgm:spPr/>
    </dgm:pt>
    <dgm:pt modelId="{50B4CDF1-AD0B-4A00-949B-1A102DDB0399}" type="pres">
      <dgm:prSet presAssocID="{5520BDD4-DA3C-4135-90A3-626BE08EE269}" presName="childText" presStyleLbl="conFgAcc1" presStyleIdx="1" presStyleCnt="4">
        <dgm:presLayoutVars>
          <dgm:bulletEnabled val="1"/>
        </dgm:presLayoutVars>
      </dgm:prSet>
      <dgm:spPr/>
    </dgm:pt>
    <dgm:pt modelId="{133BEBEB-3987-42E6-952B-6CB286E34813}" type="pres">
      <dgm:prSet presAssocID="{B62D68AF-7647-4893-9C2F-D77D83624708}" presName="spaceBetweenRectangles" presStyleCnt="0"/>
      <dgm:spPr/>
    </dgm:pt>
    <dgm:pt modelId="{77516556-29E0-4ECE-98E1-A98E50A2F3C4}" type="pres">
      <dgm:prSet presAssocID="{BF479DDF-4C72-44BE-B107-00C6ECB738B6}" presName="parentLin" presStyleCnt="0"/>
      <dgm:spPr/>
    </dgm:pt>
    <dgm:pt modelId="{22BD82A4-A18B-4D13-9825-FA0129258733}" type="pres">
      <dgm:prSet presAssocID="{BF479DDF-4C72-44BE-B107-00C6ECB738B6}" presName="parentLeftMargin" presStyleLbl="node1" presStyleIdx="1" presStyleCnt="4"/>
      <dgm:spPr/>
    </dgm:pt>
    <dgm:pt modelId="{C320B9B4-D717-4DFC-99BF-73530644DB8E}" type="pres">
      <dgm:prSet presAssocID="{BF479DDF-4C72-44BE-B107-00C6ECB738B6}" presName="parentText" presStyleLbl="node1" presStyleIdx="2" presStyleCnt="4">
        <dgm:presLayoutVars>
          <dgm:chMax val="0"/>
          <dgm:bulletEnabled val="1"/>
        </dgm:presLayoutVars>
      </dgm:prSet>
      <dgm:spPr/>
    </dgm:pt>
    <dgm:pt modelId="{F5697EAB-EEDA-4EAA-A622-98F3D08969CD}" type="pres">
      <dgm:prSet presAssocID="{BF479DDF-4C72-44BE-B107-00C6ECB738B6}" presName="negativeSpace" presStyleCnt="0"/>
      <dgm:spPr/>
    </dgm:pt>
    <dgm:pt modelId="{5EB4E976-A955-49C3-9A27-C118DB32ECBD}" type="pres">
      <dgm:prSet presAssocID="{BF479DDF-4C72-44BE-B107-00C6ECB738B6}" presName="childText" presStyleLbl="conFgAcc1" presStyleIdx="2" presStyleCnt="4">
        <dgm:presLayoutVars>
          <dgm:bulletEnabled val="1"/>
        </dgm:presLayoutVars>
      </dgm:prSet>
      <dgm:spPr/>
    </dgm:pt>
    <dgm:pt modelId="{9B3FF159-8B60-4BB4-A433-92DA105A6AE5}" type="pres">
      <dgm:prSet presAssocID="{97F09761-8965-41E8-B619-95C98CF7916C}" presName="spaceBetweenRectangles" presStyleCnt="0"/>
      <dgm:spPr/>
    </dgm:pt>
    <dgm:pt modelId="{E64655C3-7B46-4BAE-BD81-DF9700165E0D}" type="pres">
      <dgm:prSet presAssocID="{8A678924-ADBE-417A-AA09-0106EA2D800F}" presName="parentLin" presStyleCnt="0"/>
      <dgm:spPr/>
    </dgm:pt>
    <dgm:pt modelId="{1B8049EA-F50F-4251-8B43-5D4D2673A4F0}" type="pres">
      <dgm:prSet presAssocID="{8A678924-ADBE-417A-AA09-0106EA2D800F}" presName="parentLeftMargin" presStyleLbl="node1" presStyleIdx="2" presStyleCnt="4"/>
      <dgm:spPr/>
    </dgm:pt>
    <dgm:pt modelId="{DC73FFE8-EEE8-4AB9-A376-A29951992A19}" type="pres">
      <dgm:prSet presAssocID="{8A678924-ADBE-417A-AA09-0106EA2D800F}" presName="parentText" presStyleLbl="node1" presStyleIdx="3" presStyleCnt="4">
        <dgm:presLayoutVars>
          <dgm:chMax val="0"/>
          <dgm:bulletEnabled val="1"/>
        </dgm:presLayoutVars>
      </dgm:prSet>
      <dgm:spPr/>
    </dgm:pt>
    <dgm:pt modelId="{951D97E3-03AE-47DC-8BCC-3FE1C4BED746}" type="pres">
      <dgm:prSet presAssocID="{8A678924-ADBE-417A-AA09-0106EA2D800F}" presName="negativeSpace" presStyleCnt="0"/>
      <dgm:spPr/>
    </dgm:pt>
    <dgm:pt modelId="{61856913-5620-4EEE-A726-A8B51AA17495}" type="pres">
      <dgm:prSet presAssocID="{8A678924-ADBE-417A-AA09-0106EA2D800F}" presName="childText" presStyleLbl="conFgAcc1" presStyleIdx="3" presStyleCnt="4">
        <dgm:presLayoutVars>
          <dgm:bulletEnabled val="1"/>
        </dgm:presLayoutVars>
      </dgm:prSet>
      <dgm:spPr/>
    </dgm:pt>
  </dgm:ptLst>
  <dgm:cxnLst>
    <dgm:cxn modelId="{5413C503-9713-41B3-89D3-FAB99B986FCC}" type="presOf" srcId="{BF479DDF-4C72-44BE-B107-00C6ECB738B6}" destId="{C320B9B4-D717-4DFC-99BF-73530644DB8E}" srcOrd="1" destOrd="0" presId="urn:microsoft.com/office/officeart/2005/8/layout/list1"/>
    <dgm:cxn modelId="{349CB511-ABA1-4B64-89B6-E19EF878D48C}" type="presOf" srcId="{1EAAF637-A462-4E03-83C0-E138E50608FA}" destId="{61856913-5620-4EEE-A726-A8B51AA17495}" srcOrd="0" destOrd="0" presId="urn:microsoft.com/office/officeart/2005/8/layout/list1"/>
    <dgm:cxn modelId="{D7D17E2A-6CB4-48DB-A874-1A6173625BEF}" type="presOf" srcId="{8A678924-ADBE-417A-AA09-0106EA2D800F}" destId="{DC73FFE8-EEE8-4AB9-A376-A29951992A19}" srcOrd="1" destOrd="0" presId="urn:microsoft.com/office/officeart/2005/8/layout/list1"/>
    <dgm:cxn modelId="{BE921837-0CAA-4312-BB79-8500816169F8}" srcId="{8A678924-ADBE-417A-AA09-0106EA2D800F}" destId="{1EAAF637-A462-4E03-83C0-E138E50608FA}" srcOrd="0" destOrd="0" parTransId="{F183B098-3263-400B-9419-E96C1CFD6218}" sibTransId="{93B37FDA-18C1-422E-B483-7F5A76A12B1E}"/>
    <dgm:cxn modelId="{FE5D5D5C-0CD8-4806-B5CD-8A49C92683C7}" type="presOf" srcId="{7F3D5B46-9ECE-4428-856C-3ECE11F73223}" destId="{C9114750-B220-41A8-978C-52E5057A7DFB}" srcOrd="0" destOrd="0" presId="urn:microsoft.com/office/officeart/2005/8/layout/list1"/>
    <dgm:cxn modelId="{1FCB6062-7EFD-47FE-8658-590FF281DB83}" type="presOf" srcId="{BF479DDF-4C72-44BE-B107-00C6ECB738B6}" destId="{22BD82A4-A18B-4D13-9825-FA0129258733}" srcOrd="0" destOrd="0" presId="urn:microsoft.com/office/officeart/2005/8/layout/list1"/>
    <dgm:cxn modelId="{F76EDB48-7C9D-48B2-936B-03F8BE43CAF2}" type="presOf" srcId="{975EEF31-87B7-4BE1-9C33-E5DA68964526}" destId="{B57553CE-7312-4FAF-A38A-6EA834F96465}" srcOrd="0" destOrd="0" presId="urn:microsoft.com/office/officeart/2005/8/layout/list1"/>
    <dgm:cxn modelId="{E9239C7B-F1FC-44DD-8F0E-2F2D5112D956}" type="presOf" srcId="{5520BDD4-DA3C-4135-90A3-626BE08EE269}" destId="{ACA47203-9AFF-4DC2-83CD-4A2941DA94C0}" srcOrd="1" destOrd="0" presId="urn:microsoft.com/office/officeart/2005/8/layout/list1"/>
    <dgm:cxn modelId="{F83F5C82-0C6D-4BE4-BD1C-C1AD07117417}" srcId="{975EEF31-87B7-4BE1-9C33-E5DA68964526}" destId="{7F3D5B46-9ECE-4428-856C-3ECE11F73223}" srcOrd="0" destOrd="0" parTransId="{A6B656EF-0DCB-4E84-BB53-2A388860A0FC}" sibTransId="{0AA34252-090D-4D09-A252-0818B6977E64}"/>
    <dgm:cxn modelId="{A143DD86-6FE8-436A-AA3C-EFF7F7D622DD}" type="presOf" srcId="{8A678924-ADBE-417A-AA09-0106EA2D800F}" destId="{1B8049EA-F50F-4251-8B43-5D4D2673A4F0}" srcOrd="0" destOrd="0" presId="urn:microsoft.com/office/officeart/2005/8/layout/list1"/>
    <dgm:cxn modelId="{B1232EAB-A523-492F-AE03-A12CAEB9167F}" srcId="{975EEF31-87B7-4BE1-9C33-E5DA68964526}" destId="{5520BDD4-DA3C-4135-90A3-626BE08EE269}" srcOrd="1" destOrd="0" parTransId="{59A9ECA4-3E68-4D09-955B-79E79046B913}" sibTransId="{B62D68AF-7647-4893-9C2F-D77D83624708}"/>
    <dgm:cxn modelId="{5FBBD6B1-0515-47B9-B8BC-5C030A8FC905}" type="presOf" srcId="{7F3D5B46-9ECE-4428-856C-3ECE11F73223}" destId="{24258B9D-C5A8-45FA-9EAD-29673B9A5100}" srcOrd="1" destOrd="0" presId="urn:microsoft.com/office/officeart/2005/8/layout/list1"/>
    <dgm:cxn modelId="{0F6E0FB4-6A21-46F9-8D81-70CC5B89572E}" type="presOf" srcId="{5520BDD4-DA3C-4135-90A3-626BE08EE269}" destId="{272F520B-8DC1-45B3-8B71-76E30F1533BA}" srcOrd="0" destOrd="0" presId="urn:microsoft.com/office/officeart/2005/8/layout/list1"/>
    <dgm:cxn modelId="{801DAFED-A16F-4CC2-8DB0-EB515290CE87}" srcId="{975EEF31-87B7-4BE1-9C33-E5DA68964526}" destId="{BF479DDF-4C72-44BE-B107-00C6ECB738B6}" srcOrd="2" destOrd="0" parTransId="{298572D4-013D-4C6A-907E-4ADE62B188F1}" sibTransId="{97F09761-8965-41E8-B619-95C98CF7916C}"/>
    <dgm:cxn modelId="{446D9DF9-3C95-4ED9-9E39-4462165545A4}" srcId="{975EEF31-87B7-4BE1-9C33-E5DA68964526}" destId="{8A678924-ADBE-417A-AA09-0106EA2D800F}" srcOrd="3" destOrd="0" parTransId="{5EF79963-44DD-4691-BD77-0085868EBF06}" sibTransId="{79D206B1-AA0D-4566-8344-9AA79C952894}"/>
    <dgm:cxn modelId="{2AB884A1-4E87-453B-A424-CB65B0EE77EE}" type="presParOf" srcId="{B57553CE-7312-4FAF-A38A-6EA834F96465}" destId="{F8C59617-290B-47A4-9129-633DEDC5F638}" srcOrd="0" destOrd="0" presId="urn:microsoft.com/office/officeart/2005/8/layout/list1"/>
    <dgm:cxn modelId="{C13E1FF5-51B6-4F51-B106-5ACB3CA1D57D}" type="presParOf" srcId="{F8C59617-290B-47A4-9129-633DEDC5F638}" destId="{C9114750-B220-41A8-978C-52E5057A7DFB}" srcOrd="0" destOrd="0" presId="urn:microsoft.com/office/officeart/2005/8/layout/list1"/>
    <dgm:cxn modelId="{DAF79F7A-76C3-46EB-8CDD-68F6B7661F20}" type="presParOf" srcId="{F8C59617-290B-47A4-9129-633DEDC5F638}" destId="{24258B9D-C5A8-45FA-9EAD-29673B9A5100}" srcOrd="1" destOrd="0" presId="urn:microsoft.com/office/officeart/2005/8/layout/list1"/>
    <dgm:cxn modelId="{85347FCA-EE44-48CE-80DD-E35FA328E35D}" type="presParOf" srcId="{B57553CE-7312-4FAF-A38A-6EA834F96465}" destId="{B51807E9-0D12-42F2-8760-5F6CF60FA009}" srcOrd="1" destOrd="0" presId="urn:microsoft.com/office/officeart/2005/8/layout/list1"/>
    <dgm:cxn modelId="{6BD460C8-5A90-46AB-9020-426F5685F436}" type="presParOf" srcId="{B57553CE-7312-4FAF-A38A-6EA834F96465}" destId="{C29AA17E-21ED-4F48-8BDA-7E1F38F5FF4E}" srcOrd="2" destOrd="0" presId="urn:microsoft.com/office/officeart/2005/8/layout/list1"/>
    <dgm:cxn modelId="{7764A3A5-CD22-4C7E-A401-53B48E47D856}" type="presParOf" srcId="{B57553CE-7312-4FAF-A38A-6EA834F96465}" destId="{E705EE4B-1075-4E21-9DD3-1515EE8E74FF}" srcOrd="3" destOrd="0" presId="urn:microsoft.com/office/officeart/2005/8/layout/list1"/>
    <dgm:cxn modelId="{A0C38EB1-2795-4C3C-A198-676C9BC46E49}" type="presParOf" srcId="{B57553CE-7312-4FAF-A38A-6EA834F96465}" destId="{AA32A134-0700-47A4-B0AF-2EE206248C11}" srcOrd="4" destOrd="0" presId="urn:microsoft.com/office/officeart/2005/8/layout/list1"/>
    <dgm:cxn modelId="{C6E053B5-F6DF-41B4-9C0B-B5159A59E08A}" type="presParOf" srcId="{AA32A134-0700-47A4-B0AF-2EE206248C11}" destId="{272F520B-8DC1-45B3-8B71-76E30F1533BA}" srcOrd="0" destOrd="0" presId="urn:microsoft.com/office/officeart/2005/8/layout/list1"/>
    <dgm:cxn modelId="{924B626E-1E86-40DB-BADC-DB194B227A9A}" type="presParOf" srcId="{AA32A134-0700-47A4-B0AF-2EE206248C11}" destId="{ACA47203-9AFF-4DC2-83CD-4A2941DA94C0}" srcOrd="1" destOrd="0" presId="urn:microsoft.com/office/officeart/2005/8/layout/list1"/>
    <dgm:cxn modelId="{EB1017F5-987A-487A-818D-4D5DCD4985DE}" type="presParOf" srcId="{B57553CE-7312-4FAF-A38A-6EA834F96465}" destId="{6B290A54-50DB-4272-82A0-EACC3FD02CB7}" srcOrd="5" destOrd="0" presId="urn:microsoft.com/office/officeart/2005/8/layout/list1"/>
    <dgm:cxn modelId="{8C467B0C-8FD4-4C63-9C85-B6C7C88AAEDF}" type="presParOf" srcId="{B57553CE-7312-4FAF-A38A-6EA834F96465}" destId="{50B4CDF1-AD0B-4A00-949B-1A102DDB0399}" srcOrd="6" destOrd="0" presId="urn:microsoft.com/office/officeart/2005/8/layout/list1"/>
    <dgm:cxn modelId="{344CEE5B-FA78-4E7C-82FE-848F69BB58C4}" type="presParOf" srcId="{B57553CE-7312-4FAF-A38A-6EA834F96465}" destId="{133BEBEB-3987-42E6-952B-6CB286E34813}" srcOrd="7" destOrd="0" presId="urn:microsoft.com/office/officeart/2005/8/layout/list1"/>
    <dgm:cxn modelId="{18570149-6D3D-4B66-ACCB-9560ADB728CB}" type="presParOf" srcId="{B57553CE-7312-4FAF-A38A-6EA834F96465}" destId="{77516556-29E0-4ECE-98E1-A98E50A2F3C4}" srcOrd="8" destOrd="0" presId="urn:microsoft.com/office/officeart/2005/8/layout/list1"/>
    <dgm:cxn modelId="{C6EF570C-6DF8-47CC-8CA3-999E3CE2F7CA}" type="presParOf" srcId="{77516556-29E0-4ECE-98E1-A98E50A2F3C4}" destId="{22BD82A4-A18B-4D13-9825-FA0129258733}" srcOrd="0" destOrd="0" presId="urn:microsoft.com/office/officeart/2005/8/layout/list1"/>
    <dgm:cxn modelId="{049596A4-A38C-4452-BDF5-5BDCC780C2FA}" type="presParOf" srcId="{77516556-29E0-4ECE-98E1-A98E50A2F3C4}" destId="{C320B9B4-D717-4DFC-99BF-73530644DB8E}" srcOrd="1" destOrd="0" presId="urn:microsoft.com/office/officeart/2005/8/layout/list1"/>
    <dgm:cxn modelId="{C972D601-3AA6-4E8C-A737-E6E3720B9E25}" type="presParOf" srcId="{B57553CE-7312-4FAF-A38A-6EA834F96465}" destId="{F5697EAB-EEDA-4EAA-A622-98F3D08969CD}" srcOrd="9" destOrd="0" presId="urn:microsoft.com/office/officeart/2005/8/layout/list1"/>
    <dgm:cxn modelId="{FDF9D3C2-12A9-46A7-8DEC-8536366F376B}" type="presParOf" srcId="{B57553CE-7312-4FAF-A38A-6EA834F96465}" destId="{5EB4E976-A955-49C3-9A27-C118DB32ECBD}" srcOrd="10" destOrd="0" presId="urn:microsoft.com/office/officeart/2005/8/layout/list1"/>
    <dgm:cxn modelId="{DEBC6B41-4C77-4F6B-A032-B73223171540}" type="presParOf" srcId="{B57553CE-7312-4FAF-A38A-6EA834F96465}" destId="{9B3FF159-8B60-4BB4-A433-92DA105A6AE5}" srcOrd="11" destOrd="0" presId="urn:microsoft.com/office/officeart/2005/8/layout/list1"/>
    <dgm:cxn modelId="{1182015A-CB84-4D8B-8350-C3C01F236D09}" type="presParOf" srcId="{B57553CE-7312-4FAF-A38A-6EA834F96465}" destId="{E64655C3-7B46-4BAE-BD81-DF9700165E0D}" srcOrd="12" destOrd="0" presId="urn:microsoft.com/office/officeart/2005/8/layout/list1"/>
    <dgm:cxn modelId="{364A2D29-A8A0-4A1A-B64F-86428AA58393}" type="presParOf" srcId="{E64655C3-7B46-4BAE-BD81-DF9700165E0D}" destId="{1B8049EA-F50F-4251-8B43-5D4D2673A4F0}" srcOrd="0" destOrd="0" presId="urn:microsoft.com/office/officeart/2005/8/layout/list1"/>
    <dgm:cxn modelId="{53B8FC40-1B8E-481C-A194-066D0549D603}" type="presParOf" srcId="{E64655C3-7B46-4BAE-BD81-DF9700165E0D}" destId="{DC73FFE8-EEE8-4AB9-A376-A29951992A19}" srcOrd="1" destOrd="0" presId="urn:microsoft.com/office/officeart/2005/8/layout/list1"/>
    <dgm:cxn modelId="{011B7375-59E5-4072-B377-DB5063583951}" type="presParOf" srcId="{B57553CE-7312-4FAF-A38A-6EA834F96465}" destId="{951D97E3-03AE-47DC-8BCC-3FE1C4BED746}" srcOrd="13" destOrd="0" presId="urn:microsoft.com/office/officeart/2005/8/layout/list1"/>
    <dgm:cxn modelId="{3F724C71-DF49-417C-A440-C9E61B672EE0}" type="presParOf" srcId="{B57553CE-7312-4FAF-A38A-6EA834F96465}" destId="{61856913-5620-4EEE-A726-A8B51AA17495}" srcOrd="14"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698D75E-0502-4B10-AA15-F4500EB73A74}" type="doc">
      <dgm:prSet loTypeId="urn:microsoft.com/office/officeart/2008/layout/LinedList" loCatId="list" qsTypeId="urn:microsoft.com/office/officeart/2005/8/quickstyle/simple1" qsCatId="simple" csTypeId="urn:microsoft.com/office/officeart/2005/8/colors/colorful2" csCatId="colorful" phldr="1"/>
      <dgm:spPr/>
      <dgm:t>
        <a:bodyPr/>
        <a:lstStyle/>
        <a:p>
          <a:endParaRPr lang="en-US"/>
        </a:p>
      </dgm:t>
    </dgm:pt>
    <dgm:pt modelId="{1AB09745-3C4F-4B09-942D-51EE81AC6327}">
      <dgm:prSet/>
      <dgm:spPr/>
      <dgm:t>
        <a:bodyPr/>
        <a:lstStyle/>
        <a:p>
          <a:r>
            <a:rPr lang="en-US" dirty="0"/>
            <a:t>The Originals: Unconditioned stimulus (UCS) and unconditioned response (UCR)</a:t>
          </a:r>
        </a:p>
      </dgm:t>
    </dgm:pt>
    <dgm:pt modelId="{58A2B2F4-B3C9-4DA9-9E08-B6395505D713}" type="parTrans" cxnId="{A10C39FA-94D8-46A1-8A26-9B729DA44688}">
      <dgm:prSet/>
      <dgm:spPr/>
      <dgm:t>
        <a:bodyPr/>
        <a:lstStyle/>
        <a:p>
          <a:endParaRPr lang="en-US"/>
        </a:p>
      </dgm:t>
    </dgm:pt>
    <dgm:pt modelId="{DC31F44C-E917-4675-BD1A-598459C192B2}" type="sibTrans" cxnId="{A10C39FA-94D8-46A1-8A26-9B729DA44688}">
      <dgm:prSet/>
      <dgm:spPr/>
      <dgm:t>
        <a:bodyPr/>
        <a:lstStyle/>
        <a:p>
          <a:endParaRPr lang="en-US"/>
        </a:p>
      </dgm:t>
    </dgm:pt>
    <dgm:pt modelId="{FF762922-BC6B-496B-BD96-D6B3FF9DFB80}">
      <dgm:prSet/>
      <dgm:spPr/>
      <dgm:t>
        <a:bodyPr/>
        <a:lstStyle/>
        <a:p>
          <a:r>
            <a:rPr lang="en-US" dirty="0"/>
            <a:t>The New Guy: Neutral stimulus (NS)</a:t>
          </a:r>
        </a:p>
      </dgm:t>
    </dgm:pt>
    <dgm:pt modelId="{47970A59-3BB5-45A6-8E57-15CEF447EAAB}" type="parTrans" cxnId="{C25AF304-C76F-4315-B52F-8011AB975C83}">
      <dgm:prSet/>
      <dgm:spPr/>
      <dgm:t>
        <a:bodyPr/>
        <a:lstStyle/>
        <a:p>
          <a:endParaRPr lang="en-US"/>
        </a:p>
      </dgm:t>
    </dgm:pt>
    <dgm:pt modelId="{C666A347-5942-48FA-8591-919028CF86B1}" type="sibTrans" cxnId="{C25AF304-C76F-4315-B52F-8011AB975C83}">
      <dgm:prSet/>
      <dgm:spPr/>
      <dgm:t>
        <a:bodyPr/>
        <a:lstStyle/>
        <a:p>
          <a:endParaRPr lang="en-US"/>
        </a:p>
      </dgm:t>
    </dgm:pt>
    <dgm:pt modelId="{90C92E2E-EE13-4C8B-B7E4-FB0A2369B424}">
      <dgm:prSet/>
      <dgm:spPr/>
      <dgm:t>
        <a:bodyPr/>
        <a:lstStyle/>
        <a:p>
          <a:r>
            <a:rPr lang="en-US" dirty="0"/>
            <a:t>The Remix: Conditioned stimulus (CS) and conditioned response (CR)</a:t>
          </a:r>
        </a:p>
      </dgm:t>
    </dgm:pt>
    <dgm:pt modelId="{BA227681-D18E-49BF-9ADC-E30F72FF67D4}" type="parTrans" cxnId="{D07FF329-CE0A-4706-A1F3-EAB31F589DB6}">
      <dgm:prSet/>
      <dgm:spPr/>
      <dgm:t>
        <a:bodyPr/>
        <a:lstStyle/>
        <a:p>
          <a:endParaRPr lang="en-US"/>
        </a:p>
      </dgm:t>
    </dgm:pt>
    <dgm:pt modelId="{2EAC02CB-7B75-47F0-B936-1F37486D7ECB}" type="sibTrans" cxnId="{D07FF329-CE0A-4706-A1F3-EAB31F589DB6}">
      <dgm:prSet/>
      <dgm:spPr/>
      <dgm:t>
        <a:bodyPr/>
        <a:lstStyle/>
        <a:p>
          <a:endParaRPr lang="en-US"/>
        </a:p>
      </dgm:t>
    </dgm:pt>
    <dgm:pt modelId="{A9662FEE-2254-4D42-9409-57103AE85884}" type="pres">
      <dgm:prSet presAssocID="{5698D75E-0502-4B10-AA15-F4500EB73A74}" presName="vert0" presStyleCnt="0">
        <dgm:presLayoutVars>
          <dgm:dir/>
          <dgm:animOne val="branch"/>
          <dgm:animLvl val="lvl"/>
        </dgm:presLayoutVars>
      </dgm:prSet>
      <dgm:spPr/>
    </dgm:pt>
    <dgm:pt modelId="{A50F988F-8EB9-4DE4-8564-04BD05E1216C}" type="pres">
      <dgm:prSet presAssocID="{1AB09745-3C4F-4B09-942D-51EE81AC6327}" presName="thickLine" presStyleLbl="alignNode1" presStyleIdx="0" presStyleCnt="3"/>
      <dgm:spPr/>
    </dgm:pt>
    <dgm:pt modelId="{DC915F5F-EFA0-45BC-A0B7-E3B2B7834F22}" type="pres">
      <dgm:prSet presAssocID="{1AB09745-3C4F-4B09-942D-51EE81AC6327}" presName="horz1" presStyleCnt="0"/>
      <dgm:spPr/>
    </dgm:pt>
    <dgm:pt modelId="{D9A0C9DA-FB22-44F7-8B0B-598472D741AB}" type="pres">
      <dgm:prSet presAssocID="{1AB09745-3C4F-4B09-942D-51EE81AC6327}" presName="tx1" presStyleLbl="revTx" presStyleIdx="0" presStyleCnt="3"/>
      <dgm:spPr/>
    </dgm:pt>
    <dgm:pt modelId="{7DECEAF5-B755-4613-913D-8AFBC1D0869E}" type="pres">
      <dgm:prSet presAssocID="{1AB09745-3C4F-4B09-942D-51EE81AC6327}" presName="vert1" presStyleCnt="0"/>
      <dgm:spPr/>
    </dgm:pt>
    <dgm:pt modelId="{93A1F9A4-C218-46BB-8B94-02564C402C9B}" type="pres">
      <dgm:prSet presAssocID="{FF762922-BC6B-496B-BD96-D6B3FF9DFB80}" presName="thickLine" presStyleLbl="alignNode1" presStyleIdx="1" presStyleCnt="3"/>
      <dgm:spPr/>
    </dgm:pt>
    <dgm:pt modelId="{39A54546-DA92-41A6-A7D8-1A7EEA3526B0}" type="pres">
      <dgm:prSet presAssocID="{FF762922-BC6B-496B-BD96-D6B3FF9DFB80}" presName="horz1" presStyleCnt="0"/>
      <dgm:spPr/>
    </dgm:pt>
    <dgm:pt modelId="{7C1ADC3B-C62F-4DAC-B9CA-A7585EC59BD9}" type="pres">
      <dgm:prSet presAssocID="{FF762922-BC6B-496B-BD96-D6B3FF9DFB80}" presName="tx1" presStyleLbl="revTx" presStyleIdx="1" presStyleCnt="3"/>
      <dgm:spPr/>
    </dgm:pt>
    <dgm:pt modelId="{30265B12-4F30-451B-97DB-775086C324DC}" type="pres">
      <dgm:prSet presAssocID="{FF762922-BC6B-496B-BD96-D6B3FF9DFB80}" presName="vert1" presStyleCnt="0"/>
      <dgm:spPr/>
    </dgm:pt>
    <dgm:pt modelId="{1C4AFB18-6A7A-4880-AE67-09ABC3F413BC}" type="pres">
      <dgm:prSet presAssocID="{90C92E2E-EE13-4C8B-B7E4-FB0A2369B424}" presName="thickLine" presStyleLbl="alignNode1" presStyleIdx="2" presStyleCnt="3"/>
      <dgm:spPr/>
    </dgm:pt>
    <dgm:pt modelId="{884C256C-234D-4DCC-A82B-AF39255CA6F5}" type="pres">
      <dgm:prSet presAssocID="{90C92E2E-EE13-4C8B-B7E4-FB0A2369B424}" presName="horz1" presStyleCnt="0"/>
      <dgm:spPr/>
    </dgm:pt>
    <dgm:pt modelId="{75754564-77A8-4A87-BF0C-DA5A01C78245}" type="pres">
      <dgm:prSet presAssocID="{90C92E2E-EE13-4C8B-B7E4-FB0A2369B424}" presName="tx1" presStyleLbl="revTx" presStyleIdx="2" presStyleCnt="3"/>
      <dgm:spPr/>
    </dgm:pt>
    <dgm:pt modelId="{E44E4DA4-54F6-439B-AAA8-5368F2B1AA80}" type="pres">
      <dgm:prSet presAssocID="{90C92E2E-EE13-4C8B-B7E4-FB0A2369B424}" presName="vert1" presStyleCnt="0"/>
      <dgm:spPr/>
    </dgm:pt>
  </dgm:ptLst>
  <dgm:cxnLst>
    <dgm:cxn modelId="{C25AF304-C76F-4315-B52F-8011AB975C83}" srcId="{5698D75E-0502-4B10-AA15-F4500EB73A74}" destId="{FF762922-BC6B-496B-BD96-D6B3FF9DFB80}" srcOrd="1" destOrd="0" parTransId="{47970A59-3BB5-45A6-8E57-15CEF447EAAB}" sibTransId="{C666A347-5942-48FA-8591-919028CF86B1}"/>
    <dgm:cxn modelId="{D07FF329-CE0A-4706-A1F3-EAB31F589DB6}" srcId="{5698D75E-0502-4B10-AA15-F4500EB73A74}" destId="{90C92E2E-EE13-4C8B-B7E4-FB0A2369B424}" srcOrd="2" destOrd="0" parTransId="{BA227681-D18E-49BF-9ADC-E30F72FF67D4}" sibTransId="{2EAC02CB-7B75-47F0-B936-1F37486D7ECB}"/>
    <dgm:cxn modelId="{E400E75D-5A3A-4B0C-B995-9963A078FC60}" type="presOf" srcId="{FF762922-BC6B-496B-BD96-D6B3FF9DFB80}" destId="{7C1ADC3B-C62F-4DAC-B9CA-A7585EC59BD9}" srcOrd="0" destOrd="0" presId="urn:microsoft.com/office/officeart/2008/layout/LinedList"/>
    <dgm:cxn modelId="{F2E4578A-D276-4CE1-9BBD-5CC462E8A931}" type="presOf" srcId="{90C92E2E-EE13-4C8B-B7E4-FB0A2369B424}" destId="{75754564-77A8-4A87-BF0C-DA5A01C78245}" srcOrd="0" destOrd="0" presId="urn:microsoft.com/office/officeart/2008/layout/LinedList"/>
    <dgm:cxn modelId="{A9E722D6-FA61-4BDA-92FA-80B4A9668858}" type="presOf" srcId="{5698D75E-0502-4B10-AA15-F4500EB73A74}" destId="{A9662FEE-2254-4D42-9409-57103AE85884}" srcOrd="0" destOrd="0" presId="urn:microsoft.com/office/officeart/2008/layout/LinedList"/>
    <dgm:cxn modelId="{BEA65EDA-BAFD-4E3C-B5F8-FAD3F95EC32F}" type="presOf" srcId="{1AB09745-3C4F-4B09-942D-51EE81AC6327}" destId="{D9A0C9DA-FB22-44F7-8B0B-598472D741AB}" srcOrd="0" destOrd="0" presId="urn:microsoft.com/office/officeart/2008/layout/LinedList"/>
    <dgm:cxn modelId="{A10C39FA-94D8-46A1-8A26-9B729DA44688}" srcId="{5698D75E-0502-4B10-AA15-F4500EB73A74}" destId="{1AB09745-3C4F-4B09-942D-51EE81AC6327}" srcOrd="0" destOrd="0" parTransId="{58A2B2F4-B3C9-4DA9-9E08-B6395505D713}" sibTransId="{DC31F44C-E917-4675-BD1A-598459C192B2}"/>
    <dgm:cxn modelId="{A25BB57A-01E0-4FB9-8886-7C2281C4FE47}" type="presParOf" srcId="{A9662FEE-2254-4D42-9409-57103AE85884}" destId="{A50F988F-8EB9-4DE4-8564-04BD05E1216C}" srcOrd="0" destOrd="0" presId="urn:microsoft.com/office/officeart/2008/layout/LinedList"/>
    <dgm:cxn modelId="{191E3347-D4B6-4D60-A00C-95E1810A3C49}" type="presParOf" srcId="{A9662FEE-2254-4D42-9409-57103AE85884}" destId="{DC915F5F-EFA0-45BC-A0B7-E3B2B7834F22}" srcOrd="1" destOrd="0" presId="urn:microsoft.com/office/officeart/2008/layout/LinedList"/>
    <dgm:cxn modelId="{058C7E7C-7447-4BFC-BE45-B9C0322BC221}" type="presParOf" srcId="{DC915F5F-EFA0-45BC-A0B7-E3B2B7834F22}" destId="{D9A0C9DA-FB22-44F7-8B0B-598472D741AB}" srcOrd="0" destOrd="0" presId="urn:microsoft.com/office/officeart/2008/layout/LinedList"/>
    <dgm:cxn modelId="{E020C1AE-14CF-40E3-9840-22C112F480C1}" type="presParOf" srcId="{DC915F5F-EFA0-45BC-A0B7-E3B2B7834F22}" destId="{7DECEAF5-B755-4613-913D-8AFBC1D0869E}" srcOrd="1" destOrd="0" presId="urn:microsoft.com/office/officeart/2008/layout/LinedList"/>
    <dgm:cxn modelId="{CE5353FA-6AE9-4E39-93F4-171FC07648C9}" type="presParOf" srcId="{A9662FEE-2254-4D42-9409-57103AE85884}" destId="{93A1F9A4-C218-46BB-8B94-02564C402C9B}" srcOrd="2" destOrd="0" presId="urn:microsoft.com/office/officeart/2008/layout/LinedList"/>
    <dgm:cxn modelId="{F79B8426-FC84-4F84-827A-CF3216403B75}" type="presParOf" srcId="{A9662FEE-2254-4D42-9409-57103AE85884}" destId="{39A54546-DA92-41A6-A7D8-1A7EEA3526B0}" srcOrd="3" destOrd="0" presId="urn:microsoft.com/office/officeart/2008/layout/LinedList"/>
    <dgm:cxn modelId="{757EFB1A-3E0E-4057-A0B7-ACB548C00BEE}" type="presParOf" srcId="{39A54546-DA92-41A6-A7D8-1A7EEA3526B0}" destId="{7C1ADC3B-C62F-4DAC-B9CA-A7585EC59BD9}" srcOrd="0" destOrd="0" presId="urn:microsoft.com/office/officeart/2008/layout/LinedList"/>
    <dgm:cxn modelId="{488D3EB6-D013-41DC-AADD-A7CF066F617A}" type="presParOf" srcId="{39A54546-DA92-41A6-A7D8-1A7EEA3526B0}" destId="{30265B12-4F30-451B-97DB-775086C324DC}" srcOrd="1" destOrd="0" presId="urn:microsoft.com/office/officeart/2008/layout/LinedList"/>
    <dgm:cxn modelId="{9878DAED-216B-4684-92AB-046D1CE3572D}" type="presParOf" srcId="{A9662FEE-2254-4D42-9409-57103AE85884}" destId="{1C4AFB18-6A7A-4880-AE67-09ABC3F413BC}" srcOrd="4" destOrd="0" presId="urn:microsoft.com/office/officeart/2008/layout/LinedList"/>
    <dgm:cxn modelId="{04411471-2D1F-47E6-BE5A-943A788106C8}" type="presParOf" srcId="{A9662FEE-2254-4D42-9409-57103AE85884}" destId="{884C256C-234D-4DCC-A82B-AF39255CA6F5}" srcOrd="5" destOrd="0" presId="urn:microsoft.com/office/officeart/2008/layout/LinedList"/>
    <dgm:cxn modelId="{0414B68D-1496-44DA-824C-1B9762E43359}" type="presParOf" srcId="{884C256C-234D-4DCC-A82B-AF39255CA6F5}" destId="{75754564-77A8-4A87-BF0C-DA5A01C78245}" srcOrd="0" destOrd="0" presId="urn:microsoft.com/office/officeart/2008/layout/LinedList"/>
    <dgm:cxn modelId="{94812A1C-EE63-476C-8658-221CB3D66C91}" type="presParOf" srcId="{884C256C-234D-4DCC-A82B-AF39255CA6F5}" destId="{E44E4DA4-54F6-439B-AAA8-5368F2B1AA80}"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6870769-A9BC-4EC5-83BC-12FC3207308A}"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CBE10D70-4F26-4BD3-8593-943F3B91BA6F}">
      <dgm:prSet custT="1"/>
      <dgm:spPr/>
      <dgm:t>
        <a:bodyPr/>
        <a:lstStyle/>
        <a:p>
          <a:r>
            <a:rPr lang="en-US" sz="3200" dirty="0"/>
            <a:t>Ivan Pavlov</a:t>
          </a:r>
        </a:p>
      </dgm:t>
    </dgm:pt>
    <dgm:pt modelId="{7D636D60-660B-494D-92B1-54A9064B2C37}" type="parTrans" cxnId="{56962114-FA62-4CE3-A768-8813E700B699}">
      <dgm:prSet/>
      <dgm:spPr/>
      <dgm:t>
        <a:bodyPr/>
        <a:lstStyle/>
        <a:p>
          <a:endParaRPr lang="en-US" sz="2400"/>
        </a:p>
      </dgm:t>
    </dgm:pt>
    <dgm:pt modelId="{C138B375-92F9-4ED3-8829-B17721CF8B56}" type="sibTrans" cxnId="{56962114-FA62-4CE3-A768-8813E700B699}">
      <dgm:prSet/>
      <dgm:spPr/>
      <dgm:t>
        <a:bodyPr/>
        <a:lstStyle/>
        <a:p>
          <a:endParaRPr lang="en-US" sz="2400"/>
        </a:p>
      </dgm:t>
    </dgm:pt>
    <dgm:pt modelId="{6177434F-A1B8-480C-A41D-FFF4B00304F5}">
      <dgm:prSet custT="1"/>
      <dgm:spPr/>
      <dgm:t>
        <a:bodyPr/>
        <a:lstStyle/>
        <a:p>
          <a:r>
            <a:rPr lang="en-US" sz="3200" dirty="0"/>
            <a:t>John Watson</a:t>
          </a:r>
        </a:p>
      </dgm:t>
    </dgm:pt>
    <dgm:pt modelId="{AB4275F9-A55A-4C7C-835B-5510B92B5FFD}" type="parTrans" cxnId="{78419204-C25A-45B0-BCB6-FE2FCE8D82B3}">
      <dgm:prSet/>
      <dgm:spPr/>
      <dgm:t>
        <a:bodyPr/>
        <a:lstStyle/>
        <a:p>
          <a:endParaRPr lang="en-US" sz="2400"/>
        </a:p>
      </dgm:t>
    </dgm:pt>
    <dgm:pt modelId="{062D615B-C9DD-4F93-9315-13D0E0F33B7B}" type="sibTrans" cxnId="{78419204-C25A-45B0-BCB6-FE2FCE8D82B3}">
      <dgm:prSet/>
      <dgm:spPr/>
      <dgm:t>
        <a:bodyPr/>
        <a:lstStyle/>
        <a:p>
          <a:endParaRPr lang="en-US" sz="2400"/>
        </a:p>
      </dgm:t>
    </dgm:pt>
    <dgm:pt modelId="{7DD6E0BB-7E32-4E85-9E84-78A6D691A921}">
      <dgm:prSet custT="1"/>
      <dgm:spPr/>
      <dgm:t>
        <a:bodyPr/>
        <a:lstStyle/>
        <a:p>
          <a:r>
            <a:rPr lang="en-US" sz="3200" dirty="0"/>
            <a:t>B. F. Skinner</a:t>
          </a:r>
        </a:p>
      </dgm:t>
    </dgm:pt>
    <dgm:pt modelId="{54B6C083-79B0-4ECD-960B-38E164224852}" type="parTrans" cxnId="{541F6653-6548-4583-A2E7-161327176F61}">
      <dgm:prSet/>
      <dgm:spPr/>
      <dgm:t>
        <a:bodyPr/>
        <a:lstStyle/>
        <a:p>
          <a:endParaRPr lang="en-US" sz="2400"/>
        </a:p>
      </dgm:t>
    </dgm:pt>
    <dgm:pt modelId="{34A70AA0-C017-4244-9315-3C8BE1112C3B}" type="sibTrans" cxnId="{541F6653-6548-4583-A2E7-161327176F61}">
      <dgm:prSet/>
      <dgm:spPr/>
      <dgm:t>
        <a:bodyPr/>
        <a:lstStyle/>
        <a:p>
          <a:endParaRPr lang="en-US" sz="2400"/>
        </a:p>
      </dgm:t>
    </dgm:pt>
    <dgm:pt modelId="{71BECBE6-1851-4C58-8E3E-FBB752A6A5AE}">
      <dgm:prSet custT="1"/>
      <dgm:spPr/>
      <dgm:t>
        <a:bodyPr/>
        <a:lstStyle/>
        <a:p>
          <a:r>
            <a:rPr lang="en-US" sz="3200" dirty="0"/>
            <a:t>Edward Tolman</a:t>
          </a:r>
        </a:p>
      </dgm:t>
    </dgm:pt>
    <dgm:pt modelId="{74046DD1-A635-4212-A6EE-86A0B7A9BDC1}" type="parTrans" cxnId="{DF0104B0-8C59-4974-957A-A409A6492332}">
      <dgm:prSet/>
      <dgm:spPr/>
      <dgm:t>
        <a:bodyPr/>
        <a:lstStyle/>
        <a:p>
          <a:endParaRPr lang="en-US" sz="2400"/>
        </a:p>
      </dgm:t>
    </dgm:pt>
    <dgm:pt modelId="{0813BAA1-D5B5-4166-B5B0-BF34DD4C8190}" type="sibTrans" cxnId="{DF0104B0-8C59-4974-957A-A409A6492332}">
      <dgm:prSet/>
      <dgm:spPr/>
      <dgm:t>
        <a:bodyPr/>
        <a:lstStyle/>
        <a:p>
          <a:endParaRPr lang="en-US" sz="2400"/>
        </a:p>
      </dgm:t>
    </dgm:pt>
    <dgm:pt modelId="{E80120C2-EBE0-4512-8C1A-CE35069D6A4B}">
      <dgm:prSet custT="1"/>
      <dgm:spPr/>
      <dgm:t>
        <a:bodyPr/>
        <a:lstStyle/>
        <a:p>
          <a:r>
            <a:rPr lang="en-US" sz="3200" dirty="0"/>
            <a:t>Albert Bandura</a:t>
          </a:r>
        </a:p>
      </dgm:t>
    </dgm:pt>
    <dgm:pt modelId="{5735E231-2705-4D37-A07E-DE28DA5799EA}" type="parTrans" cxnId="{DD369355-E962-417E-8E8B-02F2844C2B30}">
      <dgm:prSet/>
      <dgm:spPr/>
      <dgm:t>
        <a:bodyPr/>
        <a:lstStyle/>
        <a:p>
          <a:endParaRPr lang="en-US" sz="2400"/>
        </a:p>
      </dgm:t>
    </dgm:pt>
    <dgm:pt modelId="{A7460D72-5F9C-450D-A46A-97494E481310}" type="sibTrans" cxnId="{DD369355-E962-417E-8E8B-02F2844C2B30}">
      <dgm:prSet/>
      <dgm:spPr/>
      <dgm:t>
        <a:bodyPr/>
        <a:lstStyle/>
        <a:p>
          <a:endParaRPr lang="en-US" sz="2400"/>
        </a:p>
      </dgm:t>
    </dgm:pt>
    <dgm:pt modelId="{9FA3ECF1-B217-46FA-A162-F9B284C1B42E}">
      <dgm:prSet custT="1"/>
      <dgm:spPr/>
      <dgm:t>
        <a:bodyPr/>
        <a:lstStyle/>
        <a:p>
          <a:r>
            <a:rPr lang="en-US" sz="2800"/>
            <a:t>Developed classical conditioning</a:t>
          </a:r>
        </a:p>
      </dgm:t>
    </dgm:pt>
    <dgm:pt modelId="{F0645453-31D2-4D30-8AF5-6037B5E28ECE}" type="parTrans" cxnId="{0FF681FB-882F-407A-9902-B0ACB08983D8}">
      <dgm:prSet/>
      <dgm:spPr/>
      <dgm:t>
        <a:bodyPr/>
        <a:lstStyle/>
        <a:p>
          <a:endParaRPr lang="en-US" sz="2400"/>
        </a:p>
      </dgm:t>
    </dgm:pt>
    <dgm:pt modelId="{02F4197E-84A2-469F-A5C3-5A12176E9360}" type="sibTrans" cxnId="{0FF681FB-882F-407A-9902-B0ACB08983D8}">
      <dgm:prSet/>
      <dgm:spPr/>
      <dgm:t>
        <a:bodyPr/>
        <a:lstStyle/>
        <a:p>
          <a:endParaRPr lang="en-US" sz="2400"/>
        </a:p>
      </dgm:t>
    </dgm:pt>
    <dgm:pt modelId="{74E716B1-81D2-4044-95BF-B9B35B3243F6}">
      <dgm:prSet custT="1"/>
      <dgm:spPr/>
      <dgm:t>
        <a:bodyPr/>
        <a:lstStyle/>
        <a:p>
          <a:r>
            <a:rPr lang="en-US" sz="2800" dirty="0"/>
            <a:t>Founder of behaviorism</a:t>
          </a:r>
        </a:p>
      </dgm:t>
    </dgm:pt>
    <dgm:pt modelId="{C95847B1-FCFA-44D4-8C8F-DF47CDE49F63}" type="parTrans" cxnId="{1F01CCCD-B742-4398-A471-3B69DE01AF05}">
      <dgm:prSet/>
      <dgm:spPr/>
      <dgm:t>
        <a:bodyPr/>
        <a:lstStyle/>
        <a:p>
          <a:endParaRPr lang="en-US" sz="2400"/>
        </a:p>
      </dgm:t>
    </dgm:pt>
    <dgm:pt modelId="{BF4796F2-702F-4984-AC42-A0A3D1E63D07}" type="sibTrans" cxnId="{1F01CCCD-B742-4398-A471-3B69DE01AF05}">
      <dgm:prSet/>
      <dgm:spPr/>
      <dgm:t>
        <a:bodyPr/>
        <a:lstStyle/>
        <a:p>
          <a:endParaRPr lang="en-US" sz="2400"/>
        </a:p>
      </dgm:t>
    </dgm:pt>
    <dgm:pt modelId="{C03CB911-FA89-48B1-B263-6D6536EEB12D}">
      <dgm:prSet custT="1"/>
      <dgm:spPr/>
      <dgm:t>
        <a:bodyPr/>
        <a:lstStyle/>
        <a:p>
          <a:r>
            <a:rPr lang="en-US" sz="2800"/>
            <a:t>Developed operant conditioning </a:t>
          </a:r>
          <a:endParaRPr lang="en-US" sz="2800" dirty="0"/>
        </a:p>
      </dgm:t>
    </dgm:pt>
    <dgm:pt modelId="{098FA03C-D32D-48B8-9425-AA477AC9E482}" type="parTrans" cxnId="{61882C20-CA5F-4BB2-97A0-C035CE9892F1}">
      <dgm:prSet/>
      <dgm:spPr/>
      <dgm:t>
        <a:bodyPr/>
        <a:lstStyle/>
        <a:p>
          <a:endParaRPr lang="en-US" sz="2400"/>
        </a:p>
      </dgm:t>
    </dgm:pt>
    <dgm:pt modelId="{53CDA4FB-1E0C-41D8-AECF-D56D906C6369}" type="sibTrans" cxnId="{61882C20-CA5F-4BB2-97A0-C035CE9892F1}">
      <dgm:prSet/>
      <dgm:spPr/>
      <dgm:t>
        <a:bodyPr/>
        <a:lstStyle/>
        <a:p>
          <a:endParaRPr lang="en-US" sz="2400"/>
        </a:p>
      </dgm:t>
    </dgm:pt>
    <dgm:pt modelId="{8795FC8D-63A4-4B5F-98F7-DD0928CFC406}">
      <dgm:prSet custT="1"/>
      <dgm:spPr/>
      <dgm:t>
        <a:bodyPr/>
        <a:lstStyle/>
        <a:p>
          <a:r>
            <a:rPr lang="en-US" sz="2800"/>
            <a:t>Social Learning Theory</a:t>
          </a:r>
          <a:endParaRPr lang="en-US" sz="2800" dirty="0"/>
        </a:p>
      </dgm:t>
    </dgm:pt>
    <dgm:pt modelId="{80A4105A-4163-48EE-BEFA-5095A150A617}" type="parTrans" cxnId="{900BA5F3-5611-4343-AD85-140FBC8C27FC}">
      <dgm:prSet/>
      <dgm:spPr/>
      <dgm:t>
        <a:bodyPr/>
        <a:lstStyle/>
        <a:p>
          <a:endParaRPr lang="en-US" sz="2400"/>
        </a:p>
      </dgm:t>
    </dgm:pt>
    <dgm:pt modelId="{6A103E87-BB0C-4743-968E-3CCB57D9C6BE}" type="sibTrans" cxnId="{900BA5F3-5611-4343-AD85-140FBC8C27FC}">
      <dgm:prSet/>
      <dgm:spPr/>
      <dgm:t>
        <a:bodyPr/>
        <a:lstStyle/>
        <a:p>
          <a:endParaRPr lang="en-US" sz="2400"/>
        </a:p>
      </dgm:t>
    </dgm:pt>
    <dgm:pt modelId="{97F13E30-3E90-4EE2-BC28-6132D16C56B7}">
      <dgm:prSet custT="1"/>
      <dgm:spPr/>
      <dgm:t>
        <a:bodyPr/>
        <a:lstStyle/>
        <a:p>
          <a:r>
            <a:rPr lang="en-US" sz="2800" dirty="0"/>
            <a:t>Baby Albert study</a:t>
          </a:r>
        </a:p>
      </dgm:t>
    </dgm:pt>
    <dgm:pt modelId="{E7FD4FDF-BAB2-49E4-9EE9-6B737F9BC80E}" type="parTrans" cxnId="{6F0EDC04-FEF6-40EB-8DD6-56EED5F6CCDD}">
      <dgm:prSet/>
      <dgm:spPr/>
      <dgm:t>
        <a:bodyPr/>
        <a:lstStyle/>
        <a:p>
          <a:endParaRPr lang="en-US" sz="2400"/>
        </a:p>
      </dgm:t>
    </dgm:pt>
    <dgm:pt modelId="{BB67E1AF-F402-4364-AFDC-B5BA438F7CF2}" type="sibTrans" cxnId="{6F0EDC04-FEF6-40EB-8DD6-56EED5F6CCDD}">
      <dgm:prSet/>
      <dgm:spPr/>
      <dgm:t>
        <a:bodyPr/>
        <a:lstStyle/>
        <a:p>
          <a:endParaRPr lang="en-US" sz="2400"/>
        </a:p>
      </dgm:t>
    </dgm:pt>
    <dgm:pt modelId="{6DDEFA07-396A-427D-B223-E3093AC4760C}">
      <dgm:prSet custT="1"/>
      <dgm:spPr/>
      <dgm:t>
        <a:bodyPr/>
        <a:lstStyle/>
        <a:p>
          <a:r>
            <a:rPr lang="en-US" sz="2800"/>
            <a:t>Latent learning</a:t>
          </a:r>
          <a:endParaRPr lang="en-US" sz="2800" dirty="0"/>
        </a:p>
      </dgm:t>
    </dgm:pt>
    <dgm:pt modelId="{882C45C1-A22D-4792-9675-4C3F8CFC5D53}" type="parTrans" cxnId="{8C548D32-BE29-4752-A574-1C72D88DD398}">
      <dgm:prSet/>
      <dgm:spPr/>
      <dgm:t>
        <a:bodyPr/>
        <a:lstStyle/>
        <a:p>
          <a:endParaRPr lang="en-US" sz="2400"/>
        </a:p>
      </dgm:t>
    </dgm:pt>
    <dgm:pt modelId="{5D203D87-D108-493A-887A-E74141D8D370}" type="sibTrans" cxnId="{8C548D32-BE29-4752-A574-1C72D88DD398}">
      <dgm:prSet/>
      <dgm:spPr/>
      <dgm:t>
        <a:bodyPr/>
        <a:lstStyle/>
        <a:p>
          <a:endParaRPr lang="en-US" sz="2400"/>
        </a:p>
      </dgm:t>
    </dgm:pt>
    <dgm:pt modelId="{78668E7B-4614-422C-9E7B-2E4387B49310}" type="pres">
      <dgm:prSet presAssocID="{56870769-A9BC-4EC5-83BC-12FC3207308A}" presName="linear" presStyleCnt="0">
        <dgm:presLayoutVars>
          <dgm:animLvl val="lvl"/>
          <dgm:resizeHandles val="exact"/>
        </dgm:presLayoutVars>
      </dgm:prSet>
      <dgm:spPr/>
    </dgm:pt>
    <dgm:pt modelId="{41FD0536-58FB-4514-8435-522EA69F7148}" type="pres">
      <dgm:prSet presAssocID="{CBE10D70-4F26-4BD3-8593-943F3B91BA6F}" presName="parentText" presStyleLbl="node1" presStyleIdx="0" presStyleCnt="5">
        <dgm:presLayoutVars>
          <dgm:chMax val="0"/>
          <dgm:bulletEnabled val="1"/>
        </dgm:presLayoutVars>
      </dgm:prSet>
      <dgm:spPr/>
    </dgm:pt>
    <dgm:pt modelId="{2A38847C-A148-46EA-A2CB-58F7A0D5AA4B}" type="pres">
      <dgm:prSet presAssocID="{CBE10D70-4F26-4BD3-8593-943F3B91BA6F}" presName="childText" presStyleLbl="revTx" presStyleIdx="0" presStyleCnt="5">
        <dgm:presLayoutVars>
          <dgm:bulletEnabled val="1"/>
        </dgm:presLayoutVars>
      </dgm:prSet>
      <dgm:spPr/>
    </dgm:pt>
    <dgm:pt modelId="{7470C39B-32B1-4D4A-89C8-0C77422700AD}" type="pres">
      <dgm:prSet presAssocID="{6177434F-A1B8-480C-A41D-FFF4B00304F5}" presName="parentText" presStyleLbl="node1" presStyleIdx="1" presStyleCnt="5">
        <dgm:presLayoutVars>
          <dgm:chMax val="0"/>
          <dgm:bulletEnabled val="1"/>
        </dgm:presLayoutVars>
      </dgm:prSet>
      <dgm:spPr/>
    </dgm:pt>
    <dgm:pt modelId="{AF4E6AE6-F146-4CE2-9E4B-6AAFE1F51030}" type="pres">
      <dgm:prSet presAssocID="{6177434F-A1B8-480C-A41D-FFF4B00304F5}" presName="childText" presStyleLbl="revTx" presStyleIdx="1" presStyleCnt="5">
        <dgm:presLayoutVars>
          <dgm:bulletEnabled val="1"/>
        </dgm:presLayoutVars>
      </dgm:prSet>
      <dgm:spPr/>
    </dgm:pt>
    <dgm:pt modelId="{CCFCA8C1-7DA9-457A-8F98-0D5EC1450BBD}" type="pres">
      <dgm:prSet presAssocID="{7DD6E0BB-7E32-4E85-9E84-78A6D691A921}" presName="parentText" presStyleLbl="node1" presStyleIdx="2" presStyleCnt="5">
        <dgm:presLayoutVars>
          <dgm:chMax val="0"/>
          <dgm:bulletEnabled val="1"/>
        </dgm:presLayoutVars>
      </dgm:prSet>
      <dgm:spPr/>
    </dgm:pt>
    <dgm:pt modelId="{7A5BC095-069C-494B-8A72-847809065206}" type="pres">
      <dgm:prSet presAssocID="{7DD6E0BB-7E32-4E85-9E84-78A6D691A921}" presName="childText" presStyleLbl="revTx" presStyleIdx="2" presStyleCnt="5">
        <dgm:presLayoutVars>
          <dgm:bulletEnabled val="1"/>
        </dgm:presLayoutVars>
      </dgm:prSet>
      <dgm:spPr/>
    </dgm:pt>
    <dgm:pt modelId="{AD5FDDA2-E8ED-4CF5-8C61-96140D59B2FF}" type="pres">
      <dgm:prSet presAssocID="{71BECBE6-1851-4C58-8E3E-FBB752A6A5AE}" presName="parentText" presStyleLbl="node1" presStyleIdx="3" presStyleCnt="5">
        <dgm:presLayoutVars>
          <dgm:chMax val="0"/>
          <dgm:bulletEnabled val="1"/>
        </dgm:presLayoutVars>
      </dgm:prSet>
      <dgm:spPr/>
    </dgm:pt>
    <dgm:pt modelId="{FA67978D-650E-4122-8430-EFD047D5ECAF}" type="pres">
      <dgm:prSet presAssocID="{71BECBE6-1851-4C58-8E3E-FBB752A6A5AE}" presName="childText" presStyleLbl="revTx" presStyleIdx="3" presStyleCnt="5">
        <dgm:presLayoutVars>
          <dgm:bulletEnabled val="1"/>
        </dgm:presLayoutVars>
      </dgm:prSet>
      <dgm:spPr/>
    </dgm:pt>
    <dgm:pt modelId="{DE44C42C-8190-415D-B05E-E4B7A4C1EFB8}" type="pres">
      <dgm:prSet presAssocID="{E80120C2-EBE0-4512-8C1A-CE35069D6A4B}" presName="parentText" presStyleLbl="node1" presStyleIdx="4" presStyleCnt="5">
        <dgm:presLayoutVars>
          <dgm:chMax val="0"/>
          <dgm:bulletEnabled val="1"/>
        </dgm:presLayoutVars>
      </dgm:prSet>
      <dgm:spPr/>
    </dgm:pt>
    <dgm:pt modelId="{646152F8-9D31-4586-A374-4F8364B9B9EA}" type="pres">
      <dgm:prSet presAssocID="{E80120C2-EBE0-4512-8C1A-CE35069D6A4B}" presName="childText" presStyleLbl="revTx" presStyleIdx="4" presStyleCnt="5">
        <dgm:presLayoutVars>
          <dgm:bulletEnabled val="1"/>
        </dgm:presLayoutVars>
      </dgm:prSet>
      <dgm:spPr/>
    </dgm:pt>
  </dgm:ptLst>
  <dgm:cxnLst>
    <dgm:cxn modelId="{FBCA9E01-4F96-4D31-AC87-2674A6342956}" type="presOf" srcId="{71BECBE6-1851-4C58-8E3E-FBB752A6A5AE}" destId="{AD5FDDA2-E8ED-4CF5-8C61-96140D59B2FF}" srcOrd="0" destOrd="0" presId="urn:microsoft.com/office/officeart/2005/8/layout/vList2"/>
    <dgm:cxn modelId="{78419204-C25A-45B0-BCB6-FE2FCE8D82B3}" srcId="{56870769-A9BC-4EC5-83BC-12FC3207308A}" destId="{6177434F-A1B8-480C-A41D-FFF4B00304F5}" srcOrd="1" destOrd="0" parTransId="{AB4275F9-A55A-4C7C-835B-5510B92B5FFD}" sibTransId="{062D615B-C9DD-4F93-9315-13D0E0F33B7B}"/>
    <dgm:cxn modelId="{6F0EDC04-FEF6-40EB-8DD6-56EED5F6CCDD}" srcId="{6177434F-A1B8-480C-A41D-FFF4B00304F5}" destId="{97F13E30-3E90-4EE2-BC28-6132D16C56B7}" srcOrd="1" destOrd="0" parTransId="{E7FD4FDF-BAB2-49E4-9EE9-6B737F9BC80E}" sibTransId="{BB67E1AF-F402-4364-AFDC-B5BA438F7CF2}"/>
    <dgm:cxn modelId="{56962114-FA62-4CE3-A768-8813E700B699}" srcId="{56870769-A9BC-4EC5-83BC-12FC3207308A}" destId="{CBE10D70-4F26-4BD3-8593-943F3B91BA6F}" srcOrd="0" destOrd="0" parTransId="{7D636D60-660B-494D-92B1-54A9064B2C37}" sibTransId="{C138B375-92F9-4ED3-8829-B17721CF8B56}"/>
    <dgm:cxn modelId="{61882C20-CA5F-4BB2-97A0-C035CE9892F1}" srcId="{7DD6E0BB-7E32-4E85-9E84-78A6D691A921}" destId="{C03CB911-FA89-48B1-B263-6D6536EEB12D}" srcOrd="0" destOrd="0" parTransId="{098FA03C-D32D-48B8-9425-AA477AC9E482}" sibTransId="{53CDA4FB-1E0C-41D8-AECF-D56D906C6369}"/>
    <dgm:cxn modelId="{8C548D32-BE29-4752-A574-1C72D88DD398}" srcId="{71BECBE6-1851-4C58-8E3E-FBB752A6A5AE}" destId="{6DDEFA07-396A-427D-B223-E3093AC4760C}" srcOrd="0" destOrd="0" parTransId="{882C45C1-A22D-4792-9675-4C3F8CFC5D53}" sibTransId="{5D203D87-D108-493A-887A-E74141D8D370}"/>
    <dgm:cxn modelId="{BAF8503E-E0B7-465F-8F65-A62F009D8832}" type="presOf" srcId="{8795FC8D-63A4-4B5F-98F7-DD0928CFC406}" destId="{646152F8-9D31-4586-A374-4F8364B9B9EA}" srcOrd="0" destOrd="0" presId="urn:microsoft.com/office/officeart/2005/8/layout/vList2"/>
    <dgm:cxn modelId="{48893741-3E13-4797-A25B-01A24C5D1BD5}" type="presOf" srcId="{C03CB911-FA89-48B1-B263-6D6536EEB12D}" destId="{7A5BC095-069C-494B-8A72-847809065206}" srcOrd="0" destOrd="0" presId="urn:microsoft.com/office/officeart/2005/8/layout/vList2"/>
    <dgm:cxn modelId="{469B3B4A-5BBD-4F5B-9FED-11A421C4533D}" type="presOf" srcId="{74E716B1-81D2-4044-95BF-B9B35B3243F6}" destId="{AF4E6AE6-F146-4CE2-9E4B-6AAFE1F51030}" srcOrd="0" destOrd="0" presId="urn:microsoft.com/office/officeart/2005/8/layout/vList2"/>
    <dgm:cxn modelId="{541F6653-6548-4583-A2E7-161327176F61}" srcId="{56870769-A9BC-4EC5-83BC-12FC3207308A}" destId="{7DD6E0BB-7E32-4E85-9E84-78A6D691A921}" srcOrd="2" destOrd="0" parTransId="{54B6C083-79B0-4ECD-960B-38E164224852}" sibTransId="{34A70AA0-C017-4244-9315-3C8BE1112C3B}"/>
    <dgm:cxn modelId="{DD369355-E962-417E-8E8B-02F2844C2B30}" srcId="{56870769-A9BC-4EC5-83BC-12FC3207308A}" destId="{E80120C2-EBE0-4512-8C1A-CE35069D6A4B}" srcOrd="4" destOrd="0" parTransId="{5735E231-2705-4D37-A07E-DE28DA5799EA}" sibTransId="{A7460D72-5F9C-450D-A46A-97494E481310}"/>
    <dgm:cxn modelId="{DE3F2156-BD6C-437F-9255-FB2A2B563792}" type="presOf" srcId="{E80120C2-EBE0-4512-8C1A-CE35069D6A4B}" destId="{DE44C42C-8190-415D-B05E-E4B7A4C1EFB8}" srcOrd="0" destOrd="0" presId="urn:microsoft.com/office/officeart/2005/8/layout/vList2"/>
    <dgm:cxn modelId="{68156477-B7F7-4B5B-AA36-86C1ACDC569D}" type="presOf" srcId="{9FA3ECF1-B217-46FA-A162-F9B284C1B42E}" destId="{2A38847C-A148-46EA-A2CB-58F7A0D5AA4B}" srcOrd="0" destOrd="0" presId="urn:microsoft.com/office/officeart/2005/8/layout/vList2"/>
    <dgm:cxn modelId="{21653D80-FB27-41F3-A67D-776851713E71}" type="presOf" srcId="{CBE10D70-4F26-4BD3-8593-943F3B91BA6F}" destId="{41FD0536-58FB-4514-8435-522EA69F7148}" srcOrd="0" destOrd="0" presId="urn:microsoft.com/office/officeart/2005/8/layout/vList2"/>
    <dgm:cxn modelId="{DF0104B0-8C59-4974-957A-A409A6492332}" srcId="{56870769-A9BC-4EC5-83BC-12FC3207308A}" destId="{71BECBE6-1851-4C58-8E3E-FBB752A6A5AE}" srcOrd="3" destOrd="0" parTransId="{74046DD1-A635-4212-A6EE-86A0B7A9BDC1}" sibTransId="{0813BAA1-D5B5-4166-B5B0-BF34DD4C8190}"/>
    <dgm:cxn modelId="{BBCE3FB3-FE3E-42F2-9D16-5111EC5428F7}" type="presOf" srcId="{6177434F-A1B8-480C-A41D-FFF4B00304F5}" destId="{7470C39B-32B1-4D4A-89C8-0C77422700AD}" srcOrd="0" destOrd="0" presId="urn:microsoft.com/office/officeart/2005/8/layout/vList2"/>
    <dgm:cxn modelId="{668F0DB5-25EB-4912-9E0E-BA4ED698A0C6}" type="presOf" srcId="{7DD6E0BB-7E32-4E85-9E84-78A6D691A921}" destId="{CCFCA8C1-7DA9-457A-8F98-0D5EC1450BBD}" srcOrd="0" destOrd="0" presId="urn:microsoft.com/office/officeart/2005/8/layout/vList2"/>
    <dgm:cxn modelId="{997AE0C1-1487-4E23-800B-68C3753FFFE2}" type="presOf" srcId="{97F13E30-3E90-4EE2-BC28-6132D16C56B7}" destId="{AF4E6AE6-F146-4CE2-9E4B-6AAFE1F51030}" srcOrd="0" destOrd="1" presId="urn:microsoft.com/office/officeart/2005/8/layout/vList2"/>
    <dgm:cxn modelId="{1F01CCCD-B742-4398-A471-3B69DE01AF05}" srcId="{6177434F-A1B8-480C-A41D-FFF4B00304F5}" destId="{74E716B1-81D2-4044-95BF-B9B35B3243F6}" srcOrd="0" destOrd="0" parTransId="{C95847B1-FCFA-44D4-8C8F-DF47CDE49F63}" sibTransId="{BF4796F2-702F-4984-AC42-A0A3D1E63D07}"/>
    <dgm:cxn modelId="{AD1447D9-75B8-447A-8E94-658BE1F6F9B9}" type="presOf" srcId="{56870769-A9BC-4EC5-83BC-12FC3207308A}" destId="{78668E7B-4614-422C-9E7B-2E4387B49310}" srcOrd="0" destOrd="0" presId="urn:microsoft.com/office/officeart/2005/8/layout/vList2"/>
    <dgm:cxn modelId="{6482E7EF-5369-4797-A290-CD1E0B757DA1}" type="presOf" srcId="{6DDEFA07-396A-427D-B223-E3093AC4760C}" destId="{FA67978D-650E-4122-8430-EFD047D5ECAF}" srcOrd="0" destOrd="0" presId="urn:microsoft.com/office/officeart/2005/8/layout/vList2"/>
    <dgm:cxn modelId="{900BA5F3-5611-4343-AD85-140FBC8C27FC}" srcId="{E80120C2-EBE0-4512-8C1A-CE35069D6A4B}" destId="{8795FC8D-63A4-4B5F-98F7-DD0928CFC406}" srcOrd="0" destOrd="0" parTransId="{80A4105A-4163-48EE-BEFA-5095A150A617}" sibTransId="{6A103E87-BB0C-4743-968E-3CCB57D9C6BE}"/>
    <dgm:cxn modelId="{0FF681FB-882F-407A-9902-B0ACB08983D8}" srcId="{CBE10D70-4F26-4BD3-8593-943F3B91BA6F}" destId="{9FA3ECF1-B217-46FA-A162-F9B284C1B42E}" srcOrd="0" destOrd="0" parTransId="{F0645453-31D2-4D30-8AF5-6037B5E28ECE}" sibTransId="{02F4197E-84A2-469F-A5C3-5A12176E9360}"/>
    <dgm:cxn modelId="{DBAEAA14-CFA6-43D4-9B05-2E97D5CB78F8}" type="presParOf" srcId="{78668E7B-4614-422C-9E7B-2E4387B49310}" destId="{41FD0536-58FB-4514-8435-522EA69F7148}" srcOrd="0" destOrd="0" presId="urn:microsoft.com/office/officeart/2005/8/layout/vList2"/>
    <dgm:cxn modelId="{DD5C50C3-3CE8-4272-BF9F-85508BE247A8}" type="presParOf" srcId="{78668E7B-4614-422C-9E7B-2E4387B49310}" destId="{2A38847C-A148-46EA-A2CB-58F7A0D5AA4B}" srcOrd="1" destOrd="0" presId="urn:microsoft.com/office/officeart/2005/8/layout/vList2"/>
    <dgm:cxn modelId="{9BC932FB-5CFB-457F-A45D-25572D08E9C0}" type="presParOf" srcId="{78668E7B-4614-422C-9E7B-2E4387B49310}" destId="{7470C39B-32B1-4D4A-89C8-0C77422700AD}" srcOrd="2" destOrd="0" presId="urn:microsoft.com/office/officeart/2005/8/layout/vList2"/>
    <dgm:cxn modelId="{FD63167B-5440-45CE-ADF4-5AE90CFDD835}" type="presParOf" srcId="{78668E7B-4614-422C-9E7B-2E4387B49310}" destId="{AF4E6AE6-F146-4CE2-9E4B-6AAFE1F51030}" srcOrd="3" destOrd="0" presId="urn:microsoft.com/office/officeart/2005/8/layout/vList2"/>
    <dgm:cxn modelId="{A9C9CE5D-BEE6-412A-A81B-7DD532EBD49B}" type="presParOf" srcId="{78668E7B-4614-422C-9E7B-2E4387B49310}" destId="{CCFCA8C1-7DA9-457A-8F98-0D5EC1450BBD}" srcOrd="4" destOrd="0" presId="urn:microsoft.com/office/officeart/2005/8/layout/vList2"/>
    <dgm:cxn modelId="{EDF18944-2C7D-49F6-9B2D-FDA638D37C6A}" type="presParOf" srcId="{78668E7B-4614-422C-9E7B-2E4387B49310}" destId="{7A5BC095-069C-494B-8A72-847809065206}" srcOrd="5" destOrd="0" presId="urn:microsoft.com/office/officeart/2005/8/layout/vList2"/>
    <dgm:cxn modelId="{DCF2E000-CD4F-4CC7-BDFA-44EBB7CECD3B}" type="presParOf" srcId="{78668E7B-4614-422C-9E7B-2E4387B49310}" destId="{AD5FDDA2-E8ED-4CF5-8C61-96140D59B2FF}" srcOrd="6" destOrd="0" presId="urn:microsoft.com/office/officeart/2005/8/layout/vList2"/>
    <dgm:cxn modelId="{95A44884-6F28-4D45-873F-E27BA75A9773}" type="presParOf" srcId="{78668E7B-4614-422C-9E7B-2E4387B49310}" destId="{FA67978D-650E-4122-8430-EFD047D5ECAF}" srcOrd="7" destOrd="0" presId="urn:microsoft.com/office/officeart/2005/8/layout/vList2"/>
    <dgm:cxn modelId="{ECEFDA27-7FF2-4DD9-A8E2-69369F61525F}" type="presParOf" srcId="{78668E7B-4614-422C-9E7B-2E4387B49310}" destId="{DE44C42C-8190-415D-B05E-E4B7A4C1EFB8}" srcOrd="8" destOrd="0" presId="urn:microsoft.com/office/officeart/2005/8/layout/vList2"/>
    <dgm:cxn modelId="{5658A108-61C4-450E-A5BB-480DCC90DB87}" type="presParOf" srcId="{78668E7B-4614-422C-9E7B-2E4387B49310}" destId="{646152F8-9D31-4586-A374-4F8364B9B9EA}" srcOrd="9"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9AA17E-21ED-4F48-8BDA-7E1F38F5FF4E}">
      <dsp:nvSpPr>
        <dsp:cNvPr id="0" name=""/>
        <dsp:cNvSpPr/>
      </dsp:nvSpPr>
      <dsp:spPr>
        <a:xfrm>
          <a:off x="0" y="745292"/>
          <a:ext cx="5141912" cy="554400"/>
        </a:xfrm>
        <a:prstGeom prst="rect">
          <a:avLst/>
        </a:prstGeom>
        <a:solidFill>
          <a:schemeClr val="lt1">
            <a:alpha val="90000"/>
            <a:hueOff val="0"/>
            <a:satOff val="0"/>
            <a:lumOff val="0"/>
            <a:alphaOff val="0"/>
          </a:schemeClr>
        </a:solidFill>
        <a:ln w="1397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4258B9D-C5A8-45FA-9EAD-29673B9A5100}">
      <dsp:nvSpPr>
        <dsp:cNvPr id="0" name=""/>
        <dsp:cNvSpPr/>
      </dsp:nvSpPr>
      <dsp:spPr>
        <a:xfrm>
          <a:off x="257095" y="420572"/>
          <a:ext cx="3599338" cy="649440"/>
        </a:xfrm>
        <a:prstGeom prst="roundRect">
          <a:avLst/>
        </a:prstGeom>
        <a:solidFill>
          <a:schemeClr val="accent2">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6046" tIns="0" rIns="136046" bIns="0" numCol="1" spcCol="1270" anchor="ctr" anchorCtr="0">
          <a:noAutofit/>
        </a:bodyPr>
        <a:lstStyle/>
        <a:p>
          <a:pPr marL="0" lvl="0" indent="0" algn="l" defTabSz="977900">
            <a:lnSpc>
              <a:spcPct val="90000"/>
            </a:lnSpc>
            <a:spcBef>
              <a:spcPct val="0"/>
            </a:spcBef>
            <a:spcAft>
              <a:spcPct val="35000"/>
            </a:spcAft>
            <a:buNone/>
          </a:pPr>
          <a:r>
            <a:rPr lang="en-US" sz="2200" kern="1200"/>
            <a:t>Reflexes versus instincts</a:t>
          </a:r>
        </a:p>
      </dsp:txBody>
      <dsp:txXfrm>
        <a:off x="288798" y="452275"/>
        <a:ext cx="3535932" cy="586034"/>
      </dsp:txXfrm>
    </dsp:sp>
    <dsp:sp modelId="{50B4CDF1-AD0B-4A00-949B-1A102DDB0399}">
      <dsp:nvSpPr>
        <dsp:cNvPr id="0" name=""/>
        <dsp:cNvSpPr/>
      </dsp:nvSpPr>
      <dsp:spPr>
        <a:xfrm>
          <a:off x="0" y="1743212"/>
          <a:ext cx="5141912" cy="554400"/>
        </a:xfrm>
        <a:prstGeom prst="rect">
          <a:avLst/>
        </a:prstGeom>
        <a:solidFill>
          <a:schemeClr val="lt1">
            <a:alpha val="90000"/>
            <a:hueOff val="0"/>
            <a:satOff val="0"/>
            <a:lumOff val="0"/>
            <a:alphaOff val="0"/>
          </a:schemeClr>
        </a:solidFill>
        <a:ln w="1397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CA47203-9AFF-4DC2-83CD-4A2941DA94C0}">
      <dsp:nvSpPr>
        <dsp:cNvPr id="0" name=""/>
        <dsp:cNvSpPr/>
      </dsp:nvSpPr>
      <dsp:spPr>
        <a:xfrm>
          <a:off x="257095" y="1418492"/>
          <a:ext cx="3599338" cy="649440"/>
        </a:xfrm>
        <a:prstGeom prst="roundRect">
          <a:avLst/>
        </a:prstGeom>
        <a:solidFill>
          <a:schemeClr val="accent3">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6046" tIns="0" rIns="136046" bIns="0" numCol="1" spcCol="1270" anchor="ctr" anchorCtr="0">
          <a:noAutofit/>
        </a:bodyPr>
        <a:lstStyle/>
        <a:p>
          <a:pPr marL="0" lvl="0" indent="0" algn="l" defTabSz="977900">
            <a:lnSpc>
              <a:spcPct val="90000"/>
            </a:lnSpc>
            <a:spcBef>
              <a:spcPct val="0"/>
            </a:spcBef>
            <a:spcAft>
              <a:spcPct val="35000"/>
            </a:spcAft>
            <a:buNone/>
          </a:pPr>
          <a:r>
            <a:rPr lang="en-US" sz="2200" kern="1200" dirty="0"/>
            <a:t>Observational learning</a:t>
          </a:r>
        </a:p>
      </dsp:txBody>
      <dsp:txXfrm>
        <a:off x="288798" y="1450195"/>
        <a:ext cx="3535932" cy="586034"/>
      </dsp:txXfrm>
    </dsp:sp>
    <dsp:sp modelId="{5EB4E976-A955-49C3-9A27-C118DB32ECBD}">
      <dsp:nvSpPr>
        <dsp:cNvPr id="0" name=""/>
        <dsp:cNvSpPr/>
      </dsp:nvSpPr>
      <dsp:spPr>
        <a:xfrm>
          <a:off x="0" y="2741132"/>
          <a:ext cx="5141912" cy="554400"/>
        </a:xfrm>
        <a:prstGeom prst="rect">
          <a:avLst/>
        </a:prstGeom>
        <a:solidFill>
          <a:schemeClr val="lt1">
            <a:alpha val="90000"/>
            <a:hueOff val="0"/>
            <a:satOff val="0"/>
            <a:lumOff val="0"/>
            <a:alphaOff val="0"/>
          </a:schemeClr>
        </a:solidFill>
        <a:ln w="1397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320B9B4-D717-4DFC-99BF-73530644DB8E}">
      <dsp:nvSpPr>
        <dsp:cNvPr id="0" name=""/>
        <dsp:cNvSpPr/>
      </dsp:nvSpPr>
      <dsp:spPr>
        <a:xfrm>
          <a:off x="257095" y="2416412"/>
          <a:ext cx="3599338" cy="649440"/>
        </a:xfrm>
        <a:prstGeom prst="roundRect">
          <a:avLst/>
        </a:prstGeom>
        <a:solidFill>
          <a:schemeClr val="accent4">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6046" tIns="0" rIns="136046" bIns="0" numCol="1" spcCol="1270" anchor="ctr" anchorCtr="0">
          <a:noAutofit/>
        </a:bodyPr>
        <a:lstStyle/>
        <a:p>
          <a:pPr marL="0" lvl="0" indent="0" algn="l" defTabSz="977900">
            <a:lnSpc>
              <a:spcPct val="90000"/>
            </a:lnSpc>
            <a:spcBef>
              <a:spcPct val="0"/>
            </a:spcBef>
            <a:spcAft>
              <a:spcPct val="35000"/>
            </a:spcAft>
            <a:buNone/>
          </a:pPr>
          <a:r>
            <a:rPr lang="en-US" sz="2200" kern="1200"/>
            <a:t>Associative learning</a:t>
          </a:r>
          <a:endParaRPr lang="en-US" sz="2200" kern="1200" dirty="0"/>
        </a:p>
      </dsp:txBody>
      <dsp:txXfrm>
        <a:off x="288798" y="2448115"/>
        <a:ext cx="3535932" cy="586034"/>
      </dsp:txXfrm>
    </dsp:sp>
    <dsp:sp modelId="{61856913-5620-4EEE-A726-A8B51AA17495}">
      <dsp:nvSpPr>
        <dsp:cNvPr id="0" name=""/>
        <dsp:cNvSpPr/>
      </dsp:nvSpPr>
      <dsp:spPr>
        <a:xfrm>
          <a:off x="0" y="3739052"/>
          <a:ext cx="5141912" cy="1247400"/>
        </a:xfrm>
        <a:prstGeom prst="rect">
          <a:avLst/>
        </a:prstGeom>
        <a:solidFill>
          <a:schemeClr val="lt1">
            <a:alpha val="90000"/>
            <a:hueOff val="0"/>
            <a:satOff val="0"/>
            <a:lumOff val="0"/>
            <a:alphaOff val="0"/>
          </a:schemeClr>
        </a:solidFill>
        <a:ln w="1397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99070" tIns="458216" rIns="399070" bIns="156464" numCol="1" spcCol="1270" anchor="t" anchorCtr="0">
          <a:noAutofit/>
        </a:bodyPr>
        <a:lstStyle/>
        <a:p>
          <a:pPr marL="228600" lvl="1" indent="-228600" algn="l" defTabSz="977900">
            <a:lnSpc>
              <a:spcPct val="90000"/>
            </a:lnSpc>
            <a:spcBef>
              <a:spcPct val="0"/>
            </a:spcBef>
            <a:spcAft>
              <a:spcPct val="15000"/>
            </a:spcAft>
            <a:buChar char="•"/>
          </a:pPr>
          <a:r>
            <a:rPr lang="en-US" sz="2200" kern="1200" dirty="0"/>
            <a:t>Antecedent – Behavior –  Consequence</a:t>
          </a:r>
        </a:p>
      </dsp:txBody>
      <dsp:txXfrm>
        <a:off x="0" y="3739052"/>
        <a:ext cx="5141912" cy="1247400"/>
      </dsp:txXfrm>
    </dsp:sp>
    <dsp:sp modelId="{DC73FFE8-EEE8-4AB9-A376-A29951992A19}">
      <dsp:nvSpPr>
        <dsp:cNvPr id="0" name=""/>
        <dsp:cNvSpPr/>
      </dsp:nvSpPr>
      <dsp:spPr>
        <a:xfrm>
          <a:off x="257095" y="3414332"/>
          <a:ext cx="3599338" cy="649440"/>
        </a:xfrm>
        <a:prstGeom prst="roundRect">
          <a:avLst/>
        </a:prstGeom>
        <a:solidFill>
          <a:schemeClr val="accent5">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6046" tIns="0" rIns="136046" bIns="0" numCol="1" spcCol="1270" anchor="ctr" anchorCtr="0">
          <a:noAutofit/>
        </a:bodyPr>
        <a:lstStyle/>
        <a:p>
          <a:pPr marL="0" lvl="0" indent="0" algn="l" defTabSz="977900">
            <a:lnSpc>
              <a:spcPct val="90000"/>
            </a:lnSpc>
            <a:spcBef>
              <a:spcPct val="0"/>
            </a:spcBef>
            <a:spcAft>
              <a:spcPct val="35000"/>
            </a:spcAft>
            <a:buNone/>
          </a:pPr>
          <a:r>
            <a:rPr lang="en-US" sz="2200" kern="1200"/>
            <a:t>The ABC’s of learning:</a:t>
          </a:r>
        </a:p>
      </dsp:txBody>
      <dsp:txXfrm>
        <a:off x="288798" y="3446035"/>
        <a:ext cx="3535932" cy="58603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0F988F-8EB9-4DE4-8564-04BD05E1216C}">
      <dsp:nvSpPr>
        <dsp:cNvPr id="0" name=""/>
        <dsp:cNvSpPr/>
      </dsp:nvSpPr>
      <dsp:spPr>
        <a:xfrm>
          <a:off x="0" y="1766"/>
          <a:ext cx="10058399" cy="0"/>
        </a:xfrm>
        <a:prstGeom prst="line">
          <a:avLst/>
        </a:prstGeom>
        <a:solidFill>
          <a:schemeClr val="accent2">
            <a:hueOff val="0"/>
            <a:satOff val="0"/>
            <a:lumOff val="0"/>
            <a:alphaOff val="0"/>
          </a:schemeClr>
        </a:solidFill>
        <a:ln w="1397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9A0C9DA-FB22-44F7-8B0B-598472D741AB}">
      <dsp:nvSpPr>
        <dsp:cNvPr id="0" name=""/>
        <dsp:cNvSpPr/>
      </dsp:nvSpPr>
      <dsp:spPr>
        <a:xfrm>
          <a:off x="0" y="1766"/>
          <a:ext cx="10058399" cy="12047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kern="1200" dirty="0"/>
            <a:t>The Originals: Unconditioned stimulus (UCS) and unconditioned response (UCR)</a:t>
          </a:r>
        </a:p>
      </dsp:txBody>
      <dsp:txXfrm>
        <a:off x="0" y="1766"/>
        <a:ext cx="10058399" cy="1204770"/>
      </dsp:txXfrm>
    </dsp:sp>
    <dsp:sp modelId="{93A1F9A4-C218-46BB-8B94-02564C402C9B}">
      <dsp:nvSpPr>
        <dsp:cNvPr id="0" name=""/>
        <dsp:cNvSpPr/>
      </dsp:nvSpPr>
      <dsp:spPr>
        <a:xfrm>
          <a:off x="0" y="1206537"/>
          <a:ext cx="10058399" cy="0"/>
        </a:xfrm>
        <a:prstGeom prst="line">
          <a:avLst/>
        </a:prstGeom>
        <a:solidFill>
          <a:schemeClr val="accent2">
            <a:hueOff val="-3712334"/>
            <a:satOff val="1211"/>
            <a:lumOff val="-1079"/>
            <a:alphaOff val="0"/>
          </a:schemeClr>
        </a:solidFill>
        <a:ln w="13970" cap="flat" cmpd="sng" algn="ctr">
          <a:solidFill>
            <a:schemeClr val="accent2">
              <a:hueOff val="-3712334"/>
              <a:satOff val="1211"/>
              <a:lumOff val="-1079"/>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C1ADC3B-C62F-4DAC-B9CA-A7585EC59BD9}">
      <dsp:nvSpPr>
        <dsp:cNvPr id="0" name=""/>
        <dsp:cNvSpPr/>
      </dsp:nvSpPr>
      <dsp:spPr>
        <a:xfrm>
          <a:off x="0" y="1206537"/>
          <a:ext cx="10058399" cy="12047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kern="1200" dirty="0"/>
            <a:t>The New Guy: Neutral stimulus (NS)</a:t>
          </a:r>
        </a:p>
      </dsp:txBody>
      <dsp:txXfrm>
        <a:off x="0" y="1206537"/>
        <a:ext cx="10058399" cy="1204770"/>
      </dsp:txXfrm>
    </dsp:sp>
    <dsp:sp modelId="{1C4AFB18-6A7A-4880-AE67-09ABC3F413BC}">
      <dsp:nvSpPr>
        <dsp:cNvPr id="0" name=""/>
        <dsp:cNvSpPr/>
      </dsp:nvSpPr>
      <dsp:spPr>
        <a:xfrm>
          <a:off x="0" y="2411307"/>
          <a:ext cx="10058399" cy="0"/>
        </a:xfrm>
        <a:prstGeom prst="line">
          <a:avLst/>
        </a:prstGeom>
        <a:solidFill>
          <a:schemeClr val="accent2">
            <a:hueOff val="-7424668"/>
            <a:satOff val="2422"/>
            <a:lumOff val="-2157"/>
            <a:alphaOff val="0"/>
          </a:schemeClr>
        </a:solidFill>
        <a:ln w="13970" cap="flat" cmpd="sng" algn="ctr">
          <a:solidFill>
            <a:schemeClr val="accent2">
              <a:hueOff val="-7424668"/>
              <a:satOff val="2422"/>
              <a:lumOff val="-2157"/>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5754564-77A8-4A87-BF0C-DA5A01C78245}">
      <dsp:nvSpPr>
        <dsp:cNvPr id="0" name=""/>
        <dsp:cNvSpPr/>
      </dsp:nvSpPr>
      <dsp:spPr>
        <a:xfrm>
          <a:off x="0" y="2411307"/>
          <a:ext cx="10058399" cy="12047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kern="1200" dirty="0"/>
            <a:t>The Remix: Conditioned stimulus (CS) and conditioned response (CR)</a:t>
          </a:r>
        </a:p>
      </dsp:txBody>
      <dsp:txXfrm>
        <a:off x="0" y="2411307"/>
        <a:ext cx="10058399" cy="120477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FD0536-58FB-4514-8435-522EA69F7148}">
      <dsp:nvSpPr>
        <dsp:cNvPr id="0" name=""/>
        <dsp:cNvSpPr/>
      </dsp:nvSpPr>
      <dsp:spPr>
        <a:xfrm>
          <a:off x="0" y="4892"/>
          <a:ext cx="6731635" cy="722406"/>
        </a:xfrm>
        <a:prstGeom prst="roundRect">
          <a:avLst/>
        </a:prstGeom>
        <a:solidFill>
          <a:schemeClr val="accent2">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dirty="0"/>
            <a:t>Ivan Pavlov</a:t>
          </a:r>
        </a:p>
      </dsp:txBody>
      <dsp:txXfrm>
        <a:off x="35265" y="40157"/>
        <a:ext cx="6661105" cy="651876"/>
      </dsp:txXfrm>
    </dsp:sp>
    <dsp:sp modelId="{2A38847C-A148-46EA-A2CB-58F7A0D5AA4B}">
      <dsp:nvSpPr>
        <dsp:cNvPr id="0" name=""/>
        <dsp:cNvSpPr/>
      </dsp:nvSpPr>
      <dsp:spPr>
        <a:xfrm>
          <a:off x="0" y="727299"/>
          <a:ext cx="6731635" cy="4403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3729" tIns="35560" rIns="199136" bIns="35560" numCol="1" spcCol="1270" anchor="t" anchorCtr="0">
          <a:noAutofit/>
        </a:bodyPr>
        <a:lstStyle/>
        <a:p>
          <a:pPr marL="285750" lvl="1" indent="-285750" algn="l" defTabSz="1244600">
            <a:lnSpc>
              <a:spcPct val="90000"/>
            </a:lnSpc>
            <a:spcBef>
              <a:spcPct val="0"/>
            </a:spcBef>
            <a:spcAft>
              <a:spcPct val="20000"/>
            </a:spcAft>
            <a:buChar char="•"/>
          </a:pPr>
          <a:r>
            <a:rPr lang="en-US" sz="2800" kern="1200"/>
            <a:t>Developed classical conditioning</a:t>
          </a:r>
        </a:p>
      </dsp:txBody>
      <dsp:txXfrm>
        <a:off x="0" y="727299"/>
        <a:ext cx="6731635" cy="440303"/>
      </dsp:txXfrm>
    </dsp:sp>
    <dsp:sp modelId="{7470C39B-32B1-4D4A-89C8-0C77422700AD}">
      <dsp:nvSpPr>
        <dsp:cNvPr id="0" name=""/>
        <dsp:cNvSpPr/>
      </dsp:nvSpPr>
      <dsp:spPr>
        <a:xfrm>
          <a:off x="0" y="1167602"/>
          <a:ext cx="6731635" cy="722406"/>
        </a:xfrm>
        <a:prstGeom prst="roundRect">
          <a:avLst/>
        </a:prstGeom>
        <a:solidFill>
          <a:schemeClr val="accent2">
            <a:hueOff val="-1856167"/>
            <a:satOff val="606"/>
            <a:lumOff val="-539"/>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dirty="0"/>
            <a:t>John Watson</a:t>
          </a:r>
        </a:p>
      </dsp:txBody>
      <dsp:txXfrm>
        <a:off x="35265" y="1202867"/>
        <a:ext cx="6661105" cy="651876"/>
      </dsp:txXfrm>
    </dsp:sp>
    <dsp:sp modelId="{AF4E6AE6-F146-4CE2-9E4B-6AAFE1F51030}">
      <dsp:nvSpPr>
        <dsp:cNvPr id="0" name=""/>
        <dsp:cNvSpPr/>
      </dsp:nvSpPr>
      <dsp:spPr>
        <a:xfrm>
          <a:off x="0" y="1890009"/>
          <a:ext cx="6731635" cy="8806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3729" tIns="35560" rIns="199136" bIns="35560" numCol="1" spcCol="1270" anchor="t" anchorCtr="0">
          <a:noAutofit/>
        </a:bodyPr>
        <a:lstStyle/>
        <a:p>
          <a:pPr marL="285750" lvl="1" indent="-285750" algn="l" defTabSz="1244600">
            <a:lnSpc>
              <a:spcPct val="90000"/>
            </a:lnSpc>
            <a:spcBef>
              <a:spcPct val="0"/>
            </a:spcBef>
            <a:spcAft>
              <a:spcPct val="20000"/>
            </a:spcAft>
            <a:buChar char="•"/>
          </a:pPr>
          <a:r>
            <a:rPr lang="en-US" sz="2800" kern="1200" dirty="0"/>
            <a:t>Founder of behaviorism</a:t>
          </a:r>
        </a:p>
        <a:p>
          <a:pPr marL="285750" lvl="1" indent="-285750" algn="l" defTabSz="1244600">
            <a:lnSpc>
              <a:spcPct val="90000"/>
            </a:lnSpc>
            <a:spcBef>
              <a:spcPct val="0"/>
            </a:spcBef>
            <a:spcAft>
              <a:spcPct val="20000"/>
            </a:spcAft>
            <a:buChar char="•"/>
          </a:pPr>
          <a:r>
            <a:rPr lang="en-US" sz="2800" kern="1200" dirty="0"/>
            <a:t>Baby Albert study</a:t>
          </a:r>
        </a:p>
      </dsp:txBody>
      <dsp:txXfrm>
        <a:off x="0" y="1890009"/>
        <a:ext cx="6731635" cy="880607"/>
      </dsp:txXfrm>
    </dsp:sp>
    <dsp:sp modelId="{CCFCA8C1-7DA9-457A-8F98-0D5EC1450BBD}">
      <dsp:nvSpPr>
        <dsp:cNvPr id="0" name=""/>
        <dsp:cNvSpPr/>
      </dsp:nvSpPr>
      <dsp:spPr>
        <a:xfrm>
          <a:off x="0" y="2770616"/>
          <a:ext cx="6731635" cy="722406"/>
        </a:xfrm>
        <a:prstGeom prst="roundRect">
          <a:avLst/>
        </a:prstGeom>
        <a:solidFill>
          <a:schemeClr val="accent2">
            <a:hueOff val="-3712334"/>
            <a:satOff val="1211"/>
            <a:lumOff val="-1079"/>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dirty="0"/>
            <a:t>B. F. Skinner</a:t>
          </a:r>
        </a:p>
      </dsp:txBody>
      <dsp:txXfrm>
        <a:off x="35265" y="2805881"/>
        <a:ext cx="6661105" cy="651876"/>
      </dsp:txXfrm>
    </dsp:sp>
    <dsp:sp modelId="{7A5BC095-069C-494B-8A72-847809065206}">
      <dsp:nvSpPr>
        <dsp:cNvPr id="0" name=""/>
        <dsp:cNvSpPr/>
      </dsp:nvSpPr>
      <dsp:spPr>
        <a:xfrm>
          <a:off x="0" y="3493023"/>
          <a:ext cx="6731635" cy="4403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3729" tIns="35560" rIns="199136" bIns="35560" numCol="1" spcCol="1270" anchor="t" anchorCtr="0">
          <a:noAutofit/>
        </a:bodyPr>
        <a:lstStyle/>
        <a:p>
          <a:pPr marL="285750" lvl="1" indent="-285750" algn="l" defTabSz="1244600">
            <a:lnSpc>
              <a:spcPct val="90000"/>
            </a:lnSpc>
            <a:spcBef>
              <a:spcPct val="0"/>
            </a:spcBef>
            <a:spcAft>
              <a:spcPct val="20000"/>
            </a:spcAft>
            <a:buChar char="•"/>
          </a:pPr>
          <a:r>
            <a:rPr lang="en-US" sz="2800" kern="1200"/>
            <a:t>Developed operant conditioning </a:t>
          </a:r>
          <a:endParaRPr lang="en-US" sz="2800" kern="1200" dirty="0"/>
        </a:p>
      </dsp:txBody>
      <dsp:txXfrm>
        <a:off x="0" y="3493023"/>
        <a:ext cx="6731635" cy="440303"/>
      </dsp:txXfrm>
    </dsp:sp>
    <dsp:sp modelId="{AD5FDDA2-E8ED-4CF5-8C61-96140D59B2FF}">
      <dsp:nvSpPr>
        <dsp:cNvPr id="0" name=""/>
        <dsp:cNvSpPr/>
      </dsp:nvSpPr>
      <dsp:spPr>
        <a:xfrm>
          <a:off x="0" y="3933326"/>
          <a:ext cx="6731635" cy="722406"/>
        </a:xfrm>
        <a:prstGeom prst="roundRect">
          <a:avLst/>
        </a:prstGeom>
        <a:solidFill>
          <a:schemeClr val="accent2">
            <a:hueOff val="-5568501"/>
            <a:satOff val="1817"/>
            <a:lumOff val="-1618"/>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dirty="0"/>
            <a:t>Edward Tolman</a:t>
          </a:r>
        </a:p>
      </dsp:txBody>
      <dsp:txXfrm>
        <a:off x="35265" y="3968591"/>
        <a:ext cx="6661105" cy="651876"/>
      </dsp:txXfrm>
    </dsp:sp>
    <dsp:sp modelId="{FA67978D-650E-4122-8430-EFD047D5ECAF}">
      <dsp:nvSpPr>
        <dsp:cNvPr id="0" name=""/>
        <dsp:cNvSpPr/>
      </dsp:nvSpPr>
      <dsp:spPr>
        <a:xfrm>
          <a:off x="0" y="4655733"/>
          <a:ext cx="6731635" cy="4403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3729" tIns="35560" rIns="199136" bIns="35560" numCol="1" spcCol="1270" anchor="t" anchorCtr="0">
          <a:noAutofit/>
        </a:bodyPr>
        <a:lstStyle/>
        <a:p>
          <a:pPr marL="285750" lvl="1" indent="-285750" algn="l" defTabSz="1244600">
            <a:lnSpc>
              <a:spcPct val="90000"/>
            </a:lnSpc>
            <a:spcBef>
              <a:spcPct val="0"/>
            </a:spcBef>
            <a:spcAft>
              <a:spcPct val="20000"/>
            </a:spcAft>
            <a:buChar char="•"/>
          </a:pPr>
          <a:r>
            <a:rPr lang="en-US" sz="2800" kern="1200"/>
            <a:t>Latent learning</a:t>
          </a:r>
          <a:endParaRPr lang="en-US" sz="2800" kern="1200" dirty="0"/>
        </a:p>
      </dsp:txBody>
      <dsp:txXfrm>
        <a:off x="0" y="4655733"/>
        <a:ext cx="6731635" cy="440303"/>
      </dsp:txXfrm>
    </dsp:sp>
    <dsp:sp modelId="{DE44C42C-8190-415D-B05E-E4B7A4C1EFB8}">
      <dsp:nvSpPr>
        <dsp:cNvPr id="0" name=""/>
        <dsp:cNvSpPr/>
      </dsp:nvSpPr>
      <dsp:spPr>
        <a:xfrm>
          <a:off x="0" y="5096037"/>
          <a:ext cx="6731635" cy="722406"/>
        </a:xfrm>
        <a:prstGeom prst="roundRect">
          <a:avLst/>
        </a:prstGeom>
        <a:solidFill>
          <a:schemeClr val="accent2">
            <a:hueOff val="-7424668"/>
            <a:satOff val="2422"/>
            <a:lumOff val="-2157"/>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dirty="0"/>
            <a:t>Albert Bandura</a:t>
          </a:r>
        </a:p>
      </dsp:txBody>
      <dsp:txXfrm>
        <a:off x="35265" y="5131302"/>
        <a:ext cx="6661105" cy="651876"/>
      </dsp:txXfrm>
    </dsp:sp>
    <dsp:sp modelId="{646152F8-9D31-4586-A374-4F8364B9B9EA}">
      <dsp:nvSpPr>
        <dsp:cNvPr id="0" name=""/>
        <dsp:cNvSpPr/>
      </dsp:nvSpPr>
      <dsp:spPr>
        <a:xfrm>
          <a:off x="0" y="5818443"/>
          <a:ext cx="6731635" cy="4403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3729" tIns="35560" rIns="199136" bIns="35560" numCol="1" spcCol="1270" anchor="t" anchorCtr="0">
          <a:noAutofit/>
        </a:bodyPr>
        <a:lstStyle/>
        <a:p>
          <a:pPr marL="285750" lvl="1" indent="-285750" algn="l" defTabSz="1244600">
            <a:lnSpc>
              <a:spcPct val="90000"/>
            </a:lnSpc>
            <a:spcBef>
              <a:spcPct val="0"/>
            </a:spcBef>
            <a:spcAft>
              <a:spcPct val="20000"/>
            </a:spcAft>
            <a:buChar char="•"/>
          </a:pPr>
          <a:r>
            <a:rPr lang="en-US" sz="2800" kern="1200"/>
            <a:t>Social Learning Theory</a:t>
          </a:r>
          <a:endParaRPr lang="en-US" sz="2800" kern="1200" dirty="0"/>
        </a:p>
      </dsp:txBody>
      <dsp:txXfrm>
        <a:off x="0" y="5818443"/>
        <a:ext cx="6731635" cy="440303"/>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C25916-B790-45C6-9335-9AD8CB7CC2A1}" type="datetimeFigureOut">
              <a:rPr lang="en-US" smtClean="0"/>
              <a:t>2/19/2026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D45C24-04E8-4A7A-8093-48CE050E7387}" type="slidenum">
              <a:rPr lang="en-US" smtClean="0"/>
              <a:t>‹#›</a:t>
            </a:fld>
            <a:endParaRPr lang="en-US"/>
          </a:p>
        </p:txBody>
      </p:sp>
    </p:spTree>
    <p:extLst>
      <p:ext uri="{BB962C8B-B14F-4D97-AF65-F5344CB8AC3E}">
        <p14:creationId xmlns:p14="http://schemas.microsoft.com/office/powerpoint/2010/main" val="23148029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11487690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0987678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11684586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20516642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22853418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25129907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6679918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25242471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24861807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21314788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23734382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4566579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18101387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1547149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4539612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4849531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8276264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71068780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2674916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67613646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76355377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282632655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2725587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6416751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79226542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89145355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57980333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2980991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7760281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16A232A9-688C-439A-B2F2-C4B31F430711}" type="datetimeFigureOut">
              <a:rPr lang="en-US" smtClean="0"/>
              <a:t>2/19/2026</a:t>
            </a:fld>
            <a:endParaRPr lang="en-US"/>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EE600344-4550-43DB-9A5F-6C0883B6A96F}" type="slidenum">
              <a:rPr lang="en-US" smtClean="0"/>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391422665"/>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A232A9-688C-439A-B2F2-C4B31F430711}" type="datetimeFigureOut">
              <a:rPr lang="en-US" smtClean="0"/>
              <a:t>2/19/2026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600344-4550-43DB-9A5F-6C0883B6A96F}" type="slidenum">
              <a:rPr lang="en-US" smtClean="0"/>
              <a:t>‹#›</a:t>
            </a:fld>
            <a:endParaRPr lang="en-US"/>
          </a:p>
        </p:txBody>
      </p:sp>
    </p:spTree>
    <p:extLst>
      <p:ext uri="{BB962C8B-B14F-4D97-AF65-F5344CB8AC3E}">
        <p14:creationId xmlns:p14="http://schemas.microsoft.com/office/powerpoint/2010/main" val="24400424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6A232A9-688C-439A-B2F2-C4B31F430711}" type="datetimeFigureOut">
              <a:rPr lang="en-US" smtClean="0"/>
              <a:t>2/19/2026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600344-4550-43DB-9A5F-6C0883B6A96F}" type="slidenum">
              <a:rPr lang="en-US" smtClean="0"/>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9312522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6A232A9-688C-439A-B2F2-C4B31F430711}" type="datetimeFigureOut">
              <a:rPr lang="en-US" smtClean="0"/>
              <a:t>2/19/2026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E600344-4550-43DB-9A5F-6C0883B6A96F}" type="slidenum">
              <a:rPr lang="en-US" smtClean="0"/>
              <a:t>‹#›</a:t>
            </a:fld>
            <a:endParaRPr lang="en-US"/>
          </a:p>
        </p:txBody>
      </p:sp>
    </p:spTree>
    <p:extLst>
      <p:ext uri="{BB962C8B-B14F-4D97-AF65-F5344CB8AC3E}">
        <p14:creationId xmlns:p14="http://schemas.microsoft.com/office/powerpoint/2010/main" val="5104925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6A232A9-688C-439A-B2F2-C4B31F430711}" type="datetimeFigureOut">
              <a:rPr lang="en-US" smtClean="0"/>
              <a:t>2/19/2026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E600344-4550-43DB-9A5F-6C0883B6A96F}" type="slidenum">
              <a:rPr lang="en-US" smtClean="0"/>
              <a:t>‹#›</a:t>
            </a:fld>
            <a:endParaRPr lang="en-US"/>
          </a:p>
        </p:txBody>
      </p:sp>
    </p:spTree>
    <p:extLst>
      <p:ext uri="{BB962C8B-B14F-4D97-AF65-F5344CB8AC3E}">
        <p14:creationId xmlns:p14="http://schemas.microsoft.com/office/powerpoint/2010/main" val="41200172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6A232A9-688C-439A-B2F2-C4B31F430711}" type="datetimeFigureOut">
              <a:rPr lang="en-US" smtClean="0"/>
              <a:t>2/19/2026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E600344-4550-43DB-9A5F-6C0883B6A96F}" type="slidenum">
              <a:rPr lang="en-US" smtClean="0"/>
              <a:t>‹#›</a:t>
            </a:fld>
            <a:endParaRPr lang="en-US"/>
          </a:p>
        </p:txBody>
      </p:sp>
    </p:spTree>
    <p:extLst>
      <p:ext uri="{BB962C8B-B14F-4D97-AF65-F5344CB8AC3E}">
        <p14:creationId xmlns:p14="http://schemas.microsoft.com/office/powerpoint/2010/main" val="28118549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6A232A9-688C-439A-B2F2-C4B31F430711}" type="datetimeFigureOut">
              <a:rPr lang="en-US" smtClean="0"/>
              <a:t>2/19/2026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E600344-4550-43DB-9A5F-6C0883B6A96F}" type="slidenum">
              <a:rPr lang="en-US" smtClean="0"/>
              <a:t>‹#›</a:t>
            </a:fld>
            <a:endParaRPr lang="en-US"/>
          </a:p>
        </p:txBody>
      </p:sp>
    </p:spTree>
    <p:extLst>
      <p:ext uri="{BB962C8B-B14F-4D97-AF65-F5344CB8AC3E}">
        <p14:creationId xmlns:p14="http://schemas.microsoft.com/office/powerpoint/2010/main" val="26735396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6A232A9-688C-439A-B2F2-C4B31F430711}" type="datetimeFigureOut">
              <a:rPr lang="en-US" smtClean="0"/>
              <a:t>2/19/2026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E600344-4550-43DB-9A5F-6C0883B6A96F}" type="slidenum">
              <a:rPr lang="en-US" smtClean="0"/>
              <a:t>‹#›</a:t>
            </a:fld>
            <a:endParaRPr lang="en-US"/>
          </a:p>
        </p:txBody>
      </p:sp>
    </p:spTree>
    <p:extLst>
      <p:ext uri="{BB962C8B-B14F-4D97-AF65-F5344CB8AC3E}">
        <p14:creationId xmlns:p14="http://schemas.microsoft.com/office/powerpoint/2010/main" val="19514044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6A232A9-688C-439A-B2F2-C4B31F430711}" type="datetimeFigureOut">
              <a:rPr lang="en-US" smtClean="0"/>
              <a:t>2/19/2026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EE600344-4550-43DB-9A5F-6C0883B6A96F}" type="slidenum">
              <a:rPr lang="en-US" smtClean="0"/>
              <a:t>‹#›</a:t>
            </a:fld>
            <a:endParaRPr lang="en-US"/>
          </a:p>
        </p:txBody>
      </p:sp>
    </p:spTree>
    <p:extLst>
      <p:ext uri="{BB962C8B-B14F-4D97-AF65-F5344CB8AC3E}">
        <p14:creationId xmlns:p14="http://schemas.microsoft.com/office/powerpoint/2010/main" val="30393046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A232A9-688C-439A-B2F2-C4B31F430711}" type="datetimeFigureOut">
              <a:rPr lang="en-US" smtClean="0"/>
              <a:t>2/19/2026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600344-4550-43DB-9A5F-6C0883B6A96F}" type="slidenum">
              <a:rPr lang="en-US" smtClean="0"/>
              <a:t>‹#›</a:t>
            </a:fld>
            <a:endParaRPr lang="en-US"/>
          </a:p>
        </p:txBody>
      </p:sp>
    </p:spTree>
    <p:extLst>
      <p:ext uri="{BB962C8B-B14F-4D97-AF65-F5344CB8AC3E}">
        <p14:creationId xmlns:p14="http://schemas.microsoft.com/office/powerpoint/2010/main" val="28915412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A232A9-688C-439A-B2F2-C4B31F430711}" type="datetimeFigureOut">
              <a:rPr lang="en-US" smtClean="0"/>
              <a:t>2/19/2026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600344-4550-43DB-9A5F-6C0883B6A96F}" type="slidenum">
              <a:rPr lang="en-US" smtClean="0"/>
              <a:t>‹#›</a:t>
            </a:fld>
            <a:endParaRPr lang="en-US"/>
          </a:p>
        </p:txBody>
      </p:sp>
    </p:spTree>
    <p:extLst>
      <p:ext uri="{BB962C8B-B14F-4D97-AF65-F5344CB8AC3E}">
        <p14:creationId xmlns:p14="http://schemas.microsoft.com/office/powerpoint/2010/main" val="26179052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16A232A9-688C-439A-B2F2-C4B31F430711}" type="datetimeFigureOut">
              <a:rPr lang="en-US" smtClean="0"/>
              <a:t>2/19/2026</a:t>
            </a:fld>
            <a:endParaRPr lang="en-US"/>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US"/>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EE600344-4550-43DB-9A5F-6C0883B6A96F}" type="slidenum">
              <a:rPr lang="en-US" smtClean="0"/>
              <a:t>‹#›</a:t>
            </a:fld>
            <a:endParaRPr lang="en-US"/>
          </a:p>
        </p:txBody>
      </p:sp>
    </p:spTree>
    <p:extLst>
      <p:ext uri="{BB962C8B-B14F-4D97-AF65-F5344CB8AC3E}">
        <p14:creationId xmlns:p14="http://schemas.microsoft.com/office/powerpoint/2010/main" val="1838906118"/>
      </p:ext>
    </p:extLst>
  </p:cSld>
  <p:clrMap bg1="lt1" tx1="dk1" bg2="lt2" tx2="dk2" accent1="accent1" accent2="accent2" accent3="accent3" accent4="accent4" accent5="accent5" accent6="accent6" hlink="hlink" folHlink="folHlink"/>
  <p:sldLayoutIdLst>
    <p:sldLayoutId id="2147483823" r:id="rId1"/>
    <p:sldLayoutId id="2147483824" r:id="rId2"/>
    <p:sldLayoutId id="2147483825" r:id="rId3"/>
    <p:sldLayoutId id="2147483826" r:id="rId4"/>
    <p:sldLayoutId id="2147483827" r:id="rId5"/>
    <p:sldLayoutId id="2147483828" r:id="rId6"/>
    <p:sldLayoutId id="2147483829" r:id="rId7"/>
    <p:sldLayoutId id="2147483830" r:id="rId8"/>
    <p:sldLayoutId id="2147483831" r:id="rId9"/>
    <p:sldLayoutId id="2147483832" r:id="rId10"/>
    <p:sldLayoutId id="2147483833"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video" Target="https://www.youtube.com/embed/3iKadmbnc-k?feature=oembed" TargetMode="External"/><Relationship Id="rId4" Type="http://schemas.openxmlformats.org/officeDocument/2006/relationships/image" Target="../media/image3.jpe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hyperlink" Target="https://animalia-life.club/qa/pictures/do-dogs-help-lower-blood-pressure"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10.tiff"/><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tiff"/><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tiff"/><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0.tiff"/><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24.xml.rels><?xml version="1.0" encoding="UTF-8" standalone="yes"?>
<Relationships xmlns="http://schemas.openxmlformats.org/package/2006/relationships"><Relationship Id="rId3" Type="http://schemas.openxmlformats.org/officeDocument/2006/relationships/image" Target="../media/image10.tiff"/><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5.xml"/><Relationship Id="rId1" Type="http://schemas.openxmlformats.org/officeDocument/2006/relationships/slideLayout" Target="../slideLayouts/slideLayout4.xml"/><Relationship Id="rId6" Type="http://schemas.microsoft.com/office/2007/relationships/hdphoto" Target="../media/hdphoto1.wdp"/><Relationship Id="rId5" Type="http://schemas.openxmlformats.org/officeDocument/2006/relationships/image" Target="../media/image14.png"/><Relationship Id="rId4" Type="http://schemas.openxmlformats.org/officeDocument/2006/relationships/image" Target="../media/image13.jpe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White bulbs with a yellow one standing out">
            <a:extLst>
              <a:ext uri="{FF2B5EF4-FFF2-40B4-BE49-F238E27FC236}">
                <a16:creationId xmlns:a16="http://schemas.microsoft.com/office/drawing/2014/main" id="{56F4E95C-C8DF-4987-BB06-04F0DC027912}"/>
              </a:ext>
            </a:extLst>
          </p:cNvPr>
          <p:cNvPicPr>
            <a:picLocks noChangeAspect="1"/>
          </p:cNvPicPr>
          <p:nvPr/>
        </p:nvPicPr>
        <p:blipFill rotWithShape="1">
          <a:blip r:embed="rId3"/>
          <a:srcRect l="16415" r="16414" b="-1"/>
          <a:stretch/>
        </p:blipFill>
        <p:spPr>
          <a:xfrm>
            <a:off x="19" y="10"/>
            <a:ext cx="12191981" cy="7049498"/>
          </a:xfrm>
          <a:prstGeom prst="rect">
            <a:avLst/>
          </a:prstGeom>
        </p:spPr>
      </p:pic>
      <p:sp>
        <p:nvSpPr>
          <p:cNvPr id="2" name="Title 1">
            <a:extLst>
              <a:ext uri="{FF2B5EF4-FFF2-40B4-BE49-F238E27FC236}">
                <a16:creationId xmlns:a16="http://schemas.microsoft.com/office/drawing/2014/main" id="{C8BDBD13-1C4B-475D-88B5-F28B77FCD6DD}"/>
              </a:ext>
            </a:extLst>
          </p:cNvPr>
          <p:cNvSpPr>
            <a:spLocks noGrp="1"/>
          </p:cNvSpPr>
          <p:nvPr>
            <p:ph type="ctrTitle"/>
          </p:nvPr>
        </p:nvSpPr>
        <p:spPr>
          <a:xfrm>
            <a:off x="1164657" y="1610765"/>
            <a:ext cx="5813659" cy="3765666"/>
          </a:xfrm>
        </p:spPr>
        <p:txBody>
          <a:bodyPr anchor="b">
            <a:normAutofit/>
          </a:bodyPr>
          <a:lstStyle/>
          <a:p>
            <a:r>
              <a:rPr lang="en-US" sz="8800" b="1" dirty="0"/>
              <a:t>Learning</a:t>
            </a:r>
            <a:br>
              <a:rPr lang="en-US" sz="8800" b="1" dirty="0"/>
            </a:br>
            <a:endParaRPr lang="en-US" sz="8800" b="1" dirty="0"/>
          </a:p>
        </p:txBody>
      </p:sp>
      <p:sp>
        <p:nvSpPr>
          <p:cNvPr id="3" name="Subtitle 2">
            <a:extLst>
              <a:ext uri="{FF2B5EF4-FFF2-40B4-BE49-F238E27FC236}">
                <a16:creationId xmlns:a16="http://schemas.microsoft.com/office/drawing/2014/main" id="{F52BBE28-DE5C-436F-A3B1-B7373493F77B}"/>
              </a:ext>
            </a:extLst>
          </p:cNvPr>
          <p:cNvSpPr>
            <a:spLocks noGrp="1"/>
          </p:cNvSpPr>
          <p:nvPr>
            <p:ph type="subTitle" idx="1"/>
          </p:nvPr>
        </p:nvSpPr>
        <p:spPr>
          <a:xfrm>
            <a:off x="1164657" y="4841507"/>
            <a:ext cx="3867073" cy="1069848"/>
          </a:xfrm>
        </p:spPr>
        <p:txBody>
          <a:bodyPr>
            <a:normAutofit/>
          </a:bodyPr>
          <a:lstStyle/>
          <a:p>
            <a:r>
              <a:rPr lang="en-US" sz="4800" b="1" dirty="0">
                <a:solidFill>
                  <a:srgbClr val="E2CA14"/>
                </a:solidFill>
              </a:rPr>
              <a:t>Chapter 6</a:t>
            </a:r>
          </a:p>
        </p:txBody>
      </p:sp>
    </p:spTree>
    <p:extLst>
      <p:ext uri="{BB962C8B-B14F-4D97-AF65-F5344CB8AC3E}">
        <p14:creationId xmlns:p14="http://schemas.microsoft.com/office/powerpoint/2010/main" val="2415603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0"/>
                                  </p:stCondLst>
                                  <p:iterate type="lt">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400"/>
                                        <p:tgtEl>
                                          <p:spTgt spid="3">
                                            <p:txEl>
                                              <p:pRg st="0" end="0"/>
                                            </p:txEl>
                                          </p:spTgt>
                                        </p:tgtEl>
                                      </p:cBhvr>
                                    </p:animEffect>
                                  </p:childTnLst>
                                </p:cTn>
                              </p:par>
                              <p:par>
                                <p:cTn id="8" presetID="10" presetClass="entr" presetSubtype="0" fill="hold" grpId="0" nodeType="withEffect">
                                  <p:stCondLst>
                                    <p:cond delay="1000"/>
                                  </p:stCondLst>
                                  <p:iterate type="lt">
                                    <p:tmPct val="10000"/>
                                  </p:iterate>
                                  <p:childTnLst>
                                    <p:set>
                                      <p:cBhvr>
                                        <p:cTn id="9" dur="1" fill="hold">
                                          <p:stCondLst>
                                            <p:cond delay="0"/>
                                          </p:stCondLst>
                                        </p:cTn>
                                        <p:tgtEl>
                                          <p:spTgt spid="2"/>
                                        </p:tgtEl>
                                        <p:attrNameLst>
                                          <p:attrName>style.visibility</p:attrName>
                                        </p:attrNameLst>
                                      </p:cBhvr>
                                      <p:to>
                                        <p:strVal val="visible"/>
                                      </p:to>
                                    </p:set>
                                    <p:animEffect transition="in" filter="fade">
                                      <p:cBhvr>
                                        <p:cTn id="10"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2F2655-3936-7C57-CAE0-672127C25654}"/>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461AA6B4-3713-C7CD-19CA-7DF59295E0E3}"/>
              </a:ext>
            </a:extLst>
          </p:cNvPr>
          <p:cNvSpPr>
            <a:spLocks noGrp="1"/>
          </p:cNvSpPr>
          <p:nvPr>
            <p:ph idx="1"/>
          </p:nvPr>
        </p:nvSpPr>
        <p:spPr/>
        <p:txBody>
          <a:bodyPr>
            <a:normAutofit/>
          </a:bodyPr>
          <a:lstStyle/>
          <a:p>
            <a:r>
              <a:rPr lang="en-US" sz="2400" dirty="0"/>
              <a:t>Overview of learning</a:t>
            </a:r>
          </a:p>
          <a:p>
            <a:r>
              <a:rPr lang="en-US" sz="2400" dirty="0"/>
              <a:t>Observational learning</a:t>
            </a:r>
          </a:p>
          <a:p>
            <a:r>
              <a:rPr lang="en-US" sz="2400" dirty="0"/>
              <a:t>Operant conditioning</a:t>
            </a:r>
          </a:p>
          <a:p>
            <a:r>
              <a:rPr lang="en-US" sz="2400" dirty="0"/>
              <a:t>Latent learning</a:t>
            </a:r>
          </a:p>
          <a:p>
            <a:r>
              <a:rPr lang="en-US" sz="2400" dirty="0"/>
              <a:t>Classical conditioning</a:t>
            </a:r>
          </a:p>
          <a:p>
            <a:r>
              <a:rPr lang="en-US" sz="2400" dirty="0"/>
              <a:t>The who’s who in learning</a:t>
            </a:r>
          </a:p>
        </p:txBody>
      </p:sp>
    </p:spTree>
    <p:extLst>
      <p:ext uri="{BB962C8B-B14F-4D97-AF65-F5344CB8AC3E}">
        <p14:creationId xmlns:p14="http://schemas.microsoft.com/office/powerpoint/2010/main" val="11114050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E1D3A9E-AF5B-413C-AE45-1BF857D391A3}"/>
              </a:ext>
            </a:extLst>
          </p:cNvPr>
          <p:cNvSpPr>
            <a:spLocks noGrp="1"/>
          </p:cNvSpPr>
          <p:nvPr>
            <p:ph type="title"/>
          </p:nvPr>
        </p:nvSpPr>
        <p:spPr>
          <a:xfrm>
            <a:off x="4100362" y="643467"/>
            <a:ext cx="7469159" cy="5571066"/>
          </a:xfrm>
        </p:spPr>
        <p:txBody>
          <a:bodyPr vert="horz" lIns="91440" tIns="45720" rIns="91440" bIns="45720" rtlCol="0" anchor="ctr">
            <a:normAutofit/>
          </a:bodyPr>
          <a:lstStyle/>
          <a:p>
            <a:pPr>
              <a:lnSpc>
                <a:spcPct val="80000"/>
              </a:lnSpc>
            </a:pPr>
            <a:r>
              <a:rPr lang="en-US" sz="8000" dirty="0">
                <a:blipFill dpi="0" rotWithShape="1">
                  <a:blip r:embed="rId3"/>
                  <a:srcRect/>
                  <a:tile tx="6350" ty="-127000" sx="65000" sy="64000" flip="none" algn="tl"/>
                </a:blipFill>
              </a:rPr>
              <a:t>What is behaviorism?</a:t>
            </a:r>
          </a:p>
        </p:txBody>
      </p:sp>
    </p:spTree>
    <p:extLst>
      <p:ext uri="{BB962C8B-B14F-4D97-AF65-F5344CB8AC3E}">
        <p14:creationId xmlns:p14="http://schemas.microsoft.com/office/powerpoint/2010/main" val="2469533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7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61DE06-C3E6-40BE-A3C6-E3D089774C1F}"/>
              </a:ext>
            </a:extLst>
          </p:cNvPr>
          <p:cNvSpPr>
            <a:spLocks noGrp="1"/>
          </p:cNvSpPr>
          <p:nvPr>
            <p:ph type="title"/>
          </p:nvPr>
        </p:nvSpPr>
        <p:spPr>
          <a:xfrm>
            <a:off x="1490145" y="2376863"/>
            <a:ext cx="2640646" cy="2104273"/>
          </a:xfrm>
          <a:noFill/>
        </p:spPr>
        <p:txBody>
          <a:bodyPr>
            <a:normAutofit/>
          </a:bodyPr>
          <a:lstStyle/>
          <a:p>
            <a:pPr algn="ctr"/>
            <a:r>
              <a:rPr lang="en-US" sz="3000" dirty="0"/>
              <a:t>Laying the Groundwork</a:t>
            </a:r>
          </a:p>
        </p:txBody>
      </p:sp>
      <p:graphicFrame>
        <p:nvGraphicFramePr>
          <p:cNvPr id="5" name="Content Placeholder 2">
            <a:extLst>
              <a:ext uri="{FF2B5EF4-FFF2-40B4-BE49-F238E27FC236}">
                <a16:creationId xmlns:a16="http://schemas.microsoft.com/office/drawing/2014/main" id="{02B1CB70-21BC-4400-A206-A6BB2657E004}"/>
              </a:ext>
            </a:extLst>
          </p:cNvPr>
          <p:cNvGraphicFramePr>
            <a:graphicFrameLocks noGrp="1"/>
          </p:cNvGraphicFramePr>
          <p:nvPr>
            <p:ph idx="1"/>
            <p:extLst>
              <p:ext uri="{D42A27DB-BD31-4B8C-83A1-F6EECF244321}">
                <p14:modId xmlns:p14="http://schemas.microsoft.com/office/powerpoint/2010/main" val="174299895"/>
              </p:ext>
            </p:extLst>
          </p:nvPr>
        </p:nvGraphicFramePr>
        <p:xfrm>
          <a:off x="6081713" y="725488"/>
          <a:ext cx="5141912" cy="54070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000483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6748D78-6325-41B0-AB0D-31F26E78A8DD}"/>
              </a:ext>
            </a:extLst>
          </p:cNvPr>
          <p:cNvSpPr>
            <a:spLocks noGrp="1"/>
          </p:cNvSpPr>
          <p:nvPr>
            <p:ph type="title"/>
          </p:nvPr>
        </p:nvSpPr>
        <p:spPr>
          <a:xfrm>
            <a:off x="1066800" y="4511898"/>
            <a:ext cx="10058400" cy="1609344"/>
          </a:xfrm>
        </p:spPr>
        <p:txBody>
          <a:bodyPr>
            <a:normAutofit/>
          </a:bodyPr>
          <a:lstStyle/>
          <a:p>
            <a:r>
              <a:rPr lang="en-US" dirty="0"/>
              <a:t>Observational learning</a:t>
            </a:r>
          </a:p>
        </p:txBody>
      </p:sp>
      <p:sp>
        <p:nvSpPr>
          <p:cNvPr id="4" name="Content Placeholder 3">
            <a:extLst>
              <a:ext uri="{FF2B5EF4-FFF2-40B4-BE49-F238E27FC236}">
                <a16:creationId xmlns:a16="http://schemas.microsoft.com/office/drawing/2014/main" id="{3E518C05-6266-47C1-B4E1-0323BD0F683B}"/>
              </a:ext>
            </a:extLst>
          </p:cNvPr>
          <p:cNvSpPr>
            <a:spLocks noGrp="1"/>
          </p:cNvSpPr>
          <p:nvPr>
            <p:ph idx="1"/>
          </p:nvPr>
        </p:nvSpPr>
        <p:spPr>
          <a:xfrm>
            <a:off x="7341327" y="715021"/>
            <a:ext cx="3969802" cy="3385638"/>
          </a:xfrm>
        </p:spPr>
        <p:txBody>
          <a:bodyPr>
            <a:normAutofit/>
          </a:bodyPr>
          <a:lstStyle/>
          <a:p>
            <a:r>
              <a:rPr lang="en-US" sz="2400" dirty="0"/>
              <a:t>Models</a:t>
            </a:r>
          </a:p>
          <a:p>
            <a:pPr lvl="1"/>
            <a:r>
              <a:rPr lang="en-US" sz="2400" dirty="0"/>
              <a:t>Live, verbal, and symbolic</a:t>
            </a:r>
          </a:p>
          <a:p>
            <a:r>
              <a:rPr lang="en-US" sz="2400" dirty="0"/>
              <a:t>Vicarious reinforcement &amp; vicarious punishment</a:t>
            </a:r>
          </a:p>
          <a:p>
            <a:r>
              <a:rPr lang="en-US" sz="2400" b="1" dirty="0"/>
              <a:t>Albert Bandura</a:t>
            </a:r>
            <a:r>
              <a:rPr lang="en-US" sz="2400" dirty="0"/>
              <a:t> – Social Learning Theory</a:t>
            </a:r>
          </a:p>
        </p:txBody>
      </p:sp>
      <p:pic>
        <p:nvPicPr>
          <p:cNvPr id="5" name="Online Media 4" descr="Adorable kitten learning how to clean copying his mom">
            <a:hlinkClick r:id="" action="ppaction://media"/>
            <a:extLst>
              <a:ext uri="{FF2B5EF4-FFF2-40B4-BE49-F238E27FC236}">
                <a16:creationId xmlns:a16="http://schemas.microsoft.com/office/drawing/2014/main" id="{28FE00DB-E3B5-4EEE-8AAD-E136C8068B8E}"/>
              </a:ext>
            </a:extLst>
          </p:cNvPr>
          <p:cNvPicPr>
            <a:picLocks noRot="1" noChangeAspect="1"/>
          </p:cNvPicPr>
          <p:nvPr>
            <a:videoFile r:link="rId1"/>
          </p:nvPr>
        </p:nvPicPr>
        <p:blipFill>
          <a:blip r:embed="rId4"/>
          <a:stretch>
            <a:fillRect/>
          </a:stretch>
        </p:blipFill>
        <p:spPr>
          <a:xfrm>
            <a:off x="1096403" y="643468"/>
            <a:ext cx="6118920" cy="3457190"/>
          </a:xfrm>
          <a:prstGeom prst="rect">
            <a:avLst/>
          </a:prstGeom>
        </p:spPr>
      </p:pic>
    </p:spTree>
    <p:extLst>
      <p:ext uri="{BB962C8B-B14F-4D97-AF65-F5344CB8AC3E}">
        <p14:creationId xmlns:p14="http://schemas.microsoft.com/office/powerpoint/2010/main" val="429801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97F3A0A-82EF-4365-8B53-D5D9EF59E9BC}"/>
              </a:ext>
            </a:extLst>
          </p:cNvPr>
          <p:cNvSpPr>
            <a:spLocks noGrp="1"/>
          </p:cNvSpPr>
          <p:nvPr>
            <p:ph type="title"/>
          </p:nvPr>
        </p:nvSpPr>
        <p:spPr>
          <a:xfrm>
            <a:off x="2629989" y="643467"/>
            <a:ext cx="8939532" cy="5571066"/>
          </a:xfrm>
        </p:spPr>
        <p:txBody>
          <a:bodyPr vert="horz" lIns="91440" tIns="45720" rIns="91440" bIns="45720" rtlCol="0" anchor="ctr">
            <a:normAutofit/>
          </a:bodyPr>
          <a:lstStyle/>
          <a:p>
            <a:pPr>
              <a:lnSpc>
                <a:spcPct val="80000"/>
              </a:lnSpc>
            </a:pPr>
            <a:r>
              <a:rPr lang="en-US" sz="8000" dirty="0">
                <a:blipFill dpi="0" rotWithShape="1">
                  <a:blip r:embed="rId3"/>
                  <a:srcRect/>
                  <a:tile tx="6350" ty="-127000" sx="65000" sy="64000" flip="none" algn="tl"/>
                </a:blipFill>
              </a:rPr>
              <a:t>What is radical behaviorism?</a:t>
            </a:r>
          </a:p>
        </p:txBody>
      </p:sp>
    </p:spTree>
    <p:extLst>
      <p:ext uri="{BB962C8B-B14F-4D97-AF65-F5344CB8AC3E}">
        <p14:creationId xmlns:p14="http://schemas.microsoft.com/office/powerpoint/2010/main" val="9074834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854485B-9D53-57E3-43FD-7982293126AC}"/>
              </a:ext>
            </a:extLst>
          </p:cNvPr>
          <p:cNvSpPr>
            <a:spLocks noGrp="1"/>
          </p:cNvSpPr>
          <p:nvPr>
            <p:ph type="title"/>
          </p:nvPr>
        </p:nvSpPr>
        <p:spPr/>
        <p:txBody>
          <a:bodyPr/>
          <a:lstStyle/>
          <a:p>
            <a:r>
              <a:rPr lang="en-US" dirty="0"/>
              <a:t>Operant Conditioning</a:t>
            </a:r>
          </a:p>
        </p:txBody>
      </p:sp>
    </p:spTree>
    <p:extLst>
      <p:ext uri="{BB962C8B-B14F-4D97-AF65-F5344CB8AC3E}">
        <p14:creationId xmlns:p14="http://schemas.microsoft.com/office/powerpoint/2010/main" val="23949111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08704E5-8653-4F70-AD47-94B1D2DCEA68}"/>
              </a:ext>
            </a:extLst>
          </p:cNvPr>
          <p:cNvSpPr>
            <a:spLocks noGrp="1"/>
          </p:cNvSpPr>
          <p:nvPr>
            <p:ph type="title"/>
          </p:nvPr>
        </p:nvSpPr>
        <p:spPr>
          <a:xfrm>
            <a:off x="6383384" y="484632"/>
            <a:ext cx="4498396" cy="900031"/>
          </a:xfrm>
          <a:ln>
            <a:noFill/>
          </a:ln>
        </p:spPr>
        <p:txBody>
          <a:bodyPr>
            <a:normAutofit/>
          </a:bodyPr>
          <a:lstStyle/>
          <a:p>
            <a:r>
              <a:rPr lang="en-US" sz="3200" dirty="0"/>
              <a:t>The “Skinner Box”</a:t>
            </a:r>
          </a:p>
        </p:txBody>
      </p:sp>
      <p:sp>
        <p:nvSpPr>
          <p:cNvPr id="4" name="Content Placeholder 3">
            <a:extLst>
              <a:ext uri="{FF2B5EF4-FFF2-40B4-BE49-F238E27FC236}">
                <a16:creationId xmlns:a16="http://schemas.microsoft.com/office/drawing/2014/main" id="{078174F6-CB2E-43BB-A49B-E2D28FFA24F9}"/>
              </a:ext>
            </a:extLst>
          </p:cNvPr>
          <p:cNvSpPr>
            <a:spLocks noGrp="1"/>
          </p:cNvSpPr>
          <p:nvPr>
            <p:ph idx="1"/>
          </p:nvPr>
        </p:nvSpPr>
        <p:spPr>
          <a:xfrm>
            <a:off x="6860565" y="1776549"/>
            <a:ext cx="3544034" cy="4347363"/>
          </a:xfrm>
        </p:spPr>
        <p:txBody>
          <a:bodyPr>
            <a:normAutofit fontScale="92500" lnSpcReduction="10000"/>
          </a:bodyPr>
          <a:lstStyle/>
          <a:p>
            <a:r>
              <a:rPr lang="en-US" sz="2400" b="1" dirty="0"/>
              <a:t>B.F. Skinner</a:t>
            </a:r>
            <a:r>
              <a:rPr lang="en-US" sz="2400" dirty="0"/>
              <a:t> – known for the development of operant conditioning</a:t>
            </a:r>
            <a:endParaRPr lang="en-US" sz="2400" b="1" dirty="0"/>
          </a:p>
          <a:p>
            <a:r>
              <a:rPr lang="en-US" sz="2400" b="1" dirty="0"/>
              <a:t>Thorndike’s Law of Effect</a:t>
            </a:r>
            <a:r>
              <a:rPr lang="en-US" sz="2400" dirty="0"/>
              <a:t>- Behaviors that are followed by consequences that are satisfying to the organism are likely to be repeated, and behaviors followed by unpleasant consequences are less likely to be repeated</a:t>
            </a:r>
            <a:endParaRPr lang="en-US" sz="2400" b="1" dirty="0"/>
          </a:p>
        </p:txBody>
      </p:sp>
      <p:pic>
        <p:nvPicPr>
          <p:cNvPr id="5" name="Picture 4" descr="A detailed diagram of a laboratory rat inside a Skinner box. Diagram highlights key components including speaker, lights, lever, and dispenser used for behavioral experiments.">
            <a:extLst>
              <a:ext uri="{FF2B5EF4-FFF2-40B4-BE49-F238E27FC236}">
                <a16:creationId xmlns:a16="http://schemas.microsoft.com/office/drawing/2014/main" id="{DE36AEF7-38E7-4F1C-894C-2A9CE54BF6CC}"/>
              </a:ext>
            </a:extLst>
          </p:cNvPr>
          <p:cNvPicPr>
            <a:picLocks noChangeAspect="1"/>
          </p:cNvPicPr>
          <p:nvPr/>
        </p:nvPicPr>
        <p:blipFill rotWithShape="1">
          <a:blip r:embed="rId3"/>
          <a:srcRect l="34904"/>
          <a:stretch/>
        </p:blipFill>
        <p:spPr>
          <a:xfrm>
            <a:off x="329199" y="1559576"/>
            <a:ext cx="5689365" cy="3430435"/>
          </a:xfrm>
          <a:prstGeom prst="rect">
            <a:avLst/>
          </a:prstGeom>
        </p:spPr>
      </p:pic>
    </p:spTree>
    <p:extLst>
      <p:ext uri="{BB962C8B-B14F-4D97-AF65-F5344CB8AC3E}">
        <p14:creationId xmlns:p14="http://schemas.microsoft.com/office/powerpoint/2010/main" val="21825657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FBC09-06D6-4197-AE6B-E83EB2D9B852}"/>
              </a:ext>
            </a:extLst>
          </p:cNvPr>
          <p:cNvSpPr>
            <a:spLocks noGrp="1"/>
          </p:cNvSpPr>
          <p:nvPr>
            <p:ph type="title"/>
          </p:nvPr>
        </p:nvSpPr>
        <p:spPr/>
        <p:txBody>
          <a:bodyPr vert="horz" lIns="91440" tIns="45720" rIns="91440" bIns="45720" rtlCol="0">
            <a:normAutofit/>
          </a:bodyPr>
          <a:lstStyle/>
          <a:p>
            <a:r>
              <a:rPr lang="en-US" dirty="0"/>
              <a:t>Consequences- Explanation</a:t>
            </a:r>
          </a:p>
        </p:txBody>
      </p:sp>
      <p:graphicFrame>
        <p:nvGraphicFramePr>
          <p:cNvPr id="5" name="Content Placeholder 4">
            <a:extLst>
              <a:ext uri="{FF2B5EF4-FFF2-40B4-BE49-F238E27FC236}">
                <a16:creationId xmlns:a16="http://schemas.microsoft.com/office/drawing/2014/main" id="{3A67F9C9-9AD5-4B5A-9623-8838899163B9}"/>
              </a:ext>
            </a:extLst>
          </p:cNvPr>
          <p:cNvGraphicFramePr>
            <a:graphicFrameLocks noGrp="1"/>
          </p:cNvGraphicFramePr>
          <p:nvPr>
            <p:ph idx="1"/>
            <p:extLst>
              <p:ext uri="{D42A27DB-BD31-4B8C-83A1-F6EECF244321}">
                <p14:modId xmlns:p14="http://schemas.microsoft.com/office/powerpoint/2010/main" val="2750442489"/>
              </p:ext>
            </p:extLst>
          </p:nvPr>
        </p:nvGraphicFramePr>
        <p:xfrm>
          <a:off x="1069975" y="2713066"/>
          <a:ext cx="10058401" cy="2962494"/>
        </p:xfrm>
        <a:graphic>
          <a:graphicData uri="http://schemas.openxmlformats.org/drawingml/2006/table">
            <a:tbl>
              <a:tblPr firstRow="1" bandRow="1">
                <a:noFill/>
              </a:tblPr>
              <a:tblGrid>
                <a:gridCol w="2351583">
                  <a:extLst>
                    <a:ext uri="{9D8B030D-6E8A-4147-A177-3AD203B41FA5}">
                      <a16:colId xmlns:a16="http://schemas.microsoft.com/office/drawing/2014/main" val="3899225865"/>
                    </a:ext>
                  </a:extLst>
                </a:gridCol>
                <a:gridCol w="3853409">
                  <a:extLst>
                    <a:ext uri="{9D8B030D-6E8A-4147-A177-3AD203B41FA5}">
                      <a16:colId xmlns:a16="http://schemas.microsoft.com/office/drawing/2014/main" val="2738343398"/>
                    </a:ext>
                  </a:extLst>
                </a:gridCol>
                <a:gridCol w="3853409">
                  <a:extLst>
                    <a:ext uri="{9D8B030D-6E8A-4147-A177-3AD203B41FA5}">
                      <a16:colId xmlns:a16="http://schemas.microsoft.com/office/drawing/2014/main" val="435932348"/>
                    </a:ext>
                  </a:extLst>
                </a:gridCol>
              </a:tblGrid>
              <a:tr h="597638">
                <a:tc>
                  <a:txBody>
                    <a:bodyPr/>
                    <a:lstStyle/>
                    <a:p>
                      <a:pPr algn="l" fontAlgn="b"/>
                      <a:endParaRPr lang="en-US" sz="2400" b="0" cap="none" spc="60">
                        <a:solidFill>
                          <a:schemeClr val="bg1"/>
                        </a:solidFill>
                        <a:effectLst/>
                      </a:endParaRPr>
                    </a:p>
                  </a:txBody>
                  <a:tcPr marL="134519" marR="134519" marT="134519" marB="67260" anchor="ctr">
                    <a:lnL w="12700" cmpd="sng">
                      <a:noFill/>
                    </a:lnL>
                    <a:lnR w="12700" cmpd="sng">
                      <a:noFill/>
                    </a:lnR>
                    <a:lnT w="19050" cap="flat" cmpd="sng" algn="ctr">
                      <a:noFill/>
                      <a:prstDash val="solid"/>
                    </a:lnT>
                    <a:lnB w="38100" cmpd="sng">
                      <a:noFill/>
                    </a:lnB>
                    <a:solidFill>
                      <a:schemeClr val="accent1"/>
                    </a:solidFill>
                  </a:tcPr>
                </a:tc>
                <a:tc>
                  <a:txBody>
                    <a:bodyPr/>
                    <a:lstStyle/>
                    <a:p>
                      <a:pPr algn="l" fontAlgn="b"/>
                      <a:r>
                        <a:rPr lang="en-US" sz="2400" b="0" cap="none" spc="60">
                          <a:solidFill>
                            <a:schemeClr val="bg1"/>
                          </a:solidFill>
                          <a:effectLst/>
                        </a:rPr>
                        <a:t>Reinforcement</a:t>
                      </a:r>
                    </a:p>
                  </a:txBody>
                  <a:tcPr marL="134519" marR="134519" marT="134519" marB="67260" anchor="ctr">
                    <a:lnL w="12700" cmpd="sng">
                      <a:noFill/>
                    </a:lnL>
                    <a:lnR w="12700" cmpd="sng">
                      <a:noFill/>
                    </a:lnR>
                    <a:lnT w="19050" cap="flat" cmpd="sng" algn="ctr">
                      <a:noFill/>
                      <a:prstDash val="solid"/>
                    </a:lnT>
                    <a:lnB w="38100" cmpd="sng">
                      <a:noFill/>
                    </a:lnB>
                    <a:solidFill>
                      <a:schemeClr val="accent1"/>
                    </a:solidFill>
                  </a:tcPr>
                </a:tc>
                <a:tc>
                  <a:txBody>
                    <a:bodyPr/>
                    <a:lstStyle/>
                    <a:p>
                      <a:pPr algn="l" fontAlgn="b"/>
                      <a:r>
                        <a:rPr lang="en-US" sz="2400" b="0" cap="none" spc="60">
                          <a:solidFill>
                            <a:schemeClr val="bg1"/>
                          </a:solidFill>
                          <a:effectLst/>
                        </a:rPr>
                        <a:t>Punishment</a:t>
                      </a:r>
                    </a:p>
                  </a:txBody>
                  <a:tcPr marL="134519" marR="134519" marT="134519" marB="67260" anchor="ctr">
                    <a:lnL w="12700" cmpd="sng">
                      <a:noFill/>
                    </a:lnL>
                    <a:lnR w="12700" cmpd="sng">
                      <a:noFill/>
                    </a:lnR>
                    <a:lnT w="19050" cap="flat" cmpd="sng" algn="ctr">
                      <a:noFill/>
                      <a:prstDash val="solid"/>
                    </a:lnT>
                    <a:lnB w="38100" cmpd="sng">
                      <a:noFill/>
                    </a:lnB>
                    <a:solidFill>
                      <a:schemeClr val="accent1"/>
                    </a:solidFill>
                  </a:tcPr>
                </a:tc>
                <a:extLst>
                  <a:ext uri="{0D108BD9-81ED-4DB2-BD59-A6C34878D82A}">
                    <a16:rowId xmlns:a16="http://schemas.microsoft.com/office/drawing/2014/main" val="1422602983"/>
                  </a:ext>
                </a:extLst>
              </a:tr>
              <a:tr h="1182428">
                <a:tc>
                  <a:txBody>
                    <a:bodyPr/>
                    <a:lstStyle/>
                    <a:p>
                      <a:pPr fontAlgn="ctr"/>
                      <a:r>
                        <a:rPr lang="en-US" sz="2100" b="1" cap="none" spc="0" dirty="0">
                          <a:solidFill>
                            <a:schemeClr val="tx1"/>
                          </a:solidFill>
                          <a:effectLst/>
                        </a:rPr>
                        <a:t>Positive</a:t>
                      </a:r>
                    </a:p>
                  </a:txBody>
                  <a:tcPr marL="134519" marR="134519" marT="134519" marB="67260" anchor="ctr">
                    <a:lnL w="12700" cmpd="sng">
                      <a:noFill/>
                      <a:prstDash val="solid"/>
                    </a:lnL>
                    <a:lnR w="12700" cmpd="sng">
                      <a:noFill/>
                      <a:prstDash val="solid"/>
                    </a:lnR>
                    <a:lnT w="38100" cmpd="sng">
                      <a:noFill/>
                    </a:lnT>
                    <a:lnB w="12700" cap="flat" cmpd="sng" algn="ctr">
                      <a:noFill/>
                      <a:prstDash val="solid"/>
                    </a:lnB>
                    <a:noFill/>
                  </a:tcPr>
                </a:tc>
                <a:tc>
                  <a:txBody>
                    <a:bodyPr/>
                    <a:lstStyle/>
                    <a:p>
                      <a:pPr fontAlgn="ctr"/>
                      <a:r>
                        <a:rPr lang="en-US" sz="2100" cap="none" spc="0">
                          <a:solidFill>
                            <a:schemeClr val="tx1"/>
                          </a:solidFill>
                          <a:effectLst/>
                        </a:rPr>
                        <a:t>Something is </a:t>
                      </a:r>
                      <a:r>
                        <a:rPr lang="en-US" sz="2100" i="1" cap="none" spc="0">
                          <a:solidFill>
                            <a:schemeClr val="tx1"/>
                          </a:solidFill>
                          <a:effectLst/>
                        </a:rPr>
                        <a:t>added</a:t>
                      </a:r>
                      <a:r>
                        <a:rPr lang="en-US" sz="2100" cap="none" spc="0">
                          <a:solidFill>
                            <a:schemeClr val="tx1"/>
                          </a:solidFill>
                          <a:effectLst/>
                        </a:rPr>
                        <a:t> to </a:t>
                      </a:r>
                      <a:r>
                        <a:rPr lang="en-US" sz="2100" i="1" cap="none" spc="0">
                          <a:solidFill>
                            <a:schemeClr val="tx1"/>
                          </a:solidFill>
                          <a:effectLst/>
                        </a:rPr>
                        <a:t>increase</a:t>
                      </a:r>
                      <a:r>
                        <a:rPr lang="en-US" sz="2100" cap="none" spc="0">
                          <a:solidFill>
                            <a:schemeClr val="tx1"/>
                          </a:solidFill>
                          <a:effectLst/>
                        </a:rPr>
                        <a:t> the likelihood of a behavior.</a:t>
                      </a:r>
                    </a:p>
                  </a:txBody>
                  <a:tcPr marL="134519" marR="134519" marT="134519" marB="67260" anchor="ctr">
                    <a:lnL w="12700" cmpd="sng">
                      <a:noFill/>
                      <a:prstDash val="solid"/>
                    </a:lnL>
                    <a:lnR w="12700" cmpd="sng">
                      <a:noFill/>
                      <a:prstDash val="solid"/>
                    </a:lnR>
                    <a:lnT w="38100" cmpd="sng">
                      <a:noFill/>
                    </a:lnT>
                    <a:lnB w="12700" cap="flat" cmpd="sng" algn="ctr">
                      <a:noFill/>
                      <a:prstDash val="solid"/>
                    </a:lnB>
                    <a:noFill/>
                  </a:tcPr>
                </a:tc>
                <a:tc>
                  <a:txBody>
                    <a:bodyPr/>
                    <a:lstStyle/>
                    <a:p>
                      <a:pPr fontAlgn="ctr"/>
                      <a:r>
                        <a:rPr lang="en-US" sz="2100" cap="none" spc="0">
                          <a:solidFill>
                            <a:schemeClr val="tx1"/>
                          </a:solidFill>
                          <a:effectLst/>
                        </a:rPr>
                        <a:t>Something is </a:t>
                      </a:r>
                      <a:r>
                        <a:rPr lang="en-US" sz="2100" i="1" cap="none" spc="0">
                          <a:solidFill>
                            <a:schemeClr val="tx1"/>
                          </a:solidFill>
                          <a:effectLst/>
                        </a:rPr>
                        <a:t>added</a:t>
                      </a:r>
                      <a:r>
                        <a:rPr lang="en-US" sz="2100" cap="none" spc="0">
                          <a:solidFill>
                            <a:schemeClr val="tx1"/>
                          </a:solidFill>
                          <a:effectLst/>
                        </a:rPr>
                        <a:t> to </a:t>
                      </a:r>
                      <a:r>
                        <a:rPr lang="en-US" sz="2100" i="1" cap="none" spc="0">
                          <a:solidFill>
                            <a:schemeClr val="tx1"/>
                          </a:solidFill>
                          <a:effectLst/>
                        </a:rPr>
                        <a:t>decrease</a:t>
                      </a:r>
                      <a:r>
                        <a:rPr lang="en-US" sz="2100" cap="none" spc="0">
                          <a:solidFill>
                            <a:schemeClr val="tx1"/>
                          </a:solidFill>
                          <a:effectLst/>
                        </a:rPr>
                        <a:t> the likelihood of a behavior.</a:t>
                      </a:r>
                    </a:p>
                  </a:txBody>
                  <a:tcPr marL="134519" marR="134519" marT="134519" marB="67260" anchor="ctr">
                    <a:lnL w="12700" cmpd="sng">
                      <a:noFill/>
                      <a:prstDash val="solid"/>
                    </a:lnL>
                    <a:lnR w="12700" cmpd="sng">
                      <a:noFill/>
                      <a:prstDash val="solid"/>
                    </a:lnR>
                    <a:lnT w="38100" cmpd="sng">
                      <a:noFill/>
                    </a:lnT>
                    <a:lnB w="12700" cap="flat" cmpd="sng" algn="ctr">
                      <a:noFill/>
                      <a:prstDash val="solid"/>
                    </a:lnB>
                    <a:noFill/>
                  </a:tcPr>
                </a:tc>
                <a:extLst>
                  <a:ext uri="{0D108BD9-81ED-4DB2-BD59-A6C34878D82A}">
                    <a16:rowId xmlns:a16="http://schemas.microsoft.com/office/drawing/2014/main" val="2232590905"/>
                  </a:ext>
                </a:extLst>
              </a:tr>
              <a:tr h="1182428">
                <a:tc>
                  <a:txBody>
                    <a:bodyPr/>
                    <a:lstStyle/>
                    <a:p>
                      <a:pPr fontAlgn="ctr"/>
                      <a:r>
                        <a:rPr lang="en-US" sz="2100" b="1" cap="none" spc="0" dirty="0">
                          <a:solidFill>
                            <a:schemeClr val="tx1"/>
                          </a:solidFill>
                          <a:effectLst/>
                        </a:rPr>
                        <a:t>Negative</a:t>
                      </a:r>
                    </a:p>
                  </a:txBody>
                  <a:tcPr marL="134519" marR="134519" marT="134519" marB="67260"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fontAlgn="ctr"/>
                      <a:r>
                        <a:rPr lang="en-US" sz="2100" cap="none" spc="0">
                          <a:solidFill>
                            <a:schemeClr val="tx1"/>
                          </a:solidFill>
                          <a:effectLst/>
                        </a:rPr>
                        <a:t>Something is </a:t>
                      </a:r>
                      <a:r>
                        <a:rPr lang="en-US" sz="2100" i="1" cap="none" spc="0">
                          <a:solidFill>
                            <a:schemeClr val="tx1"/>
                          </a:solidFill>
                          <a:effectLst/>
                        </a:rPr>
                        <a:t>removed</a:t>
                      </a:r>
                      <a:r>
                        <a:rPr lang="en-US" sz="2100" cap="none" spc="0">
                          <a:solidFill>
                            <a:schemeClr val="tx1"/>
                          </a:solidFill>
                          <a:effectLst/>
                        </a:rPr>
                        <a:t> to </a:t>
                      </a:r>
                      <a:r>
                        <a:rPr lang="en-US" sz="2100" i="1" cap="none" spc="0">
                          <a:solidFill>
                            <a:schemeClr val="tx1"/>
                          </a:solidFill>
                          <a:effectLst/>
                        </a:rPr>
                        <a:t>increase</a:t>
                      </a:r>
                      <a:r>
                        <a:rPr lang="en-US" sz="2100" cap="none" spc="0">
                          <a:solidFill>
                            <a:schemeClr val="tx1"/>
                          </a:solidFill>
                          <a:effectLst/>
                        </a:rPr>
                        <a:t> the likelihood of a behavior.</a:t>
                      </a:r>
                    </a:p>
                  </a:txBody>
                  <a:tcPr marL="134519" marR="134519" marT="134519" marB="67260"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fontAlgn="ctr"/>
                      <a:r>
                        <a:rPr lang="en-US" sz="2100" cap="none" spc="0" dirty="0">
                          <a:solidFill>
                            <a:schemeClr val="tx1"/>
                          </a:solidFill>
                          <a:effectLst/>
                        </a:rPr>
                        <a:t>Something is </a:t>
                      </a:r>
                      <a:r>
                        <a:rPr lang="en-US" sz="2100" i="1" cap="none" spc="0" dirty="0">
                          <a:solidFill>
                            <a:schemeClr val="tx1"/>
                          </a:solidFill>
                          <a:effectLst/>
                        </a:rPr>
                        <a:t>removed</a:t>
                      </a:r>
                      <a:r>
                        <a:rPr lang="en-US" sz="2100" cap="none" spc="0" dirty="0">
                          <a:solidFill>
                            <a:schemeClr val="tx1"/>
                          </a:solidFill>
                          <a:effectLst/>
                        </a:rPr>
                        <a:t> to </a:t>
                      </a:r>
                      <a:r>
                        <a:rPr lang="en-US" sz="2100" i="1" cap="none" spc="0" dirty="0">
                          <a:solidFill>
                            <a:schemeClr val="tx1"/>
                          </a:solidFill>
                          <a:effectLst/>
                        </a:rPr>
                        <a:t>decrease</a:t>
                      </a:r>
                      <a:r>
                        <a:rPr lang="en-US" sz="2100" cap="none" spc="0" dirty="0">
                          <a:solidFill>
                            <a:schemeClr val="tx1"/>
                          </a:solidFill>
                          <a:effectLst/>
                        </a:rPr>
                        <a:t> the likelihood of a behavior.</a:t>
                      </a:r>
                    </a:p>
                  </a:txBody>
                  <a:tcPr marL="134519" marR="134519" marT="134519" marB="67260"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995705876"/>
                  </a:ext>
                </a:extLst>
              </a:tr>
            </a:tbl>
          </a:graphicData>
        </a:graphic>
      </p:graphicFrame>
    </p:spTree>
    <p:extLst>
      <p:ext uri="{BB962C8B-B14F-4D97-AF65-F5344CB8AC3E}">
        <p14:creationId xmlns:p14="http://schemas.microsoft.com/office/powerpoint/2010/main" val="13441534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FBC09-06D6-4197-AE6B-E83EB2D9B852}"/>
              </a:ext>
            </a:extLst>
          </p:cNvPr>
          <p:cNvSpPr>
            <a:spLocks noGrp="1"/>
          </p:cNvSpPr>
          <p:nvPr>
            <p:ph type="title"/>
          </p:nvPr>
        </p:nvSpPr>
        <p:spPr/>
        <p:txBody>
          <a:bodyPr vert="horz" lIns="91440" tIns="45720" rIns="91440" bIns="45720" rtlCol="0">
            <a:normAutofit/>
          </a:bodyPr>
          <a:lstStyle/>
          <a:p>
            <a:r>
              <a:rPr lang="en-US" dirty="0"/>
              <a:t>Consequences- Examples</a:t>
            </a:r>
          </a:p>
        </p:txBody>
      </p:sp>
      <p:graphicFrame>
        <p:nvGraphicFramePr>
          <p:cNvPr id="5" name="Content Placeholder 4">
            <a:extLst>
              <a:ext uri="{FF2B5EF4-FFF2-40B4-BE49-F238E27FC236}">
                <a16:creationId xmlns:a16="http://schemas.microsoft.com/office/drawing/2014/main" id="{3A67F9C9-9AD5-4B5A-9623-8838899163B9}"/>
              </a:ext>
            </a:extLst>
          </p:cNvPr>
          <p:cNvGraphicFramePr>
            <a:graphicFrameLocks noGrp="1"/>
          </p:cNvGraphicFramePr>
          <p:nvPr>
            <p:ph idx="1"/>
            <p:extLst>
              <p:ext uri="{D42A27DB-BD31-4B8C-83A1-F6EECF244321}">
                <p14:modId xmlns:p14="http://schemas.microsoft.com/office/powerpoint/2010/main" val="1823628141"/>
              </p:ext>
            </p:extLst>
          </p:nvPr>
        </p:nvGraphicFramePr>
        <p:xfrm>
          <a:off x="1069975" y="2713066"/>
          <a:ext cx="10058401" cy="2962494"/>
        </p:xfrm>
        <a:graphic>
          <a:graphicData uri="http://schemas.openxmlformats.org/drawingml/2006/table">
            <a:tbl>
              <a:tblPr firstRow="1" bandRow="1">
                <a:noFill/>
              </a:tblPr>
              <a:tblGrid>
                <a:gridCol w="2351583">
                  <a:extLst>
                    <a:ext uri="{9D8B030D-6E8A-4147-A177-3AD203B41FA5}">
                      <a16:colId xmlns:a16="http://schemas.microsoft.com/office/drawing/2014/main" val="3899225865"/>
                    </a:ext>
                  </a:extLst>
                </a:gridCol>
                <a:gridCol w="3853409">
                  <a:extLst>
                    <a:ext uri="{9D8B030D-6E8A-4147-A177-3AD203B41FA5}">
                      <a16:colId xmlns:a16="http://schemas.microsoft.com/office/drawing/2014/main" val="2738343398"/>
                    </a:ext>
                  </a:extLst>
                </a:gridCol>
                <a:gridCol w="3853409">
                  <a:extLst>
                    <a:ext uri="{9D8B030D-6E8A-4147-A177-3AD203B41FA5}">
                      <a16:colId xmlns:a16="http://schemas.microsoft.com/office/drawing/2014/main" val="435932348"/>
                    </a:ext>
                  </a:extLst>
                </a:gridCol>
              </a:tblGrid>
              <a:tr h="597638">
                <a:tc>
                  <a:txBody>
                    <a:bodyPr/>
                    <a:lstStyle/>
                    <a:p>
                      <a:pPr algn="l" fontAlgn="b"/>
                      <a:endParaRPr lang="en-US" sz="2400" b="0" cap="none" spc="60">
                        <a:solidFill>
                          <a:schemeClr val="bg1"/>
                        </a:solidFill>
                        <a:effectLst/>
                      </a:endParaRPr>
                    </a:p>
                  </a:txBody>
                  <a:tcPr marL="134519" marR="134519" marT="134519" marB="67260" anchor="ctr">
                    <a:lnL w="12700" cmpd="sng">
                      <a:noFill/>
                    </a:lnL>
                    <a:lnR w="12700" cmpd="sng">
                      <a:noFill/>
                    </a:lnR>
                    <a:lnT w="19050" cap="flat" cmpd="sng" algn="ctr">
                      <a:noFill/>
                      <a:prstDash val="solid"/>
                    </a:lnT>
                    <a:lnB w="38100" cmpd="sng">
                      <a:noFill/>
                    </a:lnB>
                    <a:solidFill>
                      <a:schemeClr val="accent1"/>
                    </a:solidFill>
                  </a:tcPr>
                </a:tc>
                <a:tc>
                  <a:txBody>
                    <a:bodyPr/>
                    <a:lstStyle/>
                    <a:p>
                      <a:pPr algn="l" fontAlgn="b"/>
                      <a:r>
                        <a:rPr lang="en-US" sz="2400" b="0" cap="none" spc="60">
                          <a:solidFill>
                            <a:schemeClr val="bg1"/>
                          </a:solidFill>
                          <a:effectLst/>
                        </a:rPr>
                        <a:t>Reinforcement</a:t>
                      </a:r>
                    </a:p>
                  </a:txBody>
                  <a:tcPr marL="134519" marR="134519" marT="134519" marB="67260" anchor="ctr">
                    <a:lnL w="12700" cmpd="sng">
                      <a:noFill/>
                    </a:lnL>
                    <a:lnR w="12700" cmpd="sng">
                      <a:noFill/>
                    </a:lnR>
                    <a:lnT w="19050" cap="flat" cmpd="sng" algn="ctr">
                      <a:noFill/>
                      <a:prstDash val="solid"/>
                    </a:lnT>
                    <a:lnB w="38100" cmpd="sng">
                      <a:noFill/>
                    </a:lnB>
                    <a:solidFill>
                      <a:schemeClr val="accent1"/>
                    </a:solidFill>
                  </a:tcPr>
                </a:tc>
                <a:tc>
                  <a:txBody>
                    <a:bodyPr/>
                    <a:lstStyle/>
                    <a:p>
                      <a:pPr algn="l" fontAlgn="b"/>
                      <a:r>
                        <a:rPr lang="en-US" sz="2400" b="0" cap="none" spc="60">
                          <a:solidFill>
                            <a:schemeClr val="bg1"/>
                          </a:solidFill>
                          <a:effectLst/>
                        </a:rPr>
                        <a:t>Punishment</a:t>
                      </a:r>
                    </a:p>
                  </a:txBody>
                  <a:tcPr marL="134519" marR="134519" marT="134519" marB="67260" anchor="ctr">
                    <a:lnL w="12700" cmpd="sng">
                      <a:noFill/>
                    </a:lnL>
                    <a:lnR w="12700" cmpd="sng">
                      <a:noFill/>
                    </a:lnR>
                    <a:lnT w="19050" cap="flat" cmpd="sng" algn="ctr">
                      <a:noFill/>
                      <a:prstDash val="solid"/>
                    </a:lnT>
                    <a:lnB w="38100" cmpd="sng">
                      <a:noFill/>
                    </a:lnB>
                    <a:solidFill>
                      <a:schemeClr val="accent1"/>
                    </a:solidFill>
                  </a:tcPr>
                </a:tc>
                <a:extLst>
                  <a:ext uri="{0D108BD9-81ED-4DB2-BD59-A6C34878D82A}">
                    <a16:rowId xmlns:a16="http://schemas.microsoft.com/office/drawing/2014/main" val="1422602983"/>
                  </a:ext>
                </a:extLst>
              </a:tr>
              <a:tr h="1182428">
                <a:tc>
                  <a:txBody>
                    <a:bodyPr/>
                    <a:lstStyle/>
                    <a:p>
                      <a:pPr fontAlgn="ctr"/>
                      <a:r>
                        <a:rPr lang="en-US" sz="2100" b="1" cap="none" spc="0" dirty="0">
                          <a:solidFill>
                            <a:schemeClr val="tx1"/>
                          </a:solidFill>
                          <a:effectLst/>
                        </a:rPr>
                        <a:t>Positive</a:t>
                      </a:r>
                    </a:p>
                  </a:txBody>
                  <a:tcPr marL="134519" marR="134519" marT="134519" marB="67260" anchor="ctr">
                    <a:lnL w="12700" cmpd="sng">
                      <a:noFill/>
                      <a:prstDash val="solid"/>
                    </a:lnL>
                    <a:lnR w="12700" cmpd="sng">
                      <a:noFill/>
                      <a:prstDash val="solid"/>
                    </a:lnR>
                    <a:lnT w="38100" cmpd="sng">
                      <a:noFill/>
                    </a:lnT>
                    <a:lnB w="12700" cap="flat" cmpd="sng" algn="ctr">
                      <a:noFill/>
                      <a:prstDash val="solid"/>
                    </a:lnB>
                    <a:noFill/>
                  </a:tcPr>
                </a:tc>
                <a:tc>
                  <a:txBody>
                    <a:bodyPr/>
                    <a:lstStyle/>
                    <a:p>
                      <a:pPr fontAlgn="ctr"/>
                      <a:r>
                        <a:rPr lang="en-US" sz="2100" cap="none" spc="0" dirty="0">
                          <a:solidFill>
                            <a:schemeClr val="tx1"/>
                          </a:solidFill>
                          <a:effectLst/>
                        </a:rPr>
                        <a:t>A child receiving candy for cleaning their room.</a:t>
                      </a:r>
                    </a:p>
                  </a:txBody>
                  <a:tcPr marL="134519" marR="134519" marT="134519" marB="67260" anchor="ctr">
                    <a:lnL w="12700" cmpd="sng">
                      <a:noFill/>
                      <a:prstDash val="solid"/>
                    </a:lnL>
                    <a:lnR w="12700" cmpd="sng">
                      <a:noFill/>
                      <a:prstDash val="solid"/>
                    </a:lnR>
                    <a:lnT w="38100" cmpd="sng">
                      <a:noFill/>
                    </a:lnT>
                    <a:lnB w="12700" cap="flat" cmpd="sng" algn="ctr">
                      <a:noFill/>
                      <a:prstDash val="solid"/>
                    </a:lnB>
                    <a:noFill/>
                  </a:tcPr>
                </a:tc>
                <a:tc>
                  <a:txBody>
                    <a:bodyPr/>
                    <a:lstStyle/>
                    <a:p>
                      <a:pPr fontAlgn="ctr"/>
                      <a:r>
                        <a:rPr lang="en-US" sz="2100" cap="none" spc="0" dirty="0">
                          <a:solidFill>
                            <a:schemeClr val="tx1"/>
                          </a:solidFill>
                          <a:effectLst/>
                        </a:rPr>
                        <a:t>Spanking a child for screaming in a restaurant.</a:t>
                      </a:r>
                    </a:p>
                  </a:txBody>
                  <a:tcPr marL="134519" marR="134519" marT="134519" marB="67260" anchor="ctr">
                    <a:lnL w="12700" cmpd="sng">
                      <a:noFill/>
                      <a:prstDash val="solid"/>
                    </a:lnL>
                    <a:lnR w="12700" cmpd="sng">
                      <a:noFill/>
                      <a:prstDash val="solid"/>
                    </a:lnR>
                    <a:lnT w="38100" cmpd="sng">
                      <a:noFill/>
                    </a:lnT>
                    <a:lnB w="12700" cap="flat" cmpd="sng" algn="ctr">
                      <a:noFill/>
                      <a:prstDash val="solid"/>
                    </a:lnB>
                    <a:noFill/>
                  </a:tcPr>
                </a:tc>
                <a:extLst>
                  <a:ext uri="{0D108BD9-81ED-4DB2-BD59-A6C34878D82A}">
                    <a16:rowId xmlns:a16="http://schemas.microsoft.com/office/drawing/2014/main" val="2232590905"/>
                  </a:ext>
                </a:extLst>
              </a:tr>
              <a:tr h="1182428">
                <a:tc>
                  <a:txBody>
                    <a:bodyPr/>
                    <a:lstStyle/>
                    <a:p>
                      <a:pPr fontAlgn="ctr"/>
                      <a:r>
                        <a:rPr lang="en-US" sz="2100" b="1" cap="none" spc="0" dirty="0">
                          <a:solidFill>
                            <a:schemeClr val="tx1"/>
                          </a:solidFill>
                          <a:effectLst/>
                        </a:rPr>
                        <a:t>Negative</a:t>
                      </a:r>
                    </a:p>
                  </a:txBody>
                  <a:tcPr marL="134519" marR="134519" marT="134519" marB="67260"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fontAlgn="ctr"/>
                      <a:r>
                        <a:rPr lang="en-US" sz="2100" cap="none" spc="0" dirty="0">
                          <a:solidFill>
                            <a:schemeClr val="tx1"/>
                          </a:solidFill>
                          <a:effectLst/>
                        </a:rPr>
                        <a:t>Wearing gloves in very cold weather, removing the pain.</a:t>
                      </a:r>
                    </a:p>
                  </a:txBody>
                  <a:tcPr marL="134519" marR="134519" marT="134519" marB="67260"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fontAlgn="ctr"/>
                      <a:r>
                        <a:rPr lang="en-US" sz="2100" cap="none" spc="0" dirty="0">
                          <a:solidFill>
                            <a:schemeClr val="tx1"/>
                          </a:solidFill>
                          <a:effectLst/>
                        </a:rPr>
                        <a:t>Taking away a teenager’s electronics after they had an attitude.</a:t>
                      </a:r>
                    </a:p>
                  </a:txBody>
                  <a:tcPr marL="134519" marR="134519" marT="134519" marB="67260"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995705876"/>
                  </a:ext>
                </a:extLst>
              </a:tr>
            </a:tbl>
          </a:graphicData>
        </a:graphic>
      </p:graphicFrame>
    </p:spTree>
    <p:extLst>
      <p:ext uri="{BB962C8B-B14F-4D97-AF65-F5344CB8AC3E}">
        <p14:creationId xmlns:p14="http://schemas.microsoft.com/office/powerpoint/2010/main" val="20823355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7C3EE05-5090-9483-6993-371B1DDACCFE}"/>
              </a:ext>
            </a:extLst>
          </p:cNvPr>
          <p:cNvSpPr>
            <a:spLocks noGrp="1"/>
          </p:cNvSpPr>
          <p:nvPr>
            <p:ph type="title"/>
          </p:nvPr>
        </p:nvSpPr>
        <p:spPr/>
        <p:txBody>
          <a:bodyPr/>
          <a:lstStyle/>
          <a:p>
            <a:r>
              <a:rPr lang="en-US" dirty="0"/>
              <a:t>Demonstration</a:t>
            </a:r>
          </a:p>
        </p:txBody>
      </p:sp>
      <p:sp>
        <p:nvSpPr>
          <p:cNvPr id="7" name="Text Placeholder 6">
            <a:extLst>
              <a:ext uri="{FF2B5EF4-FFF2-40B4-BE49-F238E27FC236}">
                <a16:creationId xmlns:a16="http://schemas.microsoft.com/office/drawing/2014/main" id="{C8D65365-EB86-A46C-F5DF-AE779226ED7D}"/>
              </a:ext>
            </a:extLst>
          </p:cNvPr>
          <p:cNvSpPr>
            <a:spLocks noGrp="1"/>
          </p:cNvSpPr>
          <p:nvPr>
            <p:ph type="body" idx="1"/>
          </p:nvPr>
        </p:nvSpPr>
        <p:spPr/>
        <p:txBody>
          <a:bodyPr/>
          <a:lstStyle/>
          <a:p>
            <a:r>
              <a:rPr lang="en-US" dirty="0"/>
              <a:t>Who would like to volunteer as tribute?</a:t>
            </a:r>
          </a:p>
        </p:txBody>
      </p:sp>
    </p:spTree>
    <p:extLst>
      <p:ext uri="{BB962C8B-B14F-4D97-AF65-F5344CB8AC3E}">
        <p14:creationId xmlns:p14="http://schemas.microsoft.com/office/powerpoint/2010/main" val="39606579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4389E-52C7-408E-A864-75578F77ACA5}"/>
              </a:ext>
            </a:extLst>
          </p:cNvPr>
          <p:cNvSpPr>
            <a:spLocks noGrp="1"/>
          </p:cNvSpPr>
          <p:nvPr>
            <p:ph type="title"/>
          </p:nvPr>
        </p:nvSpPr>
        <p:spPr/>
        <p:txBody>
          <a:bodyPr vert="horz" lIns="91440" tIns="45720" rIns="91440" bIns="45720" rtlCol="0" anchor="ctr">
            <a:normAutofit/>
          </a:bodyPr>
          <a:lstStyle/>
          <a:p>
            <a:pPr>
              <a:lnSpc>
                <a:spcPct val="80000"/>
              </a:lnSpc>
            </a:pPr>
            <a:r>
              <a:rPr lang="en-US" sz="8000" dirty="0">
                <a:blipFill dpi="0" rotWithShape="1">
                  <a:blip r:embed="rId3"/>
                  <a:srcRect/>
                  <a:tile tx="6350" ty="-127000" sx="65000" sy="64000" flip="none" algn="tl"/>
                </a:blipFill>
              </a:rPr>
              <a:t>Shaping</a:t>
            </a:r>
          </a:p>
        </p:txBody>
      </p:sp>
      <p:sp>
        <p:nvSpPr>
          <p:cNvPr id="4" name="Content Placeholder 3">
            <a:extLst>
              <a:ext uri="{FF2B5EF4-FFF2-40B4-BE49-F238E27FC236}">
                <a16:creationId xmlns:a16="http://schemas.microsoft.com/office/drawing/2014/main" id="{F9D7D908-2A89-52E6-E081-DD94C64D0CDC}"/>
              </a:ext>
            </a:extLst>
          </p:cNvPr>
          <p:cNvSpPr>
            <a:spLocks noGrp="1"/>
          </p:cNvSpPr>
          <p:nvPr>
            <p:ph idx="1"/>
          </p:nvPr>
        </p:nvSpPr>
        <p:spPr/>
        <p:txBody>
          <a:bodyPr/>
          <a:lstStyle/>
          <a:p>
            <a:r>
              <a:rPr lang="en-US" b="1" dirty="0"/>
              <a:t>Shaping</a:t>
            </a:r>
            <a:r>
              <a:rPr lang="en-US" dirty="0"/>
              <a:t>- rewarding successive approximations of a target behavior.</a:t>
            </a:r>
          </a:p>
          <a:p>
            <a:r>
              <a:rPr lang="en-US" dirty="0"/>
              <a:t>Behaviors are broken into small, achievable steps:</a:t>
            </a:r>
          </a:p>
          <a:p>
            <a:pPr marL="342900" indent="-342900">
              <a:buFont typeface="+mj-lt"/>
              <a:buAutoNum type="arabicPeriod"/>
            </a:pPr>
            <a:r>
              <a:rPr lang="en-US" dirty="0"/>
              <a:t>Reinforce any response that resembles the desired behavior.</a:t>
            </a:r>
          </a:p>
          <a:p>
            <a:pPr marL="342900" indent="-342900">
              <a:buFont typeface="+mj-lt"/>
              <a:buAutoNum type="arabicPeriod"/>
            </a:pPr>
            <a:r>
              <a:rPr lang="en-US" dirty="0"/>
              <a:t>Then reinforce the response that more closely resembles the desired behavior. You will no longer reinforce the previously reinforced response.</a:t>
            </a:r>
          </a:p>
          <a:p>
            <a:pPr marL="342900" indent="-342900">
              <a:buFont typeface="+mj-lt"/>
              <a:buAutoNum type="arabicPeriod"/>
            </a:pPr>
            <a:r>
              <a:rPr lang="en-US" dirty="0"/>
              <a:t>Next, begin to reinforce the response that even more closely resembles the desired behavior.</a:t>
            </a:r>
          </a:p>
          <a:p>
            <a:pPr marL="342900" indent="-342900">
              <a:buFont typeface="+mj-lt"/>
              <a:buAutoNum type="arabicPeriod"/>
            </a:pPr>
            <a:r>
              <a:rPr lang="en-US" dirty="0"/>
              <a:t>Continue to reinforce closer and closer approximations of the desired behavior.</a:t>
            </a:r>
          </a:p>
          <a:p>
            <a:pPr marL="342900" indent="-342900">
              <a:buFont typeface="+mj-lt"/>
              <a:buAutoNum type="arabicPeriod"/>
            </a:pPr>
            <a:r>
              <a:rPr lang="en-US" dirty="0"/>
              <a:t>Finally, only reinforce the desired behavior.</a:t>
            </a:r>
          </a:p>
        </p:txBody>
      </p:sp>
    </p:spTree>
    <p:extLst>
      <p:ext uri="{BB962C8B-B14F-4D97-AF65-F5344CB8AC3E}">
        <p14:creationId xmlns:p14="http://schemas.microsoft.com/office/powerpoint/2010/main" val="2664106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EB0AB-71E8-4C55-BC22-BF47CC0DA523}"/>
              </a:ext>
            </a:extLst>
          </p:cNvPr>
          <p:cNvSpPr>
            <a:spLocks noGrp="1"/>
          </p:cNvSpPr>
          <p:nvPr>
            <p:ph type="title"/>
          </p:nvPr>
        </p:nvSpPr>
        <p:spPr>
          <a:xfrm>
            <a:off x="8200102" y="1432223"/>
            <a:ext cx="2818417" cy="3357976"/>
          </a:xfrm>
        </p:spPr>
        <p:txBody>
          <a:bodyPr vert="horz" lIns="91440" tIns="45720" rIns="91440" bIns="45720" rtlCol="0" anchor="ctr">
            <a:normAutofit/>
          </a:bodyPr>
          <a:lstStyle/>
          <a:p>
            <a:pPr>
              <a:lnSpc>
                <a:spcPct val="80000"/>
              </a:lnSpc>
            </a:pPr>
            <a:r>
              <a:rPr lang="en-US" sz="4200">
                <a:blipFill dpi="0" rotWithShape="1">
                  <a:blip r:embed="rId3"/>
                  <a:srcRect/>
                  <a:tile tx="6350" ty="-127000" sx="65000" sy="64000" flip="none" algn="tl"/>
                </a:blipFill>
              </a:rPr>
              <a:t>Primary and Secondary reinforcers</a:t>
            </a:r>
          </a:p>
        </p:txBody>
      </p:sp>
      <p:pic>
        <p:nvPicPr>
          <p:cNvPr id="4" name="Content Placeholder 3" descr="Diagram illustrating relationship between primary and secondary reinforcers, showing food items as primary reinforcers that aid survival and money as a secondary reinforcer used to buy food. Color-coded sections with labels and arrows highlight how secondary reinforcers acquire value through association with primary reinforcers.&#10;">
            <a:extLst>
              <a:ext uri="{FF2B5EF4-FFF2-40B4-BE49-F238E27FC236}">
                <a16:creationId xmlns:a16="http://schemas.microsoft.com/office/drawing/2014/main" id="{8751C161-AAAA-4689-8BBD-A24C9A820E16}"/>
              </a:ext>
            </a:extLst>
          </p:cNvPr>
          <p:cNvPicPr>
            <a:picLocks noChangeAspect="1"/>
          </p:cNvPicPr>
          <p:nvPr/>
        </p:nvPicPr>
        <p:blipFill>
          <a:blip r:embed="rId4"/>
          <a:stretch>
            <a:fillRect/>
          </a:stretch>
        </p:blipFill>
        <p:spPr>
          <a:xfrm>
            <a:off x="1082089" y="1388911"/>
            <a:ext cx="6309234" cy="4011543"/>
          </a:xfrm>
          <a:prstGeom prst="rect">
            <a:avLst/>
          </a:prstGeom>
        </p:spPr>
      </p:pic>
    </p:spTree>
    <p:extLst>
      <p:ext uri="{BB962C8B-B14F-4D97-AF65-F5344CB8AC3E}">
        <p14:creationId xmlns:p14="http://schemas.microsoft.com/office/powerpoint/2010/main" val="34403173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E2B662F-F4D7-4E00-B02A-05BBBDD82D8B}"/>
              </a:ext>
            </a:extLst>
          </p:cNvPr>
          <p:cNvSpPr>
            <a:spLocks noGrp="1"/>
          </p:cNvSpPr>
          <p:nvPr>
            <p:ph type="title"/>
          </p:nvPr>
        </p:nvSpPr>
        <p:spPr>
          <a:xfrm>
            <a:off x="8200102" y="1432223"/>
            <a:ext cx="2818417" cy="3357976"/>
          </a:xfrm>
        </p:spPr>
        <p:txBody>
          <a:bodyPr vert="horz" lIns="91440" tIns="45720" rIns="91440" bIns="45720" rtlCol="0" anchor="ctr">
            <a:normAutofit/>
          </a:bodyPr>
          <a:lstStyle/>
          <a:p>
            <a:pPr>
              <a:lnSpc>
                <a:spcPct val="80000"/>
              </a:lnSpc>
            </a:pPr>
            <a:r>
              <a:rPr lang="en-US" sz="3300" dirty="0">
                <a:blipFill dpi="0" rotWithShape="1">
                  <a:blip r:embed="rId3"/>
                  <a:srcRect/>
                  <a:tile tx="6350" ty="-127000" sx="65000" sy="64000" flip="none" algn="tl"/>
                </a:blipFill>
              </a:rPr>
              <a:t>Continuous vs. Partial reinforcement</a:t>
            </a:r>
          </a:p>
        </p:txBody>
      </p:sp>
      <p:pic>
        <p:nvPicPr>
          <p:cNvPr id="2050" name="Picture 2" descr="Infographic comparing continuous reinforcement and partial reinforcement in dog training, using illustrations of dogs, treats, and hands. Continuous reinforcement highlights consistent reward for desired behavior, while partial reinforcement emphasizes effectiveness after behavior establishment and includes varied reinforcement schedules.&#10;">
            <a:extLst>
              <a:ext uri="{FF2B5EF4-FFF2-40B4-BE49-F238E27FC236}">
                <a16:creationId xmlns:a16="http://schemas.microsoft.com/office/drawing/2014/main" id="{D1532F46-F97B-47D0-8E52-1FA659636344}"/>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897203" y="1173154"/>
            <a:ext cx="6968451" cy="52276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00246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08A8D-DE2E-47AD-8659-A50246D33A58}"/>
              </a:ext>
            </a:extLst>
          </p:cNvPr>
          <p:cNvSpPr>
            <a:spLocks noGrp="1"/>
          </p:cNvSpPr>
          <p:nvPr>
            <p:ph type="title"/>
          </p:nvPr>
        </p:nvSpPr>
        <p:spPr>
          <a:xfrm>
            <a:off x="877290" y="491697"/>
            <a:ext cx="6019800" cy="1067136"/>
          </a:xfrm>
        </p:spPr>
        <p:txBody>
          <a:bodyPr vert="horz" lIns="91440" tIns="45720" rIns="91440" bIns="45720" rtlCol="0" anchor="ctr">
            <a:normAutofit/>
          </a:bodyPr>
          <a:lstStyle/>
          <a:p>
            <a:pPr>
              <a:lnSpc>
                <a:spcPct val="80000"/>
              </a:lnSpc>
            </a:pPr>
            <a:r>
              <a:rPr lang="en-US" sz="3300" dirty="0">
                <a:blipFill dpi="0" rotWithShape="1">
                  <a:blip r:embed="rId3"/>
                  <a:srcRect/>
                  <a:tile tx="6350" ty="-127000" sx="65000" sy="64000" flip="none" algn="tl"/>
                </a:blipFill>
              </a:rPr>
              <a:t>Reinforcement Schedules</a:t>
            </a:r>
          </a:p>
        </p:txBody>
      </p:sp>
      <p:graphicFrame>
        <p:nvGraphicFramePr>
          <p:cNvPr id="8" name="Content Placeholder 3">
            <a:extLst>
              <a:ext uri="{FF2B5EF4-FFF2-40B4-BE49-F238E27FC236}">
                <a16:creationId xmlns:a16="http://schemas.microsoft.com/office/drawing/2014/main" id="{222D3ACD-EACC-4049-BA2C-8132DF57BFF3}"/>
              </a:ext>
            </a:extLst>
          </p:cNvPr>
          <p:cNvGraphicFramePr>
            <a:graphicFrameLocks/>
          </p:cNvGraphicFramePr>
          <p:nvPr>
            <p:extLst>
              <p:ext uri="{D42A27DB-BD31-4B8C-83A1-F6EECF244321}">
                <p14:modId xmlns:p14="http://schemas.microsoft.com/office/powerpoint/2010/main" val="2894393745"/>
              </p:ext>
            </p:extLst>
          </p:nvPr>
        </p:nvGraphicFramePr>
        <p:xfrm>
          <a:off x="565078" y="1558833"/>
          <a:ext cx="10428269" cy="5079419"/>
        </p:xfrm>
        <a:graphic>
          <a:graphicData uri="http://schemas.openxmlformats.org/drawingml/2006/table">
            <a:tbl>
              <a:tblPr firstRow="1" bandRow="1">
                <a:tableStyleId>{9DCAF9ED-07DC-4A11-8D7F-57B35C25682E}</a:tableStyleId>
              </a:tblPr>
              <a:tblGrid>
                <a:gridCol w="2076139">
                  <a:extLst>
                    <a:ext uri="{9D8B030D-6E8A-4147-A177-3AD203B41FA5}">
                      <a16:colId xmlns:a16="http://schemas.microsoft.com/office/drawing/2014/main" val="2894876111"/>
                    </a:ext>
                  </a:extLst>
                </a:gridCol>
                <a:gridCol w="3343227">
                  <a:extLst>
                    <a:ext uri="{9D8B030D-6E8A-4147-A177-3AD203B41FA5}">
                      <a16:colId xmlns:a16="http://schemas.microsoft.com/office/drawing/2014/main" val="2854326435"/>
                    </a:ext>
                  </a:extLst>
                </a:gridCol>
                <a:gridCol w="2285683">
                  <a:extLst>
                    <a:ext uri="{9D8B030D-6E8A-4147-A177-3AD203B41FA5}">
                      <a16:colId xmlns:a16="http://schemas.microsoft.com/office/drawing/2014/main" val="1962690329"/>
                    </a:ext>
                  </a:extLst>
                </a:gridCol>
                <a:gridCol w="2723220">
                  <a:extLst>
                    <a:ext uri="{9D8B030D-6E8A-4147-A177-3AD203B41FA5}">
                      <a16:colId xmlns:a16="http://schemas.microsoft.com/office/drawing/2014/main" val="3256702753"/>
                    </a:ext>
                  </a:extLst>
                </a:gridCol>
              </a:tblGrid>
              <a:tr h="669676">
                <a:tc>
                  <a:txBody>
                    <a:bodyPr/>
                    <a:lstStyle/>
                    <a:p>
                      <a:pPr algn="l" fontAlgn="b"/>
                      <a:r>
                        <a:rPr lang="en-US" sz="1800" b="1" cap="none" spc="60" dirty="0">
                          <a:solidFill>
                            <a:schemeClr val="tx1"/>
                          </a:solidFill>
                          <a:effectLst/>
                        </a:rPr>
                        <a:t>Reinforcement Schedule</a:t>
                      </a:r>
                    </a:p>
                  </a:txBody>
                  <a:tcPr marL="73236" marR="26273" marT="71870" marB="56336" anchor="ctr"/>
                </a:tc>
                <a:tc>
                  <a:txBody>
                    <a:bodyPr/>
                    <a:lstStyle/>
                    <a:p>
                      <a:pPr algn="l" fontAlgn="t"/>
                      <a:r>
                        <a:rPr lang="en-US" sz="1800" b="1" cap="none" spc="60" dirty="0">
                          <a:solidFill>
                            <a:schemeClr val="tx1"/>
                          </a:solidFill>
                          <a:effectLst/>
                        </a:rPr>
                        <a:t>Description</a:t>
                      </a:r>
                    </a:p>
                  </a:txBody>
                  <a:tcPr marL="73236" marR="26273" marT="71870" marB="56336" anchor="ctr"/>
                </a:tc>
                <a:tc>
                  <a:txBody>
                    <a:bodyPr/>
                    <a:lstStyle/>
                    <a:p>
                      <a:pPr algn="l" fontAlgn="t"/>
                      <a:r>
                        <a:rPr lang="en-US" sz="1800" b="1" cap="none" spc="60" dirty="0">
                          <a:solidFill>
                            <a:schemeClr val="tx1"/>
                          </a:solidFill>
                          <a:effectLst/>
                        </a:rPr>
                        <a:t>Result</a:t>
                      </a:r>
                    </a:p>
                  </a:txBody>
                  <a:tcPr marL="73236" marR="26273" marT="71870" marB="56336" anchor="ctr"/>
                </a:tc>
                <a:tc>
                  <a:txBody>
                    <a:bodyPr/>
                    <a:lstStyle/>
                    <a:p>
                      <a:pPr algn="l" fontAlgn="t"/>
                      <a:r>
                        <a:rPr lang="en-US" sz="1800" b="1" cap="none" spc="60" dirty="0">
                          <a:solidFill>
                            <a:schemeClr val="tx1"/>
                          </a:solidFill>
                          <a:effectLst/>
                        </a:rPr>
                        <a:t>Example</a:t>
                      </a:r>
                    </a:p>
                  </a:txBody>
                  <a:tcPr marL="73236" marR="26273" marT="71870" marB="56336" anchor="ctr"/>
                </a:tc>
                <a:extLst>
                  <a:ext uri="{0D108BD9-81ED-4DB2-BD59-A6C34878D82A}">
                    <a16:rowId xmlns:a16="http://schemas.microsoft.com/office/drawing/2014/main" val="3409934273"/>
                  </a:ext>
                </a:extLst>
              </a:tr>
              <a:tr h="1091875">
                <a:tc>
                  <a:txBody>
                    <a:bodyPr/>
                    <a:lstStyle/>
                    <a:p>
                      <a:pPr fontAlgn="ctr"/>
                      <a:r>
                        <a:rPr lang="en-US" sz="1600" cap="none" spc="0">
                          <a:solidFill>
                            <a:schemeClr val="tx1"/>
                          </a:solidFill>
                          <a:effectLst/>
                        </a:rPr>
                        <a:t>Fixed interval</a:t>
                      </a:r>
                    </a:p>
                  </a:txBody>
                  <a:tcPr marL="73236" marR="26273" marT="71870" marB="56336" anchor="ctr"/>
                </a:tc>
                <a:tc>
                  <a:txBody>
                    <a:bodyPr/>
                    <a:lstStyle/>
                    <a:p>
                      <a:pPr fontAlgn="ctr"/>
                      <a:r>
                        <a:rPr lang="en-US" sz="1600" cap="none" spc="0">
                          <a:solidFill>
                            <a:schemeClr val="tx1"/>
                          </a:solidFill>
                          <a:effectLst/>
                        </a:rPr>
                        <a:t>Reinforcement is delivered at predictable time intervals (e.g., after 5, 10, 15, and 20 minutes).</a:t>
                      </a:r>
                    </a:p>
                  </a:txBody>
                  <a:tcPr marL="73236" marR="26273" marT="71870" marB="56336" anchor="ctr"/>
                </a:tc>
                <a:tc>
                  <a:txBody>
                    <a:bodyPr/>
                    <a:lstStyle/>
                    <a:p>
                      <a:pPr fontAlgn="ctr"/>
                      <a:r>
                        <a:rPr lang="en-US" sz="1600" cap="none" spc="0" dirty="0">
                          <a:solidFill>
                            <a:schemeClr val="tx1"/>
                          </a:solidFill>
                          <a:effectLst/>
                        </a:rPr>
                        <a:t>Moderate response rate with significant pauses after reinforcement</a:t>
                      </a:r>
                    </a:p>
                  </a:txBody>
                  <a:tcPr marL="73236" marR="26273" marT="71870" marB="56336" anchor="ctr"/>
                </a:tc>
                <a:tc>
                  <a:txBody>
                    <a:bodyPr/>
                    <a:lstStyle/>
                    <a:p>
                      <a:pPr fontAlgn="ctr"/>
                      <a:r>
                        <a:rPr lang="en-US" sz="1600" cap="none" spc="0">
                          <a:solidFill>
                            <a:schemeClr val="tx1"/>
                          </a:solidFill>
                          <a:effectLst/>
                        </a:rPr>
                        <a:t>Hospital patient uses patient-controlled, doctor-timed pain relief</a:t>
                      </a:r>
                    </a:p>
                  </a:txBody>
                  <a:tcPr marL="73236" marR="26273" marT="71870" marB="56336" anchor="ctr"/>
                </a:tc>
                <a:extLst>
                  <a:ext uri="{0D108BD9-81ED-4DB2-BD59-A6C34878D82A}">
                    <a16:rowId xmlns:a16="http://schemas.microsoft.com/office/drawing/2014/main" val="3978275038"/>
                  </a:ext>
                </a:extLst>
              </a:tr>
              <a:tr h="1091875">
                <a:tc>
                  <a:txBody>
                    <a:bodyPr/>
                    <a:lstStyle/>
                    <a:p>
                      <a:pPr fontAlgn="ctr"/>
                      <a:r>
                        <a:rPr lang="en-US" sz="1600" cap="none" spc="0">
                          <a:solidFill>
                            <a:schemeClr val="tx1"/>
                          </a:solidFill>
                          <a:effectLst/>
                        </a:rPr>
                        <a:t>Variable interval</a:t>
                      </a:r>
                    </a:p>
                  </a:txBody>
                  <a:tcPr marL="73236" marR="26273" marT="71870" marB="56336" anchor="ctr"/>
                </a:tc>
                <a:tc>
                  <a:txBody>
                    <a:bodyPr/>
                    <a:lstStyle/>
                    <a:p>
                      <a:pPr fontAlgn="ctr"/>
                      <a:r>
                        <a:rPr lang="en-US" sz="1600" cap="none" spc="0">
                          <a:solidFill>
                            <a:schemeClr val="tx1"/>
                          </a:solidFill>
                          <a:effectLst/>
                        </a:rPr>
                        <a:t>Reinforcement is delivered at unpredictable time intervals (e.g., after 5, 7, 10, and 20 minutes).</a:t>
                      </a:r>
                    </a:p>
                  </a:txBody>
                  <a:tcPr marL="73236" marR="26273" marT="71870" marB="56336" anchor="ctr"/>
                </a:tc>
                <a:tc>
                  <a:txBody>
                    <a:bodyPr/>
                    <a:lstStyle/>
                    <a:p>
                      <a:pPr fontAlgn="ctr"/>
                      <a:r>
                        <a:rPr lang="en-US" sz="1600" cap="none" spc="0">
                          <a:solidFill>
                            <a:schemeClr val="tx1"/>
                          </a:solidFill>
                          <a:effectLst/>
                        </a:rPr>
                        <a:t>Moderate yet steady response rate</a:t>
                      </a:r>
                    </a:p>
                  </a:txBody>
                  <a:tcPr marL="73236" marR="26273" marT="71870" marB="56336" anchor="ctr"/>
                </a:tc>
                <a:tc>
                  <a:txBody>
                    <a:bodyPr/>
                    <a:lstStyle/>
                    <a:p>
                      <a:pPr fontAlgn="ctr"/>
                      <a:r>
                        <a:rPr lang="en-US" sz="1600" cap="none" spc="0">
                          <a:solidFill>
                            <a:schemeClr val="tx1"/>
                          </a:solidFill>
                          <a:effectLst/>
                        </a:rPr>
                        <a:t>Checking Facebook</a:t>
                      </a:r>
                    </a:p>
                  </a:txBody>
                  <a:tcPr marL="73236" marR="26273" marT="71870" marB="56336" anchor="ctr"/>
                </a:tc>
                <a:extLst>
                  <a:ext uri="{0D108BD9-81ED-4DB2-BD59-A6C34878D82A}">
                    <a16:rowId xmlns:a16="http://schemas.microsoft.com/office/drawing/2014/main" val="242612616"/>
                  </a:ext>
                </a:extLst>
              </a:tr>
              <a:tr h="1091875">
                <a:tc>
                  <a:txBody>
                    <a:bodyPr/>
                    <a:lstStyle/>
                    <a:p>
                      <a:pPr fontAlgn="ctr"/>
                      <a:r>
                        <a:rPr lang="en-US" sz="1600" cap="none" spc="0">
                          <a:solidFill>
                            <a:schemeClr val="tx1"/>
                          </a:solidFill>
                          <a:effectLst/>
                        </a:rPr>
                        <a:t>Fixed ratio</a:t>
                      </a:r>
                    </a:p>
                  </a:txBody>
                  <a:tcPr marL="73236" marR="26273" marT="71870" marB="56336" anchor="ctr"/>
                </a:tc>
                <a:tc>
                  <a:txBody>
                    <a:bodyPr/>
                    <a:lstStyle/>
                    <a:p>
                      <a:pPr fontAlgn="ctr"/>
                      <a:r>
                        <a:rPr lang="en-US" sz="1600" cap="none" spc="0">
                          <a:solidFill>
                            <a:schemeClr val="tx1"/>
                          </a:solidFill>
                          <a:effectLst/>
                        </a:rPr>
                        <a:t>Reinforcement is delivered after a predictable number of responses (e.g., after 2, 4, 6, and 8 responses).</a:t>
                      </a:r>
                    </a:p>
                  </a:txBody>
                  <a:tcPr marL="73236" marR="26273" marT="71870" marB="56336" anchor="ctr"/>
                </a:tc>
                <a:tc>
                  <a:txBody>
                    <a:bodyPr/>
                    <a:lstStyle/>
                    <a:p>
                      <a:pPr fontAlgn="ctr"/>
                      <a:r>
                        <a:rPr lang="en-US" sz="1600" cap="none" spc="0">
                          <a:solidFill>
                            <a:schemeClr val="tx1"/>
                          </a:solidFill>
                          <a:effectLst/>
                        </a:rPr>
                        <a:t>High response rate with pauses after reinforcement</a:t>
                      </a:r>
                    </a:p>
                  </a:txBody>
                  <a:tcPr marL="73236" marR="26273" marT="71870" marB="56336" anchor="ctr"/>
                </a:tc>
                <a:tc>
                  <a:txBody>
                    <a:bodyPr/>
                    <a:lstStyle/>
                    <a:p>
                      <a:pPr fontAlgn="ctr"/>
                      <a:r>
                        <a:rPr lang="en-US" sz="1600" cap="none" spc="0" dirty="0">
                          <a:solidFill>
                            <a:schemeClr val="tx1"/>
                          </a:solidFill>
                          <a:effectLst/>
                        </a:rPr>
                        <a:t>Piecework—factory worker getting paid for every x number of items manufactured</a:t>
                      </a:r>
                    </a:p>
                  </a:txBody>
                  <a:tcPr marL="73236" marR="26273" marT="71870" marB="56336" anchor="ctr"/>
                </a:tc>
                <a:extLst>
                  <a:ext uri="{0D108BD9-81ED-4DB2-BD59-A6C34878D82A}">
                    <a16:rowId xmlns:a16="http://schemas.microsoft.com/office/drawing/2014/main" val="1932961851"/>
                  </a:ext>
                </a:extLst>
              </a:tr>
              <a:tr h="1091875">
                <a:tc>
                  <a:txBody>
                    <a:bodyPr/>
                    <a:lstStyle/>
                    <a:p>
                      <a:pPr fontAlgn="ctr"/>
                      <a:r>
                        <a:rPr lang="en-US" sz="1600" cap="none" spc="0">
                          <a:solidFill>
                            <a:schemeClr val="tx1"/>
                          </a:solidFill>
                          <a:effectLst/>
                        </a:rPr>
                        <a:t>Variable ratio</a:t>
                      </a:r>
                    </a:p>
                  </a:txBody>
                  <a:tcPr marL="73236" marR="26273" marT="71870" marB="56336" anchor="ctr"/>
                </a:tc>
                <a:tc>
                  <a:txBody>
                    <a:bodyPr/>
                    <a:lstStyle/>
                    <a:p>
                      <a:pPr fontAlgn="ctr"/>
                      <a:r>
                        <a:rPr lang="en-US" sz="1600" cap="none" spc="0" dirty="0">
                          <a:solidFill>
                            <a:schemeClr val="tx1"/>
                          </a:solidFill>
                          <a:effectLst/>
                        </a:rPr>
                        <a:t>Reinforcement is delivered after an unpredictable number of responses (e.g., after 1, 4, 5, and 9 responses).</a:t>
                      </a:r>
                    </a:p>
                  </a:txBody>
                  <a:tcPr marL="73236" marR="26273" marT="71870" marB="56336" anchor="ctr"/>
                </a:tc>
                <a:tc>
                  <a:txBody>
                    <a:bodyPr/>
                    <a:lstStyle/>
                    <a:p>
                      <a:pPr fontAlgn="ctr"/>
                      <a:r>
                        <a:rPr lang="en-US" sz="1600" cap="none" spc="0">
                          <a:solidFill>
                            <a:schemeClr val="tx1"/>
                          </a:solidFill>
                          <a:effectLst/>
                        </a:rPr>
                        <a:t>High and steady response rate</a:t>
                      </a:r>
                    </a:p>
                  </a:txBody>
                  <a:tcPr marL="73236" marR="26273" marT="71870" marB="56336" anchor="ctr"/>
                </a:tc>
                <a:tc>
                  <a:txBody>
                    <a:bodyPr/>
                    <a:lstStyle/>
                    <a:p>
                      <a:pPr fontAlgn="ctr"/>
                      <a:r>
                        <a:rPr lang="en-US" sz="1600" cap="none" spc="0" dirty="0">
                          <a:solidFill>
                            <a:schemeClr val="tx1"/>
                          </a:solidFill>
                          <a:effectLst/>
                        </a:rPr>
                        <a:t>Gambling</a:t>
                      </a:r>
                    </a:p>
                  </a:txBody>
                  <a:tcPr marL="73236" marR="26273" marT="71870" marB="56336" anchor="ctr"/>
                </a:tc>
                <a:extLst>
                  <a:ext uri="{0D108BD9-81ED-4DB2-BD59-A6C34878D82A}">
                    <a16:rowId xmlns:a16="http://schemas.microsoft.com/office/drawing/2014/main" val="220574214"/>
                  </a:ext>
                </a:extLst>
              </a:tr>
            </a:tbl>
          </a:graphicData>
        </a:graphic>
      </p:graphicFrame>
    </p:spTree>
    <p:extLst>
      <p:ext uri="{BB962C8B-B14F-4D97-AF65-F5344CB8AC3E}">
        <p14:creationId xmlns:p14="http://schemas.microsoft.com/office/powerpoint/2010/main" val="16850712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424BE2-2CBE-4BF5-B989-1D656D91D4E6}"/>
              </a:ext>
            </a:extLst>
          </p:cNvPr>
          <p:cNvSpPr>
            <a:spLocks noGrp="1"/>
          </p:cNvSpPr>
          <p:nvPr>
            <p:ph type="title"/>
          </p:nvPr>
        </p:nvSpPr>
        <p:spPr>
          <a:xfrm>
            <a:off x="7705618" y="1432223"/>
            <a:ext cx="3312901" cy="3357976"/>
          </a:xfrm>
        </p:spPr>
        <p:txBody>
          <a:bodyPr vert="horz" lIns="91440" tIns="45720" rIns="91440" bIns="45720" rtlCol="0" anchor="ctr">
            <a:normAutofit/>
          </a:bodyPr>
          <a:lstStyle/>
          <a:p>
            <a:pPr>
              <a:lnSpc>
                <a:spcPct val="80000"/>
              </a:lnSpc>
            </a:pPr>
            <a:r>
              <a:rPr lang="en-US" sz="3300" dirty="0">
                <a:blipFill dpi="0" rotWithShape="1">
                  <a:blip r:embed="rId3"/>
                  <a:srcRect/>
                  <a:tile tx="6350" ty="-127000" sx="65000" sy="64000" flip="none" algn="tl"/>
                </a:blipFill>
              </a:rPr>
              <a:t>Reinforcement Schedules</a:t>
            </a:r>
          </a:p>
        </p:txBody>
      </p:sp>
      <p:pic>
        <p:nvPicPr>
          <p:cNvPr id="4" name="Content Placeholder 3" descr="Line graph comparing cumulative number of responses over time for four reinforcement schedules: Variable Ratio, Fixed Ratio, Variable Interval, and Fixed Interval. Each schedule is color-coded with distinct step patterns, showing Variable Ratio with the steepest slope and Fixed Interval with a scalloped response pattern.&#10;">
            <a:extLst>
              <a:ext uri="{FF2B5EF4-FFF2-40B4-BE49-F238E27FC236}">
                <a16:creationId xmlns:a16="http://schemas.microsoft.com/office/drawing/2014/main" id="{9C2C100C-39F7-4C7A-B038-2689E3A4FF55}"/>
              </a:ext>
            </a:extLst>
          </p:cNvPr>
          <p:cNvPicPr>
            <a:picLocks noChangeAspect="1"/>
          </p:cNvPicPr>
          <p:nvPr/>
        </p:nvPicPr>
        <p:blipFill>
          <a:blip r:embed="rId4"/>
          <a:stretch>
            <a:fillRect/>
          </a:stretch>
        </p:blipFill>
        <p:spPr>
          <a:xfrm>
            <a:off x="920834" y="1504636"/>
            <a:ext cx="6631744" cy="3780093"/>
          </a:xfrm>
          <a:prstGeom prst="rect">
            <a:avLst/>
          </a:prstGeom>
        </p:spPr>
      </p:pic>
    </p:spTree>
    <p:extLst>
      <p:ext uri="{BB962C8B-B14F-4D97-AF65-F5344CB8AC3E}">
        <p14:creationId xmlns:p14="http://schemas.microsoft.com/office/powerpoint/2010/main" val="4708267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2092AB07-A55A-1400-6538-FD268FCD7BB5}"/>
              </a:ext>
            </a:extLst>
          </p:cNvPr>
          <p:cNvSpPr>
            <a:spLocks noGrp="1"/>
          </p:cNvSpPr>
          <p:nvPr>
            <p:ph type="body" sz="half" idx="2"/>
          </p:nvPr>
        </p:nvSpPr>
        <p:spPr>
          <a:xfrm>
            <a:off x="7634809" y="1548720"/>
            <a:ext cx="3584227" cy="5160552"/>
          </a:xfrm>
        </p:spPr>
        <p:txBody>
          <a:bodyPr vert="horz" lIns="91440" tIns="45720" rIns="91440" bIns="45720" rtlCol="0">
            <a:noAutofit/>
          </a:bodyPr>
          <a:lstStyle/>
          <a:p>
            <a:pPr marL="285750" indent="-182880">
              <a:lnSpc>
                <a:spcPct val="104000"/>
              </a:lnSpc>
              <a:buFont typeface="Arial" panose="020B0604020202020204" pitchFamily="34" charset="0"/>
              <a:buChar char="•"/>
            </a:pPr>
            <a:r>
              <a:rPr lang="en-US" sz="1800" dirty="0"/>
              <a:t>Edward Tolman</a:t>
            </a:r>
          </a:p>
          <a:p>
            <a:pPr marL="285750" indent="-182880">
              <a:lnSpc>
                <a:spcPct val="104000"/>
              </a:lnSpc>
              <a:buFont typeface="Arial" panose="020B0604020202020204" pitchFamily="34" charset="0"/>
              <a:buChar char="•"/>
            </a:pPr>
            <a:r>
              <a:rPr lang="en-US" sz="1800" dirty="0"/>
              <a:t>Found that rats can create cognitive maps</a:t>
            </a:r>
          </a:p>
          <a:p>
            <a:pPr marL="285750" indent="-182880">
              <a:lnSpc>
                <a:spcPct val="104000"/>
              </a:lnSpc>
              <a:buFont typeface="Arial" panose="020B0604020202020204" pitchFamily="34" charset="0"/>
              <a:buChar char="•"/>
            </a:pPr>
            <a:r>
              <a:rPr lang="en-US" sz="1800" dirty="0"/>
              <a:t>Rats could learn over a series of maze runs, without a reward.</a:t>
            </a:r>
          </a:p>
          <a:p>
            <a:pPr marL="285750" indent="-182880">
              <a:lnSpc>
                <a:spcPct val="104000"/>
              </a:lnSpc>
              <a:buFont typeface="Arial" panose="020B0604020202020204" pitchFamily="34" charset="0"/>
              <a:buChar char="•"/>
            </a:pPr>
            <a:r>
              <a:rPr lang="en-US" sz="1800" dirty="0"/>
              <a:t>Then, a reward would be presented, and the rats would very quickly complete the maze </a:t>
            </a:r>
          </a:p>
          <a:p>
            <a:pPr marL="285750" indent="-182880">
              <a:lnSpc>
                <a:spcPct val="104000"/>
              </a:lnSpc>
              <a:buFont typeface="Arial" panose="020B0604020202020204" pitchFamily="34" charset="0"/>
              <a:buChar char="•"/>
            </a:pPr>
            <a:r>
              <a:rPr lang="en-US" sz="1800" dirty="0"/>
              <a:t>What we learned: we don’t always need an immediate reward to learn material (as opposed to radical behaviorism beliefs)</a:t>
            </a:r>
          </a:p>
        </p:txBody>
      </p:sp>
      <p:pic>
        <p:nvPicPr>
          <p:cNvPr id="7" name="Figure" descr="An illustration shows three rats in a maze, with a starting point and food at the end.">
            <a:extLst>
              <a:ext uri="{FF2B5EF4-FFF2-40B4-BE49-F238E27FC236}">
                <a16:creationId xmlns:a16="http://schemas.microsoft.com/office/drawing/2014/main" id="{CDF54699-8622-834A-641A-7A40C96B2CBE}"/>
              </a:ext>
            </a:extLst>
          </p:cNvPr>
          <p:cNvPicPr>
            <a:picLocks noGrp="1" noChangeAspect="1"/>
          </p:cNvPicPr>
          <p:nvPr>
            <p:ph idx="1"/>
          </p:nvPr>
        </p:nvPicPr>
        <p:blipFill>
          <a:blip r:embed="rId3" cstate="email">
            <a:extLst>
              <a:ext uri="{28A0092B-C50C-407E-A947-70E740481C1C}">
                <a14:useLocalDpi xmlns:a14="http://schemas.microsoft.com/office/drawing/2010/main" val="0"/>
              </a:ext>
            </a:extLst>
          </a:blip>
          <a:srcRect l="5140" r="5920" b="1"/>
          <a:stretch>
            <a:fillRect/>
          </a:stretch>
        </p:blipFill>
        <p:spPr>
          <a:xfrm>
            <a:off x="633998" y="640080"/>
            <a:ext cx="6927007" cy="5588101"/>
          </a:xfrm>
          <a:prstGeom prst="rect">
            <a:avLst/>
          </a:prstGeom>
        </p:spPr>
      </p:pic>
      <p:sp>
        <p:nvSpPr>
          <p:cNvPr id="2" name="Title 1">
            <a:extLst>
              <a:ext uri="{FF2B5EF4-FFF2-40B4-BE49-F238E27FC236}">
                <a16:creationId xmlns:a16="http://schemas.microsoft.com/office/drawing/2014/main" id="{B1427BFD-BF6E-ABC3-B388-FAA730149B10}"/>
              </a:ext>
            </a:extLst>
          </p:cNvPr>
          <p:cNvSpPr>
            <a:spLocks noGrp="1"/>
          </p:cNvSpPr>
          <p:nvPr>
            <p:ph type="title"/>
          </p:nvPr>
        </p:nvSpPr>
        <p:spPr>
          <a:xfrm>
            <a:off x="6731306" y="640080"/>
            <a:ext cx="4223205" cy="726012"/>
          </a:xfrm>
        </p:spPr>
        <p:txBody>
          <a:bodyPr vert="horz" lIns="91440" tIns="45720" rIns="91440" bIns="45720" rtlCol="0" anchor="b">
            <a:normAutofit/>
          </a:bodyPr>
          <a:lstStyle/>
          <a:p>
            <a:r>
              <a:rPr lang="en-US" sz="3600" dirty="0"/>
              <a:t>Latent Learning</a:t>
            </a:r>
          </a:p>
        </p:txBody>
      </p:sp>
    </p:spTree>
    <p:extLst>
      <p:ext uri="{BB962C8B-B14F-4D97-AF65-F5344CB8AC3E}">
        <p14:creationId xmlns:p14="http://schemas.microsoft.com/office/powerpoint/2010/main" val="37425144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F77A4519-05C2-E6FC-6844-3FEB69C2D541}"/>
              </a:ext>
            </a:extLst>
          </p:cNvPr>
          <p:cNvSpPr>
            <a:spLocks noGrp="1"/>
          </p:cNvSpPr>
          <p:nvPr>
            <p:ph type="title"/>
          </p:nvPr>
        </p:nvSpPr>
        <p:spPr>
          <a:xfrm>
            <a:off x="944183" y="5181600"/>
            <a:ext cx="10156435" cy="1076324"/>
          </a:xfrm>
        </p:spPr>
        <p:txBody>
          <a:bodyPr vert="horz" lIns="91440" tIns="45720" rIns="91440" bIns="45720" rtlCol="0" anchor="b">
            <a:normAutofit/>
          </a:bodyPr>
          <a:lstStyle/>
          <a:p>
            <a:r>
              <a:rPr lang="en-US" sz="5400"/>
              <a:t>Classical Conditioning</a:t>
            </a:r>
          </a:p>
        </p:txBody>
      </p:sp>
      <p:pic>
        <p:nvPicPr>
          <p:cNvPr id="11" name="Picture 10">
            <a:extLst>
              <a:ext uri="{FF2B5EF4-FFF2-40B4-BE49-F238E27FC236}">
                <a16:creationId xmlns:a16="http://schemas.microsoft.com/office/drawing/2014/main" id="{1F7C8A34-6FBB-EF0E-2E49-3EDA9A5F2645}"/>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t="14278" r="-1" b="14930"/>
          <a:stretch>
            <a:fillRect/>
          </a:stretch>
        </p:blipFill>
        <p:spPr>
          <a:xfrm>
            <a:off x="907576" y="442795"/>
            <a:ext cx="9934888" cy="4219811"/>
          </a:xfrm>
          <a:prstGeom prst="rect">
            <a:avLst/>
          </a:prstGeom>
        </p:spPr>
      </p:pic>
    </p:spTree>
    <p:extLst>
      <p:ext uri="{BB962C8B-B14F-4D97-AF65-F5344CB8AC3E}">
        <p14:creationId xmlns:p14="http://schemas.microsoft.com/office/powerpoint/2010/main" val="13577547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B1638-FE81-5D16-6941-08426B469526}"/>
              </a:ext>
            </a:extLst>
          </p:cNvPr>
          <p:cNvSpPr>
            <a:spLocks noGrp="1"/>
          </p:cNvSpPr>
          <p:nvPr>
            <p:ph type="title"/>
          </p:nvPr>
        </p:nvSpPr>
        <p:spPr>
          <a:xfrm>
            <a:off x="8318090" y="758952"/>
            <a:ext cx="2802194" cy="4041648"/>
          </a:xfrm>
        </p:spPr>
        <p:txBody>
          <a:bodyPr vert="horz" lIns="91440" tIns="45720" rIns="91440" bIns="45720" rtlCol="0" anchor="b">
            <a:normAutofit/>
          </a:bodyPr>
          <a:lstStyle/>
          <a:p>
            <a:pPr>
              <a:lnSpc>
                <a:spcPct val="85000"/>
              </a:lnSpc>
            </a:pPr>
            <a:r>
              <a:rPr lang="en-US" sz="3400">
                <a:solidFill>
                  <a:srgbClr val="FFFFFF"/>
                </a:solidFill>
              </a:rPr>
              <a:t>Ivan Pavlov and the Development of Classical Conditioning</a:t>
            </a:r>
          </a:p>
        </p:txBody>
      </p:sp>
      <p:pic>
        <p:nvPicPr>
          <p:cNvPr id="4" name="Content Placeholder 3" descr="Diagram illustrating classical conditioning with four panels showing a dog's response to stimuli. Panels depict food as unconditioned stimulus causing salivation, bell as neutral stimulus causing no salivation, pairing of bell and food during conditioning, and bell alone as conditioned stimulus causing salivation, with clear labels and arrows indicating responses.&#10;">
            <a:extLst>
              <a:ext uri="{FF2B5EF4-FFF2-40B4-BE49-F238E27FC236}">
                <a16:creationId xmlns:a16="http://schemas.microsoft.com/office/drawing/2014/main" id="{5DDA3AA2-0E4D-B6A8-2EBB-532C78C4AB38}"/>
              </a:ext>
            </a:extLst>
          </p:cNvPr>
          <p:cNvPicPr>
            <a:picLocks noGrp="1" noChangeAspect="1"/>
          </p:cNvPicPr>
          <p:nvPr>
            <p:ph idx="1"/>
          </p:nvPr>
        </p:nvPicPr>
        <p:blipFill>
          <a:blip r:embed="rId3"/>
          <a:stretch>
            <a:fillRect/>
          </a:stretch>
        </p:blipFill>
        <p:spPr>
          <a:xfrm>
            <a:off x="1150407" y="758952"/>
            <a:ext cx="8825800" cy="5582318"/>
          </a:xfrm>
          <a:prstGeom prst="rect">
            <a:avLst/>
          </a:prstGeom>
        </p:spPr>
      </p:pic>
    </p:spTree>
    <p:extLst>
      <p:ext uri="{BB962C8B-B14F-4D97-AF65-F5344CB8AC3E}">
        <p14:creationId xmlns:p14="http://schemas.microsoft.com/office/powerpoint/2010/main" val="15128565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00ABCB-FC20-48DE-BC91-4CC1D8627298}"/>
              </a:ext>
            </a:extLst>
          </p:cNvPr>
          <p:cNvSpPr>
            <a:spLocks noGrp="1"/>
          </p:cNvSpPr>
          <p:nvPr>
            <p:ph type="title"/>
          </p:nvPr>
        </p:nvSpPr>
        <p:spPr>
          <a:xfrm>
            <a:off x="1069848" y="484632"/>
            <a:ext cx="10058400" cy="1609344"/>
          </a:xfrm>
        </p:spPr>
        <p:txBody>
          <a:bodyPr>
            <a:normAutofit/>
          </a:bodyPr>
          <a:lstStyle/>
          <a:p>
            <a:r>
              <a:rPr lang="en-US" dirty="0"/>
              <a:t>Classical Conditioning- The Pieces</a:t>
            </a:r>
          </a:p>
        </p:txBody>
      </p:sp>
      <p:graphicFrame>
        <p:nvGraphicFramePr>
          <p:cNvPr id="5" name="Content Placeholder 2">
            <a:extLst>
              <a:ext uri="{FF2B5EF4-FFF2-40B4-BE49-F238E27FC236}">
                <a16:creationId xmlns:a16="http://schemas.microsoft.com/office/drawing/2014/main" id="{1B6E748E-55C6-46C0-8CF8-5056F1A8FA0D}"/>
              </a:ext>
            </a:extLst>
          </p:cNvPr>
          <p:cNvGraphicFramePr>
            <a:graphicFrameLocks noGrp="1"/>
          </p:cNvGraphicFramePr>
          <p:nvPr>
            <p:ph idx="1"/>
          </p:nvPr>
        </p:nvGraphicFramePr>
        <p:xfrm>
          <a:off x="1069975" y="2385390"/>
          <a:ext cx="10058400" cy="361784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486572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6F5E4-96CB-CFDE-DFCB-38DBA65F03D9}"/>
              </a:ext>
            </a:extLst>
          </p:cNvPr>
          <p:cNvSpPr>
            <a:spLocks noGrp="1"/>
          </p:cNvSpPr>
          <p:nvPr>
            <p:ph type="title"/>
          </p:nvPr>
        </p:nvSpPr>
        <p:spPr>
          <a:xfrm>
            <a:off x="321346" y="383177"/>
            <a:ext cx="9127454" cy="1325562"/>
          </a:xfrm>
        </p:spPr>
        <p:txBody>
          <a:bodyPr>
            <a:normAutofit/>
          </a:bodyPr>
          <a:lstStyle/>
          <a:p>
            <a:r>
              <a:rPr lang="en-US" sz="4000" dirty="0"/>
              <a:t>The Steps of Classical Conditioning</a:t>
            </a:r>
          </a:p>
        </p:txBody>
      </p:sp>
      <p:sp>
        <p:nvSpPr>
          <p:cNvPr id="3" name="Content Placeholder 2">
            <a:extLst>
              <a:ext uri="{FF2B5EF4-FFF2-40B4-BE49-F238E27FC236}">
                <a16:creationId xmlns:a16="http://schemas.microsoft.com/office/drawing/2014/main" id="{94BC0284-0A54-4B1D-B1DF-96592F625531}"/>
              </a:ext>
            </a:extLst>
          </p:cNvPr>
          <p:cNvSpPr>
            <a:spLocks noGrp="1"/>
          </p:cNvSpPr>
          <p:nvPr>
            <p:ph idx="1"/>
          </p:nvPr>
        </p:nvSpPr>
        <p:spPr>
          <a:xfrm>
            <a:off x="844731" y="1828800"/>
            <a:ext cx="9012501" cy="4351337"/>
          </a:xfrm>
        </p:spPr>
        <p:txBody>
          <a:bodyPr/>
          <a:lstStyle/>
          <a:p>
            <a:pPr marL="0" indent="0">
              <a:buNone/>
            </a:pPr>
            <a:r>
              <a:rPr lang="en-US" b="1" u="sng" dirty="0"/>
              <a:t>Before Conditioning</a:t>
            </a:r>
          </a:p>
          <a:p>
            <a:r>
              <a:rPr lang="en-US" b="1" dirty="0">
                <a:highlight>
                  <a:srgbClr val="FFFF00"/>
                </a:highlight>
              </a:rPr>
              <a:t>Unconditioned stimulus</a:t>
            </a:r>
            <a:r>
              <a:rPr lang="en-US" b="1" dirty="0"/>
              <a:t> </a:t>
            </a:r>
            <a:r>
              <a:rPr lang="en-US" dirty="0"/>
              <a:t>causes </a:t>
            </a:r>
            <a:r>
              <a:rPr lang="en-US" b="1" dirty="0">
                <a:highlight>
                  <a:srgbClr val="00FF00"/>
                </a:highlight>
              </a:rPr>
              <a:t>unconditioned response</a:t>
            </a:r>
            <a:r>
              <a:rPr lang="en-US" dirty="0"/>
              <a:t>, without any learning necessary</a:t>
            </a:r>
          </a:p>
          <a:p>
            <a:r>
              <a:rPr lang="en-US" b="1" dirty="0">
                <a:highlight>
                  <a:srgbClr val="00FFFF"/>
                </a:highlight>
              </a:rPr>
              <a:t>Neutral stimulus</a:t>
            </a:r>
            <a:r>
              <a:rPr lang="en-US" dirty="0"/>
              <a:t> has no effect</a:t>
            </a:r>
          </a:p>
        </p:txBody>
      </p:sp>
      <p:sp>
        <p:nvSpPr>
          <p:cNvPr id="4" name="TextBox 3">
            <a:extLst>
              <a:ext uri="{FF2B5EF4-FFF2-40B4-BE49-F238E27FC236}">
                <a16:creationId xmlns:a16="http://schemas.microsoft.com/office/drawing/2014/main" id="{7BF5CE05-BC5F-BC09-913E-E54C57382890}"/>
              </a:ext>
            </a:extLst>
          </p:cNvPr>
          <p:cNvSpPr txBox="1"/>
          <p:nvPr/>
        </p:nvSpPr>
        <p:spPr>
          <a:xfrm>
            <a:off x="9562012" y="505097"/>
            <a:ext cx="2455818" cy="2862322"/>
          </a:xfrm>
          <a:prstGeom prst="rect">
            <a:avLst/>
          </a:prstGeom>
          <a:solidFill>
            <a:schemeClr val="accent1">
              <a:lumMod val="40000"/>
              <a:lumOff val="60000"/>
            </a:schemeClr>
          </a:solidFill>
          <a:ln w="28575">
            <a:solidFill>
              <a:schemeClr val="tx2">
                <a:lumMod val="50000"/>
              </a:schemeClr>
            </a:solidFill>
          </a:ln>
        </p:spPr>
        <p:txBody>
          <a:bodyPr wrap="square" rtlCol="0">
            <a:spAutoFit/>
          </a:bodyPr>
          <a:lstStyle/>
          <a:p>
            <a:r>
              <a:rPr lang="en-US" b="1" u="sng" dirty="0"/>
              <a:t>KEY</a:t>
            </a:r>
          </a:p>
          <a:p>
            <a:r>
              <a:rPr lang="en-US" b="1" dirty="0">
                <a:highlight>
                  <a:srgbClr val="FFFF00"/>
                </a:highlight>
              </a:rPr>
              <a:t>UCS</a:t>
            </a:r>
            <a:r>
              <a:rPr lang="en-US" dirty="0"/>
              <a:t>: unconditioned stimulus</a:t>
            </a:r>
          </a:p>
          <a:p>
            <a:r>
              <a:rPr lang="en-US" b="1" dirty="0">
                <a:highlight>
                  <a:srgbClr val="00FF00"/>
                </a:highlight>
              </a:rPr>
              <a:t>UCR</a:t>
            </a:r>
            <a:r>
              <a:rPr lang="en-US" dirty="0"/>
              <a:t>: unconditioned response</a:t>
            </a:r>
          </a:p>
          <a:p>
            <a:r>
              <a:rPr lang="en-US" b="1" dirty="0">
                <a:highlight>
                  <a:srgbClr val="00FFFF"/>
                </a:highlight>
              </a:rPr>
              <a:t>NS</a:t>
            </a:r>
            <a:r>
              <a:rPr lang="en-US" dirty="0"/>
              <a:t>: neutral stimulus</a:t>
            </a:r>
          </a:p>
          <a:p>
            <a:r>
              <a:rPr lang="en-US" b="1" dirty="0">
                <a:highlight>
                  <a:srgbClr val="9966FF"/>
                </a:highlight>
              </a:rPr>
              <a:t>CS</a:t>
            </a:r>
            <a:r>
              <a:rPr lang="en-US" dirty="0"/>
              <a:t>: conditioned stimulus</a:t>
            </a:r>
          </a:p>
          <a:p>
            <a:r>
              <a:rPr lang="en-US" b="1" dirty="0">
                <a:highlight>
                  <a:srgbClr val="FF99FF"/>
                </a:highlight>
              </a:rPr>
              <a:t>CR</a:t>
            </a:r>
            <a:r>
              <a:rPr lang="en-US" dirty="0"/>
              <a:t>: conditioned response</a:t>
            </a:r>
          </a:p>
        </p:txBody>
      </p:sp>
      <p:pic>
        <p:nvPicPr>
          <p:cNvPr id="5" name="Content Placeholder 3" descr="picture of bell">
            <a:extLst>
              <a:ext uri="{FF2B5EF4-FFF2-40B4-BE49-F238E27FC236}">
                <a16:creationId xmlns:a16="http://schemas.microsoft.com/office/drawing/2014/main" id="{71F3B389-7EC6-0EE3-7B19-87303A5D0EE1}"/>
              </a:ext>
            </a:extLst>
          </p:cNvPr>
          <p:cNvPicPr>
            <a:picLocks noChangeAspect="1"/>
          </p:cNvPicPr>
          <p:nvPr/>
        </p:nvPicPr>
        <p:blipFill>
          <a:blip r:embed="rId3"/>
          <a:srcRect l="58154" t="8974" r="32370" b="65892"/>
          <a:stretch>
            <a:fillRect/>
          </a:stretch>
        </p:blipFill>
        <p:spPr>
          <a:xfrm>
            <a:off x="6400800" y="4389269"/>
            <a:ext cx="627017" cy="1051879"/>
          </a:xfrm>
          <a:prstGeom prst="rect">
            <a:avLst/>
          </a:prstGeom>
        </p:spPr>
      </p:pic>
      <p:pic>
        <p:nvPicPr>
          <p:cNvPr id="6" name="Content Placeholder 3" descr="picture of dog">
            <a:extLst>
              <a:ext uri="{FF2B5EF4-FFF2-40B4-BE49-F238E27FC236}">
                <a16:creationId xmlns:a16="http://schemas.microsoft.com/office/drawing/2014/main" id="{0979189A-9B91-86C2-A2C5-69D0534C5DA7}"/>
              </a:ext>
            </a:extLst>
          </p:cNvPr>
          <p:cNvPicPr>
            <a:picLocks noChangeAspect="1"/>
          </p:cNvPicPr>
          <p:nvPr/>
        </p:nvPicPr>
        <p:blipFill>
          <a:blip r:embed="rId3"/>
          <a:srcRect l="29528" t="2582" r="50599" b="63039"/>
          <a:stretch>
            <a:fillRect/>
          </a:stretch>
        </p:blipFill>
        <p:spPr>
          <a:xfrm>
            <a:off x="2734492" y="4004468"/>
            <a:ext cx="1314994" cy="1438773"/>
          </a:xfrm>
          <a:prstGeom prst="rect">
            <a:avLst/>
          </a:prstGeom>
        </p:spPr>
      </p:pic>
      <p:pic>
        <p:nvPicPr>
          <p:cNvPr id="7" name="Content Placeholder 3" descr="picture of food">
            <a:extLst>
              <a:ext uri="{FF2B5EF4-FFF2-40B4-BE49-F238E27FC236}">
                <a16:creationId xmlns:a16="http://schemas.microsoft.com/office/drawing/2014/main" id="{97972094-6B8F-B4EC-4E47-759AF079D5AE}"/>
              </a:ext>
            </a:extLst>
          </p:cNvPr>
          <p:cNvPicPr>
            <a:picLocks noChangeAspect="1"/>
          </p:cNvPicPr>
          <p:nvPr/>
        </p:nvPicPr>
        <p:blipFill>
          <a:blip r:embed="rId3"/>
          <a:srcRect l="2613" t="15744" r="85147" b="64332"/>
          <a:stretch>
            <a:fillRect/>
          </a:stretch>
        </p:blipFill>
        <p:spPr>
          <a:xfrm>
            <a:off x="1072023" y="4389269"/>
            <a:ext cx="809897" cy="833846"/>
          </a:xfrm>
          <a:prstGeom prst="rect">
            <a:avLst/>
          </a:prstGeom>
        </p:spPr>
      </p:pic>
      <p:cxnSp>
        <p:nvCxnSpPr>
          <p:cNvPr id="9" name="Straight Arrow Connector 8">
            <a:extLst>
              <a:ext uri="{FF2B5EF4-FFF2-40B4-BE49-F238E27FC236}">
                <a16:creationId xmlns:a16="http://schemas.microsoft.com/office/drawing/2014/main" id="{3AEF8B0D-3FC3-7D8F-CBA8-3D18E1569838}"/>
              </a:ext>
            </a:extLst>
          </p:cNvPr>
          <p:cNvCxnSpPr/>
          <p:nvPr/>
        </p:nvCxnSpPr>
        <p:spPr>
          <a:xfrm>
            <a:off x="2020389" y="4796544"/>
            <a:ext cx="600891" cy="0"/>
          </a:xfrm>
          <a:prstGeom prst="straightConnector1">
            <a:avLst/>
          </a:prstGeom>
          <a:ln w="76200">
            <a:solidFill>
              <a:srgbClr val="FF7C8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F77A9968-8307-3460-6A4F-7D9E292420CF}"/>
              </a:ext>
            </a:extLst>
          </p:cNvPr>
          <p:cNvCxnSpPr/>
          <p:nvPr/>
        </p:nvCxnSpPr>
        <p:spPr>
          <a:xfrm>
            <a:off x="7371806" y="4915208"/>
            <a:ext cx="600891" cy="0"/>
          </a:xfrm>
          <a:prstGeom prst="straightConnector1">
            <a:avLst/>
          </a:prstGeom>
          <a:ln w="76200">
            <a:solidFill>
              <a:srgbClr val="FF7C8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36CDDFDE-8EA2-216E-65CF-32720F7D4E24}"/>
              </a:ext>
            </a:extLst>
          </p:cNvPr>
          <p:cNvSpPr txBox="1"/>
          <p:nvPr/>
        </p:nvSpPr>
        <p:spPr>
          <a:xfrm>
            <a:off x="8220892" y="4315043"/>
            <a:ext cx="914400" cy="1200329"/>
          </a:xfrm>
          <a:prstGeom prst="rect">
            <a:avLst/>
          </a:prstGeom>
          <a:noFill/>
        </p:spPr>
        <p:txBody>
          <a:bodyPr wrap="square" rtlCol="0">
            <a:spAutoFit/>
          </a:bodyPr>
          <a:lstStyle/>
          <a:p>
            <a:r>
              <a:rPr lang="en-US" sz="7200" b="1" dirty="0">
                <a:solidFill>
                  <a:srgbClr val="FF7C80"/>
                </a:solidFill>
                <a:latin typeface="Avenir Next LT Pro" panose="020B0504020202020204" pitchFamily="34" charset="0"/>
              </a:rPr>
              <a:t>X</a:t>
            </a:r>
            <a:endParaRPr lang="en-US" sz="3600" b="1" dirty="0">
              <a:solidFill>
                <a:srgbClr val="FF7C80"/>
              </a:solidFill>
              <a:latin typeface="Avenir Next LT Pro" panose="020B0504020202020204" pitchFamily="34" charset="0"/>
            </a:endParaRPr>
          </a:p>
        </p:txBody>
      </p:sp>
      <p:sp>
        <p:nvSpPr>
          <p:cNvPr id="12" name="TextBox 11">
            <a:extLst>
              <a:ext uri="{FF2B5EF4-FFF2-40B4-BE49-F238E27FC236}">
                <a16:creationId xmlns:a16="http://schemas.microsoft.com/office/drawing/2014/main" id="{A0765901-4131-B417-54E3-79234E10E6CF}"/>
              </a:ext>
            </a:extLst>
          </p:cNvPr>
          <p:cNvSpPr txBox="1"/>
          <p:nvPr/>
        </p:nvSpPr>
        <p:spPr>
          <a:xfrm>
            <a:off x="1134569" y="5515372"/>
            <a:ext cx="710451" cy="369332"/>
          </a:xfrm>
          <a:prstGeom prst="rect">
            <a:avLst/>
          </a:prstGeom>
          <a:noFill/>
        </p:spPr>
        <p:txBody>
          <a:bodyPr wrap="none" rtlCol="0">
            <a:spAutoFit/>
          </a:bodyPr>
          <a:lstStyle/>
          <a:p>
            <a:r>
              <a:rPr lang="en-US" b="1" dirty="0">
                <a:highlight>
                  <a:srgbClr val="FFFF00"/>
                </a:highlight>
              </a:rPr>
              <a:t>UCS</a:t>
            </a:r>
          </a:p>
        </p:txBody>
      </p:sp>
      <p:sp>
        <p:nvSpPr>
          <p:cNvPr id="13" name="TextBox 12">
            <a:extLst>
              <a:ext uri="{FF2B5EF4-FFF2-40B4-BE49-F238E27FC236}">
                <a16:creationId xmlns:a16="http://schemas.microsoft.com/office/drawing/2014/main" id="{39C753E9-5B57-3105-DEC3-D5CB529DF08F}"/>
              </a:ext>
            </a:extLst>
          </p:cNvPr>
          <p:cNvSpPr txBox="1"/>
          <p:nvPr/>
        </p:nvSpPr>
        <p:spPr>
          <a:xfrm>
            <a:off x="3049587" y="5515372"/>
            <a:ext cx="744114" cy="369332"/>
          </a:xfrm>
          <a:prstGeom prst="rect">
            <a:avLst/>
          </a:prstGeom>
          <a:noFill/>
        </p:spPr>
        <p:txBody>
          <a:bodyPr wrap="none" rtlCol="0">
            <a:spAutoFit/>
          </a:bodyPr>
          <a:lstStyle/>
          <a:p>
            <a:r>
              <a:rPr lang="en-US" b="1" dirty="0">
                <a:highlight>
                  <a:srgbClr val="00FF00"/>
                </a:highlight>
              </a:rPr>
              <a:t>UCR</a:t>
            </a:r>
          </a:p>
        </p:txBody>
      </p:sp>
      <p:sp>
        <p:nvSpPr>
          <p:cNvPr id="14" name="TextBox 13">
            <a:extLst>
              <a:ext uri="{FF2B5EF4-FFF2-40B4-BE49-F238E27FC236}">
                <a16:creationId xmlns:a16="http://schemas.microsoft.com/office/drawing/2014/main" id="{47D4F847-DF56-7EF9-25D7-8CB9D2826B16}"/>
              </a:ext>
            </a:extLst>
          </p:cNvPr>
          <p:cNvSpPr txBox="1"/>
          <p:nvPr/>
        </p:nvSpPr>
        <p:spPr>
          <a:xfrm>
            <a:off x="6426206" y="5515372"/>
            <a:ext cx="530915" cy="369332"/>
          </a:xfrm>
          <a:prstGeom prst="rect">
            <a:avLst/>
          </a:prstGeom>
          <a:noFill/>
        </p:spPr>
        <p:txBody>
          <a:bodyPr wrap="none" rtlCol="0">
            <a:spAutoFit/>
          </a:bodyPr>
          <a:lstStyle/>
          <a:p>
            <a:r>
              <a:rPr lang="en-US" b="1" dirty="0">
                <a:highlight>
                  <a:srgbClr val="00FFFF"/>
                </a:highlight>
              </a:rPr>
              <a:t>NS</a:t>
            </a:r>
          </a:p>
        </p:txBody>
      </p:sp>
      <p:sp>
        <p:nvSpPr>
          <p:cNvPr id="15" name="TextBox 14">
            <a:extLst>
              <a:ext uri="{FF2B5EF4-FFF2-40B4-BE49-F238E27FC236}">
                <a16:creationId xmlns:a16="http://schemas.microsoft.com/office/drawing/2014/main" id="{45C493DF-7B07-6DAD-20AD-7EE5F6F1930D}"/>
              </a:ext>
            </a:extLst>
          </p:cNvPr>
          <p:cNvSpPr txBox="1"/>
          <p:nvPr/>
        </p:nvSpPr>
        <p:spPr>
          <a:xfrm>
            <a:off x="7895170" y="5515372"/>
            <a:ext cx="1553630" cy="369332"/>
          </a:xfrm>
          <a:prstGeom prst="rect">
            <a:avLst/>
          </a:prstGeom>
          <a:noFill/>
        </p:spPr>
        <p:txBody>
          <a:bodyPr wrap="none" rtlCol="0">
            <a:spAutoFit/>
          </a:bodyPr>
          <a:lstStyle/>
          <a:p>
            <a:r>
              <a:rPr lang="en-US" dirty="0"/>
              <a:t>No Response</a:t>
            </a:r>
          </a:p>
        </p:txBody>
      </p:sp>
    </p:spTree>
    <p:extLst>
      <p:ext uri="{BB962C8B-B14F-4D97-AF65-F5344CB8AC3E}">
        <p14:creationId xmlns:p14="http://schemas.microsoft.com/office/powerpoint/2010/main" val="37366195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97EA18-00F6-DDA2-3BB3-243B0F523A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EE320A-E797-02AC-F083-3D91FBDCBA66}"/>
              </a:ext>
            </a:extLst>
          </p:cNvPr>
          <p:cNvSpPr>
            <a:spLocks noGrp="1"/>
          </p:cNvSpPr>
          <p:nvPr>
            <p:ph type="title"/>
          </p:nvPr>
        </p:nvSpPr>
        <p:spPr>
          <a:xfrm>
            <a:off x="321346" y="383177"/>
            <a:ext cx="9127454" cy="1325562"/>
          </a:xfrm>
        </p:spPr>
        <p:txBody>
          <a:bodyPr>
            <a:normAutofit/>
          </a:bodyPr>
          <a:lstStyle/>
          <a:p>
            <a:r>
              <a:rPr lang="en-US" sz="4000" dirty="0"/>
              <a:t>The Steps of Classical Conditioning</a:t>
            </a:r>
          </a:p>
        </p:txBody>
      </p:sp>
      <p:sp>
        <p:nvSpPr>
          <p:cNvPr id="3" name="Content Placeholder 2">
            <a:extLst>
              <a:ext uri="{FF2B5EF4-FFF2-40B4-BE49-F238E27FC236}">
                <a16:creationId xmlns:a16="http://schemas.microsoft.com/office/drawing/2014/main" id="{E986C5BA-DE05-4E88-3971-D45CD2313584}"/>
              </a:ext>
            </a:extLst>
          </p:cNvPr>
          <p:cNvSpPr>
            <a:spLocks noGrp="1"/>
          </p:cNvSpPr>
          <p:nvPr>
            <p:ph idx="1"/>
          </p:nvPr>
        </p:nvSpPr>
        <p:spPr>
          <a:xfrm>
            <a:off x="844731" y="1828800"/>
            <a:ext cx="8813075" cy="4351337"/>
          </a:xfrm>
        </p:spPr>
        <p:txBody>
          <a:bodyPr/>
          <a:lstStyle/>
          <a:p>
            <a:pPr marL="0" indent="0">
              <a:buNone/>
            </a:pPr>
            <a:r>
              <a:rPr lang="en-US" b="1" u="sng" dirty="0"/>
              <a:t>During Conditioning</a:t>
            </a:r>
          </a:p>
          <a:p>
            <a:r>
              <a:rPr lang="en-US" dirty="0"/>
              <a:t>The </a:t>
            </a:r>
            <a:r>
              <a:rPr lang="en-US" b="1" dirty="0">
                <a:highlight>
                  <a:srgbClr val="00FFFF"/>
                </a:highlight>
              </a:rPr>
              <a:t>neutral stimulus</a:t>
            </a:r>
            <a:r>
              <a:rPr lang="en-US" b="1" dirty="0"/>
              <a:t> </a:t>
            </a:r>
            <a:r>
              <a:rPr lang="en-US" dirty="0"/>
              <a:t>is repeatedly paired with the </a:t>
            </a:r>
            <a:r>
              <a:rPr lang="en-US" b="1" dirty="0">
                <a:highlight>
                  <a:srgbClr val="FFFF00"/>
                </a:highlight>
              </a:rPr>
              <a:t>unconditioned stimulus</a:t>
            </a:r>
            <a:r>
              <a:rPr lang="en-US" dirty="0"/>
              <a:t>, which still causes the </a:t>
            </a:r>
            <a:r>
              <a:rPr lang="en-US" b="1" dirty="0">
                <a:highlight>
                  <a:srgbClr val="00FF00"/>
                </a:highlight>
              </a:rPr>
              <a:t>unconditioned response</a:t>
            </a:r>
            <a:r>
              <a:rPr lang="en-US" b="1" dirty="0"/>
              <a:t> </a:t>
            </a:r>
          </a:p>
        </p:txBody>
      </p:sp>
      <p:sp>
        <p:nvSpPr>
          <p:cNvPr id="4" name="TextBox 3">
            <a:extLst>
              <a:ext uri="{FF2B5EF4-FFF2-40B4-BE49-F238E27FC236}">
                <a16:creationId xmlns:a16="http://schemas.microsoft.com/office/drawing/2014/main" id="{63DAF904-135E-8F83-C008-59333AE26CAC}"/>
              </a:ext>
            </a:extLst>
          </p:cNvPr>
          <p:cNvSpPr txBox="1"/>
          <p:nvPr/>
        </p:nvSpPr>
        <p:spPr>
          <a:xfrm>
            <a:off x="9562012" y="505097"/>
            <a:ext cx="2455818" cy="2862322"/>
          </a:xfrm>
          <a:prstGeom prst="rect">
            <a:avLst/>
          </a:prstGeom>
          <a:solidFill>
            <a:schemeClr val="accent1">
              <a:lumMod val="40000"/>
              <a:lumOff val="60000"/>
            </a:schemeClr>
          </a:solidFill>
          <a:ln w="28575">
            <a:solidFill>
              <a:schemeClr val="tx2">
                <a:lumMod val="50000"/>
              </a:schemeClr>
            </a:solidFill>
          </a:ln>
        </p:spPr>
        <p:txBody>
          <a:bodyPr wrap="square" rtlCol="0">
            <a:spAutoFit/>
          </a:bodyPr>
          <a:lstStyle/>
          <a:p>
            <a:r>
              <a:rPr lang="en-US" b="1" u="sng" dirty="0"/>
              <a:t>KEY</a:t>
            </a:r>
          </a:p>
          <a:p>
            <a:r>
              <a:rPr lang="en-US" b="1" dirty="0">
                <a:highlight>
                  <a:srgbClr val="FFFF00"/>
                </a:highlight>
              </a:rPr>
              <a:t>UCS</a:t>
            </a:r>
            <a:r>
              <a:rPr lang="en-US" dirty="0"/>
              <a:t>: unconditioned stimulus</a:t>
            </a:r>
          </a:p>
          <a:p>
            <a:r>
              <a:rPr lang="en-US" b="1" dirty="0">
                <a:highlight>
                  <a:srgbClr val="00FF00"/>
                </a:highlight>
              </a:rPr>
              <a:t>UCR</a:t>
            </a:r>
            <a:r>
              <a:rPr lang="en-US" dirty="0"/>
              <a:t>: unconditioned response</a:t>
            </a:r>
          </a:p>
          <a:p>
            <a:r>
              <a:rPr lang="en-US" b="1" dirty="0">
                <a:highlight>
                  <a:srgbClr val="00FFFF"/>
                </a:highlight>
              </a:rPr>
              <a:t>NS</a:t>
            </a:r>
            <a:r>
              <a:rPr lang="en-US" dirty="0"/>
              <a:t>: neutral stimulus</a:t>
            </a:r>
          </a:p>
          <a:p>
            <a:r>
              <a:rPr lang="en-US" b="1" dirty="0">
                <a:highlight>
                  <a:srgbClr val="9966FF"/>
                </a:highlight>
              </a:rPr>
              <a:t>CS</a:t>
            </a:r>
            <a:r>
              <a:rPr lang="en-US" dirty="0"/>
              <a:t>: conditioned stimulus</a:t>
            </a:r>
          </a:p>
          <a:p>
            <a:r>
              <a:rPr lang="en-US" b="1" dirty="0">
                <a:highlight>
                  <a:srgbClr val="FF99FF"/>
                </a:highlight>
              </a:rPr>
              <a:t>CR</a:t>
            </a:r>
            <a:r>
              <a:rPr lang="en-US" dirty="0"/>
              <a:t>: conditioned response</a:t>
            </a:r>
          </a:p>
        </p:txBody>
      </p:sp>
      <p:pic>
        <p:nvPicPr>
          <p:cNvPr id="5" name="Content Placeholder 3" descr="picture of bell">
            <a:extLst>
              <a:ext uri="{FF2B5EF4-FFF2-40B4-BE49-F238E27FC236}">
                <a16:creationId xmlns:a16="http://schemas.microsoft.com/office/drawing/2014/main" id="{AFEFA3EA-CDAC-A785-1443-4C38558A12ED}"/>
              </a:ext>
            </a:extLst>
          </p:cNvPr>
          <p:cNvPicPr>
            <a:picLocks noChangeAspect="1"/>
          </p:cNvPicPr>
          <p:nvPr/>
        </p:nvPicPr>
        <p:blipFill>
          <a:blip r:embed="rId3"/>
          <a:srcRect l="58154" t="8974" r="32370" b="65892"/>
          <a:stretch>
            <a:fillRect/>
          </a:stretch>
        </p:blipFill>
        <p:spPr>
          <a:xfrm>
            <a:off x="1485281" y="4421432"/>
            <a:ext cx="627017" cy="1051879"/>
          </a:xfrm>
          <a:prstGeom prst="rect">
            <a:avLst/>
          </a:prstGeom>
        </p:spPr>
      </p:pic>
      <p:pic>
        <p:nvPicPr>
          <p:cNvPr id="6" name="Content Placeholder 3" descr="picture of dog">
            <a:extLst>
              <a:ext uri="{FF2B5EF4-FFF2-40B4-BE49-F238E27FC236}">
                <a16:creationId xmlns:a16="http://schemas.microsoft.com/office/drawing/2014/main" id="{8AD16A13-941A-CD38-203A-A48937BDF3B0}"/>
              </a:ext>
            </a:extLst>
          </p:cNvPr>
          <p:cNvPicPr>
            <a:picLocks noChangeAspect="1"/>
          </p:cNvPicPr>
          <p:nvPr/>
        </p:nvPicPr>
        <p:blipFill>
          <a:blip r:embed="rId3"/>
          <a:srcRect l="29528" t="2582" r="50599" b="63039"/>
          <a:stretch>
            <a:fillRect/>
          </a:stretch>
        </p:blipFill>
        <p:spPr>
          <a:xfrm>
            <a:off x="6322860" y="4086805"/>
            <a:ext cx="1314994" cy="1438773"/>
          </a:xfrm>
          <a:prstGeom prst="rect">
            <a:avLst/>
          </a:prstGeom>
        </p:spPr>
      </p:pic>
      <p:pic>
        <p:nvPicPr>
          <p:cNvPr id="7" name="Content Placeholder 3" descr="picture of food">
            <a:extLst>
              <a:ext uri="{FF2B5EF4-FFF2-40B4-BE49-F238E27FC236}">
                <a16:creationId xmlns:a16="http://schemas.microsoft.com/office/drawing/2014/main" id="{7F9F0C28-3C6B-94E1-5214-B35856C80D25}"/>
              </a:ext>
            </a:extLst>
          </p:cNvPr>
          <p:cNvPicPr>
            <a:picLocks noChangeAspect="1"/>
          </p:cNvPicPr>
          <p:nvPr/>
        </p:nvPicPr>
        <p:blipFill>
          <a:blip r:embed="rId3"/>
          <a:srcRect l="2613" t="15744" r="85147" b="64332"/>
          <a:stretch>
            <a:fillRect/>
          </a:stretch>
        </p:blipFill>
        <p:spPr>
          <a:xfrm>
            <a:off x="3823279" y="4530449"/>
            <a:ext cx="809897" cy="833846"/>
          </a:xfrm>
          <a:prstGeom prst="rect">
            <a:avLst/>
          </a:prstGeom>
        </p:spPr>
      </p:pic>
      <p:cxnSp>
        <p:nvCxnSpPr>
          <p:cNvPr id="9" name="Straight Arrow Connector 8">
            <a:extLst>
              <a:ext uri="{FF2B5EF4-FFF2-40B4-BE49-F238E27FC236}">
                <a16:creationId xmlns:a16="http://schemas.microsoft.com/office/drawing/2014/main" id="{EC01DF19-69E7-A665-441A-166E8F918A49}"/>
              </a:ext>
            </a:extLst>
          </p:cNvPr>
          <p:cNvCxnSpPr/>
          <p:nvPr/>
        </p:nvCxnSpPr>
        <p:spPr>
          <a:xfrm>
            <a:off x="5268251" y="4950946"/>
            <a:ext cx="600891" cy="0"/>
          </a:xfrm>
          <a:prstGeom prst="straightConnector1">
            <a:avLst/>
          </a:prstGeom>
          <a:ln w="76200">
            <a:solidFill>
              <a:srgbClr val="FF7C8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4B966D7C-DA67-A41C-403E-B4F2D2EEC701}"/>
              </a:ext>
            </a:extLst>
          </p:cNvPr>
          <p:cNvSpPr txBox="1"/>
          <p:nvPr/>
        </p:nvSpPr>
        <p:spPr>
          <a:xfrm>
            <a:off x="3885825" y="5593372"/>
            <a:ext cx="710451" cy="369332"/>
          </a:xfrm>
          <a:prstGeom prst="rect">
            <a:avLst/>
          </a:prstGeom>
          <a:noFill/>
        </p:spPr>
        <p:txBody>
          <a:bodyPr wrap="none" rtlCol="0">
            <a:spAutoFit/>
          </a:bodyPr>
          <a:lstStyle/>
          <a:p>
            <a:r>
              <a:rPr lang="en-US" b="1" dirty="0">
                <a:highlight>
                  <a:srgbClr val="FFFF00"/>
                </a:highlight>
              </a:rPr>
              <a:t>UCS</a:t>
            </a:r>
          </a:p>
        </p:txBody>
      </p:sp>
      <p:sp>
        <p:nvSpPr>
          <p:cNvPr id="13" name="TextBox 12">
            <a:extLst>
              <a:ext uri="{FF2B5EF4-FFF2-40B4-BE49-F238E27FC236}">
                <a16:creationId xmlns:a16="http://schemas.microsoft.com/office/drawing/2014/main" id="{F1172C10-9633-F1F8-853D-785EB41AC335}"/>
              </a:ext>
            </a:extLst>
          </p:cNvPr>
          <p:cNvSpPr txBox="1"/>
          <p:nvPr/>
        </p:nvSpPr>
        <p:spPr>
          <a:xfrm>
            <a:off x="6692608" y="5593372"/>
            <a:ext cx="744114" cy="369332"/>
          </a:xfrm>
          <a:prstGeom prst="rect">
            <a:avLst/>
          </a:prstGeom>
          <a:noFill/>
        </p:spPr>
        <p:txBody>
          <a:bodyPr wrap="none" rtlCol="0">
            <a:spAutoFit/>
          </a:bodyPr>
          <a:lstStyle/>
          <a:p>
            <a:r>
              <a:rPr lang="en-US" b="1" dirty="0">
                <a:highlight>
                  <a:srgbClr val="00FF00"/>
                </a:highlight>
              </a:rPr>
              <a:t>UCR</a:t>
            </a:r>
          </a:p>
        </p:txBody>
      </p:sp>
      <p:sp>
        <p:nvSpPr>
          <p:cNvPr id="14" name="TextBox 13">
            <a:extLst>
              <a:ext uri="{FF2B5EF4-FFF2-40B4-BE49-F238E27FC236}">
                <a16:creationId xmlns:a16="http://schemas.microsoft.com/office/drawing/2014/main" id="{5E955187-F825-8FDA-3997-C5B711A97C93}"/>
              </a:ext>
            </a:extLst>
          </p:cNvPr>
          <p:cNvSpPr txBox="1"/>
          <p:nvPr/>
        </p:nvSpPr>
        <p:spPr>
          <a:xfrm>
            <a:off x="1539743" y="5593372"/>
            <a:ext cx="530915" cy="369332"/>
          </a:xfrm>
          <a:prstGeom prst="rect">
            <a:avLst/>
          </a:prstGeom>
          <a:noFill/>
        </p:spPr>
        <p:txBody>
          <a:bodyPr wrap="none" rtlCol="0">
            <a:spAutoFit/>
          </a:bodyPr>
          <a:lstStyle/>
          <a:p>
            <a:r>
              <a:rPr lang="en-US" b="1" dirty="0">
                <a:highlight>
                  <a:srgbClr val="00FFFF"/>
                </a:highlight>
              </a:rPr>
              <a:t>NS</a:t>
            </a:r>
          </a:p>
        </p:txBody>
      </p:sp>
      <p:sp>
        <p:nvSpPr>
          <p:cNvPr id="8" name="Plus Sign 7">
            <a:extLst>
              <a:ext uri="{FF2B5EF4-FFF2-40B4-BE49-F238E27FC236}">
                <a16:creationId xmlns:a16="http://schemas.microsoft.com/office/drawing/2014/main" id="{36BFCFE3-A00D-D196-2867-FE3CFCF68DE2}"/>
              </a:ext>
            </a:extLst>
          </p:cNvPr>
          <p:cNvSpPr/>
          <p:nvPr/>
        </p:nvSpPr>
        <p:spPr>
          <a:xfrm>
            <a:off x="2656982" y="4671629"/>
            <a:ext cx="531223" cy="551486"/>
          </a:xfrm>
          <a:prstGeom prst="mathPlus">
            <a:avLst/>
          </a:prstGeom>
          <a:solidFill>
            <a:srgbClr val="FF7C80"/>
          </a:solidFill>
          <a:ln>
            <a:solidFill>
              <a:srgbClr val="FF7C8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89307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F40DBC-2634-FCB0-D604-1F8155EB7A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691B18-3112-BEDE-349D-05F3FE47BEE3}"/>
              </a:ext>
            </a:extLst>
          </p:cNvPr>
          <p:cNvSpPr>
            <a:spLocks noGrp="1"/>
          </p:cNvSpPr>
          <p:nvPr>
            <p:ph type="title"/>
          </p:nvPr>
        </p:nvSpPr>
        <p:spPr>
          <a:xfrm>
            <a:off x="321346" y="383177"/>
            <a:ext cx="9127454" cy="1325562"/>
          </a:xfrm>
        </p:spPr>
        <p:txBody>
          <a:bodyPr>
            <a:normAutofit/>
          </a:bodyPr>
          <a:lstStyle/>
          <a:p>
            <a:r>
              <a:rPr lang="en-US" sz="4000" dirty="0"/>
              <a:t>The Steps of Classical Conditioning</a:t>
            </a:r>
          </a:p>
        </p:txBody>
      </p:sp>
      <p:sp>
        <p:nvSpPr>
          <p:cNvPr id="3" name="Content Placeholder 2">
            <a:extLst>
              <a:ext uri="{FF2B5EF4-FFF2-40B4-BE49-F238E27FC236}">
                <a16:creationId xmlns:a16="http://schemas.microsoft.com/office/drawing/2014/main" id="{7B253D64-7254-25A1-D3A0-F1050399E644}"/>
              </a:ext>
            </a:extLst>
          </p:cNvPr>
          <p:cNvSpPr>
            <a:spLocks noGrp="1"/>
          </p:cNvSpPr>
          <p:nvPr>
            <p:ph idx="1"/>
          </p:nvPr>
        </p:nvSpPr>
        <p:spPr>
          <a:xfrm>
            <a:off x="844731" y="1828800"/>
            <a:ext cx="9012501" cy="4351337"/>
          </a:xfrm>
        </p:spPr>
        <p:txBody>
          <a:bodyPr/>
          <a:lstStyle/>
          <a:p>
            <a:pPr marL="0" indent="0">
              <a:buNone/>
            </a:pPr>
            <a:r>
              <a:rPr lang="en-US" b="1" u="sng" dirty="0"/>
              <a:t>During Conditioning</a:t>
            </a:r>
          </a:p>
          <a:p>
            <a:r>
              <a:rPr lang="en-US" dirty="0"/>
              <a:t>The </a:t>
            </a:r>
            <a:r>
              <a:rPr lang="en-US" b="1" dirty="0">
                <a:highlight>
                  <a:srgbClr val="00FFFF"/>
                </a:highlight>
              </a:rPr>
              <a:t>neutral stimulus</a:t>
            </a:r>
            <a:r>
              <a:rPr lang="en-US" dirty="0"/>
              <a:t> becomes a </a:t>
            </a:r>
            <a:r>
              <a:rPr lang="en-US" b="1" dirty="0">
                <a:highlight>
                  <a:srgbClr val="9966FF"/>
                </a:highlight>
              </a:rPr>
              <a:t>conditioned stimulus</a:t>
            </a:r>
          </a:p>
        </p:txBody>
      </p:sp>
      <p:sp>
        <p:nvSpPr>
          <p:cNvPr id="4" name="TextBox 3">
            <a:extLst>
              <a:ext uri="{FF2B5EF4-FFF2-40B4-BE49-F238E27FC236}">
                <a16:creationId xmlns:a16="http://schemas.microsoft.com/office/drawing/2014/main" id="{20A933C3-AC03-08AB-6774-D5B36E533AD8}"/>
              </a:ext>
            </a:extLst>
          </p:cNvPr>
          <p:cNvSpPr txBox="1"/>
          <p:nvPr/>
        </p:nvSpPr>
        <p:spPr>
          <a:xfrm>
            <a:off x="9562012" y="505097"/>
            <a:ext cx="2455818" cy="2862322"/>
          </a:xfrm>
          <a:prstGeom prst="rect">
            <a:avLst/>
          </a:prstGeom>
          <a:solidFill>
            <a:schemeClr val="accent1">
              <a:lumMod val="40000"/>
              <a:lumOff val="60000"/>
            </a:schemeClr>
          </a:solidFill>
          <a:ln w="28575">
            <a:solidFill>
              <a:schemeClr val="tx2">
                <a:lumMod val="50000"/>
              </a:schemeClr>
            </a:solidFill>
          </a:ln>
        </p:spPr>
        <p:txBody>
          <a:bodyPr wrap="square" rtlCol="0">
            <a:spAutoFit/>
          </a:bodyPr>
          <a:lstStyle/>
          <a:p>
            <a:r>
              <a:rPr lang="en-US" b="1" u="sng" dirty="0"/>
              <a:t>KEY</a:t>
            </a:r>
          </a:p>
          <a:p>
            <a:r>
              <a:rPr lang="en-US" b="1" dirty="0">
                <a:highlight>
                  <a:srgbClr val="FFFF00"/>
                </a:highlight>
              </a:rPr>
              <a:t>UCS</a:t>
            </a:r>
            <a:r>
              <a:rPr lang="en-US" dirty="0"/>
              <a:t>: unconditioned stimulus</a:t>
            </a:r>
          </a:p>
          <a:p>
            <a:r>
              <a:rPr lang="en-US" b="1" dirty="0">
                <a:highlight>
                  <a:srgbClr val="00FF00"/>
                </a:highlight>
              </a:rPr>
              <a:t>UCR</a:t>
            </a:r>
            <a:r>
              <a:rPr lang="en-US" dirty="0"/>
              <a:t>: unconditioned response</a:t>
            </a:r>
          </a:p>
          <a:p>
            <a:r>
              <a:rPr lang="en-US" b="1" dirty="0">
                <a:highlight>
                  <a:srgbClr val="00FFFF"/>
                </a:highlight>
              </a:rPr>
              <a:t>NS</a:t>
            </a:r>
            <a:r>
              <a:rPr lang="en-US" dirty="0"/>
              <a:t>: neutral stimulus</a:t>
            </a:r>
          </a:p>
          <a:p>
            <a:r>
              <a:rPr lang="en-US" b="1" dirty="0">
                <a:highlight>
                  <a:srgbClr val="9966FF"/>
                </a:highlight>
              </a:rPr>
              <a:t>CS</a:t>
            </a:r>
            <a:r>
              <a:rPr lang="en-US" dirty="0"/>
              <a:t>: conditioned stimulus</a:t>
            </a:r>
          </a:p>
          <a:p>
            <a:r>
              <a:rPr lang="en-US" b="1" dirty="0">
                <a:highlight>
                  <a:srgbClr val="FF99FF"/>
                </a:highlight>
              </a:rPr>
              <a:t>CR</a:t>
            </a:r>
            <a:r>
              <a:rPr lang="en-US" dirty="0"/>
              <a:t>: conditioned response</a:t>
            </a:r>
          </a:p>
        </p:txBody>
      </p:sp>
      <p:pic>
        <p:nvPicPr>
          <p:cNvPr id="5" name="Content Placeholder 3" descr="picture of bell">
            <a:extLst>
              <a:ext uri="{FF2B5EF4-FFF2-40B4-BE49-F238E27FC236}">
                <a16:creationId xmlns:a16="http://schemas.microsoft.com/office/drawing/2014/main" id="{C6B9B5E0-BB77-80B7-C199-212313824033}"/>
              </a:ext>
            </a:extLst>
          </p:cNvPr>
          <p:cNvPicPr>
            <a:picLocks noChangeAspect="1"/>
          </p:cNvPicPr>
          <p:nvPr/>
        </p:nvPicPr>
        <p:blipFill>
          <a:blip r:embed="rId3"/>
          <a:srcRect l="58154" t="8974" r="32370" b="65892"/>
          <a:stretch>
            <a:fillRect/>
          </a:stretch>
        </p:blipFill>
        <p:spPr>
          <a:xfrm>
            <a:off x="1485281" y="4421432"/>
            <a:ext cx="627017" cy="1051879"/>
          </a:xfrm>
          <a:prstGeom prst="rect">
            <a:avLst/>
          </a:prstGeom>
        </p:spPr>
      </p:pic>
      <p:cxnSp>
        <p:nvCxnSpPr>
          <p:cNvPr id="9" name="Straight Arrow Connector 8">
            <a:extLst>
              <a:ext uri="{FF2B5EF4-FFF2-40B4-BE49-F238E27FC236}">
                <a16:creationId xmlns:a16="http://schemas.microsoft.com/office/drawing/2014/main" id="{FF64EE0E-4418-71F1-57D4-35CC551F82F8}"/>
              </a:ext>
            </a:extLst>
          </p:cNvPr>
          <p:cNvCxnSpPr/>
          <p:nvPr/>
        </p:nvCxnSpPr>
        <p:spPr>
          <a:xfrm>
            <a:off x="7262514" y="4977974"/>
            <a:ext cx="600891" cy="0"/>
          </a:xfrm>
          <a:prstGeom prst="straightConnector1">
            <a:avLst/>
          </a:prstGeom>
          <a:ln w="76200">
            <a:solidFill>
              <a:srgbClr val="FF7C8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843B3F89-AFE9-0343-E764-94F0F99E25B2}"/>
              </a:ext>
            </a:extLst>
          </p:cNvPr>
          <p:cNvSpPr txBox="1"/>
          <p:nvPr/>
        </p:nvSpPr>
        <p:spPr>
          <a:xfrm>
            <a:off x="8396865" y="5593371"/>
            <a:ext cx="627017" cy="369333"/>
          </a:xfrm>
          <a:prstGeom prst="rect">
            <a:avLst/>
          </a:prstGeom>
          <a:noFill/>
        </p:spPr>
        <p:txBody>
          <a:bodyPr wrap="square" rtlCol="0">
            <a:spAutoFit/>
          </a:bodyPr>
          <a:lstStyle/>
          <a:p>
            <a:r>
              <a:rPr lang="en-US" b="1" dirty="0">
                <a:highlight>
                  <a:srgbClr val="9966FF"/>
                </a:highlight>
              </a:rPr>
              <a:t>CS</a:t>
            </a:r>
          </a:p>
        </p:txBody>
      </p:sp>
      <p:sp>
        <p:nvSpPr>
          <p:cNvPr id="14" name="TextBox 13">
            <a:extLst>
              <a:ext uri="{FF2B5EF4-FFF2-40B4-BE49-F238E27FC236}">
                <a16:creationId xmlns:a16="http://schemas.microsoft.com/office/drawing/2014/main" id="{FBA779E8-9189-7036-6DCC-70AF22FE9694}"/>
              </a:ext>
            </a:extLst>
          </p:cNvPr>
          <p:cNvSpPr txBox="1"/>
          <p:nvPr/>
        </p:nvSpPr>
        <p:spPr>
          <a:xfrm>
            <a:off x="1539743" y="5593372"/>
            <a:ext cx="530915" cy="369332"/>
          </a:xfrm>
          <a:prstGeom prst="rect">
            <a:avLst/>
          </a:prstGeom>
          <a:noFill/>
        </p:spPr>
        <p:txBody>
          <a:bodyPr wrap="none" rtlCol="0">
            <a:spAutoFit/>
          </a:bodyPr>
          <a:lstStyle/>
          <a:p>
            <a:r>
              <a:rPr lang="en-US" b="1" dirty="0">
                <a:highlight>
                  <a:srgbClr val="00FFFF"/>
                </a:highlight>
              </a:rPr>
              <a:t>NS</a:t>
            </a:r>
          </a:p>
        </p:txBody>
      </p:sp>
      <p:pic>
        <p:nvPicPr>
          <p:cNvPr id="10" name="Content Placeholder 3" descr="picture of bell">
            <a:extLst>
              <a:ext uri="{FF2B5EF4-FFF2-40B4-BE49-F238E27FC236}">
                <a16:creationId xmlns:a16="http://schemas.microsoft.com/office/drawing/2014/main" id="{3700239E-D5FA-E8FC-1BFB-9AF1E4180305}"/>
              </a:ext>
            </a:extLst>
          </p:cNvPr>
          <p:cNvPicPr>
            <a:picLocks noChangeAspect="1"/>
          </p:cNvPicPr>
          <p:nvPr/>
        </p:nvPicPr>
        <p:blipFill>
          <a:blip r:embed="rId3"/>
          <a:srcRect l="58154" t="8974" r="32370" b="65892"/>
          <a:stretch>
            <a:fillRect/>
          </a:stretch>
        </p:blipFill>
        <p:spPr>
          <a:xfrm>
            <a:off x="8331982" y="4421431"/>
            <a:ext cx="627017" cy="1051879"/>
          </a:xfrm>
          <a:prstGeom prst="rect">
            <a:avLst/>
          </a:prstGeom>
        </p:spPr>
      </p:pic>
      <p:pic>
        <p:nvPicPr>
          <p:cNvPr id="1026" name="Picture 2" descr="Three-panel digital illustration featuring a magical girl character (Sailor Moon) in different dynamic poses with glowing, radiant effects around her. Each panel showcases vibrant colors, sparkles, and energy bursts emphasizing transformation and power">
            <a:extLst>
              <a:ext uri="{FF2B5EF4-FFF2-40B4-BE49-F238E27FC236}">
                <a16:creationId xmlns:a16="http://schemas.microsoft.com/office/drawing/2014/main" id="{96EAE56C-8CA5-77CB-5475-3CF77A84CAF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80875" y="3178632"/>
            <a:ext cx="4398478" cy="3487780"/>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80997F6B-DC50-7FA8-F50E-7E4C6E1DE327}"/>
              </a:ext>
            </a:extLst>
          </p:cNvPr>
          <p:cNvSpPr txBox="1"/>
          <p:nvPr/>
        </p:nvSpPr>
        <p:spPr>
          <a:xfrm>
            <a:off x="3423308" y="4977974"/>
            <a:ext cx="2713612" cy="461665"/>
          </a:xfrm>
          <a:prstGeom prst="rect">
            <a:avLst/>
          </a:prstGeom>
          <a:solidFill>
            <a:schemeClr val="bg1"/>
          </a:solidFill>
          <a:ln w="28575">
            <a:solidFill>
              <a:srgbClr val="FE35D3"/>
            </a:solidFill>
          </a:ln>
        </p:spPr>
        <p:txBody>
          <a:bodyPr wrap="square" rtlCol="0">
            <a:spAutoFit/>
          </a:bodyPr>
          <a:lstStyle/>
          <a:p>
            <a:r>
              <a:rPr lang="en-US" sz="2400" dirty="0"/>
              <a:t>CONDITIONING</a:t>
            </a:r>
          </a:p>
        </p:txBody>
      </p:sp>
    </p:spTree>
    <p:extLst>
      <p:ext uri="{BB962C8B-B14F-4D97-AF65-F5344CB8AC3E}">
        <p14:creationId xmlns:p14="http://schemas.microsoft.com/office/powerpoint/2010/main" val="996622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fade">
                                      <p:cBhvr>
                                        <p:cTn id="7" dur="2000"/>
                                        <p:tgtEl>
                                          <p:spTgt spid="1026"/>
                                        </p:tgtEl>
                                      </p:cBhvr>
                                    </p:animEffect>
                                    <p:anim calcmode="lin" valueType="num">
                                      <p:cBhvr>
                                        <p:cTn id="8" dur="2000" fill="hold"/>
                                        <p:tgtEl>
                                          <p:spTgt spid="1026"/>
                                        </p:tgtEl>
                                        <p:attrNameLst>
                                          <p:attrName>ppt_w</p:attrName>
                                        </p:attrNameLst>
                                      </p:cBhvr>
                                      <p:tavLst>
                                        <p:tav tm="0" fmla="#ppt_w*sin(2.5*pi*$)">
                                          <p:val>
                                            <p:fltVal val="0"/>
                                          </p:val>
                                        </p:tav>
                                        <p:tav tm="100000">
                                          <p:val>
                                            <p:fltVal val="1"/>
                                          </p:val>
                                        </p:tav>
                                      </p:tavLst>
                                    </p:anim>
                                    <p:anim calcmode="lin" valueType="num">
                                      <p:cBhvr>
                                        <p:cTn id="9" dur="2000" fill="hold"/>
                                        <p:tgtEl>
                                          <p:spTgt spid="1026"/>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barn(inVertical)">
                                      <p:cBhvr>
                                        <p:cTn id="14" dur="500"/>
                                        <p:tgtEl>
                                          <p:spTgt spid="15"/>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down)">
                                      <p:cBhvr>
                                        <p:cTn id="19" dur="5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10"/>
                                        </p:tgtEl>
                                        <p:attrNameLst>
                                          <p:attrName>style.visibility</p:attrName>
                                        </p:attrNameLst>
                                      </p:cBhvr>
                                      <p:to>
                                        <p:strVal val="visible"/>
                                      </p:to>
                                    </p:set>
                                    <p:anim calcmode="lin" valueType="num">
                                      <p:cBhvr additive="base">
                                        <p:cTn id="24" dur="500" fill="hold"/>
                                        <p:tgtEl>
                                          <p:spTgt spid="10"/>
                                        </p:tgtEl>
                                        <p:attrNameLst>
                                          <p:attrName>ppt_x</p:attrName>
                                        </p:attrNameLst>
                                      </p:cBhvr>
                                      <p:tavLst>
                                        <p:tav tm="0">
                                          <p:val>
                                            <p:strVal val="#ppt_x"/>
                                          </p:val>
                                        </p:tav>
                                        <p:tav tm="100000">
                                          <p:val>
                                            <p:strVal val="#ppt_x"/>
                                          </p:val>
                                        </p:tav>
                                      </p:tavLst>
                                    </p:anim>
                                    <p:anim calcmode="lin" valueType="num">
                                      <p:cBhvr additive="base">
                                        <p:cTn id="25" dur="500" fill="hold"/>
                                        <p:tgtEl>
                                          <p:spTgt spid="10"/>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 calcmode="lin" valueType="num">
                                      <p:cBhvr additive="base">
                                        <p:cTn id="28" dur="500" fill="hold"/>
                                        <p:tgtEl>
                                          <p:spTgt spid="12"/>
                                        </p:tgtEl>
                                        <p:attrNameLst>
                                          <p:attrName>ppt_x</p:attrName>
                                        </p:attrNameLst>
                                      </p:cBhvr>
                                      <p:tavLst>
                                        <p:tav tm="0">
                                          <p:val>
                                            <p:strVal val="#ppt_x"/>
                                          </p:val>
                                        </p:tav>
                                        <p:tav tm="100000">
                                          <p:val>
                                            <p:strVal val="#ppt_x"/>
                                          </p:val>
                                        </p:tav>
                                      </p:tavLst>
                                    </p:anim>
                                    <p:anim calcmode="lin" valueType="num">
                                      <p:cBhvr additive="base">
                                        <p:cTn id="29"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5"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A3C622-C942-C736-FE31-918F833378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F3FF7F-7ABF-AEBE-B07D-CC095968382A}"/>
              </a:ext>
            </a:extLst>
          </p:cNvPr>
          <p:cNvSpPr>
            <a:spLocks noGrp="1"/>
          </p:cNvSpPr>
          <p:nvPr>
            <p:ph type="title"/>
          </p:nvPr>
        </p:nvSpPr>
        <p:spPr>
          <a:xfrm>
            <a:off x="321346" y="383177"/>
            <a:ext cx="9127454" cy="1325562"/>
          </a:xfrm>
        </p:spPr>
        <p:txBody>
          <a:bodyPr>
            <a:normAutofit/>
          </a:bodyPr>
          <a:lstStyle/>
          <a:p>
            <a:r>
              <a:rPr lang="en-US" sz="4000" dirty="0"/>
              <a:t>The Steps of Classical Conditioning</a:t>
            </a:r>
          </a:p>
        </p:txBody>
      </p:sp>
      <p:sp>
        <p:nvSpPr>
          <p:cNvPr id="3" name="Content Placeholder 2">
            <a:extLst>
              <a:ext uri="{FF2B5EF4-FFF2-40B4-BE49-F238E27FC236}">
                <a16:creationId xmlns:a16="http://schemas.microsoft.com/office/drawing/2014/main" id="{858F7026-473F-BD59-57F8-E52C32CC0EED}"/>
              </a:ext>
            </a:extLst>
          </p:cNvPr>
          <p:cNvSpPr>
            <a:spLocks noGrp="1"/>
          </p:cNvSpPr>
          <p:nvPr>
            <p:ph idx="1"/>
          </p:nvPr>
        </p:nvSpPr>
        <p:spPr>
          <a:xfrm>
            <a:off x="844731" y="1828800"/>
            <a:ext cx="9012501" cy="4351337"/>
          </a:xfrm>
        </p:spPr>
        <p:txBody>
          <a:bodyPr/>
          <a:lstStyle/>
          <a:p>
            <a:pPr marL="0" indent="0">
              <a:buNone/>
            </a:pPr>
            <a:r>
              <a:rPr lang="en-US" b="1" u="sng" dirty="0"/>
              <a:t>After Conditioning</a:t>
            </a:r>
          </a:p>
          <a:p>
            <a:r>
              <a:rPr lang="en-US" dirty="0"/>
              <a:t>The </a:t>
            </a:r>
            <a:r>
              <a:rPr lang="en-US" b="1" dirty="0">
                <a:highlight>
                  <a:srgbClr val="9966FF"/>
                </a:highlight>
              </a:rPr>
              <a:t>conditioned stimulus</a:t>
            </a:r>
            <a:r>
              <a:rPr lang="en-US" b="1" dirty="0"/>
              <a:t> </a:t>
            </a:r>
            <a:r>
              <a:rPr lang="en-US" dirty="0"/>
              <a:t>now independently causes the</a:t>
            </a:r>
            <a:br>
              <a:rPr lang="en-US" dirty="0"/>
            </a:br>
            <a:r>
              <a:rPr lang="en-US" dirty="0"/>
              <a:t> </a:t>
            </a:r>
            <a:br>
              <a:rPr lang="en-US" dirty="0"/>
            </a:br>
            <a:r>
              <a:rPr lang="en-US" b="1" dirty="0">
                <a:highlight>
                  <a:srgbClr val="FF99FF"/>
                </a:highlight>
              </a:rPr>
              <a:t>conditioned response</a:t>
            </a:r>
            <a:r>
              <a:rPr lang="en-US" dirty="0"/>
              <a:t> </a:t>
            </a:r>
          </a:p>
        </p:txBody>
      </p:sp>
      <p:sp>
        <p:nvSpPr>
          <p:cNvPr id="4" name="TextBox 3">
            <a:extLst>
              <a:ext uri="{FF2B5EF4-FFF2-40B4-BE49-F238E27FC236}">
                <a16:creationId xmlns:a16="http://schemas.microsoft.com/office/drawing/2014/main" id="{AAC314D5-9631-5A8B-2067-569FD53EDB38}"/>
              </a:ext>
            </a:extLst>
          </p:cNvPr>
          <p:cNvSpPr txBox="1"/>
          <p:nvPr/>
        </p:nvSpPr>
        <p:spPr>
          <a:xfrm>
            <a:off x="9562012" y="505097"/>
            <a:ext cx="2455818" cy="2862322"/>
          </a:xfrm>
          <a:prstGeom prst="rect">
            <a:avLst/>
          </a:prstGeom>
          <a:solidFill>
            <a:schemeClr val="accent1">
              <a:lumMod val="40000"/>
              <a:lumOff val="60000"/>
            </a:schemeClr>
          </a:solidFill>
          <a:ln w="28575">
            <a:solidFill>
              <a:schemeClr val="tx2">
                <a:lumMod val="50000"/>
              </a:schemeClr>
            </a:solidFill>
          </a:ln>
        </p:spPr>
        <p:txBody>
          <a:bodyPr wrap="square" rtlCol="0">
            <a:spAutoFit/>
          </a:bodyPr>
          <a:lstStyle/>
          <a:p>
            <a:r>
              <a:rPr lang="en-US" b="1" u="sng" dirty="0"/>
              <a:t>KEY</a:t>
            </a:r>
          </a:p>
          <a:p>
            <a:r>
              <a:rPr lang="en-US" b="1" dirty="0">
                <a:highlight>
                  <a:srgbClr val="FFFF00"/>
                </a:highlight>
              </a:rPr>
              <a:t>UCS</a:t>
            </a:r>
            <a:r>
              <a:rPr lang="en-US" dirty="0"/>
              <a:t>: unconditioned stimulus</a:t>
            </a:r>
          </a:p>
          <a:p>
            <a:r>
              <a:rPr lang="en-US" b="1" dirty="0">
                <a:highlight>
                  <a:srgbClr val="00FF00"/>
                </a:highlight>
              </a:rPr>
              <a:t>UCR</a:t>
            </a:r>
            <a:r>
              <a:rPr lang="en-US" dirty="0"/>
              <a:t>: unconditioned response</a:t>
            </a:r>
          </a:p>
          <a:p>
            <a:r>
              <a:rPr lang="en-US" b="1" dirty="0">
                <a:highlight>
                  <a:srgbClr val="00FFFF"/>
                </a:highlight>
              </a:rPr>
              <a:t>NS</a:t>
            </a:r>
            <a:r>
              <a:rPr lang="en-US" dirty="0"/>
              <a:t>: neutral stimulus</a:t>
            </a:r>
          </a:p>
          <a:p>
            <a:r>
              <a:rPr lang="en-US" b="1" dirty="0">
                <a:highlight>
                  <a:srgbClr val="9966FF"/>
                </a:highlight>
              </a:rPr>
              <a:t>CS</a:t>
            </a:r>
            <a:r>
              <a:rPr lang="en-US" dirty="0"/>
              <a:t>: conditioned stimulus</a:t>
            </a:r>
          </a:p>
          <a:p>
            <a:r>
              <a:rPr lang="en-US" b="1" dirty="0">
                <a:highlight>
                  <a:srgbClr val="FF99FF"/>
                </a:highlight>
              </a:rPr>
              <a:t>CR</a:t>
            </a:r>
            <a:r>
              <a:rPr lang="en-US" dirty="0"/>
              <a:t>: conditioned response</a:t>
            </a:r>
          </a:p>
        </p:txBody>
      </p:sp>
      <p:pic>
        <p:nvPicPr>
          <p:cNvPr id="5" name="Content Placeholder 3" descr="picture of bell">
            <a:extLst>
              <a:ext uri="{FF2B5EF4-FFF2-40B4-BE49-F238E27FC236}">
                <a16:creationId xmlns:a16="http://schemas.microsoft.com/office/drawing/2014/main" id="{5E44D272-9803-E816-4573-2978814EE19E}"/>
              </a:ext>
            </a:extLst>
          </p:cNvPr>
          <p:cNvPicPr>
            <a:picLocks noChangeAspect="1"/>
          </p:cNvPicPr>
          <p:nvPr/>
        </p:nvPicPr>
        <p:blipFill>
          <a:blip r:embed="rId3"/>
          <a:srcRect l="58154" t="8974" r="32370" b="65892"/>
          <a:stretch>
            <a:fillRect/>
          </a:stretch>
        </p:blipFill>
        <p:spPr>
          <a:xfrm>
            <a:off x="3535245" y="4425006"/>
            <a:ext cx="627017" cy="1051879"/>
          </a:xfrm>
          <a:prstGeom prst="rect">
            <a:avLst/>
          </a:prstGeom>
        </p:spPr>
      </p:pic>
      <p:pic>
        <p:nvPicPr>
          <p:cNvPr id="6" name="Content Placeholder 3" descr="picture of dog">
            <a:extLst>
              <a:ext uri="{FF2B5EF4-FFF2-40B4-BE49-F238E27FC236}">
                <a16:creationId xmlns:a16="http://schemas.microsoft.com/office/drawing/2014/main" id="{317877DB-7922-1734-FB84-A6C55A2C740E}"/>
              </a:ext>
            </a:extLst>
          </p:cNvPr>
          <p:cNvPicPr>
            <a:picLocks noChangeAspect="1"/>
          </p:cNvPicPr>
          <p:nvPr/>
        </p:nvPicPr>
        <p:blipFill>
          <a:blip r:embed="rId3"/>
          <a:srcRect l="29528" t="2582" r="50599" b="63039"/>
          <a:stretch>
            <a:fillRect/>
          </a:stretch>
        </p:blipFill>
        <p:spPr>
          <a:xfrm>
            <a:off x="6322860" y="4086805"/>
            <a:ext cx="1314994" cy="1438773"/>
          </a:xfrm>
          <a:prstGeom prst="rect">
            <a:avLst/>
          </a:prstGeom>
        </p:spPr>
      </p:pic>
      <p:cxnSp>
        <p:nvCxnSpPr>
          <p:cNvPr id="9" name="Straight Arrow Connector 8">
            <a:extLst>
              <a:ext uri="{FF2B5EF4-FFF2-40B4-BE49-F238E27FC236}">
                <a16:creationId xmlns:a16="http://schemas.microsoft.com/office/drawing/2014/main" id="{89D1D937-CFB3-7D42-DC90-4FCBFC5BD3A2}"/>
              </a:ext>
            </a:extLst>
          </p:cNvPr>
          <p:cNvCxnSpPr/>
          <p:nvPr/>
        </p:nvCxnSpPr>
        <p:spPr>
          <a:xfrm>
            <a:off x="4954741" y="4950945"/>
            <a:ext cx="600891" cy="0"/>
          </a:xfrm>
          <a:prstGeom prst="straightConnector1">
            <a:avLst/>
          </a:prstGeom>
          <a:ln w="76200">
            <a:solidFill>
              <a:srgbClr val="FF7C80"/>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8C4553C4-92F7-BCFE-AE5A-27D37F955A28}"/>
              </a:ext>
            </a:extLst>
          </p:cNvPr>
          <p:cNvSpPr txBox="1"/>
          <p:nvPr/>
        </p:nvSpPr>
        <p:spPr>
          <a:xfrm>
            <a:off x="6704480" y="5642956"/>
            <a:ext cx="551754" cy="369332"/>
          </a:xfrm>
          <a:prstGeom prst="rect">
            <a:avLst/>
          </a:prstGeom>
          <a:noFill/>
        </p:spPr>
        <p:txBody>
          <a:bodyPr wrap="none" rtlCol="0">
            <a:spAutoFit/>
          </a:bodyPr>
          <a:lstStyle/>
          <a:p>
            <a:r>
              <a:rPr lang="en-US" b="1" dirty="0">
                <a:highlight>
                  <a:srgbClr val="FF99FF"/>
                </a:highlight>
              </a:rPr>
              <a:t>CR</a:t>
            </a:r>
          </a:p>
        </p:txBody>
      </p:sp>
      <p:sp>
        <p:nvSpPr>
          <p:cNvPr id="14" name="TextBox 13">
            <a:extLst>
              <a:ext uri="{FF2B5EF4-FFF2-40B4-BE49-F238E27FC236}">
                <a16:creationId xmlns:a16="http://schemas.microsoft.com/office/drawing/2014/main" id="{E668D7B3-6A31-259D-0535-44B484CCE268}"/>
              </a:ext>
            </a:extLst>
          </p:cNvPr>
          <p:cNvSpPr txBox="1"/>
          <p:nvPr/>
        </p:nvSpPr>
        <p:spPr>
          <a:xfrm>
            <a:off x="3583295" y="5642956"/>
            <a:ext cx="530915" cy="369332"/>
          </a:xfrm>
          <a:prstGeom prst="rect">
            <a:avLst/>
          </a:prstGeom>
          <a:noFill/>
        </p:spPr>
        <p:txBody>
          <a:bodyPr wrap="none" rtlCol="0">
            <a:spAutoFit/>
          </a:bodyPr>
          <a:lstStyle/>
          <a:p>
            <a:r>
              <a:rPr lang="en-US" b="1" dirty="0">
                <a:highlight>
                  <a:srgbClr val="9966FF"/>
                </a:highlight>
              </a:rPr>
              <a:t>NS</a:t>
            </a:r>
          </a:p>
        </p:txBody>
      </p:sp>
    </p:spTree>
    <p:extLst>
      <p:ext uri="{BB962C8B-B14F-4D97-AF65-F5344CB8AC3E}">
        <p14:creationId xmlns:p14="http://schemas.microsoft.com/office/powerpoint/2010/main" val="13079132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7858960-23A4-9445-8BD2-0451103CCA5E}"/>
              </a:ext>
            </a:extLst>
          </p:cNvPr>
          <p:cNvSpPr>
            <a:spLocks noGrp="1"/>
          </p:cNvSpPr>
          <p:nvPr>
            <p:ph type="title"/>
          </p:nvPr>
        </p:nvSpPr>
        <p:spPr>
          <a:xfrm>
            <a:off x="618067" y="758952"/>
            <a:ext cx="4448259" cy="4041648"/>
          </a:xfrm>
        </p:spPr>
        <p:txBody>
          <a:bodyPr vert="horz" lIns="91440" tIns="45720" rIns="91440" bIns="45720" rtlCol="0" anchor="b">
            <a:normAutofit/>
          </a:bodyPr>
          <a:lstStyle/>
          <a:p>
            <a:pPr>
              <a:lnSpc>
                <a:spcPct val="85000"/>
              </a:lnSpc>
            </a:pPr>
            <a:r>
              <a:rPr lang="en-US" sz="5400" dirty="0"/>
              <a:t>Classical Conditioning Done Wrong:</a:t>
            </a:r>
            <a:br>
              <a:rPr lang="en-US" sz="5400" dirty="0"/>
            </a:br>
            <a:r>
              <a:rPr lang="en-US" sz="5400" dirty="0"/>
              <a:t>Baby Albert</a:t>
            </a:r>
          </a:p>
        </p:txBody>
      </p:sp>
      <p:pic>
        <p:nvPicPr>
          <p:cNvPr id="7" name="Google Shape;261;p61" descr="Black-and-white photograph showing a child sitting on a cushioned surface with a rabbit, flanked by two adults on either side. &#10;">
            <a:extLst>
              <a:ext uri="{FF2B5EF4-FFF2-40B4-BE49-F238E27FC236}">
                <a16:creationId xmlns:a16="http://schemas.microsoft.com/office/drawing/2014/main" id="{0D2EE86E-A9BC-7840-22FF-2FBCE36F887D}"/>
              </a:ext>
            </a:extLst>
          </p:cNvPr>
          <p:cNvPicPr preferRelativeResize="0">
            <a:picLocks noGrp="1"/>
          </p:cNvPicPr>
          <p:nvPr>
            <p:ph sz="half" idx="1"/>
          </p:nvPr>
        </p:nvPicPr>
        <p:blipFill rotWithShape="1">
          <a:blip r:embed="rId3"/>
          <a:srcRect l="13029" r="8594" b="5"/>
          <a:stretch>
            <a:fillRect/>
          </a:stretch>
        </p:blipFill>
        <p:spPr>
          <a:xfrm>
            <a:off x="5361803" y="4093879"/>
            <a:ext cx="2920940" cy="2617948"/>
          </a:xfrm>
          <a:prstGeom prst="rect">
            <a:avLst/>
          </a:prstGeom>
          <a:noFill/>
        </p:spPr>
      </p:pic>
      <p:pic>
        <p:nvPicPr>
          <p:cNvPr id="11" name="Google Shape;262;p61" descr="Black and white photograph showing a baby sitting on a blanket facing an elderly person wearing a rabbit mask. The child is notably startled.">
            <a:extLst>
              <a:ext uri="{FF2B5EF4-FFF2-40B4-BE49-F238E27FC236}">
                <a16:creationId xmlns:a16="http://schemas.microsoft.com/office/drawing/2014/main" id="{007DEA06-53DF-2AAB-92E9-F5F32F8A1DAD}"/>
              </a:ext>
            </a:extLst>
          </p:cNvPr>
          <p:cNvPicPr preferRelativeResize="0">
            <a:picLocks/>
          </p:cNvPicPr>
          <p:nvPr/>
        </p:nvPicPr>
        <p:blipFill rotWithShape="1">
          <a:blip r:embed="rId4"/>
          <a:srcRect l="1314" r="23531" b="4"/>
          <a:stretch>
            <a:fillRect/>
          </a:stretch>
        </p:blipFill>
        <p:spPr>
          <a:xfrm>
            <a:off x="8443610" y="3115203"/>
            <a:ext cx="2703164" cy="3596664"/>
          </a:xfrm>
          <a:prstGeom prst="rect">
            <a:avLst/>
          </a:prstGeom>
          <a:noFill/>
        </p:spPr>
      </p:pic>
      <p:pic>
        <p:nvPicPr>
          <p:cNvPr id="13" name="Picture 12" descr="Fluffy white rabbit">
            <a:extLst>
              <a:ext uri="{FF2B5EF4-FFF2-40B4-BE49-F238E27FC236}">
                <a16:creationId xmlns:a16="http://schemas.microsoft.com/office/drawing/2014/main" id="{B5B3BD57-3FE3-4340-612F-C8987E26637D}"/>
              </a:ext>
            </a:extLst>
          </p:cNvPr>
          <p:cNvPicPr>
            <a:picLocks noChangeAspect="1"/>
          </p:cNvPicPr>
          <p:nvPr/>
        </p:nvPicPr>
        <p:blipFill>
          <a:blip r:embed="rId5">
            <a:extLst>
              <a:ext uri="{BEBA8EAE-BF5A-486C-A8C5-ECC9F3942E4B}">
                <a14:imgProps xmlns:a14="http://schemas.microsoft.com/office/drawing/2010/main">
                  <a14:imgLayer r:embed="rId6">
                    <a14:imgEffect>
                      <a14:artisticChalkSketch/>
                    </a14:imgEffect>
                  </a14:imgLayer>
                </a14:imgProps>
              </a:ext>
              <a:ext uri="{28A0092B-C50C-407E-A947-70E740481C1C}">
                <a14:useLocalDpi xmlns:a14="http://schemas.microsoft.com/office/drawing/2010/main" val="0"/>
              </a:ext>
            </a:extLst>
          </a:blip>
          <a:stretch>
            <a:fillRect/>
          </a:stretch>
        </p:blipFill>
        <p:spPr>
          <a:xfrm>
            <a:off x="5066327" y="0"/>
            <a:ext cx="4207242" cy="3596665"/>
          </a:xfrm>
          <a:prstGeom prst="rect">
            <a:avLst/>
          </a:prstGeom>
        </p:spPr>
      </p:pic>
    </p:spTree>
    <p:extLst>
      <p:ext uri="{BB962C8B-B14F-4D97-AF65-F5344CB8AC3E}">
        <p14:creationId xmlns:p14="http://schemas.microsoft.com/office/powerpoint/2010/main" val="41259334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4947F-5425-4080-A363-406BBF7D2D5E}"/>
              </a:ext>
            </a:extLst>
          </p:cNvPr>
          <p:cNvSpPr>
            <a:spLocks noGrp="1"/>
          </p:cNvSpPr>
          <p:nvPr>
            <p:ph type="title"/>
          </p:nvPr>
        </p:nvSpPr>
        <p:spPr>
          <a:xfrm>
            <a:off x="7535538" y="1432223"/>
            <a:ext cx="3482982" cy="3357976"/>
          </a:xfrm>
        </p:spPr>
        <p:txBody>
          <a:bodyPr vert="horz" lIns="91440" tIns="45720" rIns="91440" bIns="45720" rtlCol="0" anchor="ctr">
            <a:normAutofit/>
          </a:bodyPr>
          <a:lstStyle/>
          <a:p>
            <a:pPr>
              <a:lnSpc>
                <a:spcPct val="80000"/>
              </a:lnSpc>
            </a:pPr>
            <a:r>
              <a:rPr lang="en-US" sz="4200" dirty="0">
                <a:blipFill dpi="0" rotWithShape="1">
                  <a:blip r:embed="rId3"/>
                  <a:srcRect/>
                  <a:tile tx="6350" ty="-127000" sx="65000" sy="64000" flip="none" algn="tl"/>
                </a:blipFill>
              </a:rPr>
              <a:t>Higher-Order Conditioning</a:t>
            </a:r>
          </a:p>
        </p:txBody>
      </p:sp>
      <p:pic>
        <p:nvPicPr>
          <p:cNvPr id="4" name="Content Placeholder 3" descr="Diagram illustrating higher-order and second-order conditioning using a cat, food, electric can opener, and squeaky cabinet door. It shows three stages: electric can opener (conditioned stimulus) plus food (unconditioned stimulus) causing salivation (unconditioned response), then squeaky cabinet door (second-order stimulus) plus electric can opener causing salivation (conditioned response), and finally squeaky cabinet door alone causing salivation, demonstrating learned associations.&#10;">
            <a:extLst>
              <a:ext uri="{FF2B5EF4-FFF2-40B4-BE49-F238E27FC236}">
                <a16:creationId xmlns:a16="http://schemas.microsoft.com/office/drawing/2014/main" id="{1FBCDE1C-4F10-461D-9640-06830097791E}"/>
              </a:ext>
            </a:extLst>
          </p:cNvPr>
          <p:cNvPicPr>
            <a:picLocks noChangeAspect="1"/>
          </p:cNvPicPr>
          <p:nvPr/>
        </p:nvPicPr>
        <p:blipFill>
          <a:blip r:embed="rId4"/>
          <a:stretch>
            <a:fillRect/>
          </a:stretch>
        </p:blipFill>
        <p:spPr>
          <a:xfrm>
            <a:off x="1530849" y="525662"/>
            <a:ext cx="5609689" cy="5999669"/>
          </a:xfrm>
          <a:prstGeom prst="rect">
            <a:avLst/>
          </a:prstGeom>
        </p:spPr>
      </p:pic>
    </p:spTree>
    <p:extLst>
      <p:ext uri="{BB962C8B-B14F-4D97-AF65-F5344CB8AC3E}">
        <p14:creationId xmlns:p14="http://schemas.microsoft.com/office/powerpoint/2010/main" val="41387691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89572-2F33-2D7B-25C5-55CEBA42CE57}"/>
              </a:ext>
            </a:extLst>
          </p:cNvPr>
          <p:cNvSpPr>
            <a:spLocks noGrp="1"/>
          </p:cNvSpPr>
          <p:nvPr>
            <p:ph type="title"/>
          </p:nvPr>
        </p:nvSpPr>
        <p:spPr>
          <a:xfrm>
            <a:off x="1261872" y="365760"/>
            <a:ext cx="9692640" cy="957943"/>
          </a:xfrm>
        </p:spPr>
        <p:txBody>
          <a:bodyPr/>
          <a:lstStyle/>
          <a:p>
            <a:r>
              <a:rPr lang="en-US" dirty="0"/>
              <a:t>Processes in Classical Conditioning</a:t>
            </a:r>
          </a:p>
        </p:txBody>
      </p:sp>
      <p:sp>
        <p:nvSpPr>
          <p:cNvPr id="3" name="Content Placeholder 2">
            <a:extLst>
              <a:ext uri="{FF2B5EF4-FFF2-40B4-BE49-F238E27FC236}">
                <a16:creationId xmlns:a16="http://schemas.microsoft.com/office/drawing/2014/main" id="{7895ADCA-5F19-B663-4C24-56725CA9E180}"/>
              </a:ext>
            </a:extLst>
          </p:cNvPr>
          <p:cNvSpPr>
            <a:spLocks noGrp="1"/>
          </p:cNvSpPr>
          <p:nvPr>
            <p:ph idx="1"/>
          </p:nvPr>
        </p:nvSpPr>
        <p:spPr>
          <a:xfrm>
            <a:off x="434559" y="1813242"/>
            <a:ext cx="10519953" cy="4824548"/>
          </a:xfrm>
        </p:spPr>
        <p:txBody>
          <a:bodyPr>
            <a:normAutofit/>
          </a:bodyPr>
          <a:lstStyle/>
          <a:p>
            <a:r>
              <a:rPr lang="en-US" b="1" dirty="0"/>
              <a:t>Acquisition</a:t>
            </a:r>
            <a:r>
              <a:rPr lang="en-US" dirty="0"/>
              <a:t> – The initial period of learning when an organism learns to connect a neutral stimulus and an unconditioned stimulus.</a:t>
            </a:r>
          </a:p>
          <a:p>
            <a:r>
              <a:rPr lang="en-US" b="1" dirty="0"/>
              <a:t>Extinction</a:t>
            </a:r>
            <a:r>
              <a:rPr lang="en-US" dirty="0"/>
              <a:t> – The decrease in the conditioned response when the UCS is no longer presented with the CS.</a:t>
            </a:r>
          </a:p>
          <a:p>
            <a:r>
              <a:rPr lang="en-US" b="1" dirty="0"/>
              <a:t>Spontaneous recovery</a:t>
            </a:r>
            <a:r>
              <a:rPr lang="en-US" dirty="0"/>
              <a:t> – The return of a previously extinguished conditioned response following a rest period.</a:t>
            </a:r>
          </a:p>
          <a:p>
            <a:r>
              <a:rPr lang="en-US" b="1" dirty="0"/>
              <a:t>Stimulus discrimination </a:t>
            </a:r>
            <a:r>
              <a:rPr lang="en-US" dirty="0"/>
              <a:t>– When an organism learns to respond differently to various stimuli that are similar</a:t>
            </a:r>
          </a:p>
          <a:p>
            <a:r>
              <a:rPr lang="en-US" b="1" dirty="0"/>
              <a:t>Stimulus generalization </a:t>
            </a:r>
            <a:r>
              <a:rPr lang="en-US" dirty="0"/>
              <a:t>– When an organism demonstrates the conditioned response to stimuli that are similar to the conditioned stimulus</a:t>
            </a:r>
          </a:p>
          <a:p>
            <a:r>
              <a:rPr lang="en-US" b="1" dirty="0"/>
              <a:t>Habituation</a:t>
            </a:r>
            <a:r>
              <a:rPr lang="en-US" dirty="0"/>
              <a:t> – Learning not to respond to a stimulus that is presented repeatedly without change</a:t>
            </a:r>
          </a:p>
        </p:txBody>
      </p:sp>
    </p:spTree>
    <p:extLst>
      <p:ext uri="{BB962C8B-B14F-4D97-AF65-F5344CB8AC3E}">
        <p14:creationId xmlns:p14="http://schemas.microsoft.com/office/powerpoint/2010/main" val="32953733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708F0-0694-4E04-8E93-1B3A39387A3C}"/>
              </a:ext>
            </a:extLst>
          </p:cNvPr>
          <p:cNvSpPr>
            <a:spLocks noGrp="1"/>
          </p:cNvSpPr>
          <p:nvPr>
            <p:ph type="title"/>
          </p:nvPr>
        </p:nvSpPr>
        <p:spPr>
          <a:xfrm>
            <a:off x="815775" y="2857500"/>
            <a:ext cx="2640646" cy="1452185"/>
          </a:xfrm>
          <a:noFill/>
          <a:ln>
            <a:solidFill>
              <a:schemeClr val="accent2">
                <a:lumMod val="75000"/>
              </a:schemeClr>
            </a:solidFill>
          </a:ln>
          <a:effectLst>
            <a:glow rad="63500">
              <a:schemeClr val="accent2">
                <a:satMod val="175000"/>
                <a:alpha val="40000"/>
              </a:schemeClr>
            </a:glow>
          </a:effectLst>
        </p:spPr>
        <p:txBody>
          <a:bodyPr>
            <a:normAutofit/>
          </a:bodyPr>
          <a:lstStyle/>
          <a:p>
            <a:pPr algn="ctr"/>
            <a:r>
              <a:rPr lang="en-US" sz="4000" b="1" dirty="0"/>
              <a:t>People to Know</a:t>
            </a:r>
          </a:p>
        </p:txBody>
      </p:sp>
      <p:graphicFrame>
        <p:nvGraphicFramePr>
          <p:cNvPr id="5" name="Content Placeholder 2">
            <a:extLst>
              <a:ext uri="{FF2B5EF4-FFF2-40B4-BE49-F238E27FC236}">
                <a16:creationId xmlns:a16="http://schemas.microsoft.com/office/drawing/2014/main" id="{67A89DE6-D814-48C9-A8BD-E0675447F41A}"/>
              </a:ext>
            </a:extLst>
          </p:cNvPr>
          <p:cNvGraphicFramePr>
            <a:graphicFrameLocks noGrp="1"/>
          </p:cNvGraphicFramePr>
          <p:nvPr>
            <p:ph idx="1"/>
            <p:extLst>
              <p:ext uri="{D42A27DB-BD31-4B8C-83A1-F6EECF244321}">
                <p14:modId xmlns:p14="http://schemas.microsoft.com/office/powerpoint/2010/main" val="911028734"/>
              </p:ext>
            </p:extLst>
          </p:nvPr>
        </p:nvGraphicFramePr>
        <p:xfrm>
          <a:off x="4491990" y="377190"/>
          <a:ext cx="6731635" cy="62636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593937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0579E13-7CBA-399B-78C8-2204BA2620A7}"/>
              </a:ext>
            </a:extLst>
          </p:cNvPr>
          <p:cNvSpPr>
            <a:spLocks noGrp="1"/>
          </p:cNvSpPr>
          <p:nvPr>
            <p:ph type="title"/>
          </p:nvPr>
        </p:nvSpPr>
        <p:spPr/>
        <p:txBody>
          <a:bodyPr/>
          <a:lstStyle/>
          <a:p>
            <a:r>
              <a:rPr lang="en-US" dirty="0"/>
              <a:t>Next Time on PSY 203…</a:t>
            </a:r>
          </a:p>
        </p:txBody>
      </p:sp>
      <p:sp>
        <p:nvSpPr>
          <p:cNvPr id="5" name="Text Placeholder 4">
            <a:extLst>
              <a:ext uri="{FF2B5EF4-FFF2-40B4-BE49-F238E27FC236}">
                <a16:creationId xmlns:a16="http://schemas.microsoft.com/office/drawing/2014/main" id="{74442AC1-5422-C7D2-C750-B91A3D71B010}"/>
              </a:ext>
            </a:extLst>
          </p:cNvPr>
          <p:cNvSpPr>
            <a:spLocks noGrp="1"/>
          </p:cNvSpPr>
          <p:nvPr>
            <p:ph type="body" idx="1"/>
          </p:nvPr>
        </p:nvSpPr>
        <p:spPr/>
        <p:txBody>
          <a:bodyPr/>
          <a:lstStyle/>
          <a:p>
            <a:r>
              <a:rPr lang="en-US" dirty="0"/>
              <a:t>Before Next Class:</a:t>
            </a:r>
          </a:p>
        </p:txBody>
      </p:sp>
      <p:sp>
        <p:nvSpPr>
          <p:cNvPr id="6" name="Content Placeholder 5">
            <a:extLst>
              <a:ext uri="{FF2B5EF4-FFF2-40B4-BE49-F238E27FC236}">
                <a16:creationId xmlns:a16="http://schemas.microsoft.com/office/drawing/2014/main" id="{DD20C4AE-AEF6-D03B-4760-383DF3A338A4}"/>
              </a:ext>
            </a:extLst>
          </p:cNvPr>
          <p:cNvSpPr>
            <a:spLocks noGrp="1"/>
          </p:cNvSpPr>
          <p:nvPr>
            <p:ph sz="half" idx="2"/>
          </p:nvPr>
        </p:nvSpPr>
        <p:spPr/>
        <p:txBody>
          <a:bodyPr/>
          <a:lstStyle/>
          <a:p>
            <a:r>
              <a:rPr lang="en-US" dirty="0"/>
              <a:t>Read Chapter 7</a:t>
            </a:r>
          </a:p>
          <a:p>
            <a:r>
              <a:rPr lang="en-US" dirty="0"/>
              <a:t>Take Chapter 7 Quiz</a:t>
            </a:r>
          </a:p>
          <a:p>
            <a:pPr lvl="1"/>
            <a:r>
              <a:rPr lang="en-US"/>
              <a:t>Due Thursday at 2pm</a:t>
            </a:r>
            <a:endParaRPr lang="en-US" dirty="0"/>
          </a:p>
          <a:p>
            <a:r>
              <a:rPr lang="en-US" dirty="0"/>
              <a:t>Potentially: Email Dr. S to make up exam points</a:t>
            </a:r>
          </a:p>
        </p:txBody>
      </p:sp>
      <p:sp>
        <p:nvSpPr>
          <p:cNvPr id="7" name="Text Placeholder 6">
            <a:extLst>
              <a:ext uri="{FF2B5EF4-FFF2-40B4-BE49-F238E27FC236}">
                <a16:creationId xmlns:a16="http://schemas.microsoft.com/office/drawing/2014/main" id="{291D51B3-01B5-1A8E-BB59-2046615E9131}"/>
              </a:ext>
            </a:extLst>
          </p:cNvPr>
          <p:cNvSpPr>
            <a:spLocks noGrp="1"/>
          </p:cNvSpPr>
          <p:nvPr>
            <p:ph type="body" sz="quarter" idx="3"/>
          </p:nvPr>
        </p:nvSpPr>
        <p:spPr/>
        <p:txBody>
          <a:bodyPr/>
          <a:lstStyle/>
          <a:p>
            <a:r>
              <a:rPr lang="en-US" dirty="0"/>
              <a:t>Next Class:</a:t>
            </a:r>
          </a:p>
        </p:txBody>
      </p:sp>
      <p:sp>
        <p:nvSpPr>
          <p:cNvPr id="8" name="Content Placeholder 7">
            <a:extLst>
              <a:ext uri="{FF2B5EF4-FFF2-40B4-BE49-F238E27FC236}">
                <a16:creationId xmlns:a16="http://schemas.microsoft.com/office/drawing/2014/main" id="{FB208961-39B8-D4BA-5C5B-88A51E832452}"/>
              </a:ext>
            </a:extLst>
          </p:cNvPr>
          <p:cNvSpPr>
            <a:spLocks noGrp="1"/>
          </p:cNvSpPr>
          <p:nvPr>
            <p:ph sz="quarter" idx="4"/>
          </p:nvPr>
        </p:nvSpPr>
        <p:spPr/>
        <p:txBody>
          <a:bodyPr/>
          <a:lstStyle/>
          <a:p>
            <a:r>
              <a:rPr lang="en-US" dirty="0"/>
              <a:t>Chapter 7 – Thinking and Intelligence</a:t>
            </a:r>
          </a:p>
        </p:txBody>
      </p:sp>
    </p:spTree>
    <p:extLst>
      <p:ext uri="{BB962C8B-B14F-4D97-AF65-F5344CB8AC3E}">
        <p14:creationId xmlns:p14="http://schemas.microsoft.com/office/powerpoint/2010/main" val="2675108971"/>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TM03457515[[fn=View]]</Template>
  <TotalTime>194</TotalTime>
  <Words>972</Words>
  <Application>Microsoft Office PowerPoint</Application>
  <PresentationFormat>Widescreen</PresentationFormat>
  <Paragraphs>169</Paragraphs>
  <Slides>29</Slides>
  <Notes>29</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Arial</vt:lpstr>
      <vt:lpstr>Avenir Next LT Pro</vt:lpstr>
      <vt:lpstr>Calibri</vt:lpstr>
      <vt:lpstr>Century Schoolbook</vt:lpstr>
      <vt:lpstr>Wingdings 2</vt:lpstr>
      <vt:lpstr>View</vt:lpstr>
      <vt:lpstr>Learning </vt:lpstr>
      <vt:lpstr>Agenda</vt:lpstr>
      <vt:lpstr>What is behaviorism?</vt:lpstr>
      <vt:lpstr>Laying the Groundwork</vt:lpstr>
      <vt:lpstr>Observational learning</vt:lpstr>
      <vt:lpstr>What is radical behaviorism?</vt:lpstr>
      <vt:lpstr>Operant Conditioning</vt:lpstr>
      <vt:lpstr>The “Skinner Box”</vt:lpstr>
      <vt:lpstr>Consequences- Explanation</vt:lpstr>
      <vt:lpstr>Consequences- Examples</vt:lpstr>
      <vt:lpstr>Demonstration</vt:lpstr>
      <vt:lpstr>Shaping</vt:lpstr>
      <vt:lpstr>Primary and Secondary reinforcers</vt:lpstr>
      <vt:lpstr>Continuous vs. Partial reinforcement</vt:lpstr>
      <vt:lpstr>Reinforcement Schedules</vt:lpstr>
      <vt:lpstr>Reinforcement Schedules</vt:lpstr>
      <vt:lpstr>Latent Learning</vt:lpstr>
      <vt:lpstr>Classical Conditioning</vt:lpstr>
      <vt:lpstr>Ivan Pavlov and the Development of Classical Conditioning</vt:lpstr>
      <vt:lpstr>Classical Conditioning- The Pieces</vt:lpstr>
      <vt:lpstr>The Steps of Classical Conditioning</vt:lpstr>
      <vt:lpstr>The Steps of Classical Conditioning</vt:lpstr>
      <vt:lpstr>The Steps of Classical Conditioning</vt:lpstr>
      <vt:lpstr>The Steps of Classical Conditioning</vt:lpstr>
      <vt:lpstr>Classical Conditioning Done Wrong: Baby Albert</vt:lpstr>
      <vt:lpstr>Higher-Order Conditioning</vt:lpstr>
      <vt:lpstr>Processes in Classical Conditioning</vt:lpstr>
      <vt:lpstr>People to Know</vt:lpstr>
      <vt:lpstr>Next Time on PSY 203…</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Learning</dc:title>
  <dc:creator>Bryanna Scheuler</dc:creator>
  <cp:lastModifiedBy>Bryanna Scheuler</cp:lastModifiedBy>
  <cp:revision>12</cp:revision>
  <dcterms:created xsi:type="dcterms:W3CDTF">2021-10-04T08:59:20Z</dcterms:created>
  <dcterms:modified xsi:type="dcterms:W3CDTF">2026-02-19T16:50:07Z</dcterms:modified>
</cp:coreProperties>
</file>